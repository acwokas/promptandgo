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28.png" ContentType="image/png"/>
  <Override PartName="/ppt/media/image27.png" ContentType="image/png"/>
  <Override PartName="/ppt/media/image26.png" ContentType="image/png"/>
  <Override PartName="/ppt/media/image25.png" ContentType="image/png"/>
  <Override PartName="/ppt/media/image24.png" ContentType="image/png"/>
  <Override PartName="/ppt/media/image23.png" ContentType="image/png"/>
  <Override PartName="/ppt/media/image11.png" ContentType="image/png"/>
  <Override PartName="/ppt/media/image17.png" ContentType="image/png"/>
  <Override PartName="/ppt/media/image8.png" ContentType="image/png"/>
  <Override PartName="/ppt/media/image18.png" ContentType="image/png"/>
  <Override PartName="/ppt/media/image9.png" ContentType="image/png"/>
  <Override PartName="/ppt/media/image20.png" ContentType="image/png"/>
  <Override PartName="/ppt/media/image13.png" ContentType="image/png"/>
  <Override PartName="/ppt/media/image36.png" ContentType="image/png"/>
  <Override PartName="/ppt/media/image4.png" ContentType="image/png"/>
  <Override PartName="/ppt/media/media12.mp4" ContentType="video/mp4"/>
  <Override PartName="/ppt/media/image30.png" ContentType="image/png"/>
  <Override PartName="/ppt/media/image31.png" ContentType="image/png"/>
  <Override PartName="/ppt/media/image32.png" ContentType="image/png"/>
  <Override PartName="/ppt/media/image2.png" ContentType="image/png"/>
  <Override PartName="/ppt/media/image34.png" ContentType="image/png"/>
  <Override PartName="/ppt/media/image7.png" ContentType="image/png"/>
  <Override PartName="/ppt/media/image16.png" ContentType="image/png"/>
  <Override PartName="/ppt/media/image10.png" ContentType="image/png"/>
  <Override PartName="/ppt/media/image1.png" ContentType="image/png"/>
  <Override PartName="/ppt/media/image33.png" ContentType="image/png"/>
  <Override PartName="/ppt/media/image6.png" ContentType="image/png"/>
  <Override PartName="/ppt/media/image15.png" ContentType="image/png"/>
  <Override PartName="/ppt/media/image5.png" ContentType="image/png"/>
  <Override PartName="/ppt/media/image14.png" ContentType="image/png"/>
  <Override PartName="/ppt/media/image35.png" ContentType="image/png"/>
  <Override PartName="/ppt/media/image3.png" ContentType="image/png"/>
  <Override PartName="/ppt/media/image19.png" ContentType="image/png"/>
  <Override PartName="/ppt/media/image21.png" ContentType="image/png"/>
  <Override PartName="/ppt/media/image22.png" ContentType="image/png"/>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90.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59.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26.xml" ContentType="application/vnd.openxmlformats-officedocument.presentationml.slide+xml"/>
  <Override PartName="/ppt/slides/slide63.xml" ContentType="application/vnd.openxmlformats-officedocument.presentationml.slide+xml"/>
  <Override PartName="/ppt/slides/slide27.xml" ContentType="application/vnd.openxmlformats-officedocument.presentationml.slide+xml"/>
  <Override PartName="/ppt/slides/slide64.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5.xml" ContentType="application/vnd.openxmlformats-officedocument.presentationml.slide+xml"/>
  <Override PartName="/ppt/slides/slide29.xml" ContentType="application/vnd.openxmlformats-officedocument.presentationml.slide+xml"/>
  <Override PartName="/ppt/slides/_rels/slide84.xml.rels" ContentType="application/vnd.openxmlformats-package.relationships+xml"/>
  <Override PartName="/ppt/slides/_rels/slide19.xml.rels" ContentType="application/vnd.openxmlformats-package.relationships+xml"/>
  <Override PartName="/ppt/slides/_rels/slide49.xml.rels" ContentType="application/vnd.openxmlformats-package.relationships+xml"/>
  <Override PartName="/ppt/slides/_rels/slide12.xml.rels" ContentType="application/vnd.openxmlformats-package.relationships+xml"/>
  <Override PartName="/ppt/slides/_rels/slide5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83.xml.rels" ContentType="application/vnd.openxmlformats-package.relationships+xml"/>
  <Override PartName="/ppt/slides/_rels/slide18.xml.rels" ContentType="application/vnd.openxmlformats-package.relationships+xml"/>
  <Override PartName="/ppt/slides/_rels/slide48.xml.rels" ContentType="application/vnd.openxmlformats-package.relationships+xml"/>
  <Override PartName="/ppt/slides/_rels/slide11.xml.rels" ContentType="application/vnd.openxmlformats-package.relationships+xml"/>
  <Override PartName="/ppt/slides/_rels/slide57.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82.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8.xml.rels" ContentType="application/vnd.openxmlformats-package.relationships+xml"/>
  <Override PartName="/ppt/slides/_rels/slide16.xml.rels" ContentType="application/vnd.openxmlformats-package.relationships+xml"/>
  <Override PartName="/ppt/slides/_rels/slide81.xml.rels" ContentType="application/vnd.openxmlformats-package.relationships+xml"/>
  <Override PartName="/ppt/slides/_rels/slide46.xml.rels" ContentType="application/vnd.openxmlformats-package.relationships+xml"/>
  <Override PartName="/ppt/slides/_rels/slide1.xml.rels" ContentType="application/vnd.openxmlformats-package.relationships+xml"/>
  <Override PartName="/ppt/slides/_rels/slide29.xml.rels" ContentType="application/vnd.openxmlformats-package.relationships+xml"/>
  <Override PartName="/ppt/slides/_rels/slide7.xml.rels" ContentType="application/vnd.openxmlformats-package.relationships+xml"/>
  <Override PartName="/ppt/slides/_rels/slide15.xml.rels" ContentType="application/vnd.openxmlformats-package.relationships+xml"/>
  <Override PartName="/ppt/slides/_rels/slide80.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72.xml.rels" ContentType="application/vnd.openxmlformats-package.relationships+xml"/>
  <Override PartName="/ppt/slides/_rels/slide22.xml.rels" ContentType="application/vnd.openxmlformats-package.relationships+xml"/>
  <Override PartName="/ppt/slides/_rels/slide59.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24.xml.rels" ContentType="application/vnd.openxmlformats-package.relationships+xml"/>
  <Override PartName="/ppt/slides/_rels/slide30.xml.rels" ContentType="application/vnd.openxmlformats-package.relationships+xml"/>
  <Override PartName="/ppt/slides/_rels/slide67.xml.rels" ContentType="application/vnd.openxmlformats-package.relationships+xml"/>
  <Override PartName="/ppt/slides/_rels/slide31.xml.rels" ContentType="application/vnd.openxmlformats-package.relationships+xml"/>
  <Override PartName="/ppt/slides/_rels/slide68.xml.rels" ContentType="application/vnd.openxmlformats-package.relationships+xml"/>
  <Override PartName="/ppt/slides/_rels/slide32.xml.rels" ContentType="application/vnd.openxmlformats-package.relationships+xml"/>
  <Override PartName="/ppt/slides/_rels/slide69.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37.xml.rels" ContentType="application/vnd.openxmlformats-package.relationships+xml"/>
  <Override PartName="/ppt/slides/_rels/slide56.xml.rels" ContentType="application/vnd.openxmlformats-package.relationships+xml"/>
  <Override PartName="/ppt/slides/_rels/slide44.xml.rels" ContentType="application/vnd.openxmlformats-package.relationships+xml"/>
  <Override PartName="/ppt/slides/_rels/slide55.xml.rels" ContentType="application/vnd.openxmlformats-package.relationships+xml"/>
  <Override PartName="/ppt/slides/_rels/slide43.xml.rels" ContentType="application/vnd.openxmlformats-package.relationships+xml"/>
  <Override PartName="/ppt/slides/_rels/slide54.xml.rels" ContentType="application/vnd.openxmlformats-package.relationships+xml"/>
  <Override PartName="/ppt/slides/_rels/slide42.xml.rels" ContentType="application/vnd.openxmlformats-package.relationships+xml"/>
  <Override PartName="/ppt/slides/_rels/slide79.xml.rels" ContentType="application/vnd.openxmlformats-package.relationships+xml"/>
  <Override PartName="/ppt/slides/_rels/slide25.xml.rels" ContentType="application/vnd.openxmlformats-package.relationships+xml"/>
  <Override PartName="/ppt/slides/_rels/slide90.xml.rels" ContentType="application/vnd.openxmlformats-package.relationships+xml"/>
  <Override PartName="/ppt/slides/_rels/slide53.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78.xml.rels" ContentType="application/vnd.openxmlformats-package.relationships+xml"/>
  <Override PartName="/ppt/slides/_rels/slide52.xml.rels" ContentType="application/vnd.openxmlformats-package.relationships+xml"/>
  <Override PartName="/ppt/slides/_rels/slide89.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77.xml.rels" ContentType="application/vnd.openxmlformats-package.relationships+xml"/>
  <Override PartName="/ppt/slides/_rels/slide51.xml.rels" ContentType="application/vnd.openxmlformats-package.relationships+xml"/>
  <Override PartName="/ppt/slides/_rels/slide88.xml.rels" ContentType="application/vnd.openxmlformats-package.relationships+xml"/>
  <Override PartName="/ppt/slides/_rels/slide50.xml.rels" ContentType="application/vnd.openxmlformats-package.relationships+xml"/>
  <Override PartName="/ppt/slides/_rels/slide87.xml.rels" ContentType="application/vnd.openxmlformats-package.relationships+xml"/>
  <Override PartName="/ppt/slides/_rels/slide45.xml.rels" ContentType="application/vnd.openxmlformats-package.relationships+xml"/>
  <Override PartName="/ppt/slides/_rels/slide13.xml.rels" ContentType="application/vnd.openxmlformats-package.relationships+xml"/>
  <Override PartName="/ppt/slides/_rels/slide60.xml.rels" ContentType="application/vnd.openxmlformats-package.relationships+xml"/>
  <Override PartName="/ppt/slides/_rels/slide61.xml.rels" ContentType="application/vnd.openxmlformats-package.relationships+xml"/>
  <Override PartName="/ppt/slides/_rels/slide62.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63.xml.rels" ContentType="application/vnd.openxmlformats-package.relationships+xml"/>
  <Override PartName="/ppt/slides/_rels/slide27.xml.rels" ContentType="application/vnd.openxmlformats-package.relationships+xml"/>
  <Override PartName="/ppt/slides/_rels/slide64.xml.rels" ContentType="application/vnd.openxmlformats-package.relationships+xml"/>
  <Override PartName="/ppt/slides/_rels/slide28.xml.rels" ContentType="application/vnd.openxmlformats-package.relationships+xml"/>
  <Override PartName="/ppt/slides/_rels/slide70.xml.rels" ContentType="application/vnd.openxmlformats-package.relationships+xml"/>
  <Override PartName="/ppt/slides/_rels/slide65.xml.rels" ContentType="application/vnd.openxmlformats-package.relationships+xml"/>
  <Override PartName="/ppt/slides/_rels/slide71.xml.rels" ContentType="application/vnd.openxmlformats-package.relationships+xml"/>
  <Override PartName="/ppt/slides/_rels/slide66.xml.rels" ContentType="application/vnd.openxmlformats-package.relationships+xml"/>
  <Override PartName="/ppt/slides/_rels/slide76.xml.rels" ContentType="application/vnd.openxmlformats-package.relationships+xml"/>
  <Override PartName="/ppt/slides/_rels/slide75.xml.rels" ContentType="application/vnd.openxmlformats-package.relationships+xml"/>
  <Override PartName="/ppt/slides/_rels/slide86.xml.rels" ContentType="application/vnd.openxmlformats-package.relationships+xml"/>
  <Override PartName="/ppt/slides/_rels/slide74.xml.rels" ContentType="application/vnd.openxmlformats-package.relationships+xml"/>
  <Override PartName="/ppt/slides/_rels/slide85.xml.rels" ContentType="application/vnd.openxmlformats-package.relationships+xml"/>
  <Override PartName="/ppt/slides/_rels/slide73.xml.rels" ContentType="application/vnd.openxmlformats-package.relationships+xml"/>
  <Override PartName="/ppt/slides/slide71.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8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76.xml" ContentType="application/vnd.openxmlformats-officedocument.presentationml.slide+xml"/>
  <Override PartName="/ppt/slides/slide8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74.xml" ContentType="application/vnd.openxmlformats-officedocument.presentationml.slide+xml"/>
  <Override PartName="/ppt/slides/slide85.xml" ContentType="application/vnd.openxmlformats-officedocument.presentationml.slide+xml"/>
  <Override PartName="/ppt/slides/slide73.xml" ContentType="application/vnd.openxmlformats-officedocument.presentationml.slide+xml"/>
  <Override PartName="/ppt/slides/slide79.xml" ContentType="application/vnd.openxmlformats-officedocument.presentationml.slide+xml"/>
  <Override PartName="/ppt/slides/slide78.xml" ContentType="application/vnd.openxmlformats-officedocument.presentationml.slide+xml"/>
  <Override PartName="/ppt/slides/slide7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80.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8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82.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8.xml" ContentType="application/vnd.openxmlformats-officedocument.presentationml.slide+xml"/>
  <Override PartName="/ppt/slides/slide83.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19.xml" ContentType="application/vnd.openxmlformats-officedocument.presentationml.slide+xml"/>
  <Override PartName="/ppt/slides/slide84.xml" ContentType="application/vnd.openxmlformats-officedocument.presentationml.slide+xml"/>
  <Override PartName="/ppt/charts/chart1.xml" ContentType="application/vnd.openxmlformats-officedocument.drawingml.chart+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6.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13.xml" ContentType="application/vnd.openxmlformats-officedocument.presentationml.notesSlide+xml"/>
  <Override PartName="/ppt/notesSlides/notesSlide49.xml" ContentType="application/vnd.openxmlformats-officedocument.presentationml.notesSlide+xml"/>
  <Override PartName="/ppt/notesSlides/notesSlide12.xml" ContentType="application/vnd.openxmlformats-officedocument.presentationml.notesSlide+xml"/>
  <Override PartName="/ppt/notesSlides/notesSlide48.xml" ContentType="application/vnd.openxmlformats-officedocument.presentationml.notesSlide+xml"/>
  <Override PartName="/ppt/notesSlides/notesSlide11.xml" ContentType="application/vnd.openxmlformats-officedocument.presentationml.notesSlide+xml"/>
  <Override PartName="/ppt/notesSlides/notesSlide47.xml" ContentType="application/vnd.openxmlformats-officedocument.presentationml.notesSlide+xml"/>
  <Override PartName="/ppt/notesSlides/notesSlide10.xml" ContentType="application/vnd.openxmlformats-officedocument.presentationml.notesSlide+xml"/>
  <Override PartName="/ppt/notesSlides/notesSlide29.xml" ContentType="application/vnd.openxmlformats-officedocument.presentationml.notesSlide+xml"/>
  <Override PartName="/ppt/notesSlides/notesSlide5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26.xml" ContentType="application/vnd.openxmlformats-officedocument.presentationml.notesSlide+xml"/>
  <Override PartName="/ppt/notesSlides/notesSlide23.xml" ContentType="application/vnd.openxmlformats-officedocument.presentationml.notesSlide+xml"/>
  <Override PartName="/ppt/notesSlides/notesSlide78.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24.xml" ContentType="application/vnd.openxmlformats-officedocument.presentationml.notesSlide+xml"/>
  <Override PartName="/ppt/notesSlides/notesSlide79.xml" ContentType="application/vnd.openxmlformats-officedocument.presentationml.notesSlide+xml"/>
  <Override PartName="/ppt/notesSlides/notesSlide7.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89.xml" ContentType="application/vnd.openxmlformats-officedocument.presentationml.notesSlide+xml"/>
  <Override PartName="/ppt/notesSlides/notesSlide65.xml" ContentType="application/vnd.openxmlformats-officedocument.presentationml.notesSlide+xml"/>
  <Override PartName="/ppt/notesSlides/notesSlide25.xml" ContentType="application/vnd.openxmlformats-officedocument.presentationml.notesSlide+xml"/>
  <Override PartName="/ppt/notesSlides/notesSlide90.xml" ContentType="application/vnd.openxmlformats-officedocument.presentationml.notesSlide+xml"/>
  <Override PartName="/ppt/notesSlides/notesSlide88.xml" ContentType="application/vnd.openxmlformats-officedocument.presentationml.notesSlide+xml"/>
  <Override PartName="/ppt/notesSlides/notesSlide87.xml" ContentType="application/vnd.openxmlformats-officedocument.presentationml.notesSlide+xml"/>
  <Override PartName="/ppt/notesSlides/notesSlide86.xml" ContentType="application/vnd.openxmlformats-officedocument.presentationml.notesSlide+xml"/>
  <Override PartName="/ppt/notesSlides/notesSlide85.xml" ContentType="application/vnd.openxmlformats-officedocument.presentationml.notesSlide+xml"/>
  <Override PartName="/ppt/notesSlides/notesSlide72.xml" ContentType="application/vnd.openxmlformats-officedocument.presentationml.notesSlide+xml"/>
  <Override PartName="/ppt/notesSlides/notesSlide71.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28.xml" ContentType="application/vnd.openxmlformats-officedocument.presentationml.notesSlide+xml"/>
  <Override PartName="/ppt/notesSlides/notesSlide68.xml" ContentType="application/vnd.openxmlformats-officedocument.presentationml.notesSlide+xml"/>
  <Override PartName="/ppt/notesSlides/notesSlide67.xml" ContentType="application/vnd.openxmlformats-officedocument.presentationml.notesSlide+xml"/>
  <Override PartName="/ppt/notesSlides/notesSlide66.xml" ContentType="application/vnd.openxmlformats-officedocument.presentationml.notesSlide+xml"/>
  <Override PartName="/ppt/notesSlides/notesSlide22.xml" ContentType="application/vnd.openxmlformats-officedocument.presentationml.notesSlide+xml"/>
  <Override PartName="/ppt/notesSlides/notesSlide59.xml" ContentType="application/vnd.openxmlformats-officedocument.presentationml.notesSlide+xml"/>
  <Override PartName="/ppt/notesSlides/notesSlide5.xml" ContentType="application/vnd.openxmlformats-officedocument.presentationml.notesSlide+xml"/>
  <Override PartName="/ppt/notesSlides/notesSlide77.xml" ContentType="application/vnd.openxmlformats-officedocument.presentationml.notesSlide+xml"/>
  <Override PartName="/ppt/notesSlides/notesSlide21.xml" ContentType="application/vnd.openxmlformats-officedocument.presentationml.notesSlide+xml"/>
  <Override PartName="/ppt/notesSlides/notesSlide58.xml" ContentType="application/vnd.openxmlformats-officedocument.presentationml.notesSlide+xml"/>
  <Override PartName="/ppt/notesSlides/notesSlide4.xml" ContentType="application/vnd.openxmlformats-officedocument.presentationml.notesSlide+xml"/>
  <Override PartName="/ppt/notesSlides/notesSlide76.xml" ContentType="application/vnd.openxmlformats-officedocument.presentationml.notesSlide+xml"/>
  <Override PartName="/ppt/notesSlides/notesSlide19.xml" ContentType="application/vnd.openxmlformats-officedocument.presentationml.notesSlide+xml"/>
  <Override PartName="/ppt/notesSlides/notesSlide84.xml" ContentType="application/vnd.openxmlformats-officedocument.presentationml.notesSlide+xml"/>
  <Override PartName="/ppt/notesSlides/notesSlide20.xml" ContentType="application/vnd.openxmlformats-officedocument.presentationml.notesSlide+xml"/>
  <Override PartName="/ppt/notesSlides/notesSlide57.xml" ContentType="application/vnd.openxmlformats-officedocument.presentationml.notesSlide+xml"/>
  <Override PartName="/ppt/notesSlides/notesSlide3.xml" ContentType="application/vnd.openxmlformats-officedocument.presentationml.notesSlide+xml"/>
  <Override PartName="/ppt/notesSlides/notesSlide75.xml" ContentType="application/vnd.openxmlformats-officedocument.presentationml.notesSlide+xml"/>
  <Override PartName="/ppt/notesSlides/notesSlide18.xml" ContentType="application/vnd.openxmlformats-officedocument.presentationml.notesSlide+xml"/>
  <Override PartName="/ppt/notesSlides/notesSlide83.xml" ContentType="application/vnd.openxmlformats-officedocument.presentationml.notesSlide+xml"/>
  <Override PartName="/ppt/notesSlides/notesSlide82.xml" ContentType="application/vnd.openxmlformats-officedocument.presentationml.notesSlide+xml"/>
  <Override PartName="/ppt/notesSlides/notesSlide17.xml" ContentType="application/vnd.openxmlformats-officedocument.presentationml.notesSlide+xml"/>
  <Override PartName="/ppt/notesSlides/notesSlide81.xml" ContentType="application/vnd.openxmlformats-officedocument.presentationml.notesSlide+xml"/>
  <Override PartName="/ppt/notesSlides/notesSlide16.xml" ContentType="application/vnd.openxmlformats-officedocument.presentationml.notesSlide+xml"/>
  <Override PartName="/ppt/notesSlides/notesSlide80.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7.xml" ContentType="application/vnd.openxmlformats-officedocument.presentationml.notesSlide+xml"/>
  <Override PartName="/ppt/notesSlides/_rels/notesSlide74.xml.rels" ContentType="application/vnd.openxmlformats-package.relationships+xml"/>
  <Override PartName="/ppt/notesSlides/_rels/notesSlide55.xml.rels" ContentType="application/vnd.openxmlformats-package.relationships+xml"/>
  <Override PartName="/ppt/notesSlides/_rels/notesSlide1.xml.rels" ContentType="application/vnd.openxmlformats-package.relationships+xml"/>
  <Override PartName="/ppt/notesSlides/_rels/notesSlide20.xml.rels" ContentType="application/vnd.openxmlformats-package.relationships+xml"/>
  <Override PartName="/ppt/notesSlides/_rels/notesSlide73.xml.rels" ContentType="application/vnd.openxmlformats-package.relationships+xml"/>
  <Override PartName="/ppt/notesSlides/_rels/notesSlide27.xml.rels" ContentType="application/vnd.openxmlformats-package.relationships+xml"/>
  <Override PartName="/ppt/notesSlides/_rels/notesSlide8.xml.rels" ContentType="application/vnd.openxmlformats-package.relationships+xml"/>
  <Override PartName="/ppt/notesSlides/_rels/notesSlide80.xml.rels" ContentType="application/vnd.openxmlformats-package.relationships+xml"/>
  <Override PartName="/ppt/notesSlides/_rels/notesSlide15.xml.rels" ContentType="application/vnd.openxmlformats-package.relationships+xml"/>
  <Override PartName="/ppt/notesSlides/_rels/notesSlide81.xml.rels" ContentType="application/vnd.openxmlformats-package.relationships+xml"/>
  <Override PartName="/ppt/notesSlides/_rels/notesSlide16.xml.rels" ContentType="application/vnd.openxmlformats-package.relationships+xml"/>
  <Override PartName="/ppt/notesSlides/_rels/notesSlide82.xml.rels" ContentType="application/vnd.openxmlformats-package.relationships+xml"/>
  <Override PartName="/ppt/notesSlides/_rels/notesSlide17.xml.rels" ContentType="application/vnd.openxmlformats-package.relationships+xml"/>
  <Override PartName="/ppt/notesSlides/_rels/notesSlide83.xml.rels" ContentType="application/vnd.openxmlformats-package.relationships+xml"/>
  <Override PartName="/ppt/notesSlides/_rels/notesSlide18.xml.rels" ContentType="application/vnd.openxmlformats-package.relationships+xml"/>
  <Override PartName="/ppt/notesSlides/_rels/notesSlide3.xml.rels" ContentType="application/vnd.openxmlformats-package.relationships+xml"/>
  <Override PartName="/ppt/notesSlides/_rels/notesSlide22.xml.rels" ContentType="application/vnd.openxmlformats-package.relationships+xml"/>
  <Override PartName="/ppt/notesSlides/_rels/notesSlide75.xml.rels" ContentType="application/vnd.openxmlformats-package.relationships+xml"/>
  <Override PartName="/ppt/notesSlides/_rels/notesSlide57.xml.rels" ContentType="application/vnd.openxmlformats-package.relationships+xml"/>
  <Override PartName="/ppt/notesSlides/_rels/notesSlide84.xml.rels" ContentType="application/vnd.openxmlformats-package.relationships+xml"/>
  <Override PartName="/ppt/notesSlides/_rels/notesSlide19.xml.rels" ContentType="application/vnd.openxmlformats-package.relationships+xml"/>
  <Override PartName="/ppt/notesSlides/_rels/notesSlide4.xml.rels" ContentType="application/vnd.openxmlformats-package.relationships+xml"/>
  <Override PartName="/ppt/notesSlides/_rels/notesSlide23.xml.rels" ContentType="application/vnd.openxmlformats-package.relationships+xml"/>
  <Override PartName="/ppt/notesSlides/_rels/notesSlide76.xml.rels" ContentType="application/vnd.openxmlformats-package.relationships+xml"/>
  <Override PartName="/ppt/notesSlides/_rels/notesSlide58.xml.rels" ContentType="application/vnd.openxmlformats-package.relationships+xml"/>
  <Override PartName="/ppt/notesSlides/_rels/notesSlide21.xml.rels" ContentType="application/vnd.openxmlformats-package.relationships+xml"/>
  <Override PartName="/ppt/notesSlides/_rels/notesSlide2.xml.rels" ContentType="application/vnd.openxmlformats-package.relationships+xml"/>
  <Override PartName="/ppt/notesSlides/_rels/notesSlide14.xml.rels" ContentType="application/vnd.openxmlformats-package.relationships+xml"/>
  <Override PartName="/ppt/notesSlides/_rels/notesSlide5.xml.rels" ContentType="application/vnd.openxmlformats-package.relationships+xml"/>
  <Override PartName="/ppt/notesSlides/_rels/notesSlide24.xml.rels" ContentType="application/vnd.openxmlformats-package.relationships+xml"/>
  <Override PartName="/ppt/notesSlides/_rels/notesSlide77.xml.rels" ContentType="application/vnd.openxmlformats-package.relationships+xml"/>
  <Override PartName="/ppt/notesSlides/_rels/notesSlide47.xml.rels" ContentType="application/vnd.openxmlformats-package.relationships+xml"/>
  <Override PartName="/ppt/notesSlides/_rels/notesSlide10.xml.rels" ContentType="application/vnd.openxmlformats-package.relationships+xml"/>
  <Override PartName="/ppt/notesSlides/_rels/notesSlide12.xml.rels" ContentType="application/vnd.openxmlformats-package.relationships+xml"/>
  <Override PartName="/ppt/notesSlides/_rels/notesSlide49.xml.rels" ContentType="application/vnd.openxmlformats-package.relationships+xml"/>
  <Override PartName="/ppt/notesSlides/_rels/notesSlide30.xml.rels" ContentType="application/vnd.openxmlformats-package.relationships+xml"/>
  <Override PartName="/ppt/notesSlides/_rels/notesSlide67.xml.rels" ContentType="application/vnd.openxmlformats-package.relationships+xml"/>
  <Override PartName="/ppt/notesSlides/_rels/notesSlide31.xml.rels" ContentType="application/vnd.openxmlformats-package.relationships+xml"/>
  <Override PartName="/ppt/notesSlides/_rels/notesSlide68.xml.rels" ContentType="application/vnd.openxmlformats-package.relationships+xml"/>
  <Override PartName="/ppt/notesSlides/_rels/notesSlide32.xml.rels" ContentType="application/vnd.openxmlformats-package.relationships+xml"/>
  <Override PartName="/ppt/notesSlides/_rels/notesSlide69.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54.xml.rels" ContentType="application/vnd.openxmlformats-package.relationships+xml"/>
  <Override PartName="/ppt/notesSlides/_rels/notesSlide42.xml.rels" ContentType="application/vnd.openxmlformats-package.relationships+xml"/>
  <Override PartName="/ppt/notesSlides/_rels/notesSlide79.xml.rels" ContentType="application/vnd.openxmlformats-package.relationships+xml"/>
  <Override PartName="/ppt/notesSlides/_rels/notesSlide53.xml.rels" ContentType="application/vnd.openxmlformats-package.relationships+xml"/>
  <Override PartName="/ppt/notesSlides/_rels/notesSlide52.xml.rels" ContentType="application/vnd.openxmlformats-package.relationships+xml"/>
  <Override PartName="/ppt/notesSlides/_rels/notesSlide89.xml.rels" ContentType="application/vnd.openxmlformats-package.relationships+xml"/>
  <Override PartName="/ppt/notesSlides/_rels/notesSlide38.xml.rels" ContentType="application/vnd.openxmlformats-package.relationships+xml"/>
  <Override PartName="/ppt/notesSlides/_rels/notesSlide40.xml.rels" ContentType="application/vnd.openxmlformats-package.relationships+xml"/>
  <Override PartName="/ppt/notesSlides/_rels/notesSlide51.xml.rels" ContentType="application/vnd.openxmlformats-package.relationships+xml"/>
  <Override PartName="/ppt/notesSlides/_rels/notesSlide88.xml.rels" ContentType="application/vnd.openxmlformats-package.relationships+xml"/>
  <Override PartName="/ppt/notesSlides/_rels/notesSlide48.xml.rels" ContentType="application/vnd.openxmlformats-package.relationships+xml"/>
  <Override PartName="/ppt/notesSlides/_rels/notesSlide11.xml.rels" ContentType="application/vnd.openxmlformats-package.relationships+xml"/>
  <Override PartName="/ppt/notesSlides/_rels/notesSlide13.xml.rels" ContentType="application/vnd.openxmlformats-package.relationships+xml"/>
  <Override PartName="/ppt/notesSlides/_rels/notesSlide50.xml.rels" ContentType="application/vnd.openxmlformats-package.relationships+xml"/>
  <Override PartName="/ppt/notesSlides/_rels/notesSlide87.xml.rels" ContentType="application/vnd.openxmlformats-package.relationships+xml"/>
  <Override PartName="/ppt/notesSlides/_rels/notesSlide41.xml.rels" ContentType="application/vnd.openxmlformats-package.relationships+xml"/>
  <Override PartName="/ppt/notesSlides/_rels/notesSlide78.xml.rels" ContentType="application/vnd.openxmlformats-package.relationships+xml"/>
  <Override PartName="/ppt/notesSlides/_rels/notesSlide39.xml.rels" ContentType="application/vnd.openxmlformats-package.relationships+xml"/>
  <Override PartName="/ppt/notesSlides/_rels/notesSlide46.xml.rels" ContentType="application/vnd.openxmlformats-package.relationships+xml"/>
  <Override PartName="/ppt/notesSlides/_rels/notesSlide45.xml.rels" ContentType="application/vnd.openxmlformats-package.relationships+xml"/>
  <Override PartName="/ppt/notesSlides/_rels/notesSlide44.xml.rels" ContentType="application/vnd.openxmlformats-package.relationships+xml"/>
  <Override PartName="/ppt/notesSlides/_rels/notesSlide43.xml.rels" ContentType="application/vnd.openxmlformats-package.relationships+xml"/>
  <Override PartName="/ppt/notesSlides/_rels/notesSlide29.xml.rels" ContentType="application/vnd.openxmlformats-package.relationships+xml"/>
  <Override PartName="/ppt/notesSlides/_rels/notesSlide71.xml.rels" ContentType="application/vnd.openxmlformats-package.relationships+xml"/>
  <Override PartName="/ppt/notesSlides/_rels/notesSlide56.xml.rels" ContentType="application/vnd.openxmlformats-package.relationships+xml"/>
  <Override PartName="/ppt/notesSlides/_rels/notesSlide60.xml.rels" ContentType="application/vnd.openxmlformats-package.relationships+xml"/>
  <Override PartName="/ppt/notesSlides/_rels/notesSlide61.xml.rels" ContentType="application/vnd.openxmlformats-package.relationships+xml"/>
  <Override PartName="/ppt/notesSlides/_rels/notesSlide62.xml.rels" ContentType="application/vnd.openxmlformats-package.relationships+xml"/>
  <Override PartName="/ppt/notesSlides/_rels/notesSlide7.xml.rels" ContentType="application/vnd.openxmlformats-package.relationships+xml"/>
  <Override PartName="/ppt/notesSlides/_rels/notesSlide26.xml.rels" ContentType="application/vnd.openxmlformats-package.relationships+xml"/>
  <Override PartName="/ppt/notesSlides/_rels/notesSlide63.xml.rels" ContentType="application/vnd.openxmlformats-package.relationships+xml"/>
  <Override PartName="/ppt/notesSlides/_rels/notesSlide64.xml.rels" ContentType="application/vnd.openxmlformats-package.relationships+xml"/>
  <Override PartName="/ppt/notesSlides/_rels/notesSlide65.xml.rels" ContentType="application/vnd.openxmlformats-package.relationships+xml"/>
  <Override PartName="/ppt/notesSlides/_rels/notesSlide90.xml.rels" ContentType="application/vnd.openxmlformats-package.relationships+xml"/>
  <Override PartName="/ppt/notesSlides/_rels/notesSlide6.xml.rels" ContentType="application/vnd.openxmlformats-package.relationships+xml"/>
  <Override PartName="/ppt/notesSlides/_rels/notesSlide25.xml.rels" ContentType="application/vnd.openxmlformats-package.relationships+xml"/>
  <Override PartName="/ppt/notesSlides/_rels/notesSlide86.xml.rels" ContentType="application/vnd.openxmlformats-package.relationships+xml"/>
  <Override PartName="/ppt/notesSlides/_rels/notesSlide85.xml.rels" ContentType="application/vnd.openxmlformats-package.relationships+xml"/>
  <Override PartName="/ppt/notesSlides/_rels/notesSlide72.xml.rels" ContentType="application/vnd.openxmlformats-package.relationships+xml"/>
  <Override PartName="/ppt/notesSlides/_rels/notesSlide70.xml.rels" ContentType="application/vnd.openxmlformats-package.relationships+xml"/>
  <Override PartName="/ppt/notesSlides/_rels/notesSlide9.xml.rels" ContentType="application/vnd.openxmlformats-package.relationships+xml"/>
  <Override PartName="/ppt/notesSlides/_rels/notesSlide28.xml.rels" ContentType="application/vnd.openxmlformats-package.relationships+xml"/>
  <Override PartName="/ppt/notesSlides/_rels/notesSlide66.xml.rels" ContentType="application/vnd.openxmlformats-package.relationships+xml"/>
  <Override PartName="/ppt/notesSlides/_rels/notesSlide59.xml.rels" ContentType="application/vnd.openxmlformats-package.relationships+xml"/>
  <Override PartName="/ppt/notesSlides/notesSlide73.xml" ContentType="application/vnd.openxmlformats-officedocument.presentationml.notesSlide+xml"/>
  <Override PartName="/ppt/notesSlides/notesSlide1.xml" ContentType="application/vnd.openxmlformats-officedocument.presentationml.notesSlide+xml"/>
  <Override PartName="/ppt/notesSlides/notesSlide55.xml" ContentType="application/vnd.openxmlformats-officedocument.presentationml.notesSlide+xml"/>
  <Override PartName="/ppt/notesSlides/notesSlide74.xml" ContentType="application/vnd.openxmlformats-officedocument.presentationml.notesSlide+xml"/>
  <Override PartName="/ppt/notesSlides/notesSlide2.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slide" Target="slides/slide86.xml"/><Relationship Id="rId90" Type="http://schemas.openxmlformats.org/officeDocument/2006/relationships/slide" Target="slides/slide87.xml"/><Relationship Id="rId91" Type="http://schemas.openxmlformats.org/officeDocument/2006/relationships/slide" Target="slides/slide88.xml"/><Relationship Id="rId92" Type="http://schemas.openxmlformats.org/officeDocument/2006/relationships/slide" Target="slides/slide89.xml"/><Relationship Id="rId93" Type="http://schemas.openxmlformats.org/officeDocument/2006/relationships/slide" Target="slides/slide90.xml"/><Relationship Id="rId94"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bar"/>
        <c:grouping val="clustered"/>
        <c:varyColors val="0"/>
        <c:ser>
          <c:idx val="0"/>
          <c:order val="0"/>
          <c:tx>
            <c:strRef>
              <c:f>label 0</c:f>
              <c:strCache>
                <c:ptCount val="1"/>
                <c:pt idx="0">
                  <c:v>Interest Share</c:v>
                </c:pt>
              </c:strCache>
            </c:strRef>
          </c:tx>
          <c:spPr>
            <a:solidFill>
              <a:srgbClr val="e94560"/>
            </a:solidFill>
            <a:ln w="0">
              <a:noFill/>
            </a:ln>
          </c:spPr>
          <c:invertIfNegative val="0"/>
          <c:dLbls>
            <c:numFmt formatCode="#,##0" sourceLinked="0"/>
            <c:txPr>
              <a:bodyPr wrap="square"/>
              <a:lstStyle/>
              <a:p>
                <a:pPr>
                  <a:defRPr b="0" sz="1200" strike="noStrike" u="none">
                    <a:solidFill>
                      <a:srgbClr val="1a1a2e"/>
                    </a:solidFill>
                    <a:uFillTx/>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6"/>
                <c:pt idx="0">
                  <c:v>Technology &amp; Engineering</c:v>
                </c:pt>
                <c:pt idx="1">
                  <c:v>Community &amp; Social</c:v>
                </c:pt>
                <c:pt idx="2">
                  <c:v>Research &amp; Academic</c:v>
                </c:pt>
                <c:pt idx="3">
                  <c:v>Language Learning</c:v>
                </c:pt>
                <c:pt idx="4">
                  <c:v>Business Operations</c:v>
                </c:pt>
                <c:pt idx="5">
                  <c:v>Career Development</c:v>
                </c:pt>
              </c:strCache>
            </c:strRef>
          </c:cat>
          <c:val>
            <c:numRef>
              <c:f>0</c:f>
              <c:numCache>
                <c:formatCode>General</c:formatCode>
                <c:ptCount val="6"/>
                <c:pt idx="0">
                  <c:v>10.9</c:v>
                </c:pt>
                <c:pt idx="1">
                  <c:v>10.55</c:v>
                </c:pt>
                <c:pt idx="2">
                  <c:v>10.22</c:v>
                </c:pt>
                <c:pt idx="3">
                  <c:v>8.66</c:v>
                </c:pt>
                <c:pt idx="4">
                  <c:v>8.59</c:v>
                </c:pt>
                <c:pt idx="5">
                  <c:v>7.29</c:v>
                </c:pt>
              </c:numCache>
            </c:numRef>
          </c:val>
        </c:ser>
        <c:gapWidth val="150"/>
        <c:overlap val="0"/>
        <c:axId val="65313303"/>
        <c:axId val="66131510"/>
      </c:barChart>
      <c:catAx>
        <c:axId val="65313303"/>
        <c:scaling>
          <c:orientation val="minMax"/>
        </c:scaling>
        <c:delete val="0"/>
        <c:axPos val="b"/>
        <c:numFmt formatCode="General" sourceLinked="0"/>
        <c:majorTickMark val="out"/>
        <c:minorTickMark val="none"/>
        <c:tickLblPos val="nextTo"/>
        <c:spPr>
          <a:ln w="12600">
            <a:solidFill>
              <a:srgbClr val="888888"/>
            </a:solidFill>
            <a:round/>
          </a:ln>
        </c:spPr>
        <c:txPr>
          <a:bodyPr/>
          <a:lstStyle/>
          <a:p>
            <a:pPr>
              <a:defRPr b="0" sz="1100" strike="noStrike" u="none">
                <a:solidFill>
                  <a:srgbClr val="2d2d2d"/>
                </a:solidFill>
                <a:uFillTx/>
                <a:latin typeface="Arial"/>
              </a:defRPr>
            </a:pPr>
          </a:p>
        </c:txPr>
        <c:crossAx val="66131510"/>
        <c:crosses val="autoZero"/>
        <c:auto val="1"/>
        <c:lblAlgn val="ctr"/>
        <c:lblOffset val="100"/>
        <c:noMultiLvlLbl val="0"/>
      </c:catAx>
      <c:valAx>
        <c:axId val="66131510"/>
        <c:scaling>
          <c:orientation val="minMax"/>
        </c:scaling>
        <c:delete val="0"/>
        <c:axPos val="l"/>
        <c:majorGridlines>
          <c:spPr>
            <a:ln w="6480">
              <a:solidFill>
                <a:srgbClr val="e8e8e8"/>
              </a:solidFill>
              <a:round/>
            </a:ln>
          </c:spPr>
        </c:majorGridlines>
        <c:numFmt formatCode="General" sourceLinked="0"/>
        <c:majorTickMark val="out"/>
        <c:minorTickMark val="none"/>
        <c:tickLblPos val="low"/>
        <c:spPr>
          <a:ln w="12600">
            <a:solidFill>
              <a:srgbClr val="888888"/>
            </a:solidFill>
            <a:round/>
          </a:ln>
        </c:spPr>
        <c:txPr>
          <a:bodyPr/>
          <a:lstStyle/>
          <a:p>
            <a:pPr>
              <a:defRPr b="0" sz="900" strike="noStrike" u="none">
                <a:solidFill>
                  <a:srgbClr val="8e8e8e"/>
                </a:solidFill>
                <a:uFillTx/>
                <a:latin typeface="Arial"/>
              </a:defRPr>
            </a:pPr>
          </a:p>
        </c:txPr>
        <c:crossAx val="65313303"/>
        <c:crosses val="autoZero"/>
        <c:crossBetween val="between"/>
      </c:valAx>
      <c:spPr>
        <a:noFill/>
        <a:ln w="0">
          <a:noFill/>
        </a:ln>
      </c:spPr>
    </c:plotArea>
    <c:plotVisOnly val="1"/>
    <c:dispBlanksAs val="span"/>
  </c:chart>
  <c:spPr>
    <a:solidFill>
      <a:srgbClr val="ffffff"/>
    </a:solid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4D87B20B-CE78-44B4-B28F-C46D73CF5A60}"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_rels/notesSlide81.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
</Relationships>
</file>

<file path=ppt/notesSlides/_rels/notesSlide82.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
</Relationships>
</file>

<file path=ppt/notesSlides/_rels/notesSlide83.xml.rels><?xml version="1.0" encoding="UTF-8"?>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_rels/notesSlide85.xml.rels><?xml version="1.0" encoding="UTF-8"?>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
</Relationships>
</file>

<file path=ppt/notesSlides/_rels/notesSlide86.xml.rels><?xml version="1.0" encoding="UTF-8"?>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
</Relationships>
</file>

<file path=ppt/notesSlides/_rels/notesSlide87.xml.rels><?xml version="1.0" encoding="UTF-8"?>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
</Relationships>
</file>

<file path=ppt/notesSlides/_rels/notesSlide88.xml.rels><?xml version="1.0" encoding="UTF-8"?>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
</Relationships>
</file>

<file path=ppt/notesSlides/_rels/notesSlide89.xml.rels><?xml version="1.0" encoding="UTF-8"?>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
</Relationships>
</file>

<file path=ppt/notesSlides/_rels/notesSlide90.xml.rels><?xml version="1.0" encoding="UTF-8"?>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7" name="PlaceHolder 1"/>
          <p:cNvSpPr>
            <a:spLocks noGrp="1"/>
          </p:cNvSpPr>
          <p:nvPr>
            <p:ph type="sldImg"/>
          </p:nvPr>
        </p:nvSpPr>
        <p:spPr>
          <a:xfrm>
            <a:off x="0" y="0"/>
            <a:ext cx="0" cy="0"/>
          </a:xfrm>
          <a:prstGeom prst="rect">
            <a:avLst/>
          </a:prstGeom>
          <a:ln w="0">
            <a:noFill/>
          </a:ln>
        </p:spPr>
      </p:sp>
      <p:sp>
        <p:nvSpPr>
          <p:cNvPr id="158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Welcome everyone to Marketing Essentials — from brilliant basics to AI-powered growth. I'm Adrian Watkins, founder of BlackStorm Consulting. Today we cover five packed sections: marketing fundamentals, lean framework for high-ROI campaigns, social media strategies with Singapore data, AI tools that become your marketing team, and the EDGE Framework for Applied Intelligence which ties it all together. You'll leave with practical tools, cheat sheets, and a structured approach to launch real marketing this week.</a:t>
            </a:r>
            <a:endParaRPr b="0" lang="en-US" sz="2000" strike="noStrike" u="none">
              <a:solidFill>
                <a:srgbClr val="000000"/>
              </a:solidFill>
              <a:effectLst/>
              <a:uFillTx/>
              <a:latin typeface="Arial"/>
            </a:endParaRPr>
          </a:p>
        </p:txBody>
      </p:sp>
      <p:sp>
        <p:nvSpPr>
          <p:cNvPr id="1589" name="PlaceHolder 3"/>
          <p:cNvSpPr>
            <a:spLocks noGrp="1"/>
          </p:cNvSpPr>
          <p:nvPr>
            <p:ph type="sldNum" idx="4"/>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CBA888FF-05AC-4ADD-9003-2E1B63EC5B7F}"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0" name="PlaceHolder 1"/>
          <p:cNvSpPr>
            <a:spLocks noGrp="1"/>
          </p:cNvSpPr>
          <p:nvPr>
            <p:ph type="sldImg"/>
          </p:nvPr>
        </p:nvSpPr>
        <p:spPr>
          <a:xfrm>
            <a:off x="0" y="0"/>
            <a:ext cx="0" cy="0"/>
          </a:xfrm>
          <a:prstGeom prst="rect">
            <a:avLst/>
          </a:prstGeom>
          <a:ln w="0">
            <a:noFill/>
          </a:ln>
        </p:spPr>
      </p:sp>
      <p:sp>
        <p:nvSpPr>
          <p:cNvPr id="159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Here's our roadmap. We start with a marketing refresher — the basics every founder needs. Then the Lean Marketing Framework for testing ideas on a shoestring. Section three dives into social media with real Singapore data. Section four introduces AI-driven tools — your new marketing team. We'll also introduce the EDGE Framework during the AI section, giving you a structured way to adopt these tools strategically. Finally, SQREEM market data on over 50,000 AI prompt seekers in Singapore. Plenty of cheat sheets along the way.</a:t>
            </a:r>
            <a:endParaRPr b="0" lang="en-US" sz="2000" strike="noStrike" u="none">
              <a:solidFill>
                <a:srgbClr val="000000"/>
              </a:solidFill>
              <a:effectLst/>
              <a:uFillTx/>
              <a:latin typeface="Arial"/>
            </a:endParaRPr>
          </a:p>
        </p:txBody>
      </p:sp>
      <p:sp>
        <p:nvSpPr>
          <p:cNvPr id="1592" name="PlaceHolder 3"/>
          <p:cNvSpPr>
            <a:spLocks noGrp="1"/>
          </p:cNvSpPr>
          <p:nvPr>
            <p:ph type="sldNum" idx="5"/>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68B3440C-D0AD-40E6-ABAB-28230B610768}"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3" name="PlaceHolder 1"/>
          <p:cNvSpPr>
            <a:spLocks noGrp="1"/>
          </p:cNvSpPr>
          <p:nvPr>
            <p:ph type="sldImg"/>
          </p:nvPr>
        </p:nvSpPr>
        <p:spPr>
          <a:xfrm>
            <a:off x="0" y="0"/>
            <a:ext cx="0" cy="0"/>
          </a:xfrm>
          <a:prstGeom prst="rect">
            <a:avLst/>
          </a:prstGeom>
          <a:ln w="0">
            <a:noFill/>
          </a:ln>
        </p:spPr>
      </p:sp>
      <p:sp>
        <p:nvSpPr>
          <p:cNvPr id="159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Let's kick off with section one — the marketing refresher. Even experienced marketers benefit from revisiting fundamentals. For those newer to this, these building blocks support everything else we'll cover. I promise to keep it practical and startup-relevant.</a:t>
            </a:r>
            <a:endParaRPr b="0" lang="en-US" sz="2000" strike="noStrike" u="none">
              <a:solidFill>
                <a:srgbClr val="000000"/>
              </a:solidFill>
              <a:effectLst/>
              <a:uFillTx/>
              <a:latin typeface="Arial"/>
            </a:endParaRPr>
          </a:p>
        </p:txBody>
      </p:sp>
      <p:sp>
        <p:nvSpPr>
          <p:cNvPr id="1595" name="PlaceHolder 3"/>
          <p:cNvSpPr>
            <a:spLocks noGrp="1"/>
          </p:cNvSpPr>
          <p:nvPr>
            <p:ph type="sldNum" idx="6"/>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2F5ED8CE-9697-444F-A594-D11E6799FEFA}"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6" name="PlaceHolder 1"/>
          <p:cNvSpPr>
            <a:spLocks noGrp="1"/>
          </p:cNvSpPr>
          <p:nvPr>
            <p:ph type="sldImg"/>
          </p:nvPr>
        </p:nvSpPr>
        <p:spPr>
          <a:xfrm>
            <a:off x="0" y="0"/>
            <a:ext cx="0" cy="0"/>
          </a:xfrm>
          <a:prstGeom prst="rect">
            <a:avLst/>
          </a:prstGeom>
          <a:ln w="0">
            <a:noFill/>
          </a:ln>
        </p:spPr>
      </p:sp>
      <p:sp>
        <p:nvSpPr>
          <p:cNvPr id="159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I love this Rory Sutherland quote — marketing is a discovery mechanism. It's not pushing messages at people. It's uncovering value nobody knew existed. For your startup: are you discovering unmet needs, or innovating on existing ones? Marketing aligns stakeholders, maps assumptions about the market, and creates a roadmap for delivering genuine customer value. This mindset separates great marketers from people who just run ads. In EDGE terms, this discovery process is your Evaluate phase — understanding reality before acting.</a:t>
            </a:r>
            <a:endParaRPr b="0" lang="en-US" sz="2000" strike="noStrike" u="none">
              <a:solidFill>
                <a:srgbClr val="000000"/>
              </a:solidFill>
              <a:effectLst/>
              <a:uFillTx/>
              <a:latin typeface="Arial"/>
            </a:endParaRPr>
          </a:p>
        </p:txBody>
      </p:sp>
      <p:sp>
        <p:nvSpPr>
          <p:cNvPr id="1598" name="PlaceHolder 3"/>
          <p:cNvSpPr>
            <a:spLocks noGrp="1"/>
          </p:cNvSpPr>
          <p:nvPr>
            <p:ph type="sldNum" idx="7"/>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245A0DFF-E856-48CB-A810-DCD929EFDD77}"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9" name="PlaceHolder 1"/>
          <p:cNvSpPr>
            <a:spLocks noGrp="1"/>
          </p:cNvSpPr>
          <p:nvPr>
            <p:ph type="sldImg"/>
          </p:nvPr>
        </p:nvSpPr>
        <p:spPr>
          <a:xfrm>
            <a:off x="0" y="0"/>
            <a:ext cx="0" cy="0"/>
          </a:xfrm>
          <a:prstGeom prst="rect">
            <a:avLst/>
          </a:prstGeom>
          <a:ln w="0">
            <a:noFill/>
          </a:ln>
        </p:spPr>
      </p:sp>
      <p:sp>
        <p:nvSpPr>
          <p:cNvPr id="160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Quick show of hands — who here is currently marketing something? Business, personal brand, side hustle? Keep them up. Good — this session is for all of you. Whether you're just starting or levelling up, everything today is immediately applicable.</a:t>
            </a:r>
            <a:endParaRPr b="0" lang="en-US" sz="2000" strike="noStrike" u="none">
              <a:solidFill>
                <a:srgbClr val="000000"/>
              </a:solidFill>
              <a:effectLst/>
              <a:uFillTx/>
              <a:latin typeface="Arial"/>
            </a:endParaRPr>
          </a:p>
        </p:txBody>
      </p:sp>
      <p:sp>
        <p:nvSpPr>
          <p:cNvPr id="1601" name="PlaceHolder 3"/>
          <p:cNvSpPr>
            <a:spLocks noGrp="1"/>
          </p:cNvSpPr>
          <p:nvPr>
            <p:ph type="sldNum" idx="8"/>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48066462-DB46-4048-B023-A5DC384977EC}"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2" name="PlaceHolder 1"/>
          <p:cNvSpPr>
            <a:spLocks noGrp="1"/>
          </p:cNvSpPr>
          <p:nvPr>
            <p:ph type="sldImg"/>
          </p:nvPr>
        </p:nvSpPr>
        <p:spPr>
          <a:xfrm>
            <a:off x="0" y="0"/>
            <a:ext cx="0" cy="0"/>
          </a:xfrm>
          <a:prstGeom prst="rect">
            <a:avLst/>
          </a:prstGeom>
          <a:ln w="0">
            <a:noFill/>
          </a:ln>
        </p:spPr>
      </p:sp>
      <p:sp>
        <p:nvSpPr>
          <p:cNvPr id="160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Shout it out — what's your biggest challenge with marketing right now? Budget? Time? Not knowing which tools to use? Low engagement? All of the above? The challenges you share help me tailor the rest of today. I guarantee someone else in the room has the same challenge.</a:t>
            </a:r>
            <a:endParaRPr b="0" lang="en-US" sz="2000" strike="noStrike" u="none">
              <a:solidFill>
                <a:srgbClr val="000000"/>
              </a:solidFill>
              <a:effectLst/>
              <a:uFillTx/>
              <a:latin typeface="Arial"/>
            </a:endParaRPr>
          </a:p>
        </p:txBody>
      </p:sp>
      <p:sp>
        <p:nvSpPr>
          <p:cNvPr id="1604" name="PlaceHolder 3"/>
          <p:cNvSpPr>
            <a:spLocks noGrp="1"/>
          </p:cNvSpPr>
          <p:nvPr>
            <p:ph type="sldNum" idx="9"/>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0DEAF6F5-B6B3-4B51-A21C-D3B3065C686B}"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5" name="PlaceHolder 1"/>
          <p:cNvSpPr>
            <a:spLocks noGrp="1"/>
          </p:cNvSpPr>
          <p:nvPr>
            <p:ph type="sldImg"/>
          </p:nvPr>
        </p:nvSpPr>
        <p:spPr>
          <a:xfrm>
            <a:off x="0" y="0"/>
            <a:ext cx="0" cy="0"/>
          </a:xfrm>
          <a:prstGeom prst="rect">
            <a:avLst/>
          </a:prstGeom>
          <a:ln w="0">
            <a:noFill/>
          </a:ln>
        </p:spPr>
      </p:sp>
      <p:sp>
        <p:nvSpPr>
          <p:cNvPr id="160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Here's what you'll leave with today. Marketing techniques that cost nothing but time. Hands-on experience with AI tools like ChatGPT, Perplexity, Ideogram, and Canva. Social media strategies backed by real Singapore data. Cheat sheets you can use tomorrow — hooks, prompts, frameworks. Plus the EDGE Framework to structure your entire approach. This is a practical workshop, not a lecture.</a:t>
            </a:r>
            <a:endParaRPr b="0" lang="en-US" sz="2000" strike="noStrike" u="none">
              <a:solidFill>
                <a:srgbClr val="000000"/>
              </a:solidFill>
              <a:effectLst/>
              <a:uFillTx/>
              <a:latin typeface="Arial"/>
            </a:endParaRPr>
          </a:p>
        </p:txBody>
      </p:sp>
      <p:sp>
        <p:nvSpPr>
          <p:cNvPr id="1607" name="PlaceHolder 3"/>
          <p:cNvSpPr>
            <a:spLocks noGrp="1"/>
          </p:cNvSpPr>
          <p:nvPr>
            <p:ph type="sldNum" idx="10"/>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2E8E262E-BCC9-4138-98BF-71A7BC224658}"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8" name="PlaceHolder 1"/>
          <p:cNvSpPr>
            <a:spLocks noGrp="1"/>
          </p:cNvSpPr>
          <p:nvPr>
            <p:ph type="sldImg"/>
          </p:nvPr>
        </p:nvSpPr>
        <p:spPr>
          <a:xfrm>
            <a:off x="0" y="0"/>
            <a:ext cx="0" cy="0"/>
          </a:xfrm>
          <a:prstGeom prst="rect">
            <a:avLst/>
          </a:prstGeom>
          <a:ln w="0">
            <a:noFill/>
          </a:ln>
        </p:spPr>
      </p:sp>
      <p:sp>
        <p:nvSpPr>
          <p:cNvPr id="160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Why does marketing matter for startups? Six reasons. Awareness — getting seen by the right people. Brand Identity — building trust before you have a track record. Sales Growth — converting interest to revenue. Customer Relationships — retaining and growing your base, because acquisition costs 5-7x more than retention. Investor Confidence — showing traction and market fit. Validating Your Model — testing assumptions with real data before scaling.</a:t>
            </a:r>
            <a:endParaRPr b="0" lang="en-US" sz="2000" strike="noStrike" u="none">
              <a:solidFill>
                <a:srgbClr val="000000"/>
              </a:solidFill>
              <a:effectLst/>
              <a:uFillTx/>
              <a:latin typeface="Arial"/>
            </a:endParaRPr>
          </a:p>
        </p:txBody>
      </p:sp>
      <p:sp>
        <p:nvSpPr>
          <p:cNvPr id="1610" name="PlaceHolder 3"/>
          <p:cNvSpPr>
            <a:spLocks noGrp="1"/>
          </p:cNvSpPr>
          <p:nvPr>
            <p:ph type="sldNum" idx="11"/>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866FD9CA-2F11-4C39-8A24-2CF70AC5686F}"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1" name="PlaceHolder 1"/>
          <p:cNvSpPr>
            <a:spLocks noGrp="1"/>
          </p:cNvSpPr>
          <p:nvPr>
            <p:ph type="sldImg"/>
          </p:nvPr>
        </p:nvSpPr>
        <p:spPr>
          <a:xfrm>
            <a:off x="0" y="0"/>
            <a:ext cx="0" cy="0"/>
          </a:xfrm>
          <a:prstGeom prst="rect">
            <a:avLst/>
          </a:prstGeom>
          <a:ln w="0">
            <a:noFill/>
          </a:ln>
        </p:spPr>
      </p:sp>
      <p:sp>
        <p:nvSpPr>
          <p:cNvPr id="161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The marketing funnel — with a startup twist. Key phrase: test, learn, optimise, repeat. Awareness: get noticed through content, social, and ads. Interest: hook them with genuine value. Consideration: build trust with social proof. Conversion: reduce friction — make it easy to say yes. Retention: keep them coming back. For startups, retention is where the real money is. This funnel maps directly to EDGE: Evaluate your current funnel, Define your strategy, Govern with consistent messaging, Elevate through continuous optimization.</a:t>
            </a:r>
            <a:endParaRPr b="0" lang="en-US" sz="2000" strike="noStrike" u="none">
              <a:solidFill>
                <a:srgbClr val="000000"/>
              </a:solidFill>
              <a:effectLst/>
              <a:uFillTx/>
              <a:latin typeface="Arial"/>
            </a:endParaRPr>
          </a:p>
        </p:txBody>
      </p:sp>
      <p:sp>
        <p:nvSpPr>
          <p:cNvPr id="1613" name="PlaceHolder 3"/>
          <p:cNvSpPr>
            <a:spLocks noGrp="1"/>
          </p:cNvSpPr>
          <p:nvPr>
            <p:ph type="sldNum" idx="12"/>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4BA3FC53-F849-48D3-82DE-34561CA8580B}" type="slidenum">
              <a:rPr b="0" lang="en-US" sz="1800" strike="noStrike" u="none">
                <a:solidFill>
                  <a:srgbClr val="000000"/>
                </a:solidFill>
                <a:effectLst/>
                <a:uFillTx/>
                <a:latin typeface="Aptos"/>
                <a:ea typeface="+mn-ea"/>
              </a:rPr>
              <a:t>11</a:t>
            </a:fld>
            <a:endParaRPr b="0" lang="en-US" sz="18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4" name="PlaceHolder 1"/>
          <p:cNvSpPr>
            <a:spLocks noGrp="1"/>
          </p:cNvSpPr>
          <p:nvPr>
            <p:ph type="sldImg"/>
          </p:nvPr>
        </p:nvSpPr>
        <p:spPr>
          <a:xfrm>
            <a:off x="0" y="0"/>
            <a:ext cx="0" cy="0"/>
          </a:xfrm>
          <a:prstGeom prst="rect">
            <a:avLst/>
          </a:prstGeom>
          <a:ln w="0">
            <a:noFill/>
          </a:ln>
        </p:spPr>
      </p:sp>
      <p:sp>
        <p:nvSpPr>
          <p:cNvPr id="161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Know your customer — non-negotiable. Four questions for each persona. 'Who on Earth?' — who will actually pay? 'Stop Bothering Me!' — where do they spend time, and will they welcome your message? 'Say What Now?' — communicate in their language. 'Why Should I Care?' — what's the value exchange? You have about 3 seconds to convince someone. Make those seconds count.</a:t>
            </a:r>
            <a:endParaRPr b="0" lang="en-US" sz="2000" strike="noStrike" u="none">
              <a:solidFill>
                <a:srgbClr val="000000"/>
              </a:solidFill>
              <a:effectLst/>
              <a:uFillTx/>
              <a:latin typeface="Arial"/>
            </a:endParaRPr>
          </a:p>
        </p:txBody>
      </p:sp>
      <p:sp>
        <p:nvSpPr>
          <p:cNvPr id="1616" name="PlaceHolder 3"/>
          <p:cNvSpPr>
            <a:spLocks noGrp="1"/>
          </p:cNvSpPr>
          <p:nvPr>
            <p:ph type="sldNum" idx="13"/>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E95D8C51-BA1F-4AD1-AC70-8B8F2466E7E5}"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7" name="PlaceHolder 1"/>
          <p:cNvSpPr>
            <a:spLocks noGrp="1"/>
          </p:cNvSpPr>
          <p:nvPr>
            <p:ph type="sldImg"/>
          </p:nvPr>
        </p:nvSpPr>
        <p:spPr>
          <a:xfrm>
            <a:off x="0" y="0"/>
            <a:ext cx="0" cy="0"/>
          </a:xfrm>
          <a:prstGeom prst="rect">
            <a:avLst/>
          </a:prstGeom>
          <a:ln w="0">
            <a:noFill/>
          </a:ln>
        </p:spPr>
      </p:sp>
      <p:sp>
        <p:nvSpPr>
          <p:cNvPr id="161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Same questions, different angle. Customer Acquisition Cost — CAC — is one of the most important startup metrics. If acquiring a customer costs more than they're worth, your model doesn't work. Lifetime Value — LTV — is total expected revenue from a single customer. The golden ratio: LTV should be at least 3x CAC. Track these from day one.</a:t>
            </a:r>
            <a:endParaRPr b="0" lang="en-US" sz="2000" strike="noStrike" u="none">
              <a:solidFill>
                <a:srgbClr val="000000"/>
              </a:solidFill>
              <a:effectLst/>
              <a:uFillTx/>
              <a:latin typeface="Arial"/>
            </a:endParaRPr>
          </a:p>
        </p:txBody>
      </p:sp>
      <p:sp>
        <p:nvSpPr>
          <p:cNvPr id="1619" name="PlaceHolder 3"/>
          <p:cNvSpPr>
            <a:spLocks noGrp="1"/>
          </p:cNvSpPr>
          <p:nvPr>
            <p:ph type="sldNum" idx="14"/>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D4E75FE5-1ADC-4690-90B2-55FE2F6A696B}" type="slidenum">
              <a:rPr b="0" lang="en-US" sz="1800" strike="noStrike" u="none">
                <a:solidFill>
                  <a:srgbClr val="000000"/>
                </a:solidFill>
                <a:effectLst/>
                <a:uFillTx/>
                <a:latin typeface="Aptos"/>
                <a:ea typeface="+mn-ea"/>
              </a:rPr>
              <a:t>11</a:t>
            </a:fld>
            <a:endParaRPr b="0" lang="en-US" sz="18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0" name="PlaceHolder 1"/>
          <p:cNvSpPr>
            <a:spLocks noGrp="1"/>
          </p:cNvSpPr>
          <p:nvPr>
            <p:ph type="sldImg"/>
          </p:nvPr>
        </p:nvSpPr>
        <p:spPr>
          <a:xfrm>
            <a:off x="0" y="0"/>
            <a:ext cx="0" cy="0"/>
          </a:xfrm>
          <a:prstGeom prst="rect">
            <a:avLst/>
          </a:prstGeom>
          <a:ln w="0">
            <a:noFill/>
          </a:ln>
        </p:spPr>
      </p:sp>
      <p:sp>
        <p:nvSpPr>
          <p:cNvPr id="162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Eight components of a marketing campaign — your checklist. Objective, Target, Messaging, Channels, Creative, Budget, Timeline, Measurement. Miss any one and your campaign has a gap. Most startups skip Measurement. Don't. If you can't measure it, you can't improve it. This maps to EDGE's Define phase — establishing strategic intent before execution.</a:t>
            </a:r>
            <a:endParaRPr b="0" lang="en-US" sz="2000" strike="noStrike" u="none">
              <a:solidFill>
                <a:srgbClr val="000000"/>
              </a:solidFill>
              <a:effectLst/>
              <a:uFillTx/>
              <a:latin typeface="Arial"/>
            </a:endParaRPr>
          </a:p>
        </p:txBody>
      </p:sp>
      <p:sp>
        <p:nvSpPr>
          <p:cNvPr id="1622" name="PlaceHolder 3"/>
          <p:cNvSpPr>
            <a:spLocks noGrp="1"/>
          </p:cNvSpPr>
          <p:nvPr>
            <p:ph type="sldNum" idx="15"/>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5FECDA62-7839-4169-870B-9BA734CE0CA0}"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3" name="PlaceHolder 1"/>
          <p:cNvSpPr>
            <a:spLocks noGrp="1"/>
          </p:cNvSpPr>
          <p:nvPr>
            <p:ph type="sldImg"/>
          </p:nvPr>
        </p:nvSpPr>
        <p:spPr>
          <a:xfrm>
            <a:off x="0" y="0"/>
            <a:ext cx="0" cy="0"/>
          </a:xfrm>
          <a:prstGeom prst="rect">
            <a:avLst/>
          </a:prstGeom>
          <a:ln w="0">
            <a:noFill/>
          </a:ln>
        </p:spPr>
      </p:sp>
      <p:sp>
        <p:nvSpPr>
          <p:cNvPr id="162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Section two — the Lean Marketing Framework. This is where things get really practical. If you take one thing from today, let it be this framework. Designed for teams with minimal resources who need maximum impact.</a:t>
            </a:r>
            <a:endParaRPr b="0" lang="en-US" sz="2000" strike="noStrike" u="none">
              <a:solidFill>
                <a:srgbClr val="000000"/>
              </a:solidFill>
              <a:effectLst/>
              <a:uFillTx/>
              <a:latin typeface="Arial"/>
            </a:endParaRPr>
          </a:p>
        </p:txBody>
      </p:sp>
      <p:sp>
        <p:nvSpPr>
          <p:cNvPr id="1625" name="PlaceHolder 3"/>
          <p:cNvSpPr>
            <a:spLocks noGrp="1"/>
          </p:cNvSpPr>
          <p:nvPr>
            <p:ph type="sldNum" idx="16"/>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61624E61-9C36-416D-B312-458C7A68C02E}"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6" name="PlaceHolder 1"/>
          <p:cNvSpPr>
            <a:spLocks noGrp="1"/>
          </p:cNvSpPr>
          <p:nvPr>
            <p:ph type="sldImg"/>
          </p:nvPr>
        </p:nvSpPr>
        <p:spPr>
          <a:xfrm>
            <a:off x="0" y="0"/>
            <a:ext cx="0" cy="0"/>
          </a:xfrm>
          <a:prstGeom prst="rect">
            <a:avLst/>
          </a:prstGeom>
          <a:ln w="0">
            <a:noFill/>
          </a:ln>
        </p:spPr>
      </p:sp>
      <p:sp>
        <p:nvSpPr>
          <p:cNvPr id="162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Lean Marketing equals high ROI with low cost. Minimal resources, maximum impact. Not cutting corners — being smart with every dollar and hour. The lean approach borrows from lean startup methodology: build, measure, learn, iterate. This is EDGE in action — structured experimentation with measured outcomes.</a:t>
            </a:r>
            <a:endParaRPr b="0" lang="en-US" sz="2000" strike="noStrike" u="none">
              <a:solidFill>
                <a:srgbClr val="000000"/>
              </a:solidFill>
              <a:effectLst/>
              <a:uFillTx/>
              <a:latin typeface="Arial"/>
            </a:endParaRPr>
          </a:p>
        </p:txBody>
      </p:sp>
      <p:sp>
        <p:nvSpPr>
          <p:cNvPr id="1628" name="PlaceHolder 3"/>
          <p:cNvSpPr>
            <a:spLocks noGrp="1"/>
          </p:cNvSpPr>
          <p:nvPr>
            <p:ph type="sldNum" idx="17"/>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588DB861-F779-4FB9-A341-06214B975605}"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9" name="PlaceHolder 1"/>
          <p:cNvSpPr>
            <a:spLocks noGrp="1"/>
          </p:cNvSpPr>
          <p:nvPr>
            <p:ph type="sldImg"/>
          </p:nvPr>
        </p:nvSpPr>
        <p:spPr>
          <a:xfrm>
            <a:off x="0" y="0"/>
            <a:ext cx="0" cy="0"/>
          </a:xfrm>
          <a:prstGeom prst="rect">
            <a:avLst/>
          </a:prstGeom>
          <a:ln w="0">
            <a:noFill/>
          </a:ln>
        </p:spPr>
      </p:sp>
      <p:sp>
        <p:nvSpPr>
          <p:cNvPr id="163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Five principles of lean marketing. Customer-centric: genuine feedback over assumptions. Rapid experimentation: quick tests before scaling. Iterative improvements: refine based on results. Data-driven decisions: measurable outcomes over gut feelings. Growth hacking: use every free tool available. The AI tools we'll cover shortly make these principles incredibly powerful.</a:t>
            </a:r>
            <a:endParaRPr b="0" lang="en-US" sz="2000" strike="noStrike" u="none">
              <a:solidFill>
                <a:srgbClr val="000000"/>
              </a:solidFill>
              <a:effectLst/>
              <a:uFillTx/>
              <a:latin typeface="Arial"/>
            </a:endParaRPr>
          </a:p>
        </p:txBody>
      </p:sp>
      <p:sp>
        <p:nvSpPr>
          <p:cNvPr id="1631" name="PlaceHolder 3"/>
          <p:cNvSpPr>
            <a:spLocks noGrp="1"/>
          </p:cNvSpPr>
          <p:nvPr>
            <p:ph type="sldNum" idx="18"/>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375E1BFA-316C-4A7E-A4E9-CC37B7333EAB}"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2" name="PlaceHolder 1"/>
          <p:cNvSpPr>
            <a:spLocks noGrp="1"/>
          </p:cNvSpPr>
          <p:nvPr>
            <p:ph type="sldImg"/>
          </p:nvPr>
        </p:nvSpPr>
        <p:spPr>
          <a:xfrm>
            <a:off x="0" y="0"/>
            <a:ext cx="0" cy="0"/>
          </a:xfrm>
          <a:prstGeom prst="rect">
            <a:avLst/>
          </a:prstGeom>
          <a:ln w="0">
            <a:noFill/>
          </a:ln>
        </p:spPr>
      </p:sp>
      <p:sp>
        <p:nvSpPr>
          <p:cNvPr id="163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The full Lean Marketing Framework. Start with your objective. Step one: map assumptions — your Leap of Faith Assumptions or LOFAs. Step two: build a minimum viable campaign using AI tools. Step three: measure with free tools. Step four: learn — critically review the data. Step five: persevere and improve, or pivot and change direction. Fail fast and adapt fast. This entire cycle maps to EDGE: Evaluate assumptions, Define your experiment, Govern the process, Elevate the results.</a:t>
            </a:r>
            <a:endParaRPr b="0" lang="en-US" sz="2000" strike="noStrike" u="none">
              <a:solidFill>
                <a:srgbClr val="000000"/>
              </a:solidFill>
              <a:effectLst/>
              <a:uFillTx/>
              <a:latin typeface="Arial"/>
            </a:endParaRPr>
          </a:p>
        </p:txBody>
      </p:sp>
      <p:sp>
        <p:nvSpPr>
          <p:cNvPr id="1634" name="PlaceHolder 3"/>
          <p:cNvSpPr>
            <a:spLocks noGrp="1"/>
          </p:cNvSpPr>
          <p:nvPr>
            <p:ph type="sldNum" idx="19"/>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2D785C53-E2DA-458A-8698-A35A35E72DFD}" type="slidenum">
              <a:rPr b="0" lang="en-US" sz="1800" strike="noStrike" u="none">
                <a:solidFill>
                  <a:srgbClr val="000000"/>
                </a:solidFill>
                <a:effectLst/>
                <a:uFillTx/>
                <a:latin typeface="Aptos"/>
                <a:ea typeface="+mn-ea"/>
              </a:rPr>
              <a:t>11</a:t>
            </a:fld>
            <a:endParaRPr b="0" lang="en-US" sz="18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5" name="PlaceHolder 1"/>
          <p:cNvSpPr>
            <a:spLocks noGrp="1"/>
          </p:cNvSpPr>
          <p:nvPr>
            <p:ph type="sldImg"/>
          </p:nvPr>
        </p:nvSpPr>
        <p:spPr>
          <a:xfrm>
            <a:off x="0" y="0"/>
            <a:ext cx="0" cy="0"/>
          </a:xfrm>
          <a:prstGeom prst="rect">
            <a:avLst/>
          </a:prstGeom>
          <a:ln w="0">
            <a:noFill/>
          </a:ln>
        </p:spPr>
      </p:sp>
      <p:sp>
        <p:nvSpPr>
          <p:cNvPr id="163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Activity time! Scenario: you're marketing a reusable water bottle brand. Step one — brainstorm one simple marketing idea to test rapidly. Step two — present to the next table for instant feedback: click, ignore, or engage? Step three — discuss learnings, write down at least one pivot. Step four — be ready to share: original idea, feedback, your pivot. You have 8 minutes. Go!</a:t>
            </a:r>
            <a:endParaRPr b="0" lang="en-US" sz="2000" strike="noStrike" u="none">
              <a:solidFill>
                <a:srgbClr val="000000"/>
              </a:solidFill>
              <a:effectLst/>
              <a:uFillTx/>
              <a:latin typeface="Arial"/>
            </a:endParaRPr>
          </a:p>
        </p:txBody>
      </p:sp>
      <p:sp>
        <p:nvSpPr>
          <p:cNvPr id="1637" name="PlaceHolder 3"/>
          <p:cNvSpPr>
            <a:spLocks noGrp="1"/>
          </p:cNvSpPr>
          <p:nvPr>
            <p:ph type="sldNum" idx="20"/>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9FF54DF5-7234-46D5-BF58-FCDA1121C7BC}" type="slidenum">
              <a:rPr b="0" lang="en-US" sz="1800" strike="noStrike" u="none">
                <a:solidFill>
                  <a:srgbClr val="000000"/>
                </a:solidFill>
                <a:effectLst/>
                <a:uFillTx/>
                <a:latin typeface="Aptos"/>
                <a:ea typeface="+mn-ea"/>
              </a:rPr>
              <a:t>11</a:t>
            </a:fld>
            <a:endParaRPr b="0" lang="en-US" sz="18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8" name="PlaceHolder 1"/>
          <p:cNvSpPr>
            <a:spLocks noGrp="1"/>
          </p:cNvSpPr>
          <p:nvPr>
            <p:ph type="sldImg"/>
          </p:nvPr>
        </p:nvSpPr>
        <p:spPr>
          <a:xfrm>
            <a:off x="0" y="0"/>
            <a:ext cx="0" cy="0"/>
          </a:xfrm>
          <a:prstGeom prst="rect">
            <a:avLst/>
          </a:prstGeom>
          <a:ln w="0">
            <a:noFill/>
          </a:ln>
        </p:spPr>
      </p:sp>
      <p:sp>
        <p:nvSpPr>
          <p:cNvPr id="163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Section three — Social Media Marketing. Now we move from theory to channels. Everything here is backed by real Singapore data from 2025. Not generic global advice — specific to your market.</a:t>
            </a:r>
            <a:endParaRPr b="0" lang="en-US" sz="2000" strike="noStrike" u="none">
              <a:solidFill>
                <a:srgbClr val="000000"/>
              </a:solidFill>
              <a:effectLst/>
              <a:uFillTx/>
              <a:latin typeface="Arial"/>
            </a:endParaRPr>
          </a:p>
        </p:txBody>
      </p:sp>
      <p:sp>
        <p:nvSpPr>
          <p:cNvPr id="1640" name="PlaceHolder 3"/>
          <p:cNvSpPr>
            <a:spLocks noGrp="1"/>
          </p:cNvSpPr>
          <p:nvPr>
            <p:ph type="sldNum" idx="21"/>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D155ECF6-1020-4B3C-B2AA-4AD387ACA4C6}"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1" name="PlaceHolder 1"/>
          <p:cNvSpPr>
            <a:spLocks noGrp="1"/>
          </p:cNvSpPr>
          <p:nvPr>
            <p:ph type="sldImg"/>
          </p:nvPr>
        </p:nvSpPr>
        <p:spPr>
          <a:xfrm>
            <a:off x="0" y="0"/>
            <a:ext cx="0" cy="0"/>
          </a:xfrm>
          <a:prstGeom prst="rect">
            <a:avLst/>
          </a:prstGeom>
          <a:ln w="0">
            <a:noFill/>
          </a:ln>
        </p:spPr>
      </p:sp>
      <p:sp>
        <p:nvSpPr>
          <p:cNvPr id="164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Singapore's digital landscape 2025. 5.92 million internet users — 96.9% penetration. 5.5 million social media users — 90% of the population. Average person uses 7.4 platforms monthly and spends 2 hours 11 minutes daily on social. Key insight: 71.4% are concerned about real versus fake content online. Authenticity wins. Ad spend grew 15.9% to US$510 million. The market is investing heavily.</a:t>
            </a:r>
            <a:endParaRPr b="0" lang="en-US" sz="2000" strike="noStrike" u="none">
              <a:solidFill>
                <a:srgbClr val="000000"/>
              </a:solidFill>
              <a:effectLst/>
              <a:uFillTx/>
              <a:latin typeface="Arial"/>
            </a:endParaRPr>
          </a:p>
        </p:txBody>
      </p:sp>
      <p:sp>
        <p:nvSpPr>
          <p:cNvPr id="1643" name="PlaceHolder 3"/>
          <p:cNvSpPr>
            <a:spLocks noGrp="1"/>
          </p:cNvSpPr>
          <p:nvPr>
            <p:ph type="sldNum" idx="22"/>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FB483BB4-023B-404F-B8C5-ADE3094F1513}"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4" name="PlaceHolder 1"/>
          <p:cNvSpPr>
            <a:spLocks noGrp="1"/>
          </p:cNvSpPr>
          <p:nvPr>
            <p:ph type="sldImg"/>
          </p:nvPr>
        </p:nvSpPr>
        <p:spPr>
          <a:xfrm>
            <a:off x="0" y="0"/>
            <a:ext cx="0" cy="0"/>
          </a:xfrm>
          <a:prstGeom prst="rect">
            <a:avLst/>
          </a:prstGeom>
          <a:ln w="0">
            <a:noFill/>
          </a:ln>
        </p:spPr>
      </p:sp>
      <p:sp>
        <p:nvSpPr>
          <p:cNvPr id="164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Top platforms in Singapore. Favourites: WhatsApp number one, Facebook two, TikTok three. But time spent tells a different story: TikTok dominates, then YouTube, then WhatsApp. Where people say they love being versus where they actually spend time are different. If you want reach, target where time is spent. If you want direct engagement, target favourites.</a:t>
            </a:r>
            <a:endParaRPr b="0" lang="en-US" sz="2000" strike="noStrike" u="none">
              <a:solidFill>
                <a:srgbClr val="000000"/>
              </a:solidFill>
              <a:effectLst/>
              <a:uFillTx/>
              <a:latin typeface="Arial"/>
            </a:endParaRPr>
          </a:p>
        </p:txBody>
      </p:sp>
      <p:sp>
        <p:nvSpPr>
          <p:cNvPr id="1646" name="PlaceHolder 3"/>
          <p:cNvSpPr>
            <a:spLocks noGrp="1"/>
          </p:cNvSpPr>
          <p:nvPr>
            <p:ph type="sldNum" idx="23"/>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2C8CF297-E3B6-48E6-91E6-F29C07564B76}"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7" name="PlaceHolder 1"/>
          <p:cNvSpPr>
            <a:spLocks noGrp="1"/>
          </p:cNvSpPr>
          <p:nvPr>
            <p:ph type="sldImg"/>
          </p:nvPr>
        </p:nvSpPr>
        <p:spPr>
          <a:xfrm>
            <a:off x="0" y="0"/>
            <a:ext cx="0" cy="0"/>
          </a:xfrm>
          <a:prstGeom prst="rect">
            <a:avLst/>
          </a:prstGeom>
          <a:ln w="0">
            <a:noFill/>
          </a:ln>
        </p:spPr>
      </p:sp>
      <p:sp>
        <p:nvSpPr>
          <p:cNvPr id="164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Instagram — best for branding and engagement. Focus on storytelling through Reels, influencer collaborations, and visual content. Craft stories about your journey and customer experiences. Partner with micro-influencers for niche credibility. Track engagement rate, reach, impressions, follower growth, and story metrics. Consistency and visual quality are rewarded.</a:t>
            </a:r>
            <a:endParaRPr b="0" lang="en-US" sz="2000" strike="noStrike" u="none">
              <a:solidFill>
                <a:srgbClr val="000000"/>
              </a:solidFill>
              <a:effectLst/>
              <a:uFillTx/>
              <a:latin typeface="Arial"/>
            </a:endParaRPr>
          </a:p>
        </p:txBody>
      </p:sp>
      <p:sp>
        <p:nvSpPr>
          <p:cNvPr id="1649" name="PlaceHolder 3"/>
          <p:cNvSpPr>
            <a:spLocks noGrp="1"/>
          </p:cNvSpPr>
          <p:nvPr>
            <p:ph type="sldNum" idx="24"/>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72D53936-277A-4A7F-9A61-5336BAB9342C}"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0" name="PlaceHolder 1"/>
          <p:cNvSpPr>
            <a:spLocks noGrp="1"/>
          </p:cNvSpPr>
          <p:nvPr>
            <p:ph type="sldImg"/>
          </p:nvPr>
        </p:nvSpPr>
        <p:spPr>
          <a:xfrm>
            <a:off x="0" y="0"/>
            <a:ext cx="0" cy="0"/>
          </a:xfrm>
          <a:prstGeom prst="rect">
            <a:avLst/>
          </a:prstGeom>
          <a:ln w="0">
            <a:noFill/>
          </a:ln>
        </p:spPr>
      </p:sp>
      <p:sp>
        <p:nvSpPr>
          <p:cNvPr id="165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LinkedIn — the B2B powerhouse. Non-negotiable if you're in B2B. Build authority with articles, case studies, and industry commentary. Engage in groups to become a trusted voice. The algorithm rewards consistent posting and genuine engagement. Track engagement, impressions, CTR, follower growth, and lead generation. This is where deals start.</a:t>
            </a:r>
            <a:endParaRPr b="0" lang="en-US" sz="2000" strike="noStrike" u="none">
              <a:solidFill>
                <a:srgbClr val="000000"/>
              </a:solidFill>
              <a:effectLst/>
              <a:uFillTx/>
              <a:latin typeface="Arial"/>
            </a:endParaRPr>
          </a:p>
        </p:txBody>
      </p:sp>
      <p:sp>
        <p:nvSpPr>
          <p:cNvPr id="1652" name="PlaceHolder 3"/>
          <p:cNvSpPr>
            <a:spLocks noGrp="1"/>
          </p:cNvSpPr>
          <p:nvPr>
            <p:ph type="sldNum" idx="25"/>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C7BC50CE-5085-48B6-894B-F8F028E8E0BB}"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3" name="PlaceHolder 1"/>
          <p:cNvSpPr>
            <a:spLocks noGrp="1"/>
          </p:cNvSpPr>
          <p:nvPr>
            <p:ph type="sldImg"/>
          </p:nvPr>
        </p:nvSpPr>
        <p:spPr>
          <a:xfrm>
            <a:off x="0" y="0"/>
            <a:ext cx="0" cy="0"/>
          </a:xfrm>
          <a:prstGeom prst="rect">
            <a:avLst/>
          </a:prstGeom>
          <a:ln w="0">
            <a:noFill/>
          </a:ln>
        </p:spPr>
      </p:sp>
      <p:sp>
        <p:nvSpPr>
          <p:cNvPr id="165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TikTok — the virality engine. Rewards authenticity and creativity over production value. Leverage trending challenges, memes, hashtags. Engage through comments and UGC. Key metrics: engagement rate, views, follower growth, completion rate, shares. Hook people in the first 2 seconds or they're gone. Be bold, be real, be entertaining.</a:t>
            </a:r>
            <a:endParaRPr b="0" lang="en-US" sz="2000" strike="noStrike" u="none">
              <a:solidFill>
                <a:srgbClr val="000000"/>
              </a:solidFill>
              <a:effectLst/>
              <a:uFillTx/>
              <a:latin typeface="Arial"/>
            </a:endParaRPr>
          </a:p>
        </p:txBody>
      </p:sp>
      <p:sp>
        <p:nvSpPr>
          <p:cNvPr id="1655" name="PlaceHolder 3"/>
          <p:cNvSpPr>
            <a:spLocks noGrp="1"/>
          </p:cNvSpPr>
          <p:nvPr>
            <p:ph type="sldNum" idx="26"/>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3DF3FD47-0F35-476A-B846-9280EE8E7926}"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6" name="PlaceHolder 1"/>
          <p:cNvSpPr>
            <a:spLocks noGrp="1"/>
          </p:cNvSpPr>
          <p:nvPr>
            <p:ph type="sldImg"/>
          </p:nvPr>
        </p:nvSpPr>
        <p:spPr>
          <a:xfrm>
            <a:off x="0" y="0"/>
            <a:ext cx="0" cy="0"/>
          </a:xfrm>
          <a:prstGeom prst="rect">
            <a:avLst/>
          </a:prstGeom>
          <a:ln w="0">
            <a:noFill/>
          </a:ln>
        </p:spPr>
      </p:sp>
      <p:sp>
        <p:nvSpPr>
          <p:cNvPr id="165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YouTube Shorts — perfect for video discoverability. Mini-tutorials and bite-sized demos. Critical: strong hook in the first 3-5 seconds. Algorithm favours new content — great for discovery with small followings. Track views, engagement, watch time, subscriber growth, CTR. Shorts funnel viewers to longer content.</a:t>
            </a:r>
            <a:endParaRPr b="0" lang="en-US" sz="2000" strike="noStrike" u="none">
              <a:solidFill>
                <a:srgbClr val="000000"/>
              </a:solidFill>
              <a:effectLst/>
              <a:uFillTx/>
              <a:latin typeface="Arial"/>
            </a:endParaRPr>
          </a:p>
        </p:txBody>
      </p:sp>
      <p:sp>
        <p:nvSpPr>
          <p:cNvPr id="1658" name="PlaceHolder 3"/>
          <p:cNvSpPr>
            <a:spLocks noGrp="1"/>
          </p:cNvSpPr>
          <p:nvPr>
            <p:ph type="sldNum" idx="27"/>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7037805A-41DE-4F4B-BB04-646DBD74A7F4}"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9" name="PlaceHolder 1"/>
          <p:cNvSpPr>
            <a:spLocks noGrp="1"/>
          </p:cNvSpPr>
          <p:nvPr>
            <p:ph type="sldImg"/>
          </p:nvPr>
        </p:nvSpPr>
        <p:spPr>
          <a:xfrm>
            <a:off x="0" y="0"/>
            <a:ext cx="0" cy="0"/>
          </a:xfrm>
          <a:prstGeom prst="rect">
            <a:avLst/>
          </a:prstGeom>
          <a:ln w="0">
            <a:noFill/>
          </a:ln>
        </p:spPr>
      </p:sp>
      <p:sp>
        <p:nvSpPr>
          <p:cNvPr id="166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Facebook — still the king for community building and B2C. Despite decline narratives, it remains Singapore's second favourite platform. Build loyalty through pages, groups, and interactions. Experiment with content variety. Use advanced targeting for paid ads. Track engagement, reach, CTR, follower growth, conversion rate.</a:t>
            </a:r>
            <a:endParaRPr b="0" lang="en-US" sz="2000" strike="noStrike" u="none">
              <a:solidFill>
                <a:srgbClr val="000000"/>
              </a:solidFill>
              <a:effectLst/>
              <a:uFillTx/>
              <a:latin typeface="Arial"/>
            </a:endParaRPr>
          </a:p>
        </p:txBody>
      </p:sp>
      <p:sp>
        <p:nvSpPr>
          <p:cNvPr id="1661" name="PlaceHolder 3"/>
          <p:cNvSpPr>
            <a:spLocks noGrp="1"/>
          </p:cNvSpPr>
          <p:nvPr>
            <p:ph type="sldNum" idx="28"/>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1858732A-4D0F-4333-BA83-738AEA3B16BC}"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2" name="PlaceHolder 1"/>
          <p:cNvSpPr>
            <a:spLocks noGrp="1"/>
          </p:cNvSpPr>
          <p:nvPr>
            <p:ph type="sldImg"/>
          </p:nvPr>
        </p:nvSpPr>
        <p:spPr>
          <a:xfrm>
            <a:off x="0" y="0"/>
            <a:ext cx="0" cy="0"/>
          </a:xfrm>
          <a:prstGeom prst="rect">
            <a:avLst/>
          </a:prstGeom>
          <a:ln w="0">
            <a:noFill/>
          </a:ln>
        </p:spPr>
      </p:sp>
      <p:sp>
        <p:nvSpPr>
          <p:cNvPr id="166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Detailed social media overview for Singapore, February 2025. 5.16 million identities. Average 2 hours 2 minutes daily — actually down 8.4% year-on-year as people become more selective. 7.2 platforms monthly, up 4.3%. Gender split: 47.6% female, 52.4% male. World-leading adoption rates — your audience is absolutely on social media.</a:t>
            </a:r>
            <a:endParaRPr b="0" lang="en-US" sz="2000" strike="noStrike" u="none">
              <a:solidFill>
                <a:srgbClr val="000000"/>
              </a:solidFill>
              <a:effectLst/>
              <a:uFillTx/>
              <a:latin typeface="Arial"/>
            </a:endParaRPr>
          </a:p>
        </p:txBody>
      </p:sp>
      <p:sp>
        <p:nvSpPr>
          <p:cNvPr id="1664" name="PlaceHolder 3"/>
          <p:cNvSpPr>
            <a:spLocks noGrp="1"/>
          </p:cNvSpPr>
          <p:nvPr>
            <p:ph type="sldNum" idx="29"/>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F08AA50C-965A-45FB-843D-E9A24C0F1F0E}" type="slidenum">
              <a:rPr b="0" lang="en-US" sz="1800" strike="noStrike" u="none">
                <a:solidFill>
                  <a:srgbClr val="000000"/>
                </a:solidFill>
                <a:effectLst/>
                <a:uFillTx/>
                <a:latin typeface="Aptos"/>
                <a:ea typeface="+mn-ea"/>
              </a:rPr>
              <a:t>11</a:t>
            </a:fld>
            <a:endParaRPr b="0" lang="en-US" sz="1800" strike="noStrike" u="non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5" name="PlaceHolder 1"/>
          <p:cNvSpPr>
            <a:spLocks noGrp="1"/>
          </p:cNvSpPr>
          <p:nvPr>
            <p:ph type="sldImg"/>
          </p:nvPr>
        </p:nvSpPr>
        <p:spPr>
          <a:xfrm>
            <a:off x="0" y="0"/>
            <a:ext cx="0" cy="0"/>
          </a:xfrm>
          <a:prstGeom prst="rect">
            <a:avLst/>
          </a:prstGeom>
          <a:ln w="0">
            <a:noFill/>
          </a:ln>
        </p:spPr>
      </p:sp>
      <p:sp>
        <p:nvSpPr>
          <p:cNvPr id="166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Favourite platforms by percentage. WhatsApp leads at 30.4% — embedded in Singapore daily life. Facebook 15.3%, TikTok 14.2%, Instagram 13.1%. Interesting long tail: Xiaohongshu at 3.6% for Chinese-speaking community. Telegram 3.3%. Note YouTube wasn't available as an answer option — would significantly change rankings.</a:t>
            </a:r>
            <a:endParaRPr b="0" lang="en-US" sz="2000" strike="noStrike" u="none">
              <a:solidFill>
                <a:srgbClr val="000000"/>
              </a:solidFill>
              <a:effectLst/>
              <a:uFillTx/>
              <a:latin typeface="Arial"/>
            </a:endParaRPr>
          </a:p>
        </p:txBody>
      </p:sp>
      <p:sp>
        <p:nvSpPr>
          <p:cNvPr id="1667" name="PlaceHolder 3"/>
          <p:cNvSpPr>
            <a:spLocks noGrp="1"/>
          </p:cNvSpPr>
          <p:nvPr>
            <p:ph type="sldNum" idx="30"/>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98600E46-8374-4074-8FE9-1CC558BBDE6D}" type="slidenum">
              <a:rPr b="0" lang="en-US" sz="1800" strike="noStrike" u="none">
                <a:solidFill>
                  <a:srgbClr val="000000"/>
                </a:solidFill>
                <a:effectLst/>
                <a:uFillTx/>
                <a:latin typeface="Aptos"/>
                <a:ea typeface="+mn-ea"/>
              </a:rPr>
              <a:t>11</a:t>
            </a:fld>
            <a:endParaRPr b="0" lang="en-US" sz="1800" strike="noStrike" u="non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8" name="PlaceHolder 1"/>
          <p:cNvSpPr>
            <a:spLocks noGrp="1"/>
          </p:cNvSpPr>
          <p:nvPr>
            <p:ph type="sldImg"/>
          </p:nvPr>
        </p:nvSpPr>
        <p:spPr>
          <a:xfrm>
            <a:off x="0" y="0"/>
            <a:ext cx="0" cy="0"/>
          </a:xfrm>
          <a:prstGeom prst="rect">
            <a:avLst/>
          </a:prstGeom>
          <a:ln w="0">
            <a:noFill/>
          </a:ln>
        </p:spPr>
      </p:sp>
      <p:sp>
        <p:nvSpPr>
          <p:cNvPr id="166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Time spent per platform — very different story. TikTok dominates at 34 hours 29 minutes monthly — over an hour daily. YouTube close at 29 hours 45 minutes. WhatsApp 14.5 hours. Facebook nearly 13 hours. Instagram 9.5 hours. Then a big drop. LinkedIn just 36 minutes. TikTok and YouTube own attention. If you're not there, you're missing where the eyeballs are.</a:t>
            </a:r>
            <a:endParaRPr b="0" lang="en-US" sz="2000" strike="noStrike" u="none">
              <a:solidFill>
                <a:srgbClr val="000000"/>
              </a:solidFill>
              <a:effectLst/>
              <a:uFillTx/>
              <a:latin typeface="Arial"/>
            </a:endParaRPr>
          </a:p>
        </p:txBody>
      </p:sp>
      <p:sp>
        <p:nvSpPr>
          <p:cNvPr id="1670" name="PlaceHolder 3"/>
          <p:cNvSpPr>
            <a:spLocks noGrp="1"/>
          </p:cNvSpPr>
          <p:nvPr>
            <p:ph type="sldNum" idx="31"/>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B736B6C1-92B2-4CF5-85CD-0FC0EC57FCF5}" type="slidenum">
              <a:rPr b="0" lang="en-US" sz="1800" strike="noStrike" u="none">
                <a:solidFill>
                  <a:srgbClr val="000000"/>
                </a:solidFill>
                <a:effectLst/>
                <a:uFillTx/>
                <a:latin typeface="Aptos"/>
                <a:ea typeface="+mn-ea"/>
              </a:rPr>
              <a:t>11</a:t>
            </a:fld>
            <a:endParaRPr b="0" lang="en-US" sz="1800" strike="noStrike" u="non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1" name="PlaceHolder 1"/>
          <p:cNvSpPr>
            <a:spLocks noGrp="1"/>
          </p:cNvSpPr>
          <p:nvPr>
            <p:ph type="sldImg"/>
          </p:nvPr>
        </p:nvSpPr>
        <p:spPr>
          <a:xfrm>
            <a:off x="0" y="0"/>
            <a:ext cx="0" cy="0"/>
          </a:xfrm>
          <a:prstGeom prst="rect">
            <a:avLst/>
          </a:prstGeom>
          <a:ln w="0">
            <a:noFill/>
          </a:ln>
        </p:spPr>
      </p:sp>
      <p:sp>
        <p:nvSpPr>
          <p:cNvPr id="167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Account types followed by Singaporeans. Friends and family lead at 43.5%. Next tier: restaurants and food 23.3%, actors 21.5%, influencers 20.3%. For startups: 'brands you buy from' is 17.8%, 'brands you're considering' 16.6%. Roughly 1 in 6 users actively follow brands they're evaluating. Your social presence is part of the purchase decision.</a:t>
            </a:r>
            <a:endParaRPr b="0" lang="en-US" sz="2000" strike="noStrike" u="none">
              <a:solidFill>
                <a:srgbClr val="000000"/>
              </a:solidFill>
              <a:effectLst/>
              <a:uFillTx/>
              <a:latin typeface="Arial"/>
            </a:endParaRPr>
          </a:p>
        </p:txBody>
      </p:sp>
      <p:sp>
        <p:nvSpPr>
          <p:cNvPr id="1673" name="PlaceHolder 3"/>
          <p:cNvSpPr>
            <a:spLocks noGrp="1"/>
          </p:cNvSpPr>
          <p:nvPr>
            <p:ph type="sldNum" idx="32"/>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2869BFC1-A7CB-422C-9EDB-32EE2EFB71A4}" type="slidenum">
              <a:rPr b="0" lang="en-US" sz="1800" strike="noStrike" u="none">
                <a:solidFill>
                  <a:srgbClr val="000000"/>
                </a:solidFill>
                <a:effectLst/>
                <a:uFillTx/>
                <a:latin typeface="Aptos"/>
                <a:ea typeface="+mn-ea"/>
              </a:rPr>
              <a:t>11</a:t>
            </a:fld>
            <a:endParaRPr b="0" lang="en-US" sz="1800" strike="noStrike" u="non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4" name="PlaceHolder 1"/>
          <p:cNvSpPr>
            <a:spLocks noGrp="1"/>
          </p:cNvSpPr>
          <p:nvPr>
            <p:ph type="sldImg"/>
          </p:nvPr>
        </p:nvSpPr>
        <p:spPr>
          <a:xfrm>
            <a:off x="0" y="0"/>
            <a:ext cx="0" cy="0"/>
          </a:xfrm>
          <a:prstGeom prst="rect">
            <a:avLst/>
          </a:prstGeom>
          <a:ln w="0">
            <a:noFill/>
          </a:ln>
        </p:spPr>
      </p:sp>
      <p:sp>
        <p:nvSpPr>
          <p:cNvPr id="167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Social media cheat sheet — keep this handy. Five platforms with best use case, key strategy, and metrics. Instagram for branding, LinkedIn for B2B, TikTok for virality, YouTube Shorts for discovery, Facebook for community. Don't try all five. Pick one or two matching your audience and go deep. Mastery of one beats mediocrity across five.</a:t>
            </a:r>
            <a:endParaRPr b="0" lang="en-US" sz="2000" strike="noStrike" u="none">
              <a:solidFill>
                <a:srgbClr val="000000"/>
              </a:solidFill>
              <a:effectLst/>
              <a:uFillTx/>
              <a:latin typeface="Arial"/>
            </a:endParaRPr>
          </a:p>
        </p:txBody>
      </p:sp>
      <p:sp>
        <p:nvSpPr>
          <p:cNvPr id="1676" name="PlaceHolder 3"/>
          <p:cNvSpPr>
            <a:spLocks noGrp="1"/>
          </p:cNvSpPr>
          <p:nvPr>
            <p:ph type="sldNum" idx="33"/>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29586BDD-B3E7-4F9B-A04A-3AD3EB3547D5}"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7" name="PlaceHolder 1"/>
          <p:cNvSpPr>
            <a:spLocks noGrp="1"/>
          </p:cNvSpPr>
          <p:nvPr>
            <p:ph type="sldImg"/>
          </p:nvPr>
        </p:nvSpPr>
        <p:spPr>
          <a:xfrm>
            <a:off x="0" y="0"/>
            <a:ext cx="0" cy="0"/>
          </a:xfrm>
          <a:prstGeom prst="rect">
            <a:avLst/>
          </a:prstGeom>
          <a:ln w="0">
            <a:noFill/>
          </a:ln>
        </p:spPr>
      </p:sp>
      <p:sp>
        <p:nvSpPr>
          <p:cNvPr id="167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Five key Digital 2025 Singapore highlights. Ad spend grew 15.9% to US$510M. Facebook referrals dropped 30% but still number one social referral channel. Over a quarter watch comedy and meme videos weekly — humour works. Only 11.7% follow journalists despite news being third most popular social media use. Nearly three quarters concerned about real versus fake — authenticity is your competitive edge.</a:t>
            </a:r>
            <a:endParaRPr b="0" lang="en-US" sz="2000" strike="noStrike" u="none">
              <a:solidFill>
                <a:srgbClr val="000000"/>
              </a:solidFill>
              <a:effectLst/>
              <a:uFillTx/>
              <a:latin typeface="Arial"/>
            </a:endParaRPr>
          </a:p>
        </p:txBody>
      </p:sp>
      <p:sp>
        <p:nvSpPr>
          <p:cNvPr id="1679" name="PlaceHolder 3"/>
          <p:cNvSpPr>
            <a:spLocks noGrp="1"/>
          </p:cNvSpPr>
          <p:nvPr>
            <p:ph type="sldNum" idx="34"/>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B633D367-4B52-4EE4-BE1C-521AEAB818FA}" type="slidenum">
              <a:rPr b="0" lang="en-US" sz="1800" strike="noStrike" u="none">
                <a:solidFill>
                  <a:srgbClr val="000000"/>
                </a:solidFill>
                <a:effectLst/>
                <a:uFillTx/>
                <a:latin typeface="Aptos"/>
                <a:ea typeface="+mn-ea"/>
              </a:rPr>
              <a:t>11</a:t>
            </a:fld>
            <a:endParaRPr b="0" lang="en-US" sz="1800" strike="noStrike" u="non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0" name="PlaceHolder 1"/>
          <p:cNvSpPr>
            <a:spLocks noGrp="1"/>
          </p:cNvSpPr>
          <p:nvPr>
            <p:ph type="sldImg"/>
          </p:nvPr>
        </p:nvSpPr>
        <p:spPr>
          <a:xfrm>
            <a:off x="0" y="0"/>
            <a:ext cx="0" cy="0"/>
          </a:xfrm>
          <a:prstGeom prst="rect">
            <a:avLst/>
          </a:prstGeom>
          <a:ln w="0">
            <a:noFill/>
          </a:ln>
        </p:spPr>
      </p:sp>
      <p:sp>
        <p:nvSpPr>
          <p:cNvPr id="168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Instagram ad audience profile. Peak: 25-34 at 34.1% combined with nearly equal gender split. Strong 18-24 bracket at 28.8%. After 45, sharp dropoff. If your target customer is 25-34, Instagram is a prime ad channel.</a:t>
            </a:r>
            <a:endParaRPr b="0" lang="en-US" sz="2000" strike="noStrike" u="none">
              <a:solidFill>
                <a:srgbClr val="000000"/>
              </a:solidFill>
              <a:effectLst/>
              <a:uFillTx/>
              <a:latin typeface="Arial"/>
            </a:endParaRPr>
          </a:p>
        </p:txBody>
      </p:sp>
      <p:sp>
        <p:nvSpPr>
          <p:cNvPr id="1682" name="PlaceHolder 3"/>
          <p:cNvSpPr>
            <a:spLocks noGrp="1"/>
          </p:cNvSpPr>
          <p:nvPr>
            <p:ph type="sldNum" idx="35"/>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3E8AA8B6-495F-4B49-A315-069401DA4BD3}" type="slidenum">
              <a:rPr b="0" lang="en-US" sz="1800" strike="noStrike" u="none">
                <a:solidFill>
                  <a:srgbClr val="000000"/>
                </a:solidFill>
                <a:effectLst/>
                <a:uFillTx/>
                <a:latin typeface="Aptos"/>
                <a:ea typeface="+mn-ea"/>
              </a:rPr>
              <a:t>11</a:t>
            </a:fld>
            <a:endParaRPr b="0" lang="en-US" sz="1800" strike="noStrike" u="non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3" name="PlaceHolder 1"/>
          <p:cNvSpPr>
            <a:spLocks noGrp="1"/>
          </p:cNvSpPr>
          <p:nvPr>
            <p:ph type="sldImg"/>
          </p:nvPr>
        </p:nvSpPr>
        <p:spPr>
          <a:xfrm>
            <a:off x="0" y="0"/>
            <a:ext cx="0" cy="0"/>
          </a:xfrm>
          <a:prstGeom prst="rect">
            <a:avLst/>
          </a:prstGeom>
          <a:ln w="0">
            <a:noFill/>
          </a:ln>
        </p:spPr>
      </p:sp>
      <p:sp>
        <p:nvSpPr>
          <p:cNvPr id="168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LinkedIn ad audience — massively concentrated in 25-34 at 47.2% combined. Male-skewed. After 55, dramatic drop. B2B goldmine for working professionals in career-building years. Incredibly efficient for targeted B2B ads.</a:t>
            </a:r>
            <a:endParaRPr b="0" lang="en-US" sz="2000" strike="noStrike" u="none">
              <a:solidFill>
                <a:srgbClr val="000000"/>
              </a:solidFill>
              <a:effectLst/>
              <a:uFillTx/>
              <a:latin typeface="Arial"/>
            </a:endParaRPr>
          </a:p>
        </p:txBody>
      </p:sp>
      <p:sp>
        <p:nvSpPr>
          <p:cNvPr id="1685" name="PlaceHolder 3"/>
          <p:cNvSpPr>
            <a:spLocks noGrp="1"/>
          </p:cNvSpPr>
          <p:nvPr>
            <p:ph type="sldNum" idx="36"/>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4CA2AFA0-7329-4AE4-90CE-601B3BA59103}" type="slidenum">
              <a:rPr b="0" lang="en-US" sz="1800" strike="noStrike" u="none">
                <a:solidFill>
                  <a:srgbClr val="000000"/>
                </a:solidFill>
                <a:effectLst/>
                <a:uFillTx/>
                <a:latin typeface="Aptos"/>
                <a:ea typeface="+mn-ea"/>
              </a:rPr>
              <a:t>11</a:t>
            </a:fld>
            <a:endParaRPr b="0" lang="en-US" sz="1800" strike="noStrike" u="non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6" name="PlaceHolder 1"/>
          <p:cNvSpPr>
            <a:spLocks noGrp="1"/>
          </p:cNvSpPr>
          <p:nvPr>
            <p:ph type="sldImg"/>
          </p:nvPr>
        </p:nvSpPr>
        <p:spPr>
          <a:xfrm>
            <a:off x="0" y="0"/>
            <a:ext cx="0" cy="0"/>
          </a:xfrm>
          <a:prstGeom prst="rect">
            <a:avLst/>
          </a:prstGeom>
          <a:ln w="0">
            <a:noFill/>
          </a:ln>
        </p:spPr>
      </p:sp>
      <p:sp>
        <p:nvSpPr>
          <p:cNvPr id="168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TikTok ad audience — peak 25-34 at 38.5% combined, slightly male-skewed. Older audience growing: 35-44 is solid at 19.1%. Not just Gen Z anymore. If your product appeals to 25-44 year olds, TikTok offers strong reach at lower costs than Instagram or Facebook.</a:t>
            </a:r>
            <a:endParaRPr b="0" lang="en-US" sz="2000" strike="noStrike" u="none">
              <a:solidFill>
                <a:srgbClr val="000000"/>
              </a:solidFill>
              <a:effectLst/>
              <a:uFillTx/>
              <a:latin typeface="Arial"/>
            </a:endParaRPr>
          </a:p>
        </p:txBody>
      </p:sp>
      <p:sp>
        <p:nvSpPr>
          <p:cNvPr id="1688" name="PlaceHolder 3"/>
          <p:cNvSpPr>
            <a:spLocks noGrp="1"/>
          </p:cNvSpPr>
          <p:nvPr>
            <p:ph type="sldNum" idx="37"/>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5D8F9FB7-C599-43B6-BCEA-0D79382B3C0E}" type="slidenum">
              <a:rPr b="0" lang="en-US" sz="1800" strike="noStrike" u="none">
                <a:solidFill>
                  <a:srgbClr val="000000"/>
                </a:solidFill>
                <a:effectLst/>
                <a:uFillTx/>
                <a:latin typeface="Aptos"/>
                <a:ea typeface="+mn-ea"/>
              </a:rPr>
              <a:t>11</a:t>
            </a:fld>
            <a:endParaRPr b="0" lang="en-US" sz="1800" strike="noStrike" u="non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9" name="PlaceHolder 1"/>
          <p:cNvSpPr>
            <a:spLocks noGrp="1"/>
          </p:cNvSpPr>
          <p:nvPr>
            <p:ph type="sldImg"/>
          </p:nvPr>
        </p:nvSpPr>
        <p:spPr>
          <a:xfrm>
            <a:off x="0" y="0"/>
            <a:ext cx="0" cy="0"/>
          </a:xfrm>
          <a:prstGeom prst="rect">
            <a:avLst/>
          </a:prstGeom>
          <a:ln w="0">
            <a:noFill/>
          </a:ln>
        </p:spPr>
      </p:sp>
      <p:sp>
        <p:nvSpPr>
          <p:cNvPr id="169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YouTube ad audience — most evenly distributed across all age groups. No single bracket dominates. True mass-market platform. Gender split remarkably even. For startups with broad appeal, YouTube is essential.</a:t>
            </a:r>
            <a:endParaRPr b="0" lang="en-US" sz="2000" strike="noStrike" u="none">
              <a:solidFill>
                <a:srgbClr val="000000"/>
              </a:solidFill>
              <a:effectLst/>
              <a:uFillTx/>
              <a:latin typeface="Arial"/>
            </a:endParaRPr>
          </a:p>
        </p:txBody>
      </p:sp>
      <p:sp>
        <p:nvSpPr>
          <p:cNvPr id="1691" name="PlaceHolder 3"/>
          <p:cNvSpPr>
            <a:spLocks noGrp="1"/>
          </p:cNvSpPr>
          <p:nvPr>
            <p:ph type="sldNum" idx="38"/>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7B71EAAD-344F-4454-9761-A8E1ABE135C6}" type="slidenum">
              <a:rPr b="0" lang="en-US" sz="1800" strike="noStrike" u="none">
                <a:solidFill>
                  <a:srgbClr val="000000"/>
                </a:solidFill>
                <a:effectLst/>
                <a:uFillTx/>
                <a:latin typeface="Aptos"/>
                <a:ea typeface="+mn-ea"/>
              </a:rPr>
              <a:t>11</a:t>
            </a:fld>
            <a:endParaRPr b="0" lang="en-US" sz="1800" strike="noStrike" u="non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2" name="PlaceHolder 1"/>
          <p:cNvSpPr>
            <a:spLocks noGrp="1"/>
          </p:cNvSpPr>
          <p:nvPr>
            <p:ph type="sldImg"/>
          </p:nvPr>
        </p:nvSpPr>
        <p:spPr>
          <a:xfrm>
            <a:off x="0" y="0"/>
            <a:ext cx="0" cy="0"/>
          </a:xfrm>
          <a:prstGeom prst="rect">
            <a:avLst/>
          </a:prstGeom>
          <a:ln w="0">
            <a:noFill/>
          </a:ln>
        </p:spPr>
      </p:sp>
      <p:sp>
        <p:nvSpPr>
          <p:cNvPr id="169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Facebook ad audience peaks at 25-34 at 29.2% with strong 35-44 presence at 26.3%. Skews slightly older than TikTok and Instagram — advantage if targeting 30+. Gender balanced. Detailed targeting plus this age distribution makes it powerful for B2C to established professionals and families.</a:t>
            </a:r>
            <a:endParaRPr b="0" lang="en-US" sz="2000" strike="noStrike" u="none">
              <a:solidFill>
                <a:srgbClr val="000000"/>
              </a:solidFill>
              <a:effectLst/>
              <a:uFillTx/>
              <a:latin typeface="Arial"/>
            </a:endParaRPr>
          </a:p>
        </p:txBody>
      </p:sp>
      <p:sp>
        <p:nvSpPr>
          <p:cNvPr id="1694" name="PlaceHolder 3"/>
          <p:cNvSpPr>
            <a:spLocks noGrp="1"/>
          </p:cNvSpPr>
          <p:nvPr>
            <p:ph type="sldNum" idx="39"/>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04710556-C4BA-4AE9-AE7D-B03846F8E75B}" type="slidenum">
              <a:rPr b="0" lang="en-US" sz="1800" strike="noStrike" u="none">
                <a:solidFill>
                  <a:srgbClr val="000000"/>
                </a:solidFill>
                <a:effectLst/>
                <a:uFillTx/>
                <a:latin typeface="Aptos"/>
                <a:ea typeface="+mn-ea"/>
              </a:rPr>
              <a:t>11</a:t>
            </a:fld>
            <a:endParaRPr b="0" lang="en-US" sz="1800" strike="noStrike" u="non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5" name="PlaceHolder 1"/>
          <p:cNvSpPr>
            <a:spLocks noGrp="1"/>
          </p:cNvSpPr>
          <p:nvPr>
            <p:ph type="sldImg"/>
          </p:nvPr>
        </p:nvSpPr>
        <p:spPr>
          <a:xfrm>
            <a:off x="0" y="0"/>
            <a:ext cx="0" cy="0"/>
          </a:xfrm>
          <a:prstGeom prst="rect">
            <a:avLst/>
          </a:prstGeom>
          <a:ln w="0">
            <a:noFill/>
          </a:ln>
        </p:spPr>
      </p:sp>
      <p:sp>
        <p:nvSpPr>
          <p:cNvPr id="169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How Singaporeans access information online. Search engines 87.1% — Google still king. QR codes 54.5% monthly on mobile — massive and unique to this market. Social networks for brand info 34.5%. Image search 20.5%. Voice assistants 11.2%. Online translation 28.6% weekly — reflecting multilingual market. Make your marketing accessible across languages.</a:t>
            </a:r>
            <a:endParaRPr b="0" lang="en-US" sz="2000" strike="noStrike" u="none">
              <a:solidFill>
                <a:srgbClr val="000000"/>
              </a:solidFill>
              <a:effectLst/>
              <a:uFillTx/>
              <a:latin typeface="Arial"/>
            </a:endParaRPr>
          </a:p>
        </p:txBody>
      </p:sp>
      <p:sp>
        <p:nvSpPr>
          <p:cNvPr id="1697" name="PlaceHolder 3"/>
          <p:cNvSpPr>
            <a:spLocks noGrp="1"/>
          </p:cNvSpPr>
          <p:nvPr>
            <p:ph type="sldNum" idx="40"/>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80F9AABD-AAFD-4858-804E-7E4335CB3C73}" type="slidenum">
              <a:rPr b="0" lang="en-US" sz="1800" strike="noStrike" u="none">
                <a:solidFill>
                  <a:srgbClr val="000000"/>
                </a:solidFill>
                <a:effectLst/>
                <a:uFillTx/>
                <a:latin typeface="Aptos"/>
                <a:ea typeface="+mn-ea"/>
              </a:rPr>
              <a:t>11</a:t>
            </a:fld>
            <a:endParaRPr b="0" lang="en-US" sz="1800" strike="noStrike" u="non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8" name="PlaceHolder 1"/>
          <p:cNvSpPr>
            <a:spLocks noGrp="1"/>
          </p:cNvSpPr>
          <p:nvPr>
            <p:ph type="sldImg"/>
          </p:nvPr>
        </p:nvSpPr>
        <p:spPr>
          <a:xfrm>
            <a:off x="0" y="0"/>
            <a:ext cx="0" cy="0"/>
          </a:xfrm>
          <a:prstGeom prst="rect">
            <a:avLst/>
          </a:prstGeom>
          <a:ln w="0">
            <a:noFill/>
          </a:ln>
        </p:spPr>
      </p:sp>
      <p:sp>
        <p:nvSpPr>
          <p:cNvPr id="169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Top 20 websites in Singapore. Google at 377M visits. YouTube 124M. Social platforms next. The standout: ChatGPT at number 6 with 21.3M monthly visits. AI is mainstream. Also notable: Shopee at 10, LinkedIn 11, Straits Times 13. Your audience is sophisticated and digitally engaged.</a:t>
            </a:r>
            <a:endParaRPr b="0" lang="en-US" sz="2000" strike="noStrike" u="none">
              <a:solidFill>
                <a:srgbClr val="000000"/>
              </a:solidFill>
              <a:effectLst/>
              <a:uFillTx/>
              <a:latin typeface="Arial"/>
            </a:endParaRPr>
          </a:p>
        </p:txBody>
      </p:sp>
      <p:sp>
        <p:nvSpPr>
          <p:cNvPr id="1700" name="PlaceHolder 3"/>
          <p:cNvSpPr>
            <a:spLocks noGrp="1"/>
          </p:cNvSpPr>
          <p:nvPr>
            <p:ph type="sldNum" idx="41"/>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8CA36275-5C13-4A7E-ADDB-09A0421536F6}" type="slidenum">
              <a:rPr b="0" lang="en-US" sz="1800" strike="noStrike" u="none">
                <a:solidFill>
                  <a:srgbClr val="000000"/>
                </a:solidFill>
                <a:effectLst/>
                <a:uFillTx/>
                <a:latin typeface="Aptos"/>
                <a:ea typeface="+mn-ea"/>
              </a:rPr>
              <a:t>11</a:t>
            </a:fld>
            <a:endParaRPr b="0" lang="en-US" sz="1800" strike="noStrike" u="non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1" name="PlaceHolder 1"/>
          <p:cNvSpPr>
            <a:spLocks noGrp="1"/>
          </p:cNvSpPr>
          <p:nvPr>
            <p:ph type="sldImg"/>
          </p:nvPr>
        </p:nvSpPr>
        <p:spPr>
          <a:xfrm>
            <a:off x="0" y="0"/>
            <a:ext cx="0" cy="0"/>
          </a:xfrm>
          <a:prstGeom prst="rect">
            <a:avLst/>
          </a:prstGeom>
          <a:ln w="0">
            <a:noFill/>
          </a:ln>
        </p:spPr>
      </p:sp>
      <p:sp>
        <p:nvSpPr>
          <p:cNvPr id="170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Based on everything we've covered about Singapore's digital landscape, which platform fits YOUR business best? Think about your target audience's age, content you can create, and where competitors are. Share with the person next to you.</a:t>
            </a:r>
            <a:endParaRPr b="0" lang="en-US" sz="2000" strike="noStrike" u="none">
              <a:solidFill>
                <a:srgbClr val="000000"/>
              </a:solidFill>
              <a:effectLst/>
              <a:uFillTx/>
              <a:latin typeface="Arial"/>
            </a:endParaRPr>
          </a:p>
        </p:txBody>
      </p:sp>
      <p:sp>
        <p:nvSpPr>
          <p:cNvPr id="1703" name="PlaceHolder 3"/>
          <p:cNvSpPr>
            <a:spLocks noGrp="1"/>
          </p:cNvSpPr>
          <p:nvPr>
            <p:ph type="sldNum" idx="42"/>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A39245A6-D99F-4410-8E1C-8DE698157EC8}"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4" name="PlaceHolder 1"/>
          <p:cNvSpPr>
            <a:spLocks noGrp="1"/>
          </p:cNvSpPr>
          <p:nvPr>
            <p:ph type="sldImg"/>
          </p:nvPr>
        </p:nvSpPr>
        <p:spPr>
          <a:xfrm>
            <a:off x="0" y="0"/>
            <a:ext cx="0" cy="0"/>
          </a:xfrm>
          <a:prstGeom prst="rect">
            <a:avLst/>
          </a:prstGeom>
          <a:ln w="0">
            <a:noFill/>
          </a:ln>
        </p:spPr>
      </p:sp>
      <p:sp>
        <p:nvSpPr>
          <p:cNvPr id="170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Section four — AI-Driven Marketing Tools. These tools work 24/7, never take leave, and cost almost nothing. We'll cover the core stack, then I'll introduce the EDGE Framework to help you deploy these tools intelligently — not just randomly.</a:t>
            </a:r>
            <a:endParaRPr b="0" lang="en-US" sz="2000" strike="noStrike" u="none">
              <a:solidFill>
                <a:srgbClr val="000000"/>
              </a:solidFill>
              <a:effectLst/>
              <a:uFillTx/>
              <a:latin typeface="Arial"/>
            </a:endParaRPr>
          </a:p>
        </p:txBody>
      </p:sp>
      <p:sp>
        <p:nvSpPr>
          <p:cNvPr id="1706" name="PlaceHolder 3"/>
          <p:cNvSpPr>
            <a:spLocks noGrp="1"/>
          </p:cNvSpPr>
          <p:nvPr>
            <p:ph type="sldNum" idx="43"/>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A581B480-A361-432F-BB61-B17690D2F8DF}"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7" name="PlaceHolder 1"/>
          <p:cNvSpPr>
            <a:spLocks noGrp="1"/>
          </p:cNvSpPr>
          <p:nvPr>
            <p:ph type="sldImg"/>
          </p:nvPr>
        </p:nvSpPr>
        <p:spPr>
          <a:xfrm>
            <a:off x="0" y="0"/>
            <a:ext cx="0" cy="0"/>
          </a:xfrm>
          <a:prstGeom prst="rect">
            <a:avLst/>
          </a:prstGeom>
          <a:ln w="0">
            <a:noFill/>
          </a:ln>
        </p:spPr>
      </p:sp>
      <p:sp>
        <p:nvSpPr>
          <p:cNvPr id="170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My favourite AI marketing stack. Writing: ChatGPT and Claude for ideation and content. Research: Perplexity AI with cited sources. Images: Ideogram and DALL-E for visuals with text. Design: Canva for templates and brand consistency. Each has a generous free tier. No excuse not to be using AI in your marketing right now.</a:t>
            </a:r>
            <a:endParaRPr b="0" lang="en-US" sz="2000" strike="noStrike" u="none">
              <a:solidFill>
                <a:srgbClr val="000000"/>
              </a:solidFill>
              <a:effectLst/>
              <a:uFillTx/>
              <a:latin typeface="Arial"/>
            </a:endParaRPr>
          </a:p>
        </p:txBody>
      </p:sp>
      <p:sp>
        <p:nvSpPr>
          <p:cNvPr id="1709" name="PlaceHolder 3"/>
          <p:cNvSpPr>
            <a:spLocks noGrp="1"/>
          </p:cNvSpPr>
          <p:nvPr>
            <p:ph type="sldNum" idx="44"/>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F3912EC8-10EA-4C0A-982D-3AE053CEC01E}"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0" name="PlaceHolder 1"/>
          <p:cNvSpPr>
            <a:spLocks noGrp="1"/>
          </p:cNvSpPr>
          <p:nvPr>
            <p:ph type="sldImg"/>
          </p:nvPr>
        </p:nvSpPr>
        <p:spPr>
          <a:xfrm>
            <a:off x="0" y="0"/>
            <a:ext cx="0" cy="0"/>
          </a:xfrm>
          <a:prstGeom prst="rect">
            <a:avLst/>
          </a:prstGeom>
          <a:ln w="0">
            <a:noFill/>
          </a:ln>
        </p:spPr>
      </p:sp>
      <p:sp>
        <p:nvSpPr>
          <p:cNvPr id="171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Great prompts equal great outputs — the most important AI slide. Eight principles. Clear objective. Context. Specificity. Action language. Format instructions. Constraints. Sources. Iterate. The difference between mediocre and exceptional AI output is almost always prompt quality. This is exactly why EDGE's Elevate pillar includes a dedicated Prompt Engineer tool — we'll cover that shortly.</a:t>
            </a:r>
            <a:endParaRPr b="0" lang="en-US" sz="2000" strike="noStrike" u="none">
              <a:solidFill>
                <a:srgbClr val="000000"/>
              </a:solidFill>
              <a:effectLst/>
              <a:uFillTx/>
              <a:latin typeface="Arial"/>
            </a:endParaRPr>
          </a:p>
        </p:txBody>
      </p:sp>
      <p:sp>
        <p:nvSpPr>
          <p:cNvPr id="1712" name="PlaceHolder 3"/>
          <p:cNvSpPr>
            <a:spLocks noGrp="1"/>
          </p:cNvSpPr>
          <p:nvPr>
            <p:ph type="sldNum" idx="45"/>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2EBFD858-AD01-46AF-A305-09BF9B925639}"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3" name="PlaceHolder 1"/>
          <p:cNvSpPr>
            <a:spLocks noGrp="1"/>
          </p:cNvSpPr>
          <p:nvPr>
            <p:ph type="sldImg"/>
          </p:nvPr>
        </p:nvSpPr>
        <p:spPr>
          <a:xfrm>
            <a:off x="0" y="0"/>
            <a:ext cx="0" cy="0"/>
          </a:xfrm>
          <a:prstGeom prst="rect">
            <a:avLst/>
          </a:prstGeom>
          <a:ln w="0">
            <a:noFill/>
          </a:ln>
        </p:spPr>
      </p:sp>
      <p:sp>
        <p:nvSpPr>
          <p:cNvPr id="171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ChatGPT and Claude — your writing and ideation partners. Versatile styles, creative ideation, personalisation at scale, content optimisation. Paid plans add memory for brand guidelines. Start free, upgrade when ROI is obvious.</a:t>
            </a:r>
            <a:endParaRPr b="0" lang="en-US" sz="2000" strike="noStrike" u="none">
              <a:solidFill>
                <a:srgbClr val="000000"/>
              </a:solidFill>
              <a:effectLst/>
              <a:uFillTx/>
              <a:latin typeface="Arial"/>
            </a:endParaRPr>
          </a:p>
        </p:txBody>
      </p:sp>
      <p:sp>
        <p:nvSpPr>
          <p:cNvPr id="1715" name="PlaceHolder 3"/>
          <p:cNvSpPr>
            <a:spLocks noGrp="1"/>
          </p:cNvSpPr>
          <p:nvPr>
            <p:ph type="sldNum" idx="46"/>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5B87FFC9-5CD8-4832-BC76-1DDF8F47A776}"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6" name="PlaceHolder 1"/>
          <p:cNvSpPr>
            <a:spLocks noGrp="1"/>
          </p:cNvSpPr>
          <p:nvPr>
            <p:ph type="sldImg"/>
          </p:nvPr>
        </p:nvSpPr>
        <p:spPr>
          <a:xfrm>
            <a:off x="0" y="0"/>
            <a:ext cx="0" cy="0"/>
          </a:xfrm>
          <a:prstGeom prst="rect">
            <a:avLst/>
          </a:prstGeom>
          <a:ln w="0">
            <a:noFill/>
          </a:ln>
        </p:spPr>
      </p:sp>
      <p:sp>
        <p:nvSpPr>
          <p:cNvPr id="171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Perplexity AI — research with cited sources. Every answer backed by verifiable references. Real-time data. Deep Research Mode. Free tier is generous. Collections for organising research. I use it daily for competitive analysis.</a:t>
            </a:r>
            <a:endParaRPr b="0" lang="en-US" sz="2000" strike="noStrike" u="none">
              <a:solidFill>
                <a:srgbClr val="000000"/>
              </a:solidFill>
              <a:effectLst/>
              <a:uFillTx/>
              <a:latin typeface="Arial"/>
            </a:endParaRPr>
          </a:p>
        </p:txBody>
      </p:sp>
      <p:sp>
        <p:nvSpPr>
          <p:cNvPr id="1718" name="PlaceHolder 3"/>
          <p:cNvSpPr>
            <a:spLocks noGrp="1"/>
          </p:cNvSpPr>
          <p:nvPr>
            <p:ph type="sldNum" idx="47"/>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0BCDA47B-9E41-43EF-BE09-B6387906F132}"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9" name="PlaceHolder 1"/>
          <p:cNvSpPr>
            <a:spLocks noGrp="1"/>
          </p:cNvSpPr>
          <p:nvPr>
            <p:ph type="sldImg"/>
          </p:nvPr>
        </p:nvSpPr>
        <p:spPr>
          <a:xfrm>
            <a:off x="0" y="0"/>
            <a:ext cx="0" cy="0"/>
          </a:xfrm>
          <a:prstGeom prst="rect">
            <a:avLst/>
          </a:prstGeom>
          <a:ln w="0">
            <a:noFill/>
          </a:ln>
        </p:spPr>
      </p:sp>
      <p:sp>
        <p:nvSpPr>
          <p:cNvPr id="172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Image creation with Ideogram and DALL-E. Ideogram excels at text in images. DALL-E works inside ChatGPT conversations. Rapid experimentation: test ten visual concepts in the time it took to brief one designer. Be specific about style, colours, composition.</a:t>
            </a:r>
            <a:endParaRPr b="0" lang="en-US" sz="2000" strike="noStrike" u="none">
              <a:solidFill>
                <a:srgbClr val="000000"/>
              </a:solidFill>
              <a:effectLst/>
              <a:uFillTx/>
              <a:latin typeface="Arial"/>
            </a:endParaRPr>
          </a:p>
        </p:txBody>
      </p:sp>
      <p:sp>
        <p:nvSpPr>
          <p:cNvPr id="1721" name="PlaceHolder 3"/>
          <p:cNvSpPr>
            <a:spLocks noGrp="1"/>
          </p:cNvSpPr>
          <p:nvPr>
            <p:ph type="sldNum" idx="48"/>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13642A6C-06A5-432A-9D23-6F78BDF7C4A4}"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2" name="PlaceHolder 1"/>
          <p:cNvSpPr>
            <a:spLocks noGrp="1"/>
          </p:cNvSpPr>
          <p:nvPr>
            <p:ph type="sldImg"/>
          </p:nvPr>
        </p:nvSpPr>
        <p:spPr>
          <a:xfrm>
            <a:off x="0" y="0"/>
            <a:ext cx="0" cy="0"/>
          </a:xfrm>
          <a:prstGeom prst="rect">
            <a:avLst/>
          </a:prstGeom>
          <a:ln w="0">
            <a:noFill/>
          </a:ln>
        </p:spPr>
      </p:sp>
      <p:sp>
        <p:nvSpPr>
          <p:cNvPr id="172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Canva — the Swiss Army knife. Templates for everything. Brand Kit for consistency. AI features in Magic Studio. Real-time collaboration. Short learning curve, professional results from day one.</a:t>
            </a:r>
            <a:endParaRPr b="0" lang="en-US" sz="2000" strike="noStrike" u="none">
              <a:solidFill>
                <a:srgbClr val="000000"/>
              </a:solidFill>
              <a:effectLst/>
              <a:uFillTx/>
              <a:latin typeface="Arial"/>
            </a:endParaRPr>
          </a:p>
        </p:txBody>
      </p:sp>
      <p:sp>
        <p:nvSpPr>
          <p:cNvPr id="1724" name="PlaceHolder 3"/>
          <p:cNvSpPr>
            <a:spLocks noGrp="1"/>
          </p:cNvSpPr>
          <p:nvPr>
            <p:ph type="sldNum" idx="49"/>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B43B8052-D51D-490E-8CFF-601878002668}"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5" name="PlaceHolder 1"/>
          <p:cNvSpPr>
            <a:spLocks noGrp="1"/>
          </p:cNvSpPr>
          <p:nvPr>
            <p:ph type="sldImg"/>
          </p:nvPr>
        </p:nvSpPr>
        <p:spPr>
          <a:xfrm>
            <a:off x="0" y="0"/>
            <a:ext cx="0" cy="0"/>
          </a:xfrm>
          <a:prstGeom prst="rect">
            <a:avLst/>
          </a:prstGeom>
          <a:ln w="0">
            <a:noFill/>
          </a:ln>
        </p:spPr>
      </p:sp>
      <p:sp>
        <p:nvSpPr>
          <p:cNvPr id="172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Other tools worth knowing. Social management: Zoho Social, Hootsuite, Buffer. Listening: Google Alerts, Mention, BuzzSumo. Video: CapCut, Hailuo, HeyGen. Influencer: Heepsy, Upfluence. Chatbots: ManyChat. SEO: SEMrush, Ahrefs. Start with free tiers.</a:t>
            </a:r>
            <a:endParaRPr b="0" lang="en-US" sz="2000" strike="noStrike" u="none">
              <a:solidFill>
                <a:srgbClr val="000000"/>
              </a:solidFill>
              <a:effectLst/>
              <a:uFillTx/>
              <a:latin typeface="Arial"/>
            </a:endParaRPr>
          </a:p>
        </p:txBody>
      </p:sp>
      <p:sp>
        <p:nvSpPr>
          <p:cNvPr id="1727" name="PlaceHolder 3"/>
          <p:cNvSpPr>
            <a:spLocks noGrp="1"/>
          </p:cNvSpPr>
          <p:nvPr>
            <p:ph type="sldNum" idx="50"/>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8FB1CA69-59D5-476D-A13D-1ED06DD94DDC}"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8" name="PlaceHolder 1"/>
          <p:cNvSpPr>
            <a:spLocks noGrp="1"/>
          </p:cNvSpPr>
          <p:nvPr>
            <p:ph type="sldImg"/>
          </p:nvPr>
        </p:nvSpPr>
        <p:spPr>
          <a:xfrm>
            <a:off x="0" y="0"/>
            <a:ext cx="0" cy="0"/>
          </a:xfrm>
          <a:prstGeom prst="rect">
            <a:avLst/>
          </a:prstGeom>
          <a:ln w="0">
            <a:noFill/>
          </a:ln>
        </p:spPr>
      </p:sp>
      <p:sp>
        <p:nvSpPr>
          <p:cNvPr id="172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Live demo time! Watch how these tools work together to create a marketing campaign from scratch in minutes. ChatGPT for copy, Perplexity for research, Ideogram for visuals, Canva to pull it together. You can do this too with the cheat sheets.</a:t>
            </a:r>
            <a:endParaRPr b="0" lang="en-US" sz="2000" strike="noStrike" u="none">
              <a:solidFill>
                <a:srgbClr val="000000"/>
              </a:solidFill>
              <a:effectLst/>
              <a:uFillTx/>
              <a:latin typeface="Arial"/>
            </a:endParaRPr>
          </a:p>
        </p:txBody>
      </p:sp>
      <p:sp>
        <p:nvSpPr>
          <p:cNvPr id="1730" name="PlaceHolder 3"/>
          <p:cNvSpPr>
            <a:spLocks noGrp="1"/>
          </p:cNvSpPr>
          <p:nvPr>
            <p:ph type="sldNum" idx="51"/>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8335C40F-1265-4B56-8AD3-FCBCA4E0AC17}"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1" name="PlaceHolder 1"/>
          <p:cNvSpPr>
            <a:spLocks noGrp="1"/>
          </p:cNvSpPr>
          <p:nvPr>
            <p:ph type="sldImg"/>
          </p:nvPr>
        </p:nvSpPr>
        <p:spPr>
          <a:xfrm>
            <a:off x="0" y="0"/>
            <a:ext cx="0" cy="0"/>
          </a:xfrm>
          <a:prstGeom prst="rect">
            <a:avLst/>
          </a:prstGeom>
          <a:ln w="0">
            <a:noFill/>
          </a:ln>
        </p:spPr>
      </p:sp>
      <p:sp>
        <p:nvSpPr>
          <p:cNvPr id="173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Hooks cheat sheet part one. The 'Did You Know' hook — surprising stats. The 'Mistake' hook — common errors. 'Numbered List' — people love lists. 'How-To' — practical value upfront. 'Curiosity Gap' — teases must-know info. Save this slide and use it when stuck for content ideas.</a:t>
            </a:r>
            <a:endParaRPr b="0" lang="en-US" sz="2000" strike="noStrike" u="none">
              <a:solidFill>
                <a:srgbClr val="000000"/>
              </a:solidFill>
              <a:effectLst/>
              <a:uFillTx/>
              <a:latin typeface="Arial"/>
            </a:endParaRPr>
          </a:p>
        </p:txBody>
      </p:sp>
      <p:sp>
        <p:nvSpPr>
          <p:cNvPr id="1733" name="PlaceHolder 3"/>
          <p:cNvSpPr>
            <a:spLocks noGrp="1"/>
          </p:cNvSpPr>
          <p:nvPr>
            <p:ph type="sldNum" idx="52"/>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A6636C3A-74C5-4A53-B64E-28AB7E53F585}"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4" name="PlaceHolder 1"/>
          <p:cNvSpPr>
            <a:spLocks noGrp="1"/>
          </p:cNvSpPr>
          <p:nvPr>
            <p:ph type="sldImg"/>
          </p:nvPr>
        </p:nvSpPr>
        <p:spPr>
          <a:xfrm>
            <a:off x="0" y="0"/>
            <a:ext cx="0" cy="0"/>
          </a:xfrm>
          <a:prstGeom prst="rect">
            <a:avLst/>
          </a:prstGeom>
          <a:ln w="0">
            <a:noFill/>
          </a:ln>
        </p:spPr>
      </p:sp>
      <p:sp>
        <p:nvSpPr>
          <p:cNvPr id="173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Hooks part two. 'Shock Factor' — disrupts expectations. 'Challenge the Norm' — contrarian takes drive engagement. 'Storytelling' — personal narrative builds trust. 'Engagement Question' — invites interaction. 'Proven Formula' — results-oriented. Mix these across your content calendar — variety keeps your audience engaged.</a:t>
            </a:r>
            <a:endParaRPr b="0" lang="en-US" sz="2000" strike="noStrike" u="none">
              <a:solidFill>
                <a:srgbClr val="000000"/>
              </a:solidFill>
              <a:effectLst/>
              <a:uFillTx/>
              <a:latin typeface="Arial"/>
            </a:endParaRPr>
          </a:p>
        </p:txBody>
      </p:sp>
      <p:sp>
        <p:nvSpPr>
          <p:cNvPr id="1736" name="PlaceHolder 3"/>
          <p:cNvSpPr>
            <a:spLocks noGrp="1"/>
          </p:cNvSpPr>
          <p:nvPr>
            <p:ph type="sldNum" idx="53"/>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319F620A-C846-4EA8-BFE7-688E56FFED6A}"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7" name="PlaceHolder 1"/>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Now let me introduce something that ties all of today's tools and strategies together - the EDGE Framework for Applied Intelligence. I developed this at BlackStorm Consulting specifically to help startups and organisations move from ad-hoc AI usage to strategic, structured AI integration. Think of it as the operating system for everything we covered today. Intelligence must be structured before it can be scaled.</a:t>
            </a:r>
            <a:endParaRPr b="0" lang="en-US" sz="2000" strike="noStrike" u="none">
              <a:solidFill>
                <a:srgbClr val="000000"/>
              </a:solidFill>
              <a:effectLst/>
              <a:uFillTx/>
              <a:latin typeface="Arial"/>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8" name="PlaceHolder 1"/>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EDGE has four pillars, each building on the last as a reinforcing system. Evaluate: diagnose your intelligence readiness - where are you now? Define: establish strategic intent - what are you building? Govern: embed discipline and trust - the pillar most organisations skip but regret later. And Elevate: convert capability into sustained advantage. This is a continuous cycle. Each pillar strengthens the others.</a:t>
            </a:r>
            <a:endParaRPr b="0" lang="en-US" sz="2000" strike="noStrike" u="none">
              <a:solidFill>
                <a:srgbClr val="000000"/>
              </a:solidFill>
              <a:effectLst/>
              <a:uFillTx/>
              <a:latin typeface="Arial"/>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9" name="PlaceHolder 1"/>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Why do startups specifically need EDGE? First, it forces honest evaluation before you spend. Second, it prevents shiny tool syndrome - trying every new AI tool without strategy. Third, governance is not just for big companies - even a two-person startup needs data ethics and brand consistency. Fourth, it compounds results. Each cycle through EDGE builds sustainable advantage competitors cannot easily copy.</a:t>
            </a:r>
            <a:endParaRPr b="0" lang="en-US" sz="2000" strike="noStrike" u="none">
              <a:solidFill>
                <a:srgbClr val="000000"/>
              </a:solidFill>
              <a:effectLst/>
              <a:uFillTx/>
              <a:latin typeface="Arial"/>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0" name="PlaceHolder 1"/>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Here are the 12 EDGE tools - all completely free at adrianwatkins.com/tools. Under Evaluate: five simulation rooms. Under Define: Brand Profile Generator, Content Sprint Generator, and Engagement Analyzer. Under Govern: governance review, ethical dilemmas, and AI maturity assessment. Under Elevate: the Prompt Engineer with three modes. Every tool is session-based, privacy-first, and immediately actionable.</a:t>
            </a:r>
            <a:endParaRPr b="0" lang="en-US" sz="2000" strike="noStrike" u="none">
              <a:solidFill>
                <a:srgbClr val="000000"/>
              </a:solidFill>
              <a:effectLst/>
              <a:uFillTx/>
              <a:latin typeface="Arial"/>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1" name="PlaceHolder 1"/>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Marketing Refresher maps to Evaluate - know your customer, map assumptions, understand reality. Lean Marketing maps to Define - establish your experiment strategy before building. Social Media and AI Tools map to Govern and Elevate - execute with discipline, measure impact, and continuously optimize. EDGE is the structure that makes your marketing intelligent. Take the free AI Governance Maturity Assessment at adrianwatkins.com/tools.</a:t>
            </a:r>
            <a:endParaRPr b="0" lang="en-US" sz="2000" strike="noStrike" u="none">
              <a:solidFill>
                <a:srgbClr val="000000"/>
              </a:solidFill>
              <a:effectLst/>
              <a:uFillTx/>
              <a:latin typeface="Arial"/>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2" name="PlaceHolder 1"/>
          <p:cNvSpPr>
            <a:spLocks noGrp="1"/>
          </p:cNvSpPr>
          <p:nvPr>
            <p:ph type="sldImg"/>
          </p:nvPr>
        </p:nvSpPr>
        <p:spPr>
          <a:xfrm>
            <a:off x="0" y="0"/>
            <a:ext cx="0" cy="0"/>
          </a:xfrm>
          <a:prstGeom prst="rect">
            <a:avLst/>
          </a:prstGeom>
          <a:ln w="0">
            <a:noFill/>
          </a:ln>
        </p:spPr>
      </p:sp>
      <p:sp>
        <p:nvSpPr>
          <p:cNvPr id="174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Section five — startups in Singapore are actively seeking AI prompts to drive efficiency. How do we know? We ran market intelligence through SQREEM on over 50,000 prompt seekers. Let me show you the data, then give you the templates you need.</a:t>
            </a:r>
            <a:endParaRPr b="0" lang="en-US" sz="2000" strike="noStrike" u="none">
              <a:solidFill>
                <a:srgbClr val="000000"/>
              </a:solidFill>
              <a:effectLst/>
              <a:uFillTx/>
              <a:latin typeface="Arial"/>
            </a:endParaRPr>
          </a:p>
        </p:txBody>
      </p:sp>
      <p:sp>
        <p:nvSpPr>
          <p:cNvPr id="1744" name="PlaceHolder 3"/>
          <p:cNvSpPr>
            <a:spLocks noGrp="1"/>
          </p:cNvSpPr>
          <p:nvPr>
            <p:ph type="sldNum" idx="54"/>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07421ADD-F46C-43FE-A99B-0941D75CAA81}" type="slidenum">
              <a:rPr b="0" lang="en-US" sz="1800" strike="noStrike" u="none">
                <a:solidFill>
                  <a:schemeClr val="dk1"/>
                </a:solidFill>
                <a:effectLst/>
                <a:uFillTx/>
                <a:latin typeface="+mn-lt"/>
                <a:ea typeface="+mn-ea"/>
              </a:rPr>
              <a:t>11</a:t>
            </a:fld>
            <a:endParaRPr b="0" lang="en-US" sz="1800" strike="noStrike" u="non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5" name="PlaceHolder 1"/>
          <p:cNvSpPr>
            <a:spLocks noGrp="1"/>
          </p:cNvSpPr>
          <p:nvPr>
            <p:ph type="sldImg"/>
          </p:nvPr>
        </p:nvSpPr>
        <p:spPr>
          <a:xfrm>
            <a:off x="0" y="0"/>
            <a:ext cx="0" cy="0"/>
          </a:xfrm>
          <a:prstGeom prst="rect">
            <a:avLst/>
          </a:prstGeom>
          <a:ln w="0">
            <a:noFill/>
          </a:ln>
        </p:spPr>
      </p:sp>
      <p:sp>
        <p:nvSpPr>
          <p:cNvPr id="174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Blog post cheat sheet, step one: finding ideas with AI. This prompt template generates relevant blog topics for your specific startup. Replace bracketed text with your details. The AI generates 10 tailored topics addressing real challenges, positioning you as an expert, optimised for SEO. Evaluate all ten — don't just take the first. This is EDGE's Define phase in action — strategic content selection.</a:t>
            </a:r>
            <a:endParaRPr b="0" lang="en-US" sz="2000" strike="noStrike" u="none">
              <a:solidFill>
                <a:srgbClr val="000000"/>
              </a:solidFill>
              <a:effectLst/>
              <a:uFillTx/>
              <a:latin typeface="Arial"/>
            </a:endParaRPr>
          </a:p>
        </p:txBody>
      </p:sp>
      <p:sp>
        <p:nvSpPr>
          <p:cNvPr id="1747" name="PlaceHolder 3"/>
          <p:cNvSpPr>
            <a:spLocks noGrp="1"/>
          </p:cNvSpPr>
          <p:nvPr>
            <p:ph type="sldNum" idx="55"/>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A13B17AF-D221-406F-A465-BE4601FE622A}" type="slidenum">
              <a:rPr b="0" lang="en-US" sz="1800" strike="noStrike" u="none">
                <a:solidFill>
                  <a:srgbClr val="000000"/>
                </a:solidFill>
                <a:effectLst/>
                <a:uFillTx/>
                <a:latin typeface="Aptos"/>
                <a:ea typeface="+mn-ea"/>
              </a:rPr>
              <a:t>11</a:t>
            </a:fld>
            <a:endParaRPr b="0" lang="en-US" sz="1800" strike="noStrike" u="non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8" name="PlaceHolder 1"/>
          <p:cNvSpPr>
            <a:spLocks noGrp="1"/>
          </p:cNvSpPr>
          <p:nvPr>
            <p:ph type="sldImg"/>
          </p:nvPr>
        </p:nvSpPr>
        <p:spPr>
          <a:xfrm>
            <a:off x="0" y="0"/>
            <a:ext cx="0" cy="0"/>
          </a:xfrm>
          <a:prstGeom prst="rect">
            <a:avLst/>
          </a:prstGeom>
          <a:ln w="0">
            <a:noFill/>
          </a:ln>
        </p:spPr>
      </p:sp>
      <p:sp>
        <p:nvSpPr>
          <p:cNvPr id="174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Step two: creating a structured outline. Feed your chosen topic into this prompt for a clear content structure: introduction, 3-5 key points, conclusion with call-to-action. Tell the AI your primary purpose — educating, solving problems, or offering insights. A good outline makes writing 10x faster.</a:t>
            </a:r>
            <a:endParaRPr b="0" lang="en-US" sz="2000" strike="noStrike" u="none">
              <a:solidFill>
                <a:srgbClr val="000000"/>
              </a:solidFill>
              <a:effectLst/>
              <a:uFillTx/>
              <a:latin typeface="Arial"/>
            </a:endParaRPr>
          </a:p>
        </p:txBody>
      </p:sp>
      <p:sp>
        <p:nvSpPr>
          <p:cNvPr id="1750" name="PlaceHolder 3"/>
          <p:cNvSpPr>
            <a:spLocks noGrp="1"/>
          </p:cNvSpPr>
          <p:nvPr>
            <p:ph type="sldNum" idx="56"/>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FC80D150-6A22-400A-A3AC-975B81823662}" type="slidenum">
              <a:rPr b="0" lang="en-US" sz="1800" strike="noStrike" u="none">
                <a:solidFill>
                  <a:srgbClr val="000000"/>
                </a:solidFill>
                <a:effectLst/>
                <a:uFillTx/>
                <a:latin typeface="Aptos"/>
                <a:ea typeface="+mn-ea"/>
              </a:rPr>
              <a:t>11</a:t>
            </a:fld>
            <a:endParaRPr b="0" lang="en-US" sz="1800" strike="noStrike" u="non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1" name="PlaceHolder 1"/>
          <p:cNvSpPr>
            <a:spLocks noGrp="1"/>
          </p:cNvSpPr>
          <p:nvPr>
            <p:ph type="sldImg"/>
          </p:nvPr>
        </p:nvSpPr>
        <p:spPr>
          <a:xfrm>
            <a:off x="0" y="0"/>
            <a:ext cx="0" cy="0"/>
          </a:xfrm>
          <a:prstGeom prst="rect">
            <a:avLst/>
          </a:prstGeom>
          <a:ln w="0">
            <a:noFill/>
          </a:ln>
        </p:spPr>
      </p:sp>
      <p:sp>
        <p:nvSpPr>
          <p:cNvPr id="175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Step three: writing the draft. Feed the outline back with this template. Specify your tone — helpful, conversational, authoritative. The AI produces a complete first draft. Important: never publish as-is. Read through, add your personal experience and unique insights. AI gives structure and 80% of the work — you add the 20% that makes it authentic.</a:t>
            </a:r>
            <a:endParaRPr b="0" lang="en-US" sz="2000" strike="noStrike" u="none">
              <a:solidFill>
                <a:srgbClr val="000000"/>
              </a:solidFill>
              <a:effectLst/>
              <a:uFillTx/>
              <a:latin typeface="Arial"/>
            </a:endParaRPr>
          </a:p>
        </p:txBody>
      </p:sp>
      <p:sp>
        <p:nvSpPr>
          <p:cNvPr id="1753" name="PlaceHolder 3"/>
          <p:cNvSpPr>
            <a:spLocks noGrp="1"/>
          </p:cNvSpPr>
          <p:nvPr>
            <p:ph type="sldNum" idx="57"/>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619DF267-A62B-4C22-BD35-0F8E3A4F8EBB}" type="slidenum">
              <a:rPr b="0" lang="en-US" sz="1800" strike="noStrike" u="none">
                <a:solidFill>
                  <a:srgbClr val="000000"/>
                </a:solidFill>
                <a:effectLst/>
                <a:uFillTx/>
                <a:latin typeface="Aptos"/>
                <a:ea typeface="+mn-ea"/>
              </a:rPr>
              <a:t>11</a:t>
            </a:fld>
            <a:endParaRPr b="0" lang="en-US" sz="1800" strike="noStrike" u="none">
              <a:solidFill>
                <a:srgbClr val="000000"/>
              </a:solidFill>
              <a:effectLst/>
              <a:uFillTx/>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4" name="PlaceHolder 1"/>
          <p:cNvSpPr>
            <a:spLocks noGrp="1"/>
          </p:cNvSpPr>
          <p:nvPr>
            <p:ph type="sldImg"/>
          </p:nvPr>
        </p:nvSpPr>
        <p:spPr>
          <a:xfrm>
            <a:off x="0" y="0"/>
            <a:ext cx="0" cy="0"/>
          </a:xfrm>
          <a:prstGeom prst="rect">
            <a:avLst/>
          </a:prstGeom>
          <a:ln w="0">
            <a:noFill/>
          </a:ln>
        </p:spPr>
      </p:sp>
      <p:sp>
        <p:nvSpPr>
          <p:cNvPr id="175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Step four: SEO optimisation. This final prompt makes your article search-engine ready — focus keywords, meta descriptions, proper heading structure, natural keyword incorporation. The key instruction: 'naturally incorporate.' Keyword stuffing hurts rankings. Check suggested keywords against search volume using Google Keyword Planner or Ubersuggest.</a:t>
            </a:r>
            <a:endParaRPr b="0" lang="en-US" sz="2000" strike="noStrike" u="none">
              <a:solidFill>
                <a:srgbClr val="000000"/>
              </a:solidFill>
              <a:effectLst/>
              <a:uFillTx/>
              <a:latin typeface="Arial"/>
            </a:endParaRPr>
          </a:p>
        </p:txBody>
      </p:sp>
      <p:sp>
        <p:nvSpPr>
          <p:cNvPr id="1756" name="PlaceHolder 3"/>
          <p:cNvSpPr>
            <a:spLocks noGrp="1"/>
          </p:cNvSpPr>
          <p:nvPr>
            <p:ph type="sldNum" idx="58"/>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1BDD921E-455C-4CF4-A942-0C25DE75D3C0}" type="slidenum">
              <a:rPr b="0" lang="en-US" sz="1800" strike="noStrike" u="none">
                <a:solidFill>
                  <a:srgbClr val="000000"/>
                </a:solidFill>
                <a:effectLst/>
                <a:uFillTx/>
                <a:latin typeface="Aptos"/>
                <a:ea typeface="+mn-ea"/>
              </a:rPr>
              <a:t>&lt;number&gt;</a:t>
            </a:fld>
            <a:endParaRPr b="0" lang="en-US" sz="1800" strike="noStrike" u="non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7" name="PlaceHolder 1"/>
          <p:cNvSpPr>
            <a:spLocks noGrp="1"/>
          </p:cNvSpPr>
          <p:nvPr>
            <p:ph type="sldImg"/>
          </p:nvPr>
        </p:nvSpPr>
        <p:spPr>
          <a:xfrm>
            <a:off x="0" y="0"/>
            <a:ext cx="0" cy="0"/>
          </a:xfrm>
          <a:prstGeom prst="rect">
            <a:avLst/>
          </a:prstGeom>
          <a:ln w="0">
            <a:noFill/>
          </a:ln>
        </p:spPr>
      </p:sp>
      <p:sp>
        <p:nvSpPr>
          <p:cNvPr id="175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PromptAndGo — promptandgo.ai. A prompt library and AI optimizer built for APAC professionals. Over 500 curated prompts across marketing, sales, content, SEO, and strategy. Scout AI rewrites prompts for specific platforms. Power Packs are themed bundles. All packs unlocked for everyone in this room today. This is EDGE's Elevate pillar in action — optimising your AI capabilities for better outputs.</a:t>
            </a:r>
            <a:endParaRPr b="0" lang="en-US" sz="2000" strike="noStrike" u="none">
              <a:solidFill>
                <a:srgbClr val="000000"/>
              </a:solidFill>
              <a:effectLst/>
              <a:uFillTx/>
              <a:latin typeface="Arial"/>
            </a:endParaRPr>
          </a:p>
        </p:txBody>
      </p:sp>
      <p:sp>
        <p:nvSpPr>
          <p:cNvPr id="1759" name="PlaceHolder 3"/>
          <p:cNvSpPr>
            <a:spLocks noGrp="1"/>
          </p:cNvSpPr>
          <p:nvPr>
            <p:ph type="sldNum" idx="59"/>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9BA0C41B-0BDC-4D95-986D-E53D51127306}" type="slidenum">
              <a:rPr b="0" lang="en-US" sz="1800" strike="noStrike" u="none">
                <a:solidFill>
                  <a:srgbClr val="000000"/>
                </a:solidFill>
                <a:effectLst/>
                <a:uFillTx/>
                <a:latin typeface="Aptos"/>
                <a:ea typeface="+mn-ea"/>
              </a:rPr>
              <a:t>&lt;number&gt;</a:t>
            </a:fld>
            <a:endParaRPr b="0" lang="en-US" sz="1800" strike="noStrike" u="none">
              <a:solidFill>
                <a:srgbClr val="000000"/>
              </a:solidFill>
              <a:effectLst/>
              <a:uFillTx/>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0" name="PlaceHolder 1"/>
          <p:cNvSpPr>
            <a:spLocks noGrp="1"/>
          </p:cNvSpPr>
          <p:nvPr>
            <p:ph type="sldImg"/>
          </p:nvPr>
        </p:nvSpPr>
        <p:spPr>
          <a:xfrm>
            <a:off x="0" y="0"/>
            <a:ext cx="0" cy="0"/>
          </a:xfrm>
          <a:prstGeom prst="rect">
            <a:avLst/>
          </a:prstGeom>
          <a:ln w="0">
            <a:noFill/>
          </a:ln>
        </p:spPr>
      </p:sp>
      <p:sp>
        <p:nvSpPr>
          <p:cNvPr id="176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Key takeaways. One: smart strategy over big budgets. Two: AI tools are your unfair advantage. Three: lean approach — test fast, learn fast, pivot fast. Four: master one or two platforms before expanding. Five: launch one marketing experiment this week. And remember the EDGE Framework — Evaluate where you are, Define your approach, Govern with discipline, Elevate continuously. Visit adrianwatkins.com/tools for the free tools to get started immediately.</a:t>
            </a:r>
            <a:endParaRPr b="0" lang="en-US" sz="2000" strike="noStrike" u="none">
              <a:solidFill>
                <a:srgbClr val="000000"/>
              </a:solidFill>
              <a:effectLst/>
              <a:uFillTx/>
              <a:latin typeface="Arial"/>
            </a:endParaRPr>
          </a:p>
        </p:txBody>
      </p:sp>
      <p:sp>
        <p:nvSpPr>
          <p:cNvPr id="1762" name="PlaceHolder 3"/>
          <p:cNvSpPr>
            <a:spLocks noGrp="1"/>
          </p:cNvSpPr>
          <p:nvPr>
            <p:ph type="sldNum" idx="60"/>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270DDDB2-CFD9-4038-92A4-EA68A24BE7B0}"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3" name="PlaceHolder 1"/>
          <p:cNvSpPr>
            <a:spLocks noGrp="1"/>
          </p:cNvSpPr>
          <p:nvPr>
            <p:ph type="sldImg"/>
          </p:nvPr>
        </p:nvSpPr>
        <p:spPr>
          <a:xfrm>
            <a:off x="0" y="0"/>
            <a:ext cx="0" cy="0"/>
          </a:xfrm>
          <a:prstGeom prst="rect">
            <a:avLst/>
          </a:prstGeom>
          <a:ln w="0">
            <a:noFill/>
          </a:ln>
        </p:spPr>
      </p:sp>
      <p:sp>
        <p:nvSpPr>
          <p:cNvPr id="176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Questions and answers — what would you like to dig deeper into? Marketing fundamentals, lean framework, social media, AI tools, the EDGE Framework, SQREEM data? No question is too basic or advanced. This is your time for specific business advice.</a:t>
            </a:r>
            <a:endParaRPr b="0" lang="en-US" sz="2000" strike="noStrike" u="none">
              <a:solidFill>
                <a:srgbClr val="000000"/>
              </a:solidFill>
              <a:effectLst/>
              <a:uFillTx/>
              <a:latin typeface="Arial"/>
            </a:endParaRPr>
          </a:p>
        </p:txBody>
      </p:sp>
      <p:sp>
        <p:nvSpPr>
          <p:cNvPr id="1765" name="PlaceHolder 3"/>
          <p:cNvSpPr>
            <a:spLocks noGrp="1"/>
          </p:cNvSpPr>
          <p:nvPr>
            <p:ph type="sldNum" idx="61"/>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E60E9DF5-6370-4BEE-878E-26EFA278A560}"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6" name="PlaceHolder 1"/>
          <p:cNvSpPr>
            <a:spLocks noGrp="1"/>
          </p:cNvSpPr>
          <p:nvPr>
            <p:ph type="sldImg"/>
          </p:nvPr>
        </p:nvSpPr>
        <p:spPr>
          <a:xfrm>
            <a:off x="0" y="0"/>
            <a:ext cx="0" cy="0"/>
          </a:xfrm>
          <a:prstGeom prst="rect">
            <a:avLst/>
          </a:prstGeom>
          <a:ln w="0">
            <a:noFill/>
          </a:ln>
        </p:spPr>
      </p:sp>
      <p:sp>
        <p:nvSpPr>
          <p:cNvPr id="176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Thank you for your time and energy today. Keep experimenting, keep learning, keep growing. Visit blackstormco.asia for consulting, adrianwatkins.com/edge for the full EDGE framework, and adrianwatkins.com/tools for all 12 free AI tools. Connect with me on LinkedIn — I'd love to hear about your marketing experiments this week. Now go build something brilliant.</a:t>
            </a:r>
            <a:endParaRPr b="0" lang="en-US" sz="2000" strike="noStrike" u="none">
              <a:solidFill>
                <a:srgbClr val="000000"/>
              </a:solidFill>
              <a:effectLst/>
              <a:uFillTx/>
              <a:latin typeface="Arial"/>
            </a:endParaRPr>
          </a:p>
        </p:txBody>
      </p:sp>
      <p:sp>
        <p:nvSpPr>
          <p:cNvPr id="1768" name="PlaceHolder 3"/>
          <p:cNvSpPr>
            <a:spLocks noGrp="1"/>
          </p:cNvSpPr>
          <p:nvPr>
            <p:ph type="sldNum" idx="62"/>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8A98EC68-2C82-4017-92B8-D4F3AD393724}"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9" name="PlaceHolder 1"/>
          <p:cNvSpPr>
            <a:spLocks noGrp="1"/>
          </p:cNvSpPr>
          <p:nvPr>
            <p:ph type="sldImg"/>
          </p:nvPr>
        </p:nvSpPr>
        <p:spPr>
          <a:xfrm>
            <a:off x="0" y="0"/>
            <a:ext cx="0" cy="0"/>
          </a:xfrm>
          <a:prstGeom prst="rect">
            <a:avLst/>
          </a:prstGeom>
          <a:ln w="0">
            <a:noFill/>
          </a:ln>
        </p:spPr>
      </p:sp>
      <p:sp>
        <p:nvSpPr>
          <p:cNvPr id="177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SQREEM market intelligence: 50,625 people in Singapore actively optimising AI prompts. Five personas: Business Professionals 49% at roughly 24,800 people. Creative and Entrepreneurs 32% at 16,200. Students and Learners 14% at 7,100. Public Sector 2.5%. Retirees 2.2%. This is real behavioural data — these people are actively consuming AI prompt content right now.</a:t>
            </a:r>
            <a:endParaRPr b="0" lang="en-US" sz="2000" strike="noStrike" u="none">
              <a:solidFill>
                <a:srgbClr val="000000"/>
              </a:solidFill>
              <a:effectLst/>
              <a:uFillTx/>
              <a:latin typeface="Arial"/>
            </a:endParaRPr>
          </a:p>
        </p:txBody>
      </p:sp>
      <p:sp>
        <p:nvSpPr>
          <p:cNvPr id="1771" name="PlaceHolder 3"/>
          <p:cNvSpPr>
            <a:spLocks noGrp="1"/>
          </p:cNvSpPr>
          <p:nvPr>
            <p:ph type="sldNum" idx="63"/>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6D0F4B24-00D7-4BB5-9F77-E8C93672D13C}" type="slidenum">
              <a:rPr b="0" lang="en-US" sz="1800" strike="noStrike" u="none">
                <a:solidFill>
                  <a:srgbClr val="000000"/>
                </a:solidFill>
                <a:effectLst/>
                <a:uFillTx/>
                <a:latin typeface="Aptos"/>
                <a:ea typeface="+mn-ea"/>
              </a:rPr>
              <a:t>&lt;number&gt;</a:t>
            </a:fld>
            <a:endParaRPr b="0" lang="en-US" sz="1800" strike="noStrike" u="none">
              <a:solidFill>
                <a:srgbClr val="000000"/>
              </a:solidFill>
              <a:effectLst/>
              <a:uFillTx/>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2" name="PlaceHolder 1"/>
          <p:cNvSpPr>
            <a:spLocks noGrp="1"/>
          </p:cNvSpPr>
          <p:nvPr>
            <p:ph type="sldImg"/>
          </p:nvPr>
        </p:nvSpPr>
        <p:spPr>
          <a:xfrm>
            <a:off x="0" y="0"/>
            <a:ext cx="0" cy="0"/>
          </a:xfrm>
          <a:prstGeom prst="rect">
            <a:avLst/>
          </a:prstGeom>
          <a:ln w="0">
            <a:noFill/>
          </a:ln>
        </p:spPr>
      </p:sp>
      <p:sp>
        <p:nvSpPr>
          <p:cNvPr id="177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What Singapore's AI audience cares about. Technology and Engineering leads at 10.9%. Community and Social 10.55%. Research and Academic 10.22%. Language Learning 8.66%. Business Operations 8.59%. Career Development 7.29%. The spread is remarkably even — AI demand isn't concentrated in tech, it's broad-based. Whatever your startup does, there's an audience for AI applications in your space.</a:t>
            </a:r>
            <a:endParaRPr b="0" lang="en-US" sz="2000" strike="noStrike" u="none">
              <a:solidFill>
                <a:srgbClr val="000000"/>
              </a:solidFill>
              <a:effectLst/>
              <a:uFillTx/>
              <a:latin typeface="Arial"/>
            </a:endParaRPr>
          </a:p>
        </p:txBody>
      </p:sp>
      <p:sp>
        <p:nvSpPr>
          <p:cNvPr id="1774" name="PlaceHolder 3"/>
          <p:cNvSpPr>
            <a:spLocks noGrp="1"/>
          </p:cNvSpPr>
          <p:nvPr>
            <p:ph type="sldNum" idx="64"/>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B43422E9-22C8-470D-8129-F7119473DE51}" type="slidenum">
              <a:rPr b="0" lang="en-US" sz="1800" strike="noStrike" u="none">
                <a:solidFill>
                  <a:srgbClr val="000000"/>
                </a:solidFill>
                <a:effectLst/>
                <a:uFillTx/>
                <a:latin typeface="Aptos"/>
                <a:ea typeface="+mn-ea"/>
              </a:rPr>
              <a:t>&lt;number&gt;</a:t>
            </a:fld>
            <a:endParaRPr b="0" lang="en-US" sz="1800" strike="noStrike" u="none">
              <a:solidFill>
                <a:srgbClr val="000000"/>
              </a:solidFill>
              <a:effectLst/>
              <a:uFillTx/>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5" name="PlaceHolder 1"/>
          <p:cNvSpPr>
            <a:spLocks noGrp="1"/>
          </p:cNvSpPr>
          <p:nvPr>
            <p:ph type="sldImg"/>
          </p:nvPr>
        </p:nvSpPr>
        <p:spPr>
          <a:xfrm>
            <a:off x="0" y="0"/>
            <a:ext cx="0" cy="0"/>
          </a:xfrm>
          <a:prstGeom prst="rect">
            <a:avLst/>
          </a:prstGeom>
          <a:ln w="0">
            <a:noFill/>
          </a:ln>
        </p:spPr>
      </p:sp>
      <p:sp>
        <p:nvSpPr>
          <p:cNvPr id="177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Brand whitespace — real opportunities. High audience interest plus low brand penetration equals untapped market. Biggest unsaturated opportunities: Entrepreneurship and Startups at plus 24.91%, Creative Writing plus 28.64%, Content Creation plus 25.98%, Social Media Management plus 24.90%. Saturated: Career Development, Language Learning, Design and Art. If you serve entrepreneurs, creators, or content marketers, the market is wide open.</a:t>
            </a:r>
            <a:endParaRPr b="0" lang="en-US" sz="2000" strike="noStrike" u="none">
              <a:solidFill>
                <a:srgbClr val="000000"/>
              </a:solidFill>
              <a:effectLst/>
              <a:uFillTx/>
              <a:latin typeface="Arial"/>
            </a:endParaRPr>
          </a:p>
        </p:txBody>
      </p:sp>
      <p:sp>
        <p:nvSpPr>
          <p:cNvPr id="1777" name="PlaceHolder 3"/>
          <p:cNvSpPr>
            <a:spLocks noGrp="1"/>
          </p:cNvSpPr>
          <p:nvPr>
            <p:ph type="sldNum" idx="65"/>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E302396E-6C91-46BB-A926-18E50DF14B49}" type="slidenum">
              <a:rPr b="0" lang="en-US" sz="1800" strike="noStrike" u="none">
                <a:solidFill>
                  <a:srgbClr val="000000"/>
                </a:solidFill>
                <a:effectLst/>
                <a:uFillTx/>
                <a:latin typeface="Aptos"/>
                <a:ea typeface="+mn-ea"/>
              </a:rPr>
              <a:t>&lt;number&gt;</a:t>
            </a:fld>
            <a:endParaRPr b="0" lang="en-US" sz="1800" strike="noStrike" u="none">
              <a:solidFill>
                <a:srgbClr val="000000"/>
              </a:solidFill>
              <a:effectLst/>
              <a:uFillTx/>
              <a:latin typeface="Times New Roman"/>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8" name="PlaceHolder 1"/>
          <p:cNvSpPr>
            <a:spLocks noGrp="1"/>
          </p:cNvSpPr>
          <p:nvPr>
            <p:ph type="sldImg"/>
          </p:nvPr>
        </p:nvSpPr>
        <p:spPr>
          <a:xfrm>
            <a:off x="0" y="0"/>
            <a:ext cx="0" cy="0"/>
          </a:xfrm>
          <a:prstGeom prst="rect">
            <a:avLst/>
          </a:prstGeom>
          <a:ln w="0">
            <a:noFill/>
          </a:ln>
        </p:spPr>
      </p:sp>
      <p:sp>
        <p:nvSpPr>
          <p:cNvPr id="177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tabLst>
                <a:tab algn="l" pos="0"/>
              </a:tabLst>
            </a:pPr>
            <a:r>
              <a:rPr b="0" lang="en-US" sz="2000" strike="noStrike" u="none">
                <a:solidFill>
                  <a:srgbClr val="000000"/>
                </a:solidFill>
                <a:effectLst/>
                <a:uFillTx/>
                <a:latin typeface="Arial"/>
              </a:rPr>
              <a:t>Competitive landscape. OpenAI, Google, Microsoft, IBM, Midjourney — each has strengths and gaps. The standout: Creative Writing is the biggest gap. High interest, low brand presence from all major players. If your startup positions at the intersection of AI and creative content, you're entering blue ocean territory. This data backs exactly why we built PromptAndGo and the EDGE tools.</a:t>
            </a:r>
            <a:endParaRPr b="0" lang="en-US" sz="2000" strike="noStrike" u="none">
              <a:solidFill>
                <a:srgbClr val="000000"/>
              </a:solidFill>
              <a:effectLst/>
              <a:uFillTx/>
              <a:latin typeface="Arial"/>
            </a:endParaRPr>
          </a:p>
        </p:txBody>
      </p:sp>
      <p:sp>
        <p:nvSpPr>
          <p:cNvPr id="1780" name="PlaceHolder 3"/>
          <p:cNvSpPr>
            <a:spLocks noGrp="1"/>
          </p:cNvSpPr>
          <p:nvPr>
            <p:ph type="sldNum" idx="66"/>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rgbClr val="000000"/>
                </a:solidFill>
                <a:effectLst/>
                <a:uFillTx/>
                <a:latin typeface="Aptos"/>
                <a:ea typeface="+mn-ea"/>
              </a:defRPr>
            </a:lvl1pPr>
          </a:lstStyle>
          <a:p>
            <a:pPr indent="0" algn="r" defTabSz="914400">
              <a:lnSpc>
                <a:spcPct val="100000"/>
              </a:lnSpc>
              <a:buNone/>
              <a:tabLst>
                <a:tab algn="l" pos="0"/>
              </a:tabLst>
            </a:pPr>
            <a:fld id="{815DE03F-8E2C-4175-86DB-3A29BB31C11A}" type="slidenum">
              <a:rPr b="0" lang="en-US" sz="1800" strike="noStrike" u="none">
                <a:solidFill>
                  <a:srgbClr val="000000"/>
                </a:solidFill>
                <a:effectLst/>
                <a:uFillTx/>
                <a:latin typeface="Aptos"/>
                <a:ea typeface="+mn-ea"/>
              </a:rPr>
              <a:t>&lt;number&gt;</a:t>
            </a:fld>
            <a:endParaRPr b="0" lang="en-US" sz="1800" strike="noStrike" u="none">
              <a:solidFill>
                <a:srgbClr val="000000"/>
              </a:solidFill>
              <a:effectLst/>
              <a:uFillTx/>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1" name="PlaceHolder 1"/>
          <p:cNvSpPr>
            <a:spLocks noGrp="1"/>
          </p:cNvSpPr>
          <p:nvPr>
            <p:ph type="sldImg"/>
          </p:nvPr>
        </p:nvSpPr>
        <p:spPr>
          <a:xfrm>
            <a:off x="0" y="0"/>
            <a:ext cx="0" cy="0"/>
          </a:xfrm>
          <a:prstGeom prst="rect">
            <a:avLst/>
          </a:prstGeom>
          <a:ln w="0">
            <a:noFill/>
          </a:ln>
        </p:spPr>
      </p:sp>
      <p:sp>
        <p:nvSpPr>
          <p:cNvPr id="178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AI Tools for Singapore Startups: Curated tools with local relevance and practical applications.</a:t>
            </a:r>
            <a:endParaRPr b="0" lang="en-US" sz="2000" strike="noStrike" u="none">
              <a:solidFill>
                <a:srgbClr val="000000"/>
              </a:solidFill>
              <a:effectLst/>
              <a:uFillTx/>
              <a:latin typeface="Arial"/>
            </a:endParaRPr>
          </a:p>
        </p:txBody>
      </p:sp>
      <p:sp>
        <p:nvSpPr>
          <p:cNvPr id="1783" name="PlaceHolder 3"/>
          <p:cNvSpPr>
            <a:spLocks noGrp="1"/>
          </p:cNvSpPr>
          <p:nvPr>
            <p:ph type="sldNum" idx="67"/>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1528C09E-D8D0-4F59-AB24-C0677E7E5786}"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4" name="PlaceHolder 1"/>
          <p:cNvSpPr>
            <a:spLocks noGrp="1"/>
          </p:cNvSpPr>
          <p:nvPr>
            <p:ph type="sldImg"/>
          </p:nvPr>
        </p:nvSpPr>
        <p:spPr>
          <a:xfrm>
            <a:off x="0" y="0"/>
            <a:ext cx="0" cy="0"/>
          </a:xfrm>
          <a:prstGeom prst="rect">
            <a:avLst/>
          </a:prstGeom>
          <a:ln w="0">
            <a:noFill/>
          </a:ln>
        </p:spPr>
      </p:sp>
      <p:sp>
        <p:nvSpPr>
          <p:cNvPr id="178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AI Tools for Singapore Startups continued: More tools organized by category.</a:t>
            </a:r>
            <a:endParaRPr b="0" lang="en-US" sz="2000" strike="noStrike" u="none">
              <a:solidFill>
                <a:srgbClr val="000000"/>
              </a:solidFill>
              <a:effectLst/>
              <a:uFillTx/>
              <a:latin typeface="Arial"/>
            </a:endParaRPr>
          </a:p>
        </p:txBody>
      </p:sp>
      <p:sp>
        <p:nvSpPr>
          <p:cNvPr id="1786" name="PlaceHolder 3"/>
          <p:cNvSpPr>
            <a:spLocks noGrp="1"/>
          </p:cNvSpPr>
          <p:nvPr>
            <p:ph type="sldNum" idx="68"/>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399B61F1-46C3-4299-A5A6-D627856A4BB5}"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7" name="PlaceHolder 1"/>
          <p:cNvSpPr>
            <a:spLocks noGrp="1"/>
          </p:cNvSpPr>
          <p:nvPr>
            <p:ph type="sldImg"/>
          </p:nvPr>
        </p:nvSpPr>
        <p:spPr>
          <a:xfrm>
            <a:off x="0" y="0"/>
            <a:ext cx="0" cy="0"/>
          </a:xfrm>
          <a:prstGeom prst="rect">
            <a:avLst/>
          </a:prstGeom>
          <a:ln w="0">
            <a:noFill/>
          </a:ln>
        </p:spPr>
      </p:sp>
      <p:sp>
        <p:nvSpPr>
          <p:cNvPr id="178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Section: How good marketing drives sales and how the best founders close deals.</a:t>
            </a:r>
            <a:endParaRPr b="0" lang="en-US" sz="2000" strike="noStrike" u="none">
              <a:solidFill>
                <a:srgbClr val="000000"/>
              </a:solidFill>
              <a:effectLst/>
              <a:uFillTx/>
              <a:latin typeface="Arial"/>
            </a:endParaRPr>
          </a:p>
        </p:txBody>
      </p:sp>
      <p:sp>
        <p:nvSpPr>
          <p:cNvPr id="1789" name="PlaceHolder 3"/>
          <p:cNvSpPr>
            <a:spLocks noGrp="1"/>
          </p:cNvSpPr>
          <p:nvPr>
            <p:ph type="sldNum" idx="69"/>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18ECF43C-70AC-41D5-B958-DC1E1DAA0C37}"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0" name="PlaceHolder 1"/>
          <p:cNvSpPr>
            <a:spLocks noGrp="1"/>
          </p:cNvSpPr>
          <p:nvPr>
            <p:ph type="sldImg"/>
          </p:nvPr>
        </p:nvSpPr>
        <p:spPr>
          <a:xfrm>
            <a:off x="0" y="0"/>
            <a:ext cx="0" cy="0"/>
          </a:xfrm>
          <a:prstGeom prst="rect">
            <a:avLst/>
          </a:prstGeom>
          <a:ln w="0">
            <a:noFill/>
          </a:ln>
        </p:spPr>
      </p:sp>
      <p:sp>
        <p:nvSpPr>
          <p:cNvPr id="179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Inspirational quote to set the stage for the sales and marketing masterclass section.</a:t>
            </a:r>
            <a:endParaRPr b="0" lang="en-US" sz="2000" strike="noStrike" u="none">
              <a:solidFill>
                <a:srgbClr val="000000"/>
              </a:solidFill>
              <a:effectLst/>
              <a:uFillTx/>
              <a:latin typeface="Arial"/>
            </a:endParaRPr>
          </a:p>
        </p:txBody>
      </p:sp>
      <p:sp>
        <p:nvSpPr>
          <p:cNvPr id="1792" name="PlaceHolder 3"/>
          <p:cNvSpPr>
            <a:spLocks noGrp="1"/>
          </p:cNvSpPr>
          <p:nvPr>
            <p:ph type="sldNum" idx="70"/>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0BAC56D5-4252-43E0-9E8F-51CA3114D551}"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3" name="PlaceHolder 1"/>
          <p:cNvSpPr>
            <a:spLocks noGrp="1"/>
          </p:cNvSpPr>
          <p:nvPr>
            <p:ph type="sldImg"/>
          </p:nvPr>
        </p:nvSpPr>
        <p:spPr>
          <a:xfrm>
            <a:off x="0" y="0"/>
            <a:ext cx="0" cy="0"/>
          </a:xfrm>
          <a:prstGeom prst="rect">
            <a:avLst/>
          </a:prstGeom>
          <a:ln w="0">
            <a:noFill/>
          </a:ln>
        </p:spPr>
      </p:sp>
      <p:sp>
        <p:nvSpPr>
          <p:cNvPr id="179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Sales thinking for founders. You are already selling when you pitch, hire, convince, and collaborate.</a:t>
            </a:r>
            <a:endParaRPr b="0" lang="en-US" sz="2000" strike="noStrike" u="none">
              <a:solidFill>
                <a:srgbClr val="000000"/>
              </a:solidFill>
              <a:effectLst/>
              <a:uFillTx/>
              <a:latin typeface="Arial"/>
            </a:endParaRPr>
          </a:p>
        </p:txBody>
      </p:sp>
      <p:sp>
        <p:nvSpPr>
          <p:cNvPr id="1795" name="PlaceHolder 3"/>
          <p:cNvSpPr>
            <a:spLocks noGrp="1"/>
          </p:cNvSpPr>
          <p:nvPr>
            <p:ph type="sldNum" idx="71"/>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DE57A971-9B24-4F94-9C73-1266F85DF143}"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6" name="PlaceHolder 1"/>
          <p:cNvSpPr>
            <a:spLocks noGrp="1"/>
          </p:cNvSpPr>
          <p:nvPr>
            <p:ph type="sldImg"/>
          </p:nvPr>
        </p:nvSpPr>
        <p:spPr>
          <a:xfrm>
            <a:off x="0" y="0"/>
            <a:ext cx="0" cy="0"/>
          </a:xfrm>
          <a:prstGeom prst="rect">
            <a:avLst/>
          </a:prstGeom>
          <a:ln w="0">
            <a:noFill/>
          </a:ln>
        </p:spPr>
      </p:sp>
      <p:sp>
        <p:nvSpPr>
          <p:cNvPr id="179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Good marketing is the product. Perception equals value. Marketing defines how your product is understood.</a:t>
            </a:r>
            <a:endParaRPr b="0" lang="en-US" sz="2000" strike="noStrike" u="none">
              <a:solidFill>
                <a:srgbClr val="000000"/>
              </a:solidFill>
              <a:effectLst/>
              <a:uFillTx/>
              <a:latin typeface="Arial"/>
            </a:endParaRPr>
          </a:p>
        </p:txBody>
      </p:sp>
      <p:sp>
        <p:nvSpPr>
          <p:cNvPr id="1798" name="PlaceHolder 3"/>
          <p:cNvSpPr>
            <a:spLocks noGrp="1"/>
          </p:cNvSpPr>
          <p:nvPr>
            <p:ph type="sldNum" idx="72"/>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D2E7613F-7DA0-421F-A178-1046F5BEE162}"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9" name="PlaceHolder 1"/>
          <p:cNvSpPr>
            <a:spLocks noGrp="1"/>
          </p:cNvSpPr>
          <p:nvPr>
            <p:ph type="sldImg"/>
          </p:nvPr>
        </p:nvSpPr>
        <p:spPr>
          <a:xfrm>
            <a:off x="0" y="0"/>
            <a:ext cx="0" cy="0"/>
          </a:xfrm>
          <a:prstGeom prst="rect">
            <a:avLst/>
          </a:prstGeom>
          <a:ln w="0">
            <a:noFill/>
          </a:ln>
        </p:spPr>
      </p:sp>
      <p:sp>
        <p:nvSpPr>
          <p:cNvPr id="180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The psychology of selling smarter. Understanding how people make buying decisions.</a:t>
            </a:r>
            <a:endParaRPr b="0" lang="en-US" sz="2000" strike="noStrike" u="none">
              <a:solidFill>
                <a:srgbClr val="000000"/>
              </a:solidFill>
              <a:effectLst/>
              <a:uFillTx/>
              <a:latin typeface="Arial"/>
            </a:endParaRPr>
          </a:p>
        </p:txBody>
      </p:sp>
      <p:sp>
        <p:nvSpPr>
          <p:cNvPr id="1801" name="PlaceHolder 3"/>
          <p:cNvSpPr>
            <a:spLocks noGrp="1"/>
          </p:cNvSpPr>
          <p:nvPr>
            <p:ph type="sldNum" idx="73"/>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2D8DA08D-D65F-49BD-98A1-92ACCEFBEC42}"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2" name="PlaceHolder 1"/>
          <p:cNvSpPr>
            <a:spLocks noGrp="1"/>
          </p:cNvSpPr>
          <p:nvPr>
            <p:ph type="sldImg"/>
          </p:nvPr>
        </p:nvSpPr>
        <p:spPr>
          <a:xfrm>
            <a:off x="0" y="0"/>
            <a:ext cx="0" cy="0"/>
          </a:xfrm>
          <a:prstGeom prst="rect">
            <a:avLst/>
          </a:prstGeom>
          <a:ln w="0">
            <a:noFill/>
          </a:ln>
        </p:spPr>
      </p:sp>
      <p:sp>
        <p:nvSpPr>
          <p:cNvPr id="180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Defaults, upgrades and pricing psychology. How to frame your offers for maximum conversion.</a:t>
            </a:r>
            <a:endParaRPr b="0" lang="en-US" sz="2000" strike="noStrike" u="none">
              <a:solidFill>
                <a:srgbClr val="000000"/>
              </a:solidFill>
              <a:effectLst/>
              <a:uFillTx/>
              <a:latin typeface="Arial"/>
            </a:endParaRPr>
          </a:p>
        </p:txBody>
      </p:sp>
      <p:sp>
        <p:nvSpPr>
          <p:cNvPr id="1804" name="PlaceHolder 3"/>
          <p:cNvSpPr>
            <a:spLocks noGrp="1"/>
          </p:cNvSpPr>
          <p:nvPr>
            <p:ph type="sldNum" idx="74"/>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F40039FB-2B02-4C75-A56E-366795A49BD4}"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5" name="PlaceHolder 1"/>
          <p:cNvSpPr>
            <a:spLocks noGrp="1"/>
          </p:cNvSpPr>
          <p:nvPr>
            <p:ph type="sldImg"/>
          </p:nvPr>
        </p:nvSpPr>
        <p:spPr>
          <a:xfrm>
            <a:off x="0" y="0"/>
            <a:ext cx="0" cy="0"/>
          </a:xfrm>
          <a:prstGeom prst="rect">
            <a:avLst/>
          </a:prstGeom>
          <a:ln w="0">
            <a:noFill/>
          </a:ln>
        </p:spPr>
      </p:sp>
      <p:sp>
        <p:nvSpPr>
          <p:cNvPr id="180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The metrics that matter. Focus on real metrics like CAC, LTV, NPS - not vanity metrics.</a:t>
            </a:r>
            <a:endParaRPr b="0" lang="en-US" sz="2000" strike="noStrike" u="none">
              <a:solidFill>
                <a:srgbClr val="000000"/>
              </a:solidFill>
              <a:effectLst/>
              <a:uFillTx/>
              <a:latin typeface="Arial"/>
            </a:endParaRPr>
          </a:p>
        </p:txBody>
      </p:sp>
      <p:sp>
        <p:nvSpPr>
          <p:cNvPr id="1807" name="PlaceHolder 3"/>
          <p:cNvSpPr>
            <a:spLocks noGrp="1"/>
          </p:cNvSpPr>
          <p:nvPr>
            <p:ph type="sldNum" idx="75"/>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011BC689-F896-476E-827D-6AF577B5CA82}"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8" name="PlaceHolder 1"/>
          <p:cNvSpPr>
            <a:spLocks noGrp="1"/>
          </p:cNvSpPr>
          <p:nvPr>
            <p:ph type="sldImg"/>
          </p:nvPr>
        </p:nvSpPr>
        <p:spPr>
          <a:xfrm>
            <a:off x="0" y="0"/>
            <a:ext cx="0" cy="0"/>
          </a:xfrm>
          <a:prstGeom prst="rect">
            <a:avLst/>
          </a:prstGeom>
          <a:ln w="0">
            <a:noFill/>
          </a:ln>
        </p:spPr>
      </p:sp>
      <p:sp>
        <p:nvSpPr>
          <p:cNvPr id="180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Your story and moments that matter. Storytelling as a sales and brand building tool.</a:t>
            </a:r>
            <a:endParaRPr b="0" lang="en-US" sz="2000" strike="noStrike" u="none">
              <a:solidFill>
                <a:srgbClr val="000000"/>
              </a:solidFill>
              <a:effectLst/>
              <a:uFillTx/>
              <a:latin typeface="Arial"/>
            </a:endParaRPr>
          </a:p>
        </p:txBody>
      </p:sp>
      <p:sp>
        <p:nvSpPr>
          <p:cNvPr id="1810" name="PlaceHolder 3"/>
          <p:cNvSpPr>
            <a:spLocks noGrp="1"/>
          </p:cNvSpPr>
          <p:nvPr>
            <p:ph type="sldNum" idx="76"/>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CB73D6AA-1AD3-4C26-AAA3-1B2DC275D5D5}"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1" name="PlaceHolder 1"/>
          <p:cNvSpPr>
            <a:spLocks noGrp="1"/>
          </p:cNvSpPr>
          <p:nvPr>
            <p:ph type="sldImg"/>
          </p:nvPr>
        </p:nvSpPr>
        <p:spPr>
          <a:xfrm>
            <a:off x="0" y="0"/>
            <a:ext cx="0" cy="0"/>
          </a:xfrm>
          <a:prstGeom prst="rect">
            <a:avLst/>
          </a:prstGeom>
          <a:ln w="0">
            <a:noFill/>
          </a:ln>
        </p:spPr>
      </p:sp>
      <p:sp>
        <p:nvSpPr>
          <p:cNvPr id="181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How to sell without sounding salesy. Lead with insight, show empathy, make it easy.</a:t>
            </a:r>
            <a:endParaRPr b="0" lang="en-US" sz="2000" strike="noStrike" u="none">
              <a:solidFill>
                <a:srgbClr val="000000"/>
              </a:solidFill>
              <a:effectLst/>
              <a:uFillTx/>
              <a:latin typeface="Arial"/>
            </a:endParaRPr>
          </a:p>
        </p:txBody>
      </p:sp>
      <p:sp>
        <p:nvSpPr>
          <p:cNvPr id="1813" name="PlaceHolder 3"/>
          <p:cNvSpPr>
            <a:spLocks noGrp="1"/>
          </p:cNvSpPr>
          <p:nvPr>
            <p:ph type="sldNum" idx="77"/>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EAB975B2-107F-4CC4-9805-93C499ECBB6B}"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4" name="PlaceHolder 1"/>
          <p:cNvSpPr>
            <a:spLocks noGrp="1"/>
          </p:cNvSpPr>
          <p:nvPr>
            <p:ph type="sldImg"/>
          </p:nvPr>
        </p:nvSpPr>
        <p:spPr>
          <a:xfrm>
            <a:off x="0" y="0"/>
            <a:ext cx="0" cy="0"/>
          </a:xfrm>
          <a:prstGeom prst="rect">
            <a:avLst/>
          </a:prstGeom>
          <a:ln w="0">
            <a:noFill/>
          </a:ln>
        </p:spPr>
      </p:sp>
      <p:sp>
        <p:nvSpPr>
          <p:cNvPr id="181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Frictionless CTAs and System 1 storytelling. Remove barriers from every step of the journey.</a:t>
            </a:r>
            <a:endParaRPr b="0" lang="en-US" sz="2000" strike="noStrike" u="none">
              <a:solidFill>
                <a:srgbClr val="000000"/>
              </a:solidFill>
              <a:effectLst/>
              <a:uFillTx/>
              <a:latin typeface="Arial"/>
            </a:endParaRPr>
          </a:p>
        </p:txBody>
      </p:sp>
      <p:sp>
        <p:nvSpPr>
          <p:cNvPr id="1816" name="PlaceHolder 3"/>
          <p:cNvSpPr>
            <a:spLocks noGrp="1"/>
          </p:cNvSpPr>
          <p:nvPr>
            <p:ph type="sldNum" idx="78"/>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9E89C8A4-4D91-4BF1-82D3-51878E431020}"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7" name="PlaceHolder 1"/>
          <p:cNvSpPr>
            <a:spLocks noGrp="1"/>
          </p:cNvSpPr>
          <p:nvPr>
            <p:ph type="sldImg"/>
          </p:nvPr>
        </p:nvSpPr>
        <p:spPr>
          <a:xfrm>
            <a:off x="0" y="0"/>
            <a:ext cx="0" cy="0"/>
          </a:xfrm>
          <a:prstGeom prst="rect">
            <a:avLst/>
          </a:prstGeom>
          <a:ln w="0">
            <a:noFill/>
          </a:ln>
        </p:spPr>
      </p:sp>
      <p:sp>
        <p:nvSpPr>
          <p:cNvPr id="181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The founder sales checklist. Essential steps every founder should follow.</a:t>
            </a:r>
            <a:endParaRPr b="0" lang="en-US" sz="2000" strike="noStrike" u="none">
              <a:solidFill>
                <a:srgbClr val="000000"/>
              </a:solidFill>
              <a:effectLst/>
              <a:uFillTx/>
              <a:latin typeface="Arial"/>
            </a:endParaRPr>
          </a:p>
        </p:txBody>
      </p:sp>
      <p:sp>
        <p:nvSpPr>
          <p:cNvPr id="1819" name="PlaceHolder 3"/>
          <p:cNvSpPr>
            <a:spLocks noGrp="1"/>
          </p:cNvSpPr>
          <p:nvPr>
            <p:ph type="sldNum" idx="79"/>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8E096A2E-1946-4A5C-B11F-2E2557ACC337}"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0" name="PlaceHolder 1"/>
          <p:cNvSpPr>
            <a:spLocks noGrp="1"/>
          </p:cNvSpPr>
          <p:nvPr>
            <p:ph type="sldImg"/>
          </p:nvPr>
        </p:nvSpPr>
        <p:spPr>
          <a:xfrm>
            <a:off x="0" y="0"/>
            <a:ext cx="0" cy="0"/>
          </a:xfrm>
          <a:prstGeom prst="rect">
            <a:avLst/>
          </a:prstGeom>
          <a:ln w="0">
            <a:noFill/>
          </a:ln>
        </p:spPr>
      </p:sp>
      <p:sp>
        <p:nvSpPr>
          <p:cNvPr id="182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Diagnose and build your sales toolkit. Practical exercises to strengthen your approach.</a:t>
            </a:r>
            <a:endParaRPr b="0" lang="en-US" sz="2000" strike="noStrike" u="none">
              <a:solidFill>
                <a:srgbClr val="000000"/>
              </a:solidFill>
              <a:effectLst/>
              <a:uFillTx/>
              <a:latin typeface="Arial"/>
            </a:endParaRPr>
          </a:p>
        </p:txBody>
      </p:sp>
      <p:sp>
        <p:nvSpPr>
          <p:cNvPr id="1822" name="PlaceHolder 3"/>
          <p:cNvSpPr>
            <a:spLocks noGrp="1"/>
          </p:cNvSpPr>
          <p:nvPr>
            <p:ph type="sldNum" idx="80"/>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C8F949A0-ED0D-4F93-BF91-2AC7CEEFA025}"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3" name="PlaceHolder 1"/>
          <p:cNvSpPr>
            <a:spLocks noGrp="1"/>
          </p:cNvSpPr>
          <p:nvPr>
            <p:ph type="sldImg"/>
          </p:nvPr>
        </p:nvSpPr>
        <p:spPr>
          <a:xfrm>
            <a:off x="0" y="0"/>
            <a:ext cx="0" cy="0"/>
          </a:xfrm>
          <a:prstGeom prst="rect">
            <a:avLst/>
          </a:prstGeom>
          <a:ln w="0">
            <a:noFill/>
          </a:ln>
        </p:spPr>
      </p:sp>
      <p:sp>
        <p:nvSpPr>
          <p:cNvPr id="182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Your 7-day action plan. Concrete steps to implement what you have learned this week.</a:t>
            </a:r>
            <a:endParaRPr b="0" lang="en-US" sz="2000" strike="noStrike" u="none">
              <a:solidFill>
                <a:srgbClr val="000000"/>
              </a:solidFill>
              <a:effectLst/>
              <a:uFillTx/>
              <a:latin typeface="Arial"/>
            </a:endParaRPr>
          </a:p>
        </p:txBody>
      </p:sp>
      <p:sp>
        <p:nvSpPr>
          <p:cNvPr id="1825" name="PlaceHolder 3"/>
          <p:cNvSpPr>
            <a:spLocks noGrp="1"/>
          </p:cNvSpPr>
          <p:nvPr>
            <p:ph type="sldNum" idx="81"/>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375F10D3-D943-4759-8D20-AC768B7AEF5B}"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6" name="PlaceHolder 1"/>
          <p:cNvSpPr>
            <a:spLocks noGrp="1"/>
          </p:cNvSpPr>
          <p:nvPr>
            <p:ph type="sldImg"/>
          </p:nvPr>
        </p:nvSpPr>
        <p:spPr>
          <a:xfrm>
            <a:off x="0" y="0"/>
            <a:ext cx="0" cy="0"/>
          </a:xfrm>
          <a:prstGeom prst="rect">
            <a:avLst/>
          </a:prstGeom>
          <a:ln w="0">
            <a:noFill/>
          </a:ln>
        </p:spPr>
      </p:sp>
      <p:sp>
        <p:nvSpPr>
          <p:cNvPr id="182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Key takeaways from the sales and marketing masterclass section.</a:t>
            </a:r>
            <a:endParaRPr b="0" lang="en-US" sz="2000" strike="noStrike" u="none">
              <a:solidFill>
                <a:srgbClr val="000000"/>
              </a:solidFill>
              <a:effectLst/>
              <a:uFillTx/>
              <a:latin typeface="Arial"/>
            </a:endParaRPr>
          </a:p>
        </p:txBody>
      </p:sp>
      <p:sp>
        <p:nvSpPr>
          <p:cNvPr id="1828" name="PlaceHolder 3"/>
          <p:cNvSpPr>
            <a:spLocks noGrp="1"/>
          </p:cNvSpPr>
          <p:nvPr>
            <p:ph type="sldNum" idx="82"/>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D97F7167-1421-428F-9A95-FA8C703B4EDD}"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9" name="PlaceHolder 1"/>
          <p:cNvSpPr>
            <a:spLocks noGrp="1"/>
          </p:cNvSpPr>
          <p:nvPr>
            <p:ph type="sldImg"/>
          </p:nvPr>
        </p:nvSpPr>
        <p:spPr>
          <a:xfrm>
            <a:off x="0" y="0"/>
            <a:ext cx="0" cy="0"/>
          </a:xfrm>
          <a:prstGeom prst="rect">
            <a:avLst/>
          </a:prstGeom>
          <a:ln w="0">
            <a:noFill/>
          </a:ln>
        </p:spPr>
      </p:sp>
      <p:sp>
        <p:nvSpPr>
          <p:cNvPr id="183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TL;DR summary of the entire bootcamp. The essential points in brief.</a:t>
            </a:r>
            <a:endParaRPr b="0" lang="en-US" sz="2000" strike="noStrike" u="none">
              <a:solidFill>
                <a:srgbClr val="000000"/>
              </a:solidFill>
              <a:effectLst/>
              <a:uFillTx/>
              <a:latin typeface="Arial"/>
            </a:endParaRPr>
          </a:p>
        </p:txBody>
      </p:sp>
      <p:sp>
        <p:nvSpPr>
          <p:cNvPr id="1831" name="PlaceHolder 3"/>
          <p:cNvSpPr>
            <a:spLocks noGrp="1"/>
          </p:cNvSpPr>
          <p:nvPr>
            <p:ph type="sldNum" idx="83"/>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FBACBFAE-D562-4D70-8E5C-D7FE670CBD23}"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2" name="PlaceHolder 1"/>
          <p:cNvSpPr>
            <a:spLocks noGrp="1"/>
          </p:cNvSpPr>
          <p:nvPr>
            <p:ph type="sldImg"/>
          </p:nvPr>
        </p:nvSpPr>
        <p:spPr>
          <a:xfrm>
            <a:off x="0" y="0"/>
            <a:ext cx="0" cy="0"/>
          </a:xfrm>
          <a:prstGeom prst="rect">
            <a:avLst/>
          </a:prstGeom>
          <a:ln w="0">
            <a:noFill/>
          </a:ln>
        </p:spPr>
      </p:sp>
      <p:sp>
        <p:nvSpPr>
          <p:cNvPr id="183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Marketing earns attention. Sales earns trust. Together they drive sustainable growth.</a:t>
            </a:r>
            <a:endParaRPr b="0" lang="en-US" sz="2000" strike="noStrike" u="none">
              <a:solidFill>
                <a:srgbClr val="000000"/>
              </a:solidFill>
              <a:effectLst/>
              <a:uFillTx/>
              <a:latin typeface="Arial"/>
            </a:endParaRPr>
          </a:p>
        </p:txBody>
      </p:sp>
      <p:sp>
        <p:nvSpPr>
          <p:cNvPr id="1834" name="PlaceHolder 3"/>
          <p:cNvSpPr>
            <a:spLocks noGrp="1"/>
          </p:cNvSpPr>
          <p:nvPr>
            <p:ph type="sldNum" idx="84"/>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069E4511-99AA-414C-BBF7-EE54706E0070}"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5" name="PlaceHolder 1"/>
          <p:cNvSpPr>
            <a:spLocks noGrp="1"/>
          </p:cNvSpPr>
          <p:nvPr>
            <p:ph type="sldImg"/>
          </p:nvPr>
        </p:nvSpPr>
        <p:spPr>
          <a:xfrm>
            <a:off x="0" y="0"/>
            <a:ext cx="0" cy="0"/>
          </a:xfrm>
          <a:prstGeom prst="rect">
            <a:avLst/>
          </a:prstGeom>
          <a:ln w="0">
            <a:noFill/>
          </a:ln>
        </p:spPr>
      </p:sp>
      <p:sp>
        <p:nvSpPr>
          <p:cNvPr id="183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Marketing is a discovery mechanism for uncovering value that no one knew existed.</a:t>
            </a:r>
            <a:endParaRPr b="0" lang="en-US" sz="2000" strike="noStrike" u="none">
              <a:solidFill>
                <a:srgbClr val="000000"/>
              </a:solidFill>
              <a:effectLst/>
              <a:uFillTx/>
              <a:latin typeface="Arial"/>
            </a:endParaRPr>
          </a:p>
        </p:txBody>
      </p:sp>
      <p:sp>
        <p:nvSpPr>
          <p:cNvPr id="1837" name="PlaceHolder 3"/>
          <p:cNvSpPr>
            <a:spLocks noGrp="1"/>
          </p:cNvSpPr>
          <p:nvPr>
            <p:ph type="sldNum" idx="85"/>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597D44DD-7D42-4127-9171-3DA7161015F7}"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8" name="PlaceHolder 1"/>
          <p:cNvSpPr>
            <a:spLocks noGrp="1"/>
          </p:cNvSpPr>
          <p:nvPr>
            <p:ph type="sldImg"/>
          </p:nvPr>
        </p:nvSpPr>
        <p:spPr>
          <a:xfrm>
            <a:off x="0" y="0"/>
            <a:ext cx="0" cy="0"/>
          </a:xfrm>
          <a:prstGeom prst="rect">
            <a:avLst/>
          </a:prstGeom>
          <a:ln w="0">
            <a:noFill/>
          </a:ln>
        </p:spPr>
      </p:sp>
      <p:sp>
        <p:nvSpPr>
          <p:cNvPr id="183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Claude AI: Advanced reasoning and writing assistant for marketing content creation.</a:t>
            </a:r>
            <a:endParaRPr b="0" lang="en-US" sz="2000" strike="noStrike" u="none">
              <a:solidFill>
                <a:srgbClr val="000000"/>
              </a:solidFill>
              <a:effectLst/>
              <a:uFillTx/>
              <a:latin typeface="Arial"/>
            </a:endParaRPr>
          </a:p>
        </p:txBody>
      </p:sp>
      <p:sp>
        <p:nvSpPr>
          <p:cNvPr id="1840" name="PlaceHolder 3"/>
          <p:cNvSpPr>
            <a:spLocks noGrp="1"/>
          </p:cNvSpPr>
          <p:nvPr>
            <p:ph type="sldNum" idx="86"/>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D4C4FFAD-1B2D-470F-B2F7-01FBAF020229}"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1" name="PlaceHolder 1"/>
          <p:cNvSpPr>
            <a:spLocks noGrp="1"/>
          </p:cNvSpPr>
          <p:nvPr>
            <p:ph type="sldImg"/>
          </p:nvPr>
        </p:nvSpPr>
        <p:spPr>
          <a:xfrm>
            <a:off x="0" y="0"/>
            <a:ext cx="0" cy="0"/>
          </a:xfrm>
          <a:prstGeom prst="rect">
            <a:avLst/>
          </a:prstGeom>
          <a:ln w="0">
            <a:noFill/>
          </a:ln>
        </p:spPr>
      </p:sp>
      <p:sp>
        <p:nvSpPr>
          <p:cNvPr id="184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Meta.ai: Social and messaging AI with WhatsApp integration for Singapore market.</a:t>
            </a:r>
            <a:endParaRPr b="0" lang="en-US" sz="2000" strike="noStrike" u="none">
              <a:solidFill>
                <a:srgbClr val="000000"/>
              </a:solidFill>
              <a:effectLst/>
              <a:uFillTx/>
              <a:latin typeface="Arial"/>
            </a:endParaRPr>
          </a:p>
        </p:txBody>
      </p:sp>
      <p:sp>
        <p:nvSpPr>
          <p:cNvPr id="1843" name="PlaceHolder 3"/>
          <p:cNvSpPr>
            <a:spLocks noGrp="1"/>
          </p:cNvSpPr>
          <p:nvPr>
            <p:ph type="sldNum" idx="87"/>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44C2ECA0-B593-49EB-B29C-CA8B85144431}"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notesSlides/notesSlide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4" name="PlaceHolder 1"/>
          <p:cNvSpPr>
            <a:spLocks noGrp="1"/>
          </p:cNvSpPr>
          <p:nvPr>
            <p:ph type="sldImg"/>
          </p:nvPr>
        </p:nvSpPr>
        <p:spPr>
          <a:xfrm>
            <a:off x="0" y="0"/>
            <a:ext cx="0" cy="0"/>
          </a:xfrm>
          <a:prstGeom prst="rect">
            <a:avLst/>
          </a:prstGeom>
          <a:ln w="0">
            <a:noFill/>
          </a:ln>
        </p:spPr>
      </p:sp>
      <p:sp>
        <p:nvSpPr>
          <p:cNvPr id="184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lnSpc>
                <a:spcPct val="100000"/>
              </a:lnSpc>
              <a:buNone/>
            </a:pPr>
            <a:r>
              <a:rPr b="0" lang="en-US" sz="2000" strike="noStrike" u="none">
                <a:solidFill>
                  <a:srgbClr val="000000"/>
                </a:solidFill>
                <a:effectLst/>
                <a:uFillTx/>
                <a:latin typeface="Arial"/>
              </a:rPr>
              <a:t>NotebookLM: Google's AI research assistant for deep analysis and content synthesis.</a:t>
            </a:r>
            <a:endParaRPr b="0" lang="en-US" sz="2000" strike="noStrike" u="none">
              <a:solidFill>
                <a:srgbClr val="000000"/>
              </a:solidFill>
              <a:effectLst/>
              <a:uFillTx/>
              <a:latin typeface="Arial"/>
            </a:endParaRPr>
          </a:p>
        </p:txBody>
      </p:sp>
      <p:sp>
        <p:nvSpPr>
          <p:cNvPr id="1846" name="PlaceHolder 3"/>
          <p:cNvSpPr>
            <a:spLocks noGrp="1"/>
          </p:cNvSpPr>
          <p:nvPr>
            <p:ph type="sldNum" idx="88"/>
          </p:nvPr>
        </p:nvSpPr>
        <p:spPr>
          <a:xfrm>
            <a:off x="0" y="0"/>
            <a:ext cx="0" cy="0"/>
          </a:xfrm>
          <a:prstGeom prst="rect">
            <a:avLst/>
          </a:prstGeom>
          <a:noFill/>
          <a:ln w="0">
            <a:noFill/>
          </a:ln>
        </p:spPr>
        <p:txBody>
          <a:bodyPr lIns="90000" rIns="90000" tIns="-45000" bIns="-45000" anchor="t">
            <a:noAutofit/>
          </a:bodyPr>
          <a:lstStyle>
            <a:lvl1pPr indent="0" algn="r" defTabSz="914400">
              <a:lnSpc>
                <a:spcPct val="100000"/>
              </a:lnSpc>
              <a:buNone/>
              <a:tabLst>
                <a:tab algn="l" pos="0"/>
              </a:tabLst>
              <a:defRPr b="0" lang="en-US" sz="1800" strike="noStrike" u="none">
                <a:solidFill>
                  <a:schemeClr val="dk1"/>
                </a:solidFill>
                <a:effectLst/>
                <a:uFillTx/>
                <a:latin typeface="+mn-lt"/>
                <a:ea typeface="+mn-ea"/>
              </a:defRPr>
            </a:lvl1pPr>
          </a:lstStyle>
          <a:p>
            <a:pPr indent="0" algn="r" defTabSz="914400">
              <a:lnSpc>
                <a:spcPct val="100000"/>
              </a:lnSpc>
              <a:buNone/>
              <a:tabLst>
                <a:tab algn="l" pos="0"/>
              </a:tabLst>
            </a:pPr>
            <a:fld id="{46685D07-E257-457E-B4FF-ECC7C527F16E}" type="slidenum">
              <a:rPr b="0" lang="en-US" sz="1800" strike="noStrike" u="none">
                <a:solidFill>
                  <a:schemeClr val="dk1"/>
                </a:solidFill>
                <a:effectLst/>
                <a:uFillTx/>
                <a:latin typeface="+mn-lt"/>
                <a:ea typeface="+mn-ea"/>
              </a:rPr>
              <a:t>&lt;number&gt;</a:t>
            </a:fld>
            <a:endParaRPr b="0" lang="en-US" sz="18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slideLayout" Target="../slideLayouts/slideLayout1.xml"/><Relationship Id="rId6"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slideLayout" Target="../slideLayouts/slideLayout1.xml"/><Relationship Id="rId8"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video" Target="../media/media12.mp4"/><Relationship Id="rId2" Type="http://schemas.microsoft.com/office/2007/relationships/media" Target="../media/media12.mp4"/><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slideLayout" Target="../slideLayouts/slideLayout1.xml"/><Relationship Id="rId7"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slideLayout" Target="../slideLayouts/slideLayout1.xml"/><Relationship Id="rId9"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7.png"/><Relationship Id="rId3" Type="http://schemas.openxmlformats.org/officeDocument/2006/relationships/image" Target="../media/image27.png"/><Relationship Id="rId4" Type="http://schemas.openxmlformats.org/officeDocument/2006/relationships/image" Target="../media/image27.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slideLayout" Target="../slideLayouts/slideLayout1.xml"/><Relationship Id="rId8"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29.png"/><Relationship Id="rId3" Type="http://schemas.openxmlformats.org/officeDocument/2006/relationships/image" Target="../media/image29.png"/><Relationship Id="rId4" Type="http://schemas.openxmlformats.org/officeDocument/2006/relationships/image" Target="../media/image29.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 Id="rId8" Type="http://schemas.openxmlformats.org/officeDocument/2006/relationships/slideLayout" Target="../slideLayouts/slideLayout1.xml"/><Relationship Id="rId9"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4.png"/><Relationship Id="rId3" Type="http://schemas.openxmlformats.org/officeDocument/2006/relationships/image" Target="../media/image24.png"/><Relationship Id="rId4" Type="http://schemas.openxmlformats.org/officeDocument/2006/relationships/image" Target="../media/image24.png"/><Relationship Id="rId5" Type="http://schemas.openxmlformats.org/officeDocument/2006/relationships/image" Target="../media/image24.png"/><Relationship Id="rId6" Type="http://schemas.openxmlformats.org/officeDocument/2006/relationships/image" Target="../media/image32.png"/><Relationship Id="rId7" Type="http://schemas.openxmlformats.org/officeDocument/2006/relationships/slideLayout" Target="../slideLayouts/slideLayout1.xml"/><Relationship Id="rId8"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33.png"/><Relationship Id="rId4" Type="http://schemas.openxmlformats.org/officeDocument/2006/relationships/image" Target="../media/image4.png"/><Relationship Id="rId5" Type="http://schemas.openxmlformats.org/officeDocument/2006/relationships/image" Target="../media/image34.png"/><Relationship Id="rId6" Type="http://schemas.openxmlformats.org/officeDocument/2006/relationships/slideLayout" Target="../slideLayouts/slideLayout1.xml"/><Relationship Id="rId7"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
</Relationships>
</file>

<file path=ppt/slides/_rels/slide8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Relationship Id="rId3" Type="http://schemas.openxmlformats.org/officeDocument/2006/relationships/notesSlide" Target="../notesSlides/notesSlide88.xml"/>
</Relationships>
</file>

<file path=ppt/slides/_rels/slide89.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1.xml"/><Relationship Id="rId3" Type="http://schemas.openxmlformats.org/officeDocument/2006/relationships/notesSlide" Target="../notesSlides/notesSlide89.xml"/>
</Relationships>
</file>

<file path=ppt/slides/_rels/slide90.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1.xml"/><Relationship Id="rId3" Type="http://schemas.openxmlformats.org/officeDocument/2006/relationships/notesSlide" Target="../notesSlides/notesSlide9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8" name="Shape 0"/>
          <p:cNvSpPr/>
          <p:nvPr/>
        </p:nvSpPr>
        <p:spPr>
          <a:xfrm>
            <a:off x="0" y="0"/>
            <a:ext cx="136440" cy="5142960"/>
          </a:xfrm>
          <a:prstGeom prst="rect">
            <a:avLst/>
          </a:prstGeom>
          <a:solidFill>
            <a:srgbClr val="00b0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 name="Text 1"/>
          <p:cNvSpPr/>
          <p:nvPr/>
        </p:nvSpPr>
        <p:spPr>
          <a:xfrm>
            <a:off x="731520" y="548640"/>
            <a:ext cx="7314480" cy="2193840"/>
          </a:xfrm>
          <a:prstGeom prst="rect">
            <a:avLst/>
          </a:prstGeom>
          <a:noFill/>
          <a:ln w="0">
            <a:noFill/>
          </a:ln>
        </p:spPr>
        <p:style>
          <a:lnRef idx="0"/>
          <a:fillRef idx="0"/>
          <a:effectRef idx="0"/>
          <a:fontRef idx="minor"/>
        </p:style>
        <p:txBody>
          <a:bodyPr lIns="90000" rIns="90000" tIns="45000" bIns="45000" anchor="ctr">
            <a:noAutofit/>
          </a:bodyPr>
          <a:p>
            <a:pPr defTabSz="914400">
              <a:lnSpc>
                <a:spcPct val="90000"/>
              </a:lnSpc>
              <a:tabLst>
                <a:tab algn="l" pos="0"/>
              </a:tabLst>
            </a:pPr>
            <a:r>
              <a:rPr b="1" lang="en-US" sz="5200" strike="noStrike" u="none">
                <a:solidFill>
                  <a:srgbClr val="ffffff"/>
                </a:solidFill>
                <a:effectLst/>
                <a:uFillTx/>
                <a:latin typeface="Trebuchet MS"/>
                <a:ea typeface="Trebuchet MS"/>
              </a:rPr>
              <a:t>MARKETING</a:t>
            </a:r>
            <a:endParaRPr b="0" lang="en-US" sz="5200" strike="noStrike" u="none">
              <a:solidFill>
                <a:srgbClr val="ffffff"/>
              </a:solidFill>
              <a:effectLst/>
              <a:uFillTx/>
              <a:latin typeface="Arial"/>
            </a:endParaRPr>
          </a:p>
          <a:p>
            <a:pPr defTabSz="914400">
              <a:lnSpc>
                <a:spcPct val="90000"/>
              </a:lnSpc>
              <a:tabLst>
                <a:tab algn="l" pos="0"/>
              </a:tabLst>
            </a:pPr>
            <a:r>
              <a:rPr b="1" lang="en-US" sz="5200" strike="noStrike" u="none">
                <a:solidFill>
                  <a:srgbClr val="ffffff"/>
                </a:solidFill>
                <a:effectLst/>
                <a:uFillTx/>
                <a:latin typeface="Trebuchet MS"/>
                <a:ea typeface="Trebuchet MS"/>
              </a:rPr>
              <a:t>ESSENTIALS</a:t>
            </a:r>
            <a:endParaRPr b="0" lang="en-US" sz="5200" strike="noStrike" u="none">
              <a:solidFill>
                <a:srgbClr val="ffffff"/>
              </a:solidFill>
              <a:effectLst/>
              <a:uFillTx/>
              <a:latin typeface="Arial"/>
            </a:endParaRPr>
          </a:p>
        </p:txBody>
      </p:sp>
      <p:sp>
        <p:nvSpPr>
          <p:cNvPr id="10" name="Text 2"/>
          <p:cNvSpPr/>
          <p:nvPr/>
        </p:nvSpPr>
        <p:spPr>
          <a:xfrm>
            <a:off x="731520" y="2743200"/>
            <a:ext cx="64000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2000" strike="noStrike" u="none">
                <a:solidFill>
                  <a:srgbClr val="0f9b8e"/>
                </a:solidFill>
                <a:effectLst/>
                <a:uFillTx/>
                <a:latin typeface="Calibri"/>
                <a:ea typeface="Calibri"/>
              </a:rPr>
              <a:t>From Brilliant Basics to AI-Powered Growth</a:t>
            </a:r>
            <a:endParaRPr b="0" lang="en-US" sz="2000" strike="noStrike" u="none">
              <a:solidFill>
                <a:srgbClr val="ffffff"/>
              </a:solidFill>
              <a:effectLst/>
              <a:uFillTx/>
              <a:latin typeface="Arial"/>
            </a:endParaRPr>
          </a:p>
        </p:txBody>
      </p:sp>
      <p:sp>
        <p:nvSpPr>
          <p:cNvPr id="11" name="Shape 3"/>
          <p:cNvSpPr/>
          <p:nvPr/>
        </p:nvSpPr>
        <p:spPr>
          <a:xfrm>
            <a:off x="731520" y="3474720"/>
            <a:ext cx="1370880" cy="45000"/>
          </a:xfrm>
          <a:prstGeom prst="rect">
            <a:avLst/>
          </a:prstGeom>
          <a:solidFill>
            <a:srgbClr val="00b0f0"/>
          </a:solidFill>
          <a:ln w="0">
            <a:noFill/>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alibri"/>
            </a:endParaRPr>
          </a:p>
        </p:txBody>
      </p:sp>
      <p:sp>
        <p:nvSpPr>
          <p:cNvPr id="12" name="Text 4"/>
          <p:cNvSpPr/>
          <p:nvPr/>
        </p:nvSpPr>
        <p:spPr>
          <a:xfrm>
            <a:off x="731520" y="3749040"/>
            <a:ext cx="54856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trike="noStrike" u="none">
                <a:solidFill>
                  <a:srgbClr val="8e8e8e"/>
                </a:solidFill>
                <a:effectLst/>
                <a:uFillTx/>
                <a:latin typeface="Calibri"/>
                <a:ea typeface="Calibri"/>
              </a:rPr>
              <a:t>BlackStorm Consulting  |  Startup Bootcamp 2025</a:t>
            </a:r>
            <a:endParaRPr b="0" lang="en-US"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df6f0"/>
        </a:solidFill>
      </p:bgPr>
    </p:bg>
    <p:spTree>
      <p:nvGrpSpPr>
        <p:cNvPr id="1" name=""/>
        <p:cNvGrpSpPr/>
        <p:nvPr/>
      </p:nvGrpSpPr>
      <p:grpSpPr>
        <a:xfrm>
          <a:off x="0" y="0"/>
          <a:ext cx="0" cy="0"/>
          <a:chOff x="0" y="0"/>
          <a:chExt cx="0" cy="0"/>
        </a:xfrm>
      </p:grpSpPr>
      <p:sp>
        <p:nvSpPr>
          <p:cNvPr id="13" name="Text 0"/>
          <p:cNvSpPr/>
          <p:nvPr/>
        </p:nvSpPr>
        <p:spPr>
          <a:xfrm>
            <a:off x="548640" y="274320"/>
            <a:ext cx="45712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600" strike="noStrike" u="none">
                <a:solidFill>
                  <a:srgbClr val="1a1a2e"/>
                </a:solidFill>
                <a:effectLst/>
                <a:uFillTx/>
                <a:latin typeface="Trebuchet MS"/>
                <a:ea typeface="Trebuchet MS"/>
              </a:rPr>
              <a:t>Workshop Agenda</a:t>
            </a:r>
            <a:endParaRPr b="0" lang="en-US" sz="3600" strike="noStrike" u="none">
              <a:solidFill>
                <a:srgbClr val="000000"/>
              </a:solidFill>
              <a:effectLst/>
              <a:uFillTx/>
              <a:latin typeface="Arial"/>
            </a:endParaRPr>
          </a:p>
        </p:txBody>
      </p:sp>
      <p:sp>
        <p:nvSpPr>
          <p:cNvPr id="14" name="Shape 1"/>
          <p:cNvSpPr/>
          <p:nvPr/>
        </p:nvSpPr>
        <p:spPr>
          <a:xfrm>
            <a:off x="548640" y="109728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5" name="Shape 2"/>
          <p:cNvSpPr/>
          <p:nvPr/>
        </p:nvSpPr>
        <p:spPr>
          <a:xfrm>
            <a:off x="548640" y="1097280"/>
            <a:ext cx="54000" cy="68508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6" name="Text 3"/>
          <p:cNvSpPr/>
          <p:nvPr/>
        </p:nvSpPr>
        <p:spPr>
          <a:xfrm>
            <a:off x="731520" y="1097280"/>
            <a:ext cx="639360" cy="685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e94560"/>
                </a:solidFill>
                <a:effectLst/>
                <a:uFillTx/>
                <a:latin typeface="Trebuchet MS"/>
                <a:ea typeface="Trebuchet MS"/>
              </a:rPr>
              <a:t>01</a:t>
            </a:r>
            <a:endParaRPr b="0" lang="en-US" sz="2200" strike="noStrike" u="none">
              <a:solidFill>
                <a:srgbClr val="000000"/>
              </a:solidFill>
              <a:effectLst/>
              <a:uFillTx/>
              <a:latin typeface="Arial"/>
            </a:endParaRPr>
          </a:p>
        </p:txBody>
      </p:sp>
      <p:sp>
        <p:nvSpPr>
          <p:cNvPr id="17" name="Text 4"/>
          <p:cNvSpPr/>
          <p:nvPr/>
        </p:nvSpPr>
        <p:spPr>
          <a:xfrm>
            <a:off x="1463040" y="1097280"/>
            <a:ext cx="31996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trike="noStrike" u="none">
                <a:solidFill>
                  <a:srgbClr val="1a1a2e"/>
                </a:solidFill>
                <a:effectLst/>
                <a:uFillTx/>
                <a:latin typeface="Trebuchet MS"/>
                <a:ea typeface="Trebuchet MS"/>
              </a:rPr>
              <a:t>Marketing Refresher</a:t>
            </a:r>
            <a:endParaRPr b="0" lang="en-US" sz="1600" strike="noStrike" u="none">
              <a:solidFill>
                <a:srgbClr val="000000"/>
              </a:solidFill>
              <a:effectLst/>
              <a:uFillTx/>
              <a:latin typeface="Arial"/>
            </a:endParaRPr>
          </a:p>
        </p:txBody>
      </p:sp>
      <p:sp>
        <p:nvSpPr>
          <p:cNvPr id="18" name="Text 5"/>
          <p:cNvSpPr/>
          <p:nvPr/>
        </p:nvSpPr>
        <p:spPr>
          <a:xfrm>
            <a:off x="4754880" y="1097280"/>
            <a:ext cx="36568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8e8e8e"/>
                </a:solidFill>
                <a:effectLst/>
                <a:uFillTx/>
                <a:latin typeface="Calibri"/>
                <a:ea typeface="Calibri"/>
              </a:rPr>
              <a:t>The Brilliant Basics every founder needs</a:t>
            </a:r>
            <a:endParaRPr b="0" lang="en-US" sz="1200" strike="noStrike" u="none">
              <a:solidFill>
                <a:srgbClr val="000000"/>
              </a:solidFill>
              <a:effectLst/>
              <a:uFillTx/>
              <a:latin typeface="Arial"/>
            </a:endParaRPr>
          </a:p>
        </p:txBody>
      </p:sp>
      <p:sp>
        <p:nvSpPr>
          <p:cNvPr id="19" name="Shape 6"/>
          <p:cNvSpPr/>
          <p:nvPr/>
        </p:nvSpPr>
        <p:spPr>
          <a:xfrm>
            <a:off x="548640" y="187452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20" name="Shape 7"/>
          <p:cNvSpPr/>
          <p:nvPr/>
        </p:nvSpPr>
        <p:spPr>
          <a:xfrm>
            <a:off x="548640" y="1874520"/>
            <a:ext cx="54000" cy="68508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21" name="Text 8"/>
          <p:cNvSpPr/>
          <p:nvPr/>
        </p:nvSpPr>
        <p:spPr>
          <a:xfrm>
            <a:off x="731520" y="1874520"/>
            <a:ext cx="639360" cy="685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0f9b8e"/>
                </a:solidFill>
                <a:effectLst/>
                <a:uFillTx/>
                <a:latin typeface="Trebuchet MS"/>
                <a:ea typeface="Trebuchet MS"/>
              </a:rPr>
              <a:t>02</a:t>
            </a:r>
            <a:endParaRPr b="0" lang="en-US" sz="2200" strike="noStrike" u="none">
              <a:solidFill>
                <a:srgbClr val="000000"/>
              </a:solidFill>
              <a:effectLst/>
              <a:uFillTx/>
              <a:latin typeface="Arial"/>
            </a:endParaRPr>
          </a:p>
        </p:txBody>
      </p:sp>
      <p:sp>
        <p:nvSpPr>
          <p:cNvPr id="22" name="Text 9"/>
          <p:cNvSpPr/>
          <p:nvPr/>
        </p:nvSpPr>
        <p:spPr>
          <a:xfrm>
            <a:off x="1463040" y="1874520"/>
            <a:ext cx="31996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trike="noStrike" u="none">
                <a:solidFill>
                  <a:srgbClr val="1a1a2e"/>
                </a:solidFill>
                <a:effectLst/>
                <a:uFillTx/>
                <a:latin typeface="Trebuchet MS"/>
                <a:ea typeface="Trebuchet MS"/>
              </a:rPr>
              <a:t>The Lean Marketing Framework</a:t>
            </a:r>
            <a:endParaRPr b="0" lang="en-US" sz="1600" strike="noStrike" u="none">
              <a:solidFill>
                <a:srgbClr val="000000"/>
              </a:solidFill>
              <a:effectLst/>
              <a:uFillTx/>
              <a:latin typeface="Arial"/>
            </a:endParaRPr>
          </a:p>
        </p:txBody>
      </p:sp>
      <p:sp>
        <p:nvSpPr>
          <p:cNvPr id="23" name="Text 10"/>
          <p:cNvSpPr/>
          <p:nvPr/>
        </p:nvSpPr>
        <p:spPr>
          <a:xfrm>
            <a:off x="4754880" y="1874520"/>
            <a:ext cx="36568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8e8e8e"/>
                </a:solidFill>
                <a:effectLst/>
                <a:uFillTx/>
                <a:latin typeface="Calibri"/>
                <a:ea typeface="Calibri"/>
              </a:rPr>
              <a:t>High ROI with low cost - startup style</a:t>
            </a:r>
            <a:endParaRPr b="0" lang="en-US" sz="1200" strike="noStrike" u="none">
              <a:solidFill>
                <a:srgbClr val="000000"/>
              </a:solidFill>
              <a:effectLst/>
              <a:uFillTx/>
              <a:latin typeface="Arial"/>
            </a:endParaRPr>
          </a:p>
        </p:txBody>
      </p:sp>
      <p:sp>
        <p:nvSpPr>
          <p:cNvPr id="24" name="Shape 11"/>
          <p:cNvSpPr/>
          <p:nvPr/>
        </p:nvSpPr>
        <p:spPr>
          <a:xfrm>
            <a:off x="548640" y="265176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25" name="Shape 12"/>
          <p:cNvSpPr/>
          <p:nvPr/>
        </p:nvSpPr>
        <p:spPr>
          <a:xfrm>
            <a:off x="548640" y="2651760"/>
            <a:ext cx="54000" cy="68508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26" name="Text 13"/>
          <p:cNvSpPr/>
          <p:nvPr/>
        </p:nvSpPr>
        <p:spPr>
          <a:xfrm>
            <a:off x="731520" y="2651760"/>
            <a:ext cx="639360" cy="685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1a1a2e"/>
                </a:solidFill>
                <a:effectLst/>
                <a:uFillTx/>
                <a:latin typeface="Trebuchet MS"/>
                <a:ea typeface="Trebuchet MS"/>
              </a:rPr>
              <a:t>03</a:t>
            </a:r>
            <a:endParaRPr b="0" lang="en-US" sz="2200" strike="noStrike" u="none">
              <a:solidFill>
                <a:srgbClr val="000000"/>
              </a:solidFill>
              <a:effectLst/>
              <a:uFillTx/>
              <a:latin typeface="Arial"/>
            </a:endParaRPr>
          </a:p>
        </p:txBody>
      </p:sp>
      <p:sp>
        <p:nvSpPr>
          <p:cNvPr id="27" name="Text 14"/>
          <p:cNvSpPr/>
          <p:nvPr/>
        </p:nvSpPr>
        <p:spPr>
          <a:xfrm>
            <a:off x="1463040" y="2651760"/>
            <a:ext cx="31996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trike="noStrike" u="none">
                <a:solidFill>
                  <a:srgbClr val="1a1a2e"/>
                </a:solidFill>
                <a:effectLst/>
                <a:uFillTx/>
                <a:latin typeface="Trebuchet MS"/>
                <a:ea typeface="Trebuchet MS"/>
              </a:rPr>
              <a:t>Social Media Marketing</a:t>
            </a:r>
            <a:endParaRPr b="0" lang="en-US" sz="1600" strike="noStrike" u="none">
              <a:solidFill>
                <a:srgbClr val="000000"/>
              </a:solidFill>
              <a:effectLst/>
              <a:uFillTx/>
              <a:latin typeface="Arial"/>
            </a:endParaRPr>
          </a:p>
        </p:txBody>
      </p:sp>
      <p:sp>
        <p:nvSpPr>
          <p:cNvPr id="28" name="Text 15"/>
          <p:cNvSpPr/>
          <p:nvPr/>
        </p:nvSpPr>
        <p:spPr>
          <a:xfrm>
            <a:off x="4754880" y="2651760"/>
            <a:ext cx="36568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8e8e8e"/>
                </a:solidFill>
                <a:effectLst/>
                <a:uFillTx/>
                <a:latin typeface="Calibri"/>
                <a:ea typeface="Calibri"/>
              </a:rPr>
              <a:t>Platform strategies with Singapore data</a:t>
            </a:r>
            <a:endParaRPr b="0" lang="en-US" sz="1200" strike="noStrike" u="none">
              <a:solidFill>
                <a:srgbClr val="000000"/>
              </a:solidFill>
              <a:effectLst/>
              <a:uFillTx/>
              <a:latin typeface="Arial"/>
            </a:endParaRPr>
          </a:p>
        </p:txBody>
      </p:sp>
      <p:sp>
        <p:nvSpPr>
          <p:cNvPr id="29" name="Shape 16"/>
          <p:cNvSpPr/>
          <p:nvPr/>
        </p:nvSpPr>
        <p:spPr>
          <a:xfrm>
            <a:off x="548640" y="342900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0" name="Shape 17"/>
          <p:cNvSpPr/>
          <p:nvPr/>
        </p:nvSpPr>
        <p:spPr>
          <a:xfrm>
            <a:off x="548640" y="3429000"/>
            <a:ext cx="54000" cy="68508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1" name="Text 18"/>
          <p:cNvSpPr/>
          <p:nvPr/>
        </p:nvSpPr>
        <p:spPr>
          <a:xfrm>
            <a:off x="731520" y="3429000"/>
            <a:ext cx="639360" cy="685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e94560"/>
                </a:solidFill>
                <a:effectLst/>
                <a:uFillTx/>
                <a:latin typeface="Trebuchet MS"/>
                <a:ea typeface="Trebuchet MS"/>
              </a:rPr>
              <a:t>04</a:t>
            </a:r>
            <a:endParaRPr b="0" lang="en-US" sz="2200" strike="noStrike" u="none">
              <a:solidFill>
                <a:srgbClr val="000000"/>
              </a:solidFill>
              <a:effectLst/>
              <a:uFillTx/>
              <a:latin typeface="Arial"/>
            </a:endParaRPr>
          </a:p>
        </p:txBody>
      </p:sp>
      <p:sp>
        <p:nvSpPr>
          <p:cNvPr id="32" name="Text 19"/>
          <p:cNvSpPr/>
          <p:nvPr/>
        </p:nvSpPr>
        <p:spPr>
          <a:xfrm>
            <a:off x="1463040" y="3429000"/>
            <a:ext cx="31996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trike="noStrike" u="none">
                <a:solidFill>
                  <a:srgbClr val="1a1a2e"/>
                </a:solidFill>
                <a:effectLst/>
                <a:uFillTx/>
                <a:latin typeface="Trebuchet MS"/>
                <a:ea typeface="Trebuchet MS"/>
              </a:rPr>
              <a:t>AI-Driven Marketing Tools</a:t>
            </a:r>
            <a:endParaRPr b="0" lang="en-US" sz="1600" strike="noStrike" u="none">
              <a:solidFill>
                <a:srgbClr val="000000"/>
              </a:solidFill>
              <a:effectLst/>
              <a:uFillTx/>
              <a:latin typeface="Arial"/>
            </a:endParaRPr>
          </a:p>
        </p:txBody>
      </p:sp>
      <p:sp>
        <p:nvSpPr>
          <p:cNvPr id="33" name="Text 20"/>
          <p:cNvSpPr/>
          <p:nvPr/>
        </p:nvSpPr>
        <p:spPr>
          <a:xfrm>
            <a:off x="4754880" y="3429000"/>
            <a:ext cx="36568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8e8e8e"/>
                </a:solidFill>
                <a:effectLst/>
                <a:uFillTx/>
                <a:latin typeface="Calibri"/>
                <a:ea typeface="Calibri"/>
              </a:rPr>
              <a:t>ChatGPT, Perplexity, Ideogram, Canva and more</a:t>
            </a:r>
            <a:endParaRPr b="0" lang="en-US" sz="1200" strike="noStrike" u="none">
              <a:solidFill>
                <a:srgbClr val="000000"/>
              </a:solidFill>
              <a:effectLst/>
              <a:uFillTx/>
              <a:latin typeface="Arial"/>
            </a:endParaRPr>
          </a:p>
        </p:txBody>
      </p:sp>
      <p:sp>
        <p:nvSpPr>
          <p:cNvPr id="34" name="Shape 21"/>
          <p:cNvSpPr/>
          <p:nvPr/>
        </p:nvSpPr>
        <p:spPr>
          <a:xfrm>
            <a:off x="548640" y="420624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5" name="Shape 22"/>
          <p:cNvSpPr/>
          <p:nvPr/>
        </p:nvSpPr>
        <p:spPr>
          <a:xfrm>
            <a:off x="548640" y="4206240"/>
            <a:ext cx="54000" cy="68508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6" name="Text 23"/>
          <p:cNvSpPr/>
          <p:nvPr/>
        </p:nvSpPr>
        <p:spPr>
          <a:xfrm>
            <a:off x="731520" y="4206240"/>
            <a:ext cx="639360" cy="685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0f9b8e"/>
                </a:solidFill>
                <a:effectLst/>
                <a:uFillTx/>
                <a:latin typeface="Trebuchet MS"/>
                <a:ea typeface="Trebuchet MS"/>
              </a:rPr>
              <a:t>05</a:t>
            </a:r>
            <a:endParaRPr b="0" lang="en-US" sz="2200" strike="noStrike" u="none">
              <a:solidFill>
                <a:srgbClr val="000000"/>
              </a:solidFill>
              <a:effectLst/>
              <a:uFillTx/>
              <a:latin typeface="Arial"/>
            </a:endParaRPr>
          </a:p>
        </p:txBody>
      </p:sp>
      <p:sp>
        <p:nvSpPr>
          <p:cNvPr id="37" name="Text 24"/>
          <p:cNvSpPr/>
          <p:nvPr/>
        </p:nvSpPr>
        <p:spPr>
          <a:xfrm>
            <a:off x="1463040" y="4206240"/>
            <a:ext cx="31996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trike="noStrike" u="none">
                <a:solidFill>
                  <a:srgbClr val="1a1a2e"/>
                </a:solidFill>
                <a:effectLst/>
                <a:uFillTx/>
                <a:latin typeface="Trebuchet MS"/>
                <a:ea typeface="Trebuchet MS"/>
              </a:rPr>
              <a:t>Your Market: SQREEM Insights</a:t>
            </a:r>
            <a:endParaRPr b="0" lang="en-US" sz="1600" strike="noStrike" u="none">
              <a:solidFill>
                <a:srgbClr val="000000"/>
              </a:solidFill>
              <a:effectLst/>
              <a:uFillTx/>
              <a:latin typeface="Arial"/>
            </a:endParaRPr>
          </a:p>
        </p:txBody>
      </p:sp>
      <p:sp>
        <p:nvSpPr>
          <p:cNvPr id="38" name="Text 25"/>
          <p:cNvSpPr/>
          <p:nvPr/>
        </p:nvSpPr>
        <p:spPr>
          <a:xfrm>
            <a:off x="4754880" y="4206240"/>
            <a:ext cx="36568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8e8e8e"/>
                </a:solidFill>
                <a:effectLst/>
                <a:uFillTx/>
                <a:latin typeface="Calibri"/>
                <a:ea typeface="Calibri"/>
              </a:rPr>
              <a:t>Real data on 50,625 AI prompt seekers in SG</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Text 0"/>
          <p:cNvSpPr/>
          <p:nvPr/>
        </p:nvSpPr>
        <p:spPr>
          <a:xfrm>
            <a:off x="731520" y="548640"/>
            <a:ext cx="1828080" cy="1828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8000" strike="noStrike" u="none">
                <a:solidFill>
                  <a:srgbClr val="e94560"/>
                </a:solidFill>
                <a:effectLst/>
                <a:uFillTx/>
                <a:latin typeface="Trebuchet MS"/>
                <a:ea typeface="Trebuchet MS"/>
              </a:rPr>
              <a:t>01</a:t>
            </a:r>
            <a:endParaRPr b="0" lang="en-US" sz="8000" strike="noStrike" u="none">
              <a:solidFill>
                <a:srgbClr val="000000"/>
              </a:solidFill>
              <a:effectLst/>
              <a:uFillTx/>
              <a:latin typeface="Arial"/>
            </a:endParaRPr>
          </a:p>
        </p:txBody>
      </p:sp>
      <p:sp>
        <p:nvSpPr>
          <p:cNvPr id="40" name="Text 1"/>
          <p:cNvSpPr/>
          <p:nvPr/>
        </p:nvSpPr>
        <p:spPr>
          <a:xfrm>
            <a:off x="731520" y="2286000"/>
            <a:ext cx="7314480" cy="913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4000" strike="noStrike" u="none">
                <a:solidFill>
                  <a:srgbClr val="1a1a2e"/>
                </a:solidFill>
                <a:effectLst/>
                <a:uFillTx/>
                <a:latin typeface="Trebuchet MS"/>
                <a:ea typeface="Trebuchet MS"/>
              </a:rPr>
              <a:t>Marketing Refresher</a:t>
            </a:r>
            <a:endParaRPr b="0" lang="en-US" sz="4000" strike="noStrike" u="none">
              <a:solidFill>
                <a:srgbClr val="000000"/>
              </a:solidFill>
              <a:effectLst/>
              <a:uFillTx/>
              <a:latin typeface="Arial"/>
            </a:endParaRPr>
          </a:p>
        </p:txBody>
      </p:sp>
      <p:sp>
        <p:nvSpPr>
          <p:cNvPr id="41" name="Text 2"/>
          <p:cNvSpPr/>
          <p:nvPr/>
        </p:nvSpPr>
        <p:spPr>
          <a:xfrm>
            <a:off x="731520" y="3200400"/>
            <a:ext cx="64000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600" strike="noStrike" u="none">
                <a:solidFill>
                  <a:srgbClr val="0f9b8e"/>
                </a:solidFill>
                <a:effectLst/>
                <a:uFillTx/>
                <a:latin typeface="Calibri"/>
                <a:ea typeface="Calibri"/>
              </a:rPr>
              <a:t>The Brilliant Basics every founder needs to know</a:t>
            </a:r>
            <a:endParaRPr b="0" lang="en-US" sz="1600" strike="noStrike" u="none">
              <a:solidFill>
                <a:srgbClr val="000000"/>
              </a:solidFill>
              <a:effectLst/>
              <a:uFillTx/>
              <a:latin typeface="Arial"/>
            </a:endParaRPr>
          </a:p>
        </p:txBody>
      </p:sp>
      <p:sp>
        <p:nvSpPr>
          <p:cNvPr id="42" name="Shape 3"/>
          <p:cNvSpPr/>
          <p:nvPr/>
        </p:nvSpPr>
        <p:spPr>
          <a:xfrm>
            <a:off x="731520" y="4206240"/>
            <a:ext cx="1828080" cy="54000"/>
          </a:xfrm>
          <a:prstGeom prst="rect">
            <a:avLst/>
          </a:prstGeom>
          <a:solidFill>
            <a:srgbClr val="e94560"/>
          </a:solidFill>
          <a:ln w="0">
            <a:noFill/>
          </a:ln>
        </p:spPr>
        <p:style>
          <a:lnRef idx="0"/>
          <a:fillRef idx="0"/>
          <a:effectRef idx="0"/>
          <a:fontRef idx="minor"/>
        </p:style>
        <p:txBody>
          <a:bodyPr lIns="90000" rIns="90000" tIns="9720" bIns="9720" anchor="t">
            <a:noAutofit/>
          </a:bodyPr>
          <a:p>
            <a:pPr defTabSz="914400">
              <a:lnSpc>
                <a:spcPct val="100000"/>
              </a:lnSpc>
            </a:pPr>
            <a:endParaRPr b="0" lang="en-US" sz="18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Text 0"/>
          <p:cNvSpPr/>
          <p:nvPr/>
        </p:nvSpPr>
        <p:spPr>
          <a:xfrm>
            <a:off x="548640" y="274320"/>
            <a:ext cx="73144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600" strike="noStrike" u="none">
                <a:solidFill>
                  <a:srgbClr val="1a1a2e"/>
                </a:solidFill>
                <a:effectLst/>
                <a:uFillTx/>
                <a:latin typeface="Trebuchet MS"/>
                <a:ea typeface="Trebuchet MS"/>
              </a:rPr>
              <a:t>What is Marketing, Really?</a:t>
            </a:r>
            <a:endParaRPr b="0" lang="en-US" sz="3600" strike="noStrike" u="none">
              <a:solidFill>
                <a:srgbClr val="000000"/>
              </a:solidFill>
              <a:effectLst/>
              <a:uFillTx/>
              <a:latin typeface="Arial"/>
            </a:endParaRPr>
          </a:p>
        </p:txBody>
      </p:sp>
      <p:sp>
        <p:nvSpPr>
          <p:cNvPr id="44" name="Shape 1"/>
          <p:cNvSpPr/>
          <p:nvPr/>
        </p:nvSpPr>
        <p:spPr>
          <a:xfrm>
            <a:off x="548640" y="1097280"/>
            <a:ext cx="8046000" cy="146232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45" name="Image 0" descr="preencoded.png"/>
          <p:cNvPicPr/>
          <p:nvPr/>
        </p:nvPicPr>
        <p:blipFill>
          <a:blip r:embed="rId1"/>
          <a:stretch/>
        </p:blipFill>
        <p:spPr>
          <a:xfrm>
            <a:off x="822960" y="1234440"/>
            <a:ext cx="365040" cy="365040"/>
          </a:xfrm>
          <a:prstGeom prst="rect">
            <a:avLst/>
          </a:prstGeom>
          <a:noFill/>
          <a:ln w="0">
            <a:noFill/>
          </a:ln>
        </p:spPr>
      </p:pic>
      <p:sp>
        <p:nvSpPr>
          <p:cNvPr id="46" name="Text 2"/>
          <p:cNvSpPr/>
          <p:nvPr/>
        </p:nvSpPr>
        <p:spPr>
          <a:xfrm>
            <a:off x="1280160" y="1188720"/>
            <a:ext cx="7040160" cy="1005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500" strike="noStrike" u="none">
                <a:solidFill>
                  <a:srgbClr val="ffffff"/>
                </a:solidFill>
                <a:effectLst/>
                <a:uFillTx/>
                <a:latin typeface="Calibri"/>
                <a:ea typeface="Calibri"/>
              </a:rPr>
              <a:t>Marketing is a discovery mechanism for uncovering value that no one knew existed - either through discovering an unmet need, or servicing an existing need through innovation.</a:t>
            </a:r>
            <a:endParaRPr b="0" lang="en-US" sz="1500" strike="noStrike" u="none">
              <a:solidFill>
                <a:srgbClr val="000000"/>
              </a:solidFill>
              <a:effectLst/>
              <a:uFillTx/>
              <a:latin typeface="Arial"/>
            </a:endParaRPr>
          </a:p>
        </p:txBody>
      </p:sp>
      <p:sp>
        <p:nvSpPr>
          <p:cNvPr id="47" name="Text 3"/>
          <p:cNvSpPr/>
          <p:nvPr/>
        </p:nvSpPr>
        <p:spPr>
          <a:xfrm>
            <a:off x="1280160" y="2148840"/>
            <a:ext cx="64000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trike="noStrike" u="none">
                <a:solidFill>
                  <a:srgbClr val="0f9b8e"/>
                </a:solidFill>
                <a:effectLst/>
                <a:uFillTx/>
                <a:latin typeface="Calibri"/>
                <a:ea typeface="Calibri"/>
              </a:rPr>
              <a:t>Rory Sutherland, Vice Chairman of Ogilvy UK</a:t>
            </a:r>
            <a:endParaRPr b="0" lang="en-US" sz="1100" strike="noStrike" u="none">
              <a:solidFill>
                <a:srgbClr val="000000"/>
              </a:solidFill>
              <a:effectLst/>
              <a:uFillTx/>
              <a:latin typeface="Arial"/>
            </a:endParaRPr>
          </a:p>
        </p:txBody>
      </p:sp>
      <p:sp>
        <p:nvSpPr>
          <p:cNvPr id="48" name="Shape 4"/>
          <p:cNvSpPr/>
          <p:nvPr/>
        </p:nvSpPr>
        <p:spPr>
          <a:xfrm>
            <a:off x="548640" y="2926080"/>
            <a:ext cx="2651040" cy="16452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49" name="Shape 5"/>
          <p:cNvSpPr/>
          <p:nvPr/>
        </p:nvSpPr>
        <p:spPr>
          <a:xfrm>
            <a:off x="548640" y="2926080"/>
            <a:ext cx="54000" cy="164520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50" name="Text 6"/>
          <p:cNvSpPr/>
          <p:nvPr/>
        </p:nvSpPr>
        <p:spPr>
          <a:xfrm>
            <a:off x="731520" y="3017520"/>
            <a:ext cx="22852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Aligns Stakeholders</a:t>
            </a:r>
            <a:endParaRPr b="0" lang="en-US" sz="1300" strike="noStrike" u="none">
              <a:solidFill>
                <a:srgbClr val="000000"/>
              </a:solidFill>
              <a:effectLst/>
              <a:uFillTx/>
              <a:latin typeface="Arial"/>
            </a:endParaRPr>
          </a:p>
        </p:txBody>
      </p:sp>
      <p:sp>
        <p:nvSpPr>
          <p:cNvPr id="51" name="Text 7"/>
          <p:cNvSpPr/>
          <p:nvPr/>
        </p:nvSpPr>
        <p:spPr>
          <a:xfrm>
            <a:off x="731520" y="3383280"/>
            <a:ext cx="2285280" cy="1096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2d2d2d"/>
                </a:solidFill>
                <a:effectLst/>
                <a:uFillTx/>
                <a:latin typeface="Calibri"/>
                <a:ea typeface="Calibri"/>
              </a:rPr>
              <a:t>Gets everyone on the same page about your value</a:t>
            </a:r>
            <a:endParaRPr b="0" lang="en-US" sz="1100" strike="noStrike" u="none">
              <a:solidFill>
                <a:srgbClr val="000000"/>
              </a:solidFill>
              <a:effectLst/>
              <a:uFillTx/>
              <a:latin typeface="Arial"/>
            </a:endParaRPr>
          </a:p>
        </p:txBody>
      </p:sp>
      <p:sp>
        <p:nvSpPr>
          <p:cNvPr id="52" name="Shape 8"/>
          <p:cNvSpPr/>
          <p:nvPr/>
        </p:nvSpPr>
        <p:spPr>
          <a:xfrm>
            <a:off x="3383280" y="2926080"/>
            <a:ext cx="2651040" cy="16452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53" name="Shape 9"/>
          <p:cNvSpPr/>
          <p:nvPr/>
        </p:nvSpPr>
        <p:spPr>
          <a:xfrm>
            <a:off x="3383280" y="2926080"/>
            <a:ext cx="54000" cy="164520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54" name="Text 10"/>
          <p:cNvSpPr/>
          <p:nvPr/>
        </p:nvSpPr>
        <p:spPr>
          <a:xfrm>
            <a:off x="3566160" y="3017520"/>
            <a:ext cx="22852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Maps Assumptions</a:t>
            </a:r>
            <a:endParaRPr b="0" lang="en-US" sz="1300" strike="noStrike" u="none">
              <a:solidFill>
                <a:srgbClr val="000000"/>
              </a:solidFill>
              <a:effectLst/>
              <a:uFillTx/>
              <a:latin typeface="Arial"/>
            </a:endParaRPr>
          </a:p>
        </p:txBody>
      </p:sp>
      <p:sp>
        <p:nvSpPr>
          <p:cNvPr id="55" name="Text 11"/>
          <p:cNvSpPr/>
          <p:nvPr/>
        </p:nvSpPr>
        <p:spPr>
          <a:xfrm>
            <a:off x="3566160" y="3383280"/>
            <a:ext cx="2285280" cy="1096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2d2d2d"/>
                </a:solidFill>
                <a:effectLst/>
                <a:uFillTx/>
                <a:latin typeface="Calibri"/>
                <a:ea typeface="Calibri"/>
              </a:rPr>
              <a:t>Identifies what you think vs what's actually true</a:t>
            </a:r>
            <a:endParaRPr b="0" lang="en-US" sz="1100" strike="noStrike" u="none">
              <a:solidFill>
                <a:srgbClr val="000000"/>
              </a:solidFill>
              <a:effectLst/>
              <a:uFillTx/>
              <a:latin typeface="Arial"/>
            </a:endParaRPr>
          </a:p>
        </p:txBody>
      </p:sp>
      <p:sp>
        <p:nvSpPr>
          <p:cNvPr id="56" name="Shape 12"/>
          <p:cNvSpPr/>
          <p:nvPr/>
        </p:nvSpPr>
        <p:spPr>
          <a:xfrm>
            <a:off x="6217920" y="2926080"/>
            <a:ext cx="2651040" cy="16452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57" name="Shape 13"/>
          <p:cNvSpPr/>
          <p:nvPr/>
        </p:nvSpPr>
        <p:spPr>
          <a:xfrm>
            <a:off x="6217920" y="2926080"/>
            <a:ext cx="54000" cy="164520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58" name="Text 14"/>
          <p:cNvSpPr/>
          <p:nvPr/>
        </p:nvSpPr>
        <p:spPr>
          <a:xfrm>
            <a:off x="6400800" y="3017520"/>
            <a:ext cx="22852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Creates Value</a:t>
            </a:r>
            <a:endParaRPr b="0" lang="en-US" sz="1300" strike="noStrike" u="none">
              <a:solidFill>
                <a:srgbClr val="000000"/>
              </a:solidFill>
              <a:effectLst/>
              <a:uFillTx/>
              <a:latin typeface="Arial"/>
            </a:endParaRPr>
          </a:p>
        </p:txBody>
      </p:sp>
      <p:sp>
        <p:nvSpPr>
          <p:cNvPr id="59" name="Text 15"/>
          <p:cNvSpPr/>
          <p:nvPr/>
        </p:nvSpPr>
        <p:spPr>
          <a:xfrm>
            <a:off x="6400800" y="3383280"/>
            <a:ext cx="2285280" cy="1096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2d2d2d"/>
                </a:solidFill>
                <a:effectLst/>
                <a:uFillTx/>
                <a:latin typeface="Calibri"/>
                <a:ea typeface="Calibri"/>
              </a:rPr>
              <a:t>Provides a roadmap for delivering real customer value</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94560"/>
        </a:solidFill>
      </p:bgPr>
    </p:bg>
    <p:spTree>
      <p:nvGrpSpPr>
        <p:cNvPr id="1" name=""/>
        <p:cNvGrpSpPr/>
        <p:nvPr/>
      </p:nvGrpSpPr>
      <p:grpSpPr>
        <a:xfrm>
          <a:off x="0" y="0"/>
          <a:ext cx="0" cy="0"/>
          <a:chOff x="0" y="0"/>
          <a:chExt cx="0" cy="0"/>
        </a:xfrm>
      </p:grpSpPr>
      <p:sp>
        <p:nvSpPr>
          <p:cNvPr id="60" name="Text 0"/>
          <p:cNvSpPr/>
          <p:nvPr/>
        </p:nvSpPr>
        <p:spPr>
          <a:xfrm>
            <a:off x="548640" y="365760"/>
            <a:ext cx="73144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trike="noStrike" u="none">
                <a:solidFill>
                  <a:srgbClr val="0f9b8e"/>
                </a:solidFill>
                <a:effectLst/>
                <a:uFillTx/>
                <a:latin typeface="Calibri"/>
                <a:ea typeface="Calibri"/>
              </a:rPr>
              <a:t>Quick Question</a:t>
            </a:r>
            <a:endParaRPr b="0" lang="en-US" sz="1800" strike="noStrike" u="none">
              <a:solidFill>
                <a:srgbClr val="ffffff"/>
              </a:solidFill>
              <a:effectLst/>
              <a:uFillTx/>
              <a:latin typeface="Arial"/>
            </a:endParaRPr>
          </a:p>
        </p:txBody>
      </p:sp>
      <p:sp>
        <p:nvSpPr>
          <p:cNvPr id="61" name="Text 1"/>
          <p:cNvSpPr/>
          <p:nvPr/>
        </p:nvSpPr>
        <p:spPr>
          <a:xfrm>
            <a:off x="548640" y="1097280"/>
            <a:ext cx="7314480" cy="1828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4400" strike="noStrike" u="none">
                <a:solidFill>
                  <a:srgbClr val="ffffff"/>
                </a:solidFill>
                <a:effectLst/>
                <a:uFillTx/>
                <a:latin typeface="Trebuchet MS"/>
                <a:ea typeface="Trebuchet MS"/>
              </a:rPr>
              <a:t>Who here is currently</a:t>
            </a:r>
            <a:endParaRPr b="0" lang="en-US" sz="4400" strike="noStrike" u="none">
              <a:solidFill>
                <a:srgbClr val="ffffff"/>
              </a:solidFill>
              <a:effectLst/>
              <a:uFillTx/>
              <a:latin typeface="Arial"/>
            </a:endParaRPr>
          </a:p>
          <a:p>
            <a:pPr defTabSz="914400">
              <a:lnSpc>
                <a:spcPct val="100000"/>
              </a:lnSpc>
              <a:tabLst>
                <a:tab algn="l" pos="0"/>
              </a:tabLst>
            </a:pPr>
            <a:r>
              <a:rPr b="1" lang="en-US" sz="4400" strike="noStrike" u="none">
                <a:solidFill>
                  <a:srgbClr val="ffffff"/>
                </a:solidFill>
                <a:effectLst/>
                <a:uFillTx/>
                <a:latin typeface="Trebuchet MS"/>
                <a:ea typeface="Trebuchet MS"/>
              </a:rPr>
              <a:t>marketing something?</a:t>
            </a:r>
            <a:endParaRPr b="0" lang="en-US" sz="4400" strike="noStrike" u="none">
              <a:solidFill>
                <a:srgbClr val="ffffff"/>
              </a:solidFill>
              <a:effectLst/>
              <a:uFillTx/>
              <a:latin typeface="Arial"/>
            </a:endParaRPr>
          </a:p>
        </p:txBody>
      </p:sp>
      <p:sp>
        <p:nvSpPr>
          <p:cNvPr id="62" name="Text 2"/>
          <p:cNvSpPr/>
          <p:nvPr/>
        </p:nvSpPr>
        <p:spPr>
          <a:xfrm>
            <a:off x="548640" y="3200400"/>
            <a:ext cx="73144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800" strike="noStrike" u="none">
                <a:solidFill>
                  <a:srgbClr val="ffffff"/>
                </a:solidFill>
                <a:effectLst/>
                <a:uFillTx/>
                <a:latin typeface="Calibri"/>
                <a:ea typeface="Calibri"/>
              </a:rPr>
              <a:t>Business, personal brand, side hustle - hands up!</a:t>
            </a: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9b8e"/>
        </a:solidFill>
      </p:bgPr>
    </p:bg>
    <p:spTree>
      <p:nvGrpSpPr>
        <p:cNvPr id="1" name=""/>
        <p:cNvGrpSpPr/>
        <p:nvPr/>
      </p:nvGrpSpPr>
      <p:grpSpPr>
        <a:xfrm>
          <a:off x="0" y="0"/>
          <a:ext cx="0" cy="0"/>
          <a:chOff x="0" y="0"/>
          <a:chExt cx="0" cy="0"/>
        </a:xfrm>
      </p:grpSpPr>
      <p:sp>
        <p:nvSpPr>
          <p:cNvPr id="63" name="Text 0"/>
          <p:cNvSpPr/>
          <p:nvPr/>
        </p:nvSpPr>
        <p:spPr>
          <a:xfrm>
            <a:off x="548640" y="365760"/>
            <a:ext cx="73144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trike="noStrike" u="none">
                <a:solidFill>
                  <a:srgbClr val="0f9b8e"/>
                </a:solidFill>
                <a:effectLst/>
                <a:uFillTx/>
                <a:latin typeface="Calibri"/>
                <a:ea typeface="Calibri"/>
              </a:rPr>
              <a:t>Shout It Out!</a:t>
            </a:r>
            <a:endParaRPr b="0" lang="en-US" sz="1800" strike="noStrike" u="none">
              <a:solidFill>
                <a:srgbClr val="ffffff"/>
              </a:solidFill>
              <a:effectLst/>
              <a:uFillTx/>
              <a:latin typeface="Arial"/>
            </a:endParaRPr>
          </a:p>
        </p:txBody>
      </p:sp>
      <p:sp>
        <p:nvSpPr>
          <p:cNvPr id="64" name="Text 1"/>
          <p:cNvSpPr/>
          <p:nvPr/>
        </p:nvSpPr>
        <p:spPr>
          <a:xfrm>
            <a:off x="548640" y="1097280"/>
            <a:ext cx="7314480" cy="1828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4400" strike="noStrike" u="none">
                <a:solidFill>
                  <a:srgbClr val="ffffff"/>
                </a:solidFill>
                <a:effectLst/>
                <a:uFillTx/>
                <a:latin typeface="Trebuchet MS"/>
                <a:ea typeface="Trebuchet MS"/>
              </a:rPr>
              <a:t>What's your biggest</a:t>
            </a:r>
            <a:endParaRPr b="0" lang="en-US" sz="4400" strike="noStrike" u="none">
              <a:solidFill>
                <a:srgbClr val="ffffff"/>
              </a:solidFill>
              <a:effectLst/>
              <a:uFillTx/>
              <a:latin typeface="Arial"/>
            </a:endParaRPr>
          </a:p>
          <a:p>
            <a:pPr defTabSz="914400">
              <a:lnSpc>
                <a:spcPct val="100000"/>
              </a:lnSpc>
              <a:tabLst>
                <a:tab algn="l" pos="0"/>
              </a:tabLst>
            </a:pPr>
            <a:r>
              <a:rPr b="1" lang="en-US" sz="4400" strike="noStrike" u="none">
                <a:solidFill>
                  <a:srgbClr val="ffffff"/>
                </a:solidFill>
                <a:effectLst/>
                <a:uFillTx/>
                <a:latin typeface="Trebuchet MS"/>
                <a:ea typeface="Trebuchet MS"/>
              </a:rPr>
              <a:t>challenge with marketing?</a:t>
            </a:r>
            <a:endParaRPr b="0" lang="en-US" sz="4400" strike="noStrike" u="none">
              <a:solidFill>
                <a:srgbClr val="ffffff"/>
              </a:solidFill>
              <a:effectLst/>
              <a:uFillTx/>
              <a:latin typeface="Arial"/>
            </a:endParaRPr>
          </a:p>
        </p:txBody>
      </p:sp>
      <p:sp>
        <p:nvSpPr>
          <p:cNvPr id="65" name="Text 2"/>
          <p:cNvSpPr/>
          <p:nvPr/>
        </p:nvSpPr>
        <p:spPr>
          <a:xfrm>
            <a:off x="548640" y="3200400"/>
            <a:ext cx="73144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800" strike="noStrike" u="none">
                <a:solidFill>
                  <a:srgbClr val="ffffff"/>
                </a:solidFill>
                <a:effectLst/>
                <a:uFillTx/>
                <a:latin typeface="Calibri"/>
                <a:ea typeface="Calibri"/>
              </a:rPr>
              <a:t>Budget?  Time?  Tools?  Engagement?  All of the above?</a:t>
            </a: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df6f0"/>
        </a:solidFill>
      </p:bgPr>
    </p:bg>
    <p:spTree>
      <p:nvGrpSpPr>
        <p:cNvPr id="1" name=""/>
        <p:cNvGrpSpPr/>
        <p:nvPr/>
      </p:nvGrpSpPr>
      <p:grpSpPr>
        <a:xfrm>
          <a:off x="0" y="0"/>
          <a:ext cx="0" cy="0"/>
          <a:chOff x="0" y="0"/>
          <a:chExt cx="0" cy="0"/>
        </a:xfrm>
      </p:grpSpPr>
      <p:sp>
        <p:nvSpPr>
          <p:cNvPr id="66" name="Text 0"/>
          <p:cNvSpPr/>
          <p:nvPr/>
        </p:nvSpPr>
        <p:spPr>
          <a:xfrm>
            <a:off x="548640" y="274320"/>
            <a:ext cx="73144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600" strike="noStrike" u="none">
                <a:solidFill>
                  <a:srgbClr val="1a1a2e"/>
                </a:solidFill>
                <a:effectLst/>
                <a:uFillTx/>
                <a:latin typeface="Trebuchet MS"/>
                <a:ea typeface="Trebuchet MS"/>
              </a:rPr>
              <a:t>What You'll Walk Away With</a:t>
            </a:r>
            <a:endParaRPr b="0" lang="en-US" sz="3600" strike="noStrike" u="none">
              <a:solidFill>
                <a:srgbClr val="000000"/>
              </a:solidFill>
              <a:effectLst/>
              <a:uFillTx/>
              <a:latin typeface="Arial"/>
            </a:endParaRPr>
          </a:p>
        </p:txBody>
      </p:sp>
      <p:sp>
        <p:nvSpPr>
          <p:cNvPr id="67" name="Shape 1"/>
          <p:cNvSpPr/>
          <p:nvPr/>
        </p:nvSpPr>
        <p:spPr>
          <a:xfrm>
            <a:off x="548640" y="1097280"/>
            <a:ext cx="8046000" cy="82224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68" name="Image 0" descr="preencoded.png"/>
          <p:cNvPicPr/>
          <p:nvPr/>
        </p:nvPicPr>
        <p:blipFill>
          <a:blip r:embed="rId1"/>
          <a:stretch/>
        </p:blipFill>
        <p:spPr>
          <a:xfrm>
            <a:off x="822960" y="1280160"/>
            <a:ext cx="410760" cy="410760"/>
          </a:xfrm>
          <a:prstGeom prst="rect">
            <a:avLst/>
          </a:prstGeom>
          <a:noFill/>
          <a:ln w="0">
            <a:noFill/>
          </a:ln>
        </p:spPr>
      </p:pic>
      <p:sp>
        <p:nvSpPr>
          <p:cNvPr id="69" name="Text 2"/>
          <p:cNvSpPr/>
          <p:nvPr/>
        </p:nvSpPr>
        <p:spPr>
          <a:xfrm>
            <a:off x="1463040" y="1097280"/>
            <a:ext cx="319968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trike="noStrike" u="none">
                <a:solidFill>
                  <a:srgbClr val="1a1a2e"/>
                </a:solidFill>
                <a:effectLst/>
                <a:uFillTx/>
                <a:latin typeface="Trebuchet MS"/>
                <a:ea typeface="Trebuchet MS"/>
              </a:rPr>
              <a:t>Marketing Without Breaking the Bank</a:t>
            </a:r>
            <a:endParaRPr b="0" lang="en-US" sz="1500" strike="noStrike" u="none">
              <a:solidFill>
                <a:srgbClr val="000000"/>
              </a:solidFill>
              <a:effectLst/>
              <a:uFillTx/>
              <a:latin typeface="Arial"/>
            </a:endParaRPr>
          </a:p>
        </p:txBody>
      </p:sp>
      <p:sp>
        <p:nvSpPr>
          <p:cNvPr id="70" name="Text 3"/>
          <p:cNvSpPr/>
          <p:nvPr/>
        </p:nvSpPr>
        <p:spPr>
          <a:xfrm>
            <a:off x="4754880" y="1097280"/>
            <a:ext cx="365688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8e8e8e"/>
                </a:solidFill>
                <a:effectLst/>
                <a:uFillTx/>
                <a:latin typeface="Calibri"/>
                <a:ea typeface="Calibri"/>
              </a:rPr>
              <a:t>Smart techniques that cost nothing but time</a:t>
            </a:r>
            <a:endParaRPr b="0" lang="en-US" sz="1200" strike="noStrike" u="none">
              <a:solidFill>
                <a:srgbClr val="000000"/>
              </a:solidFill>
              <a:effectLst/>
              <a:uFillTx/>
              <a:latin typeface="Arial"/>
            </a:endParaRPr>
          </a:p>
        </p:txBody>
      </p:sp>
      <p:sp>
        <p:nvSpPr>
          <p:cNvPr id="71" name="Shape 4"/>
          <p:cNvSpPr/>
          <p:nvPr/>
        </p:nvSpPr>
        <p:spPr>
          <a:xfrm>
            <a:off x="548640" y="2057400"/>
            <a:ext cx="8046000" cy="82224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72" name="Image 1" descr="preencoded.png"/>
          <p:cNvPicPr/>
          <p:nvPr/>
        </p:nvPicPr>
        <p:blipFill>
          <a:blip r:embed="rId2"/>
          <a:stretch/>
        </p:blipFill>
        <p:spPr>
          <a:xfrm>
            <a:off x="822960" y="2240280"/>
            <a:ext cx="410760" cy="410760"/>
          </a:xfrm>
          <a:prstGeom prst="rect">
            <a:avLst/>
          </a:prstGeom>
          <a:noFill/>
          <a:ln w="0">
            <a:noFill/>
          </a:ln>
        </p:spPr>
      </p:pic>
      <p:sp>
        <p:nvSpPr>
          <p:cNvPr id="73" name="Text 5"/>
          <p:cNvSpPr/>
          <p:nvPr/>
        </p:nvSpPr>
        <p:spPr>
          <a:xfrm>
            <a:off x="1463040" y="2057400"/>
            <a:ext cx="319968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trike="noStrike" u="none">
                <a:solidFill>
                  <a:srgbClr val="1a1a2e"/>
                </a:solidFill>
                <a:effectLst/>
                <a:uFillTx/>
                <a:latin typeface="Trebuchet MS"/>
                <a:ea typeface="Trebuchet MS"/>
              </a:rPr>
              <a:t>AI Tools That Do the Heavy Lifting</a:t>
            </a:r>
            <a:endParaRPr b="0" lang="en-US" sz="1500" strike="noStrike" u="none">
              <a:solidFill>
                <a:srgbClr val="000000"/>
              </a:solidFill>
              <a:effectLst/>
              <a:uFillTx/>
              <a:latin typeface="Arial"/>
            </a:endParaRPr>
          </a:p>
        </p:txBody>
      </p:sp>
      <p:sp>
        <p:nvSpPr>
          <p:cNvPr id="74" name="Text 6"/>
          <p:cNvSpPr/>
          <p:nvPr/>
        </p:nvSpPr>
        <p:spPr>
          <a:xfrm>
            <a:off x="4754880" y="2057400"/>
            <a:ext cx="365688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8e8e8e"/>
                </a:solidFill>
                <a:effectLst/>
                <a:uFillTx/>
                <a:latin typeface="Calibri"/>
                <a:ea typeface="Calibri"/>
              </a:rPr>
              <a:t>ChatGPT, Perplexity, Ideogram, Canva and more</a:t>
            </a:r>
            <a:endParaRPr b="0" lang="en-US" sz="1200" strike="noStrike" u="none">
              <a:solidFill>
                <a:srgbClr val="000000"/>
              </a:solidFill>
              <a:effectLst/>
              <a:uFillTx/>
              <a:latin typeface="Arial"/>
            </a:endParaRPr>
          </a:p>
        </p:txBody>
      </p:sp>
      <p:sp>
        <p:nvSpPr>
          <p:cNvPr id="75" name="Shape 7"/>
          <p:cNvSpPr/>
          <p:nvPr/>
        </p:nvSpPr>
        <p:spPr>
          <a:xfrm>
            <a:off x="548640" y="3017520"/>
            <a:ext cx="8046000" cy="82224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76" name="Image 2" descr="preencoded.png"/>
          <p:cNvPicPr/>
          <p:nvPr/>
        </p:nvPicPr>
        <p:blipFill>
          <a:blip r:embed="rId3"/>
          <a:stretch/>
        </p:blipFill>
        <p:spPr>
          <a:xfrm>
            <a:off x="822960" y="3200400"/>
            <a:ext cx="410760" cy="410760"/>
          </a:xfrm>
          <a:prstGeom prst="rect">
            <a:avLst/>
          </a:prstGeom>
          <a:noFill/>
          <a:ln w="0">
            <a:noFill/>
          </a:ln>
        </p:spPr>
      </p:pic>
      <p:sp>
        <p:nvSpPr>
          <p:cNvPr id="77" name="Text 8"/>
          <p:cNvSpPr/>
          <p:nvPr/>
        </p:nvSpPr>
        <p:spPr>
          <a:xfrm>
            <a:off x="1463040" y="3017520"/>
            <a:ext cx="319968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trike="noStrike" u="none">
                <a:solidFill>
                  <a:srgbClr val="1a1a2e"/>
                </a:solidFill>
                <a:effectLst/>
                <a:uFillTx/>
                <a:latin typeface="Trebuchet MS"/>
                <a:ea typeface="Trebuchet MS"/>
              </a:rPr>
              <a:t>Social Media Strategies That Work</a:t>
            </a:r>
            <a:endParaRPr b="0" lang="en-US" sz="1500" strike="noStrike" u="none">
              <a:solidFill>
                <a:srgbClr val="000000"/>
              </a:solidFill>
              <a:effectLst/>
              <a:uFillTx/>
              <a:latin typeface="Arial"/>
            </a:endParaRPr>
          </a:p>
        </p:txBody>
      </p:sp>
      <p:sp>
        <p:nvSpPr>
          <p:cNvPr id="78" name="Text 9"/>
          <p:cNvSpPr/>
          <p:nvPr/>
        </p:nvSpPr>
        <p:spPr>
          <a:xfrm>
            <a:off x="4754880" y="3017520"/>
            <a:ext cx="365688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8e8e8e"/>
                </a:solidFill>
                <a:effectLst/>
                <a:uFillTx/>
                <a:latin typeface="Calibri"/>
                <a:ea typeface="Calibri"/>
              </a:rPr>
              <a:t>Platform-specific tactics with real Singapore data</a:t>
            </a:r>
            <a:endParaRPr b="0" lang="en-US" sz="1200" strike="noStrike" u="none">
              <a:solidFill>
                <a:srgbClr val="000000"/>
              </a:solidFill>
              <a:effectLst/>
              <a:uFillTx/>
              <a:latin typeface="Arial"/>
            </a:endParaRPr>
          </a:p>
        </p:txBody>
      </p:sp>
      <p:sp>
        <p:nvSpPr>
          <p:cNvPr id="79" name="Shape 10"/>
          <p:cNvSpPr/>
          <p:nvPr/>
        </p:nvSpPr>
        <p:spPr>
          <a:xfrm>
            <a:off x="548640" y="3977640"/>
            <a:ext cx="8046000" cy="82224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80" name="Image 3" descr="preencoded.png"/>
          <p:cNvPicPr/>
          <p:nvPr/>
        </p:nvPicPr>
        <p:blipFill>
          <a:blip r:embed="rId4"/>
          <a:stretch/>
        </p:blipFill>
        <p:spPr>
          <a:xfrm>
            <a:off x="822960" y="4160520"/>
            <a:ext cx="410760" cy="410760"/>
          </a:xfrm>
          <a:prstGeom prst="rect">
            <a:avLst/>
          </a:prstGeom>
          <a:noFill/>
          <a:ln w="0">
            <a:noFill/>
          </a:ln>
        </p:spPr>
      </p:pic>
      <p:sp>
        <p:nvSpPr>
          <p:cNvPr id="81" name="Text 11"/>
          <p:cNvSpPr/>
          <p:nvPr/>
        </p:nvSpPr>
        <p:spPr>
          <a:xfrm>
            <a:off x="1463040" y="3977640"/>
            <a:ext cx="319968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trike="noStrike" u="none">
                <a:solidFill>
                  <a:srgbClr val="1a1a2e"/>
                </a:solidFill>
                <a:effectLst/>
                <a:uFillTx/>
                <a:latin typeface="Trebuchet MS"/>
                <a:ea typeface="Trebuchet MS"/>
              </a:rPr>
              <a:t>Cheat Sheets You Can Use Tomorrow</a:t>
            </a:r>
            <a:endParaRPr b="0" lang="en-US" sz="1500" strike="noStrike" u="none">
              <a:solidFill>
                <a:srgbClr val="000000"/>
              </a:solidFill>
              <a:effectLst/>
              <a:uFillTx/>
              <a:latin typeface="Arial"/>
            </a:endParaRPr>
          </a:p>
        </p:txBody>
      </p:sp>
      <p:sp>
        <p:nvSpPr>
          <p:cNvPr id="82" name="Text 12"/>
          <p:cNvSpPr/>
          <p:nvPr/>
        </p:nvSpPr>
        <p:spPr>
          <a:xfrm>
            <a:off x="4754880" y="3977640"/>
            <a:ext cx="365688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8e8e8e"/>
                </a:solidFill>
                <a:effectLst/>
                <a:uFillTx/>
                <a:latin typeface="Calibri"/>
                <a:ea typeface="Calibri"/>
              </a:rPr>
              <a:t>Hooks, prompts, and frameworks ready to deploy</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 name="Text 0"/>
          <p:cNvSpPr/>
          <p:nvPr/>
        </p:nvSpPr>
        <p:spPr>
          <a:xfrm>
            <a:off x="548640" y="274320"/>
            <a:ext cx="73144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trike="noStrike" u="none">
                <a:solidFill>
                  <a:srgbClr val="1a1a2e"/>
                </a:solidFill>
                <a:effectLst/>
                <a:uFillTx/>
                <a:latin typeface="Trebuchet MS"/>
                <a:ea typeface="Trebuchet MS"/>
              </a:rPr>
              <a:t>Why Marketing Matters for Startups</a:t>
            </a:r>
            <a:endParaRPr b="0" lang="en-US" sz="3200" strike="noStrike" u="none">
              <a:solidFill>
                <a:srgbClr val="000000"/>
              </a:solidFill>
              <a:effectLst/>
              <a:uFillTx/>
              <a:latin typeface="Arial"/>
            </a:endParaRPr>
          </a:p>
        </p:txBody>
      </p:sp>
      <p:sp>
        <p:nvSpPr>
          <p:cNvPr id="84" name="Shape 1"/>
          <p:cNvSpPr/>
          <p:nvPr/>
        </p:nvSpPr>
        <p:spPr>
          <a:xfrm>
            <a:off x="548640" y="1097280"/>
            <a:ext cx="2651040" cy="1645200"/>
          </a:xfrm>
          <a:prstGeom prst="rect">
            <a:avLst/>
          </a:prstGeom>
          <a:solidFill>
            <a:srgbClr val="fdf6f0"/>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85" name="Image 0" descr="preencoded.png"/>
          <p:cNvPicPr/>
          <p:nvPr/>
        </p:nvPicPr>
        <p:blipFill>
          <a:blip r:embed="rId1"/>
          <a:stretch/>
        </p:blipFill>
        <p:spPr>
          <a:xfrm>
            <a:off x="1554480" y="1234440"/>
            <a:ext cx="502200" cy="502200"/>
          </a:xfrm>
          <a:prstGeom prst="rect">
            <a:avLst/>
          </a:prstGeom>
          <a:noFill/>
          <a:ln w="0">
            <a:noFill/>
          </a:ln>
        </p:spPr>
      </p:pic>
      <p:sp>
        <p:nvSpPr>
          <p:cNvPr id="86" name="Text 2"/>
          <p:cNvSpPr/>
          <p:nvPr/>
        </p:nvSpPr>
        <p:spPr>
          <a:xfrm>
            <a:off x="548640" y="1783080"/>
            <a:ext cx="26510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1a1a2e"/>
                </a:solidFill>
                <a:effectLst/>
                <a:uFillTx/>
                <a:latin typeface="Trebuchet MS"/>
                <a:ea typeface="Trebuchet MS"/>
              </a:rPr>
              <a:t>Awareness</a:t>
            </a:r>
            <a:endParaRPr b="0" lang="en-US" sz="1400" strike="noStrike" u="none">
              <a:solidFill>
                <a:srgbClr val="000000"/>
              </a:solidFill>
              <a:effectLst/>
              <a:uFillTx/>
              <a:latin typeface="Arial"/>
            </a:endParaRPr>
          </a:p>
        </p:txBody>
      </p:sp>
      <p:sp>
        <p:nvSpPr>
          <p:cNvPr id="87" name="Text 3"/>
          <p:cNvSpPr/>
          <p:nvPr/>
        </p:nvSpPr>
        <p:spPr>
          <a:xfrm>
            <a:off x="548640" y="2148840"/>
            <a:ext cx="26510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8e8e8e"/>
                </a:solidFill>
                <a:effectLst/>
                <a:uFillTx/>
                <a:latin typeface="Calibri"/>
                <a:ea typeface="Calibri"/>
              </a:rPr>
              <a:t>Get seen by the right people</a:t>
            </a:r>
            <a:endParaRPr b="0" lang="en-US" sz="1100" strike="noStrike" u="none">
              <a:solidFill>
                <a:srgbClr val="000000"/>
              </a:solidFill>
              <a:effectLst/>
              <a:uFillTx/>
              <a:latin typeface="Arial"/>
            </a:endParaRPr>
          </a:p>
        </p:txBody>
      </p:sp>
      <p:sp>
        <p:nvSpPr>
          <p:cNvPr id="88" name="Shape 4"/>
          <p:cNvSpPr/>
          <p:nvPr/>
        </p:nvSpPr>
        <p:spPr>
          <a:xfrm>
            <a:off x="3383280" y="1097280"/>
            <a:ext cx="2651040" cy="1645200"/>
          </a:xfrm>
          <a:prstGeom prst="rect">
            <a:avLst/>
          </a:prstGeom>
          <a:solidFill>
            <a:srgbClr val="fdf6f0"/>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89" name="Image 1" descr="preencoded.png"/>
          <p:cNvPicPr/>
          <p:nvPr/>
        </p:nvPicPr>
        <p:blipFill>
          <a:blip r:embed="rId2"/>
          <a:stretch/>
        </p:blipFill>
        <p:spPr>
          <a:xfrm>
            <a:off x="4389120" y="1234440"/>
            <a:ext cx="502200" cy="502200"/>
          </a:xfrm>
          <a:prstGeom prst="rect">
            <a:avLst/>
          </a:prstGeom>
          <a:noFill/>
          <a:ln w="0">
            <a:noFill/>
          </a:ln>
        </p:spPr>
      </p:pic>
      <p:sp>
        <p:nvSpPr>
          <p:cNvPr id="90" name="Text 5"/>
          <p:cNvSpPr/>
          <p:nvPr/>
        </p:nvSpPr>
        <p:spPr>
          <a:xfrm>
            <a:off x="3383280" y="1783080"/>
            <a:ext cx="26510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1a1a2e"/>
                </a:solidFill>
                <a:effectLst/>
                <a:uFillTx/>
                <a:latin typeface="Trebuchet MS"/>
                <a:ea typeface="Trebuchet MS"/>
              </a:rPr>
              <a:t>Brand Identity</a:t>
            </a:r>
            <a:endParaRPr b="0" lang="en-US" sz="1400" strike="noStrike" u="none">
              <a:solidFill>
                <a:srgbClr val="000000"/>
              </a:solidFill>
              <a:effectLst/>
              <a:uFillTx/>
              <a:latin typeface="Arial"/>
            </a:endParaRPr>
          </a:p>
        </p:txBody>
      </p:sp>
      <p:sp>
        <p:nvSpPr>
          <p:cNvPr id="91" name="Text 6"/>
          <p:cNvSpPr/>
          <p:nvPr/>
        </p:nvSpPr>
        <p:spPr>
          <a:xfrm>
            <a:off x="3383280" y="2148840"/>
            <a:ext cx="26510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8e8e8e"/>
                </a:solidFill>
                <a:effectLst/>
                <a:uFillTx/>
                <a:latin typeface="Calibri"/>
                <a:ea typeface="Calibri"/>
              </a:rPr>
              <a:t>Build trust and recognition</a:t>
            </a:r>
            <a:endParaRPr b="0" lang="en-US" sz="1100" strike="noStrike" u="none">
              <a:solidFill>
                <a:srgbClr val="000000"/>
              </a:solidFill>
              <a:effectLst/>
              <a:uFillTx/>
              <a:latin typeface="Arial"/>
            </a:endParaRPr>
          </a:p>
        </p:txBody>
      </p:sp>
      <p:sp>
        <p:nvSpPr>
          <p:cNvPr id="92" name="Shape 7"/>
          <p:cNvSpPr/>
          <p:nvPr/>
        </p:nvSpPr>
        <p:spPr>
          <a:xfrm>
            <a:off x="6217920" y="1097280"/>
            <a:ext cx="2651040" cy="1645200"/>
          </a:xfrm>
          <a:prstGeom prst="rect">
            <a:avLst/>
          </a:prstGeom>
          <a:solidFill>
            <a:srgbClr val="fdf6f0"/>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93" name="Image 2" descr="preencoded.png"/>
          <p:cNvPicPr/>
          <p:nvPr/>
        </p:nvPicPr>
        <p:blipFill>
          <a:blip r:embed="rId3"/>
          <a:stretch/>
        </p:blipFill>
        <p:spPr>
          <a:xfrm>
            <a:off x="7223760" y="1234440"/>
            <a:ext cx="502200" cy="502200"/>
          </a:xfrm>
          <a:prstGeom prst="rect">
            <a:avLst/>
          </a:prstGeom>
          <a:noFill/>
          <a:ln w="0">
            <a:noFill/>
          </a:ln>
        </p:spPr>
      </p:pic>
      <p:sp>
        <p:nvSpPr>
          <p:cNvPr id="94" name="Text 8"/>
          <p:cNvSpPr/>
          <p:nvPr/>
        </p:nvSpPr>
        <p:spPr>
          <a:xfrm>
            <a:off x="6217920" y="1783080"/>
            <a:ext cx="26510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1a1a2e"/>
                </a:solidFill>
                <a:effectLst/>
                <a:uFillTx/>
                <a:latin typeface="Trebuchet MS"/>
                <a:ea typeface="Trebuchet MS"/>
              </a:rPr>
              <a:t>Sales Growth</a:t>
            </a:r>
            <a:endParaRPr b="0" lang="en-US" sz="1400" strike="noStrike" u="none">
              <a:solidFill>
                <a:srgbClr val="000000"/>
              </a:solidFill>
              <a:effectLst/>
              <a:uFillTx/>
              <a:latin typeface="Arial"/>
            </a:endParaRPr>
          </a:p>
        </p:txBody>
      </p:sp>
      <p:sp>
        <p:nvSpPr>
          <p:cNvPr id="95" name="Text 9"/>
          <p:cNvSpPr/>
          <p:nvPr/>
        </p:nvSpPr>
        <p:spPr>
          <a:xfrm>
            <a:off x="6217920" y="2148840"/>
            <a:ext cx="26510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8e8e8e"/>
                </a:solidFill>
                <a:effectLst/>
                <a:uFillTx/>
                <a:latin typeface="Calibri"/>
                <a:ea typeface="Calibri"/>
              </a:rPr>
              <a:t>Convert interest into revenue</a:t>
            </a:r>
            <a:endParaRPr b="0" lang="en-US" sz="1100" strike="noStrike" u="none">
              <a:solidFill>
                <a:srgbClr val="000000"/>
              </a:solidFill>
              <a:effectLst/>
              <a:uFillTx/>
              <a:latin typeface="Arial"/>
            </a:endParaRPr>
          </a:p>
        </p:txBody>
      </p:sp>
      <p:sp>
        <p:nvSpPr>
          <p:cNvPr id="96" name="Shape 10"/>
          <p:cNvSpPr/>
          <p:nvPr/>
        </p:nvSpPr>
        <p:spPr>
          <a:xfrm>
            <a:off x="548640" y="2926080"/>
            <a:ext cx="2651040" cy="1645200"/>
          </a:xfrm>
          <a:prstGeom prst="rect">
            <a:avLst/>
          </a:prstGeom>
          <a:solidFill>
            <a:srgbClr val="fdf6f0"/>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97" name="Image 3" descr="preencoded.png"/>
          <p:cNvPicPr/>
          <p:nvPr/>
        </p:nvPicPr>
        <p:blipFill>
          <a:blip r:embed="rId4"/>
          <a:stretch/>
        </p:blipFill>
        <p:spPr>
          <a:xfrm>
            <a:off x="1554480" y="3063240"/>
            <a:ext cx="502200" cy="502200"/>
          </a:xfrm>
          <a:prstGeom prst="rect">
            <a:avLst/>
          </a:prstGeom>
          <a:noFill/>
          <a:ln w="0">
            <a:noFill/>
          </a:ln>
        </p:spPr>
      </p:pic>
      <p:sp>
        <p:nvSpPr>
          <p:cNvPr id="98" name="Text 11"/>
          <p:cNvSpPr/>
          <p:nvPr/>
        </p:nvSpPr>
        <p:spPr>
          <a:xfrm>
            <a:off x="548640" y="3611880"/>
            <a:ext cx="26510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1a1a2e"/>
                </a:solidFill>
                <a:effectLst/>
                <a:uFillTx/>
                <a:latin typeface="Trebuchet MS"/>
                <a:ea typeface="Trebuchet MS"/>
              </a:rPr>
              <a:t>Customer Relationships</a:t>
            </a:r>
            <a:endParaRPr b="0" lang="en-US" sz="1400" strike="noStrike" u="none">
              <a:solidFill>
                <a:srgbClr val="000000"/>
              </a:solidFill>
              <a:effectLst/>
              <a:uFillTx/>
              <a:latin typeface="Arial"/>
            </a:endParaRPr>
          </a:p>
        </p:txBody>
      </p:sp>
      <p:sp>
        <p:nvSpPr>
          <p:cNvPr id="99" name="Text 12"/>
          <p:cNvSpPr/>
          <p:nvPr/>
        </p:nvSpPr>
        <p:spPr>
          <a:xfrm>
            <a:off x="548640" y="3977640"/>
            <a:ext cx="26510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8e8e8e"/>
                </a:solidFill>
                <a:effectLst/>
                <a:uFillTx/>
                <a:latin typeface="Calibri"/>
                <a:ea typeface="Calibri"/>
              </a:rPr>
              <a:t>Retain and grow your base</a:t>
            </a:r>
            <a:endParaRPr b="0" lang="en-US" sz="1100" strike="noStrike" u="none">
              <a:solidFill>
                <a:srgbClr val="000000"/>
              </a:solidFill>
              <a:effectLst/>
              <a:uFillTx/>
              <a:latin typeface="Arial"/>
            </a:endParaRPr>
          </a:p>
        </p:txBody>
      </p:sp>
      <p:sp>
        <p:nvSpPr>
          <p:cNvPr id="100" name="Shape 13"/>
          <p:cNvSpPr/>
          <p:nvPr/>
        </p:nvSpPr>
        <p:spPr>
          <a:xfrm>
            <a:off x="3383280" y="2926080"/>
            <a:ext cx="2651040" cy="1645200"/>
          </a:xfrm>
          <a:prstGeom prst="rect">
            <a:avLst/>
          </a:prstGeom>
          <a:solidFill>
            <a:srgbClr val="fdf6f0"/>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101" name="Image 4" descr="preencoded.png"/>
          <p:cNvPicPr/>
          <p:nvPr/>
        </p:nvPicPr>
        <p:blipFill>
          <a:blip r:embed="rId5"/>
          <a:stretch/>
        </p:blipFill>
        <p:spPr>
          <a:xfrm>
            <a:off x="4389120" y="3063240"/>
            <a:ext cx="502200" cy="502200"/>
          </a:xfrm>
          <a:prstGeom prst="rect">
            <a:avLst/>
          </a:prstGeom>
          <a:noFill/>
          <a:ln w="0">
            <a:noFill/>
          </a:ln>
        </p:spPr>
      </p:pic>
      <p:sp>
        <p:nvSpPr>
          <p:cNvPr id="102" name="Text 14"/>
          <p:cNvSpPr/>
          <p:nvPr/>
        </p:nvSpPr>
        <p:spPr>
          <a:xfrm>
            <a:off x="3383280" y="3611880"/>
            <a:ext cx="26510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1a1a2e"/>
                </a:solidFill>
                <a:effectLst/>
                <a:uFillTx/>
                <a:latin typeface="Trebuchet MS"/>
                <a:ea typeface="Trebuchet MS"/>
              </a:rPr>
              <a:t>Investor Confidence</a:t>
            </a:r>
            <a:endParaRPr b="0" lang="en-US" sz="1400" strike="noStrike" u="none">
              <a:solidFill>
                <a:srgbClr val="000000"/>
              </a:solidFill>
              <a:effectLst/>
              <a:uFillTx/>
              <a:latin typeface="Arial"/>
            </a:endParaRPr>
          </a:p>
        </p:txBody>
      </p:sp>
      <p:sp>
        <p:nvSpPr>
          <p:cNvPr id="103" name="Text 15"/>
          <p:cNvSpPr/>
          <p:nvPr/>
        </p:nvSpPr>
        <p:spPr>
          <a:xfrm>
            <a:off x="3383280" y="3977640"/>
            <a:ext cx="26510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8e8e8e"/>
                </a:solidFill>
                <a:effectLst/>
                <a:uFillTx/>
                <a:latin typeface="Calibri"/>
                <a:ea typeface="Calibri"/>
              </a:rPr>
              <a:t>Show traction and market fit</a:t>
            </a:r>
            <a:endParaRPr b="0" lang="en-US" sz="1100" strike="noStrike" u="none">
              <a:solidFill>
                <a:srgbClr val="000000"/>
              </a:solidFill>
              <a:effectLst/>
              <a:uFillTx/>
              <a:latin typeface="Arial"/>
            </a:endParaRPr>
          </a:p>
        </p:txBody>
      </p:sp>
      <p:sp>
        <p:nvSpPr>
          <p:cNvPr id="104" name="Shape 16"/>
          <p:cNvSpPr/>
          <p:nvPr/>
        </p:nvSpPr>
        <p:spPr>
          <a:xfrm>
            <a:off x="6217920" y="2926080"/>
            <a:ext cx="2651040" cy="1645200"/>
          </a:xfrm>
          <a:prstGeom prst="rect">
            <a:avLst/>
          </a:prstGeom>
          <a:solidFill>
            <a:srgbClr val="fdf6f0"/>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105" name="Image 5" descr="preencoded.png"/>
          <p:cNvPicPr/>
          <p:nvPr/>
        </p:nvPicPr>
        <p:blipFill>
          <a:blip r:embed="rId6"/>
          <a:stretch/>
        </p:blipFill>
        <p:spPr>
          <a:xfrm>
            <a:off x="7223760" y="3063240"/>
            <a:ext cx="502200" cy="502200"/>
          </a:xfrm>
          <a:prstGeom prst="rect">
            <a:avLst/>
          </a:prstGeom>
          <a:noFill/>
          <a:ln w="0">
            <a:noFill/>
          </a:ln>
        </p:spPr>
      </p:pic>
      <p:sp>
        <p:nvSpPr>
          <p:cNvPr id="106" name="Text 17"/>
          <p:cNvSpPr/>
          <p:nvPr/>
        </p:nvSpPr>
        <p:spPr>
          <a:xfrm>
            <a:off x="6217920" y="3611880"/>
            <a:ext cx="26510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1a1a2e"/>
                </a:solidFill>
                <a:effectLst/>
                <a:uFillTx/>
                <a:latin typeface="Trebuchet MS"/>
                <a:ea typeface="Trebuchet MS"/>
              </a:rPr>
              <a:t>Validate Your Model</a:t>
            </a:r>
            <a:endParaRPr b="0" lang="en-US" sz="1400" strike="noStrike" u="none">
              <a:solidFill>
                <a:srgbClr val="000000"/>
              </a:solidFill>
              <a:effectLst/>
              <a:uFillTx/>
              <a:latin typeface="Arial"/>
            </a:endParaRPr>
          </a:p>
        </p:txBody>
      </p:sp>
      <p:sp>
        <p:nvSpPr>
          <p:cNvPr id="107" name="Text 18"/>
          <p:cNvSpPr/>
          <p:nvPr/>
        </p:nvSpPr>
        <p:spPr>
          <a:xfrm>
            <a:off x="6217920" y="3977640"/>
            <a:ext cx="26510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100" strike="noStrike" u="none">
                <a:solidFill>
                  <a:srgbClr val="8e8e8e"/>
                </a:solidFill>
                <a:effectLst/>
                <a:uFillTx/>
                <a:latin typeface="Calibri"/>
                <a:ea typeface="Calibri"/>
              </a:rPr>
              <a:t>Test assumptions with real data</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8" name="Text 0"/>
          <p:cNvSpPr/>
          <p:nvPr/>
        </p:nvSpPr>
        <p:spPr>
          <a:xfrm>
            <a:off x="548640" y="182880"/>
            <a:ext cx="73144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400" strike="noStrike" u="none">
                <a:solidFill>
                  <a:srgbClr val="1a1a2e"/>
                </a:solidFill>
                <a:effectLst/>
                <a:uFillTx/>
                <a:latin typeface="Trebuchet MS"/>
                <a:ea typeface="Trebuchet MS"/>
              </a:rPr>
              <a:t>The Marketing Funnel</a:t>
            </a:r>
            <a:endParaRPr b="0" lang="en-US" sz="3400" strike="noStrike" u="none">
              <a:solidFill>
                <a:srgbClr val="000000"/>
              </a:solidFill>
              <a:effectLst/>
              <a:uFillTx/>
              <a:latin typeface="Arial"/>
            </a:endParaRPr>
          </a:p>
        </p:txBody>
      </p:sp>
      <p:sp>
        <p:nvSpPr>
          <p:cNvPr id="109" name="Text 1"/>
          <p:cNvSpPr/>
          <p:nvPr/>
        </p:nvSpPr>
        <p:spPr>
          <a:xfrm>
            <a:off x="548640" y="685800"/>
            <a:ext cx="45712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400" strike="noStrike" u="none">
                <a:solidFill>
                  <a:srgbClr val="0f9b8e"/>
                </a:solidFill>
                <a:effectLst/>
                <a:uFillTx/>
                <a:latin typeface="Calibri"/>
                <a:ea typeface="Calibri"/>
              </a:rPr>
              <a:t>Test. Learn. Optimise. Repeat.</a:t>
            </a:r>
            <a:endParaRPr b="0" lang="en-US" sz="1400" strike="noStrike" u="none">
              <a:solidFill>
                <a:srgbClr val="000000"/>
              </a:solidFill>
              <a:effectLst/>
              <a:uFillTx/>
              <a:latin typeface="Arial"/>
            </a:endParaRPr>
          </a:p>
        </p:txBody>
      </p:sp>
      <p:sp>
        <p:nvSpPr>
          <p:cNvPr id="110" name="Shape 2"/>
          <p:cNvSpPr/>
          <p:nvPr/>
        </p:nvSpPr>
        <p:spPr>
          <a:xfrm>
            <a:off x="640080" y="1188720"/>
            <a:ext cx="7863120" cy="621000"/>
          </a:xfrm>
          <a:prstGeom prst="rect">
            <a:avLst/>
          </a:prstGeom>
          <a:solidFill>
            <a:srgbClr val="3b82f6"/>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11" name="Text 3"/>
          <p:cNvSpPr/>
          <p:nvPr/>
        </p:nvSpPr>
        <p:spPr>
          <a:xfrm>
            <a:off x="777240" y="1188720"/>
            <a:ext cx="2515680" cy="62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AWARENESS</a:t>
            </a:r>
            <a:endParaRPr b="0" lang="en-US" sz="1300" strike="noStrike" u="none">
              <a:solidFill>
                <a:srgbClr val="000000"/>
              </a:solidFill>
              <a:effectLst/>
              <a:uFillTx/>
              <a:latin typeface="Arial"/>
            </a:endParaRPr>
          </a:p>
        </p:txBody>
      </p:sp>
      <p:sp>
        <p:nvSpPr>
          <p:cNvPr id="112" name="Text 4"/>
          <p:cNvSpPr/>
          <p:nvPr/>
        </p:nvSpPr>
        <p:spPr>
          <a:xfrm>
            <a:off x="3247920" y="1188720"/>
            <a:ext cx="5163840" cy="62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1a1a2e"/>
                </a:solidFill>
                <a:effectLst/>
                <a:uFillTx/>
                <a:latin typeface="Calibri"/>
                <a:ea typeface="Calibri"/>
              </a:rPr>
              <a:t>Get noticed through content, social, and ads</a:t>
            </a:r>
            <a:endParaRPr b="0" lang="en-US" sz="1100" strike="noStrike" u="none">
              <a:solidFill>
                <a:srgbClr val="000000"/>
              </a:solidFill>
              <a:effectLst/>
              <a:uFillTx/>
              <a:latin typeface="Arial"/>
            </a:endParaRPr>
          </a:p>
        </p:txBody>
      </p:sp>
      <p:sp>
        <p:nvSpPr>
          <p:cNvPr id="113" name="Shape 5"/>
          <p:cNvSpPr/>
          <p:nvPr/>
        </p:nvSpPr>
        <p:spPr>
          <a:xfrm>
            <a:off x="1280160" y="1938600"/>
            <a:ext cx="6582960" cy="621000"/>
          </a:xfrm>
          <a:prstGeom prst="rect">
            <a:avLst/>
          </a:prstGeom>
          <a:solidFill>
            <a:srgbClr val="8b5cf6"/>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14" name="Text 6"/>
          <p:cNvSpPr/>
          <p:nvPr/>
        </p:nvSpPr>
        <p:spPr>
          <a:xfrm>
            <a:off x="1417320" y="1938600"/>
            <a:ext cx="2106000" cy="62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INTEREST</a:t>
            </a:r>
            <a:endParaRPr b="0" lang="en-US" sz="1300" strike="noStrike" u="none">
              <a:solidFill>
                <a:srgbClr val="000000"/>
              </a:solidFill>
              <a:effectLst/>
              <a:uFillTx/>
              <a:latin typeface="Arial"/>
            </a:endParaRPr>
          </a:p>
        </p:txBody>
      </p:sp>
      <p:sp>
        <p:nvSpPr>
          <p:cNvPr id="115" name="Text 7"/>
          <p:cNvSpPr/>
          <p:nvPr/>
        </p:nvSpPr>
        <p:spPr>
          <a:xfrm>
            <a:off x="3478320" y="1938600"/>
            <a:ext cx="4293360" cy="62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1a1a2e"/>
                </a:solidFill>
                <a:effectLst/>
                <a:uFillTx/>
                <a:latin typeface="Calibri"/>
                <a:ea typeface="Calibri"/>
              </a:rPr>
              <a:t>Hook them with value and relevance</a:t>
            </a:r>
            <a:endParaRPr b="0" lang="en-US" sz="1100" strike="noStrike" u="none">
              <a:solidFill>
                <a:srgbClr val="000000"/>
              </a:solidFill>
              <a:effectLst/>
              <a:uFillTx/>
              <a:latin typeface="Arial"/>
            </a:endParaRPr>
          </a:p>
        </p:txBody>
      </p:sp>
      <p:sp>
        <p:nvSpPr>
          <p:cNvPr id="116" name="Shape 8"/>
          <p:cNvSpPr/>
          <p:nvPr/>
        </p:nvSpPr>
        <p:spPr>
          <a:xfrm>
            <a:off x="1920240" y="2688480"/>
            <a:ext cx="5302800" cy="62100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17" name="Text 9"/>
          <p:cNvSpPr/>
          <p:nvPr/>
        </p:nvSpPr>
        <p:spPr>
          <a:xfrm>
            <a:off x="2057400" y="2688480"/>
            <a:ext cx="1696320" cy="62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CONSIDERATION</a:t>
            </a:r>
            <a:endParaRPr b="0" lang="en-US" sz="1300" strike="noStrike" u="none">
              <a:solidFill>
                <a:srgbClr val="000000"/>
              </a:solidFill>
              <a:effectLst/>
              <a:uFillTx/>
              <a:latin typeface="Arial"/>
            </a:endParaRPr>
          </a:p>
        </p:txBody>
      </p:sp>
      <p:sp>
        <p:nvSpPr>
          <p:cNvPr id="118" name="Text 10"/>
          <p:cNvSpPr/>
          <p:nvPr/>
        </p:nvSpPr>
        <p:spPr>
          <a:xfrm>
            <a:off x="3708720" y="2688480"/>
            <a:ext cx="3422880" cy="62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1a1a2e"/>
                </a:solidFill>
                <a:effectLst/>
                <a:uFillTx/>
                <a:latin typeface="Calibri"/>
                <a:ea typeface="Calibri"/>
              </a:rPr>
              <a:t>Build trust with proof and engagement</a:t>
            </a:r>
            <a:endParaRPr b="0" lang="en-US" sz="1100" strike="noStrike" u="none">
              <a:solidFill>
                <a:srgbClr val="000000"/>
              </a:solidFill>
              <a:effectLst/>
              <a:uFillTx/>
              <a:latin typeface="Arial"/>
            </a:endParaRPr>
          </a:p>
        </p:txBody>
      </p:sp>
      <p:sp>
        <p:nvSpPr>
          <p:cNvPr id="119" name="Shape 11"/>
          <p:cNvSpPr/>
          <p:nvPr/>
        </p:nvSpPr>
        <p:spPr>
          <a:xfrm>
            <a:off x="2560320" y="3438000"/>
            <a:ext cx="4022640" cy="621000"/>
          </a:xfrm>
          <a:prstGeom prst="rect">
            <a:avLst/>
          </a:prstGeom>
          <a:solidFill>
            <a:srgbClr val="f59e0b"/>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0" name="Text 12"/>
          <p:cNvSpPr/>
          <p:nvPr/>
        </p:nvSpPr>
        <p:spPr>
          <a:xfrm>
            <a:off x="2697480" y="3438000"/>
            <a:ext cx="1462320" cy="62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CONVERSION</a:t>
            </a:r>
            <a:endParaRPr b="0" lang="en-US" sz="1300" strike="noStrike" u="none">
              <a:solidFill>
                <a:srgbClr val="000000"/>
              </a:solidFill>
              <a:effectLst/>
              <a:uFillTx/>
              <a:latin typeface="Arial"/>
            </a:endParaRPr>
          </a:p>
        </p:txBody>
      </p:sp>
      <p:sp>
        <p:nvSpPr>
          <p:cNvPr id="121" name="Text 13"/>
          <p:cNvSpPr/>
          <p:nvPr/>
        </p:nvSpPr>
        <p:spPr>
          <a:xfrm>
            <a:off x="4114800" y="3438000"/>
            <a:ext cx="2376720" cy="62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1a1a2e"/>
                </a:solidFill>
                <a:effectLst/>
                <a:uFillTx/>
                <a:latin typeface="Calibri"/>
                <a:ea typeface="Calibri"/>
              </a:rPr>
              <a:t>Make it easy to say yes</a:t>
            </a:r>
            <a:endParaRPr b="0" lang="en-US" sz="1100" strike="noStrike" u="none">
              <a:solidFill>
                <a:srgbClr val="000000"/>
              </a:solidFill>
              <a:effectLst/>
              <a:uFillTx/>
              <a:latin typeface="Arial"/>
            </a:endParaRPr>
          </a:p>
        </p:txBody>
      </p:sp>
      <p:sp>
        <p:nvSpPr>
          <p:cNvPr id="122" name="Shape 14"/>
          <p:cNvSpPr/>
          <p:nvPr/>
        </p:nvSpPr>
        <p:spPr>
          <a:xfrm>
            <a:off x="3200400" y="4187880"/>
            <a:ext cx="2742480" cy="621000"/>
          </a:xfrm>
          <a:prstGeom prst="rect">
            <a:avLst/>
          </a:prstGeom>
          <a:solidFill>
            <a:srgbClr val="10b981"/>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3" name="Text 15"/>
          <p:cNvSpPr/>
          <p:nvPr/>
        </p:nvSpPr>
        <p:spPr>
          <a:xfrm>
            <a:off x="3337560" y="4187880"/>
            <a:ext cx="1462320" cy="62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RETENTION</a:t>
            </a:r>
            <a:endParaRPr b="0" lang="en-US" sz="1300" strike="noStrike" u="none">
              <a:solidFill>
                <a:srgbClr val="000000"/>
              </a:solidFill>
              <a:effectLst/>
              <a:uFillTx/>
              <a:latin typeface="Arial"/>
            </a:endParaRPr>
          </a:p>
        </p:txBody>
      </p:sp>
      <p:sp>
        <p:nvSpPr>
          <p:cNvPr id="124" name="Text 16"/>
          <p:cNvSpPr/>
          <p:nvPr/>
        </p:nvSpPr>
        <p:spPr>
          <a:xfrm>
            <a:off x="4754880" y="4187880"/>
            <a:ext cx="1096560" cy="621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1a1a2e"/>
                </a:solidFill>
                <a:effectLst/>
                <a:uFillTx/>
                <a:latin typeface="Calibri"/>
                <a:ea typeface="Calibri"/>
              </a:rPr>
              <a:t>Keep them coming back</a:t>
            </a:r>
            <a:endParaRPr b="0" lang="en-US" sz="1100" strike="noStrike" u="none">
              <a:solidFill>
                <a:srgbClr val="000000"/>
              </a:solidFill>
              <a:effectLst/>
              <a:uFillTx/>
              <a:latin typeface="Arial"/>
            </a:endParaRPr>
          </a:p>
        </p:txBody>
      </p:sp>
      <p:sp>
        <p:nvSpPr>
          <p:cNvPr id="125" name="Text 17"/>
          <p:cNvSpPr/>
          <p:nvPr/>
        </p:nvSpPr>
        <p:spPr>
          <a:xfrm>
            <a:off x="3840480" y="4754880"/>
            <a:ext cx="1370880" cy="273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400" strike="noStrike" u="none">
                <a:solidFill>
                  <a:srgbClr val="0f9b8e"/>
                </a:solidFill>
                <a:effectLst/>
                <a:uFillTx/>
                <a:latin typeface="Calibri"/>
                <a:ea typeface="Calibri"/>
              </a:rPr>
              <a:t>▼</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df6f0"/>
        </a:solidFill>
      </p:bgPr>
    </p:bg>
    <p:spTree>
      <p:nvGrpSpPr>
        <p:cNvPr id="1" name=""/>
        <p:cNvGrpSpPr/>
        <p:nvPr/>
      </p:nvGrpSpPr>
      <p:grpSpPr>
        <a:xfrm>
          <a:off x="0" y="0"/>
          <a:ext cx="0" cy="0"/>
          <a:chOff x="0" y="0"/>
          <a:chExt cx="0" cy="0"/>
        </a:xfrm>
      </p:grpSpPr>
      <p:sp>
        <p:nvSpPr>
          <p:cNvPr id="126" name="Text 0"/>
          <p:cNvSpPr/>
          <p:nvPr/>
        </p:nvSpPr>
        <p:spPr>
          <a:xfrm>
            <a:off x="548640" y="274320"/>
            <a:ext cx="73144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600" strike="noStrike" u="none">
                <a:solidFill>
                  <a:srgbClr val="1a1a2e"/>
                </a:solidFill>
                <a:effectLst/>
                <a:uFillTx/>
                <a:latin typeface="Trebuchet MS"/>
                <a:ea typeface="Trebuchet MS"/>
              </a:rPr>
              <a:t>Know Your Customer</a:t>
            </a:r>
            <a:endParaRPr b="0" lang="en-US" sz="3600" strike="noStrike" u="none">
              <a:solidFill>
                <a:srgbClr val="000000"/>
              </a:solidFill>
              <a:effectLst/>
              <a:uFillTx/>
              <a:latin typeface="Arial"/>
            </a:endParaRPr>
          </a:p>
        </p:txBody>
      </p:sp>
      <p:sp>
        <p:nvSpPr>
          <p:cNvPr id="127" name="Text 1"/>
          <p:cNvSpPr/>
          <p:nvPr/>
        </p:nvSpPr>
        <p:spPr>
          <a:xfrm>
            <a:off x="548640" y="822960"/>
            <a:ext cx="54856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400" strike="noStrike" u="none">
                <a:solidFill>
                  <a:srgbClr val="2d2d2d"/>
                </a:solidFill>
                <a:effectLst/>
                <a:uFillTx/>
                <a:latin typeface="Calibri"/>
                <a:ea typeface="Calibri"/>
              </a:rPr>
              <a:t>Each customer persona is different. Ask yourself:</a:t>
            </a:r>
            <a:endParaRPr b="0" lang="en-US" sz="1400" strike="noStrike" u="none">
              <a:solidFill>
                <a:srgbClr val="000000"/>
              </a:solidFill>
              <a:effectLst/>
              <a:uFillTx/>
              <a:latin typeface="Arial"/>
            </a:endParaRPr>
          </a:p>
        </p:txBody>
      </p:sp>
      <p:sp>
        <p:nvSpPr>
          <p:cNvPr id="128" name="Shape 2"/>
          <p:cNvSpPr/>
          <p:nvPr/>
        </p:nvSpPr>
        <p:spPr>
          <a:xfrm>
            <a:off x="548640" y="1371600"/>
            <a:ext cx="3931200" cy="155376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29" name="Shape 3"/>
          <p:cNvSpPr/>
          <p:nvPr/>
        </p:nvSpPr>
        <p:spPr>
          <a:xfrm>
            <a:off x="548640" y="1371600"/>
            <a:ext cx="54000" cy="15537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30" name="Text 4"/>
          <p:cNvSpPr/>
          <p:nvPr/>
        </p:nvSpPr>
        <p:spPr>
          <a:xfrm>
            <a:off x="731520" y="1463040"/>
            <a:ext cx="356544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Who on Earth?</a:t>
            </a:r>
            <a:endParaRPr b="0" lang="en-US" sz="1300" strike="noStrike" u="none">
              <a:solidFill>
                <a:srgbClr val="000000"/>
              </a:solidFill>
              <a:effectLst/>
              <a:uFillTx/>
              <a:latin typeface="Arial"/>
            </a:endParaRPr>
          </a:p>
        </p:txBody>
      </p:sp>
      <p:sp>
        <p:nvSpPr>
          <p:cNvPr id="131" name="Text 5"/>
          <p:cNvSpPr/>
          <p:nvPr/>
        </p:nvSpPr>
        <p:spPr>
          <a:xfrm>
            <a:off x="731520" y="1828800"/>
            <a:ext cx="3565440" cy="1005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2d2d2d"/>
                </a:solidFill>
                <a:effectLst/>
                <a:uFillTx/>
                <a:latin typeface="Calibri"/>
                <a:ea typeface="Calibri"/>
              </a:rPr>
              <a:t>Understand who your customers are - and who will actually pay</a:t>
            </a:r>
            <a:endParaRPr b="0" lang="en-US" sz="1100" strike="noStrike" u="none">
              <a:solidFill>
                <a:srgbClr val="000000"/>
              </a:solidFill>
              <a:effectLst/>
              <a:uFillTx/>
              <a:latin typeface="Arial"/>
            </a:endParaRPr>
          </a:p>
        </p:txBody>
      </p:sp>
      <p:sp>
        <p:nvSpPr>
          <p:cNvPr id="132" name="Shape 6"/>
          <p:cNvSpPr/>
          <p:nvPr/>
        </p:nvSpPr>
        <p:spPr>
          <a:xfrm>
            <a:off x="4754880" y="1371600"/>
            <a:ext cx="3931200" cy="155376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33" name="Shape 7"/>
          <p:cNvSpPr/>
          <p:nvPr/>
        </p:nvSpPr>
        <p:spPr>
          <a:xfrm>
            <a:off x="4754880" y="1371600"/>
            <a:ext cx="54000" cy="155376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34" name="Text 8"/>
          <p:cNvSpPr/>
          <p:nvPr/>
        </p:nvSpPr>
        <p:spPr>
          <a:xfrm>
            <a:off x="4937760" y="1463040"/>
            <a:ext cx="356544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Stop Bothering Me!</a:t>
            </a:r>
            <a:endParaRPr b="0" lang="en-US" sz="1300" strike="noStrike" u="none">
              <a:solidFill>
                <a:srgbClr val="000000"/>
              </a:solidFill>
              <a:effectLst/>
              <a:uFillTx/>
              <a:latin typeface="Arial"/>
            </a:endParaRPr>
          </a:p>
        </p:txBody>
      </p:sp>
      <p:sp>
        <p:nvSpPr>
          <p:cNvPr id="135" name="Text 9"/>
          <p:cNvSpPr/>
          <p:nvPr/>
        </p:nvSpPr>
        <p:spPr>
          <a:xfrm>
            <a:off x="4937760" y="1828800"/>
            <a:ext cx="3565440" cy="1005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2d2d2d"/>
                </a:solidFill>
                <a:effectLst/>
                <a:uFillTx/>
                <a:latin typeface="Calibri"/>
                <a:ea typeface="Calibri"/>
              </a:rPr>
              <a:t>Where do they spend their time - and will they welcome your message?</a:t>
            </a:r>
            <a:endParaRPr b="0" lang="en-US" sz="1100" strike="noStrike" u="none">
              <a:solidFill>
                <a:srgbClr val="000000"/>
              </a:solidFill>
              <a:effectLst/>
              <a:uFillTx/>
              <a:latin typeface="Arial"/>
            </a:endParaRPr>
          </a:p>
        </p:txBody>
      </p:sp>
      <p:sp>
        <p:nvSpPr>
          <p:cNvPr id="136" name="Shape 10"/>
          <p:cNvSpPr/>
          <p:nvPr/>
        </p:nvSpPr>
        <p:spPr>
          <a:xfrm>
            <a:off x="548640" y="3108960"/>
            <a:ext cx="3931200" cy="155376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37" name="Shape 11"/>
          <p:cNvSpPr/>
          <p:nvPr/>
        </p:nvSpPr>
        <p:spPr>
          <a:xfrm>
            <a:off x="548640" y="3108960"/>
            <a:ext cx="54000" cy="155376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38" name="Text 12"/>
          <p:cNvSpPr/>
          <p:nvPr/>
        </p:nvSpPr>
        <p:spPr>
          <a:xfrm>
            <a:off x="731520" y="3200400"/>
            <a:ext cx="356544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Say What Now?</a:t>
            </a:r>
            <a:endParaRPr b="0" lang="en-US" sz="1300" strike="noStrike" u="none">
              <a:solidFill>
                <a:srgbClr val="000000"/>
              </a:solidFill>
              <a:effectLst/>
              <a:uFillTx/>
              <a:latin typeface="Arial"/>
            </a:endParaRPr>
          </a:p>
        </p:txBody>
      </p:sp>
      <p:sp>
        <p:nvSpPr>
          <p:cNvPr id="139" name="Text 13"/>
          <p:cNvSpPr/>
          <p:nvPr/>
        </p:nvSpPr>
        <p:spPr>
          <a:xfrm>
            <a:off x="731520" y="3566160"/>
            <a:ext cx="3565440" cy="1005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2d2d2d"/>
                </a:solidFill>
                <a:effectLst/>
                <a:uFillTx/>
                <a:latin typeface="Calibri"/>
                <a:ea typeface="Calibri"/>
              </a:rPr>
              <a:t>Communicate in their language - memes, headlines, data, whatever works</a:t>
            </a:r>
            <a:endParaRPr b="0" lang="en-US" sz="1100" strike="noStrike" u="none">
              <a:solidFill>
                <a:srgbClr val="000000"/>
              </a:solidFill>
              <a:effectLst/>
              <a:uFillTx/>
              <a:latin typeface="Arial"/>
            </a:endParaRPr>
          </a:p>
        </p:txBody>
      </p:sp>
      <p:sp>
        <p:nvSpPr>
          <p:cNvPr id="140" name="Shape 14"/>
          <p:cNvSpPr/>
          <p:nvPr/>
        </p:nvSpPr>
        <p:spPr>
          <a:xfrm>
            <a:off x="4754880" y="3108960"/>
            <a:ext cx="3931200" cy="155376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41" name="Shape 15"/>
          <p:cNvSpPr/>
          <p:nvPr/>
        </p:nvSpPr>
        <p:spPr>
          <a:xfrm>
            <a:off x="4754880" y="3108960"/>
            <a:ext cx="54000" cy="15537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42" name="Text 16"/>
          <p:cNvSpPr/>
          <p:nvPr/>
        </p:nvSpPr>
        <p:spPr>
          <a:xfrm>
            <a:off x="4937760" y="3200400"/>
            <a:ext cx="356544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Why Should I Care?</a:t>
            </a:r>
            <a:endParaRPr b="0" lang="en-US" sz="1300" strike="noStrike" u="none">
              <a:solidFill>
                <a:srgbClr val="000000"/>
              </a:solidFill>
              <a:effectLst/>
              <a:uFillTx/>
              <a:latin typeface="Arial"/>
            </a:endParaRPr>
          </a:p>
        </p:txBody>
      </p:sp>
      <p:sp>
        <p:nvSpPr>
          <p:cNvPr id="143" name="Text 17"/>
          <p:cNvSpPr/>
          <p:nvPr/>
        </p:nvSpPr>
        <p:spPr>
          <a:xfrm>
            <a:off x="4937760" y="3566160"/>
            <a:ext cx="3565440" cy="1005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2d2d2d"/>
                </a:solidFill>
                <a:effectLst/>
                <a:uFillTx/>
                <a:latin typeface="Calibri"/>
                <a:ea typeface="Calibri"/>
              </a:rPr>
              <a:t>What's the value exchange? You have about 3 seconds to convince them</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4" name="Rectangle 48">
            <a:extLst>
              <a:ext uri="{C183D7F6-B498-43B3-948B-1728B52AA6E4}">
                <adec:decorative xmlns:adec="http://schemas.microsoft.com/office/drawing/2017/decorative" val="1"/>
              </a:ext>
            </a:extLst>
          </p:cNvPr>
          <p:cNvSpPr/>
          <p:nvPr/>
        </p:nvSpPr>
        <p:spPr>
          <a:xfrm>
            <a:off x="0" y="0"/>
            <a:ext cx="9143280" cy="514296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dk1"/>
              </a:solidFill>
              <a:effectLst/>
              <a:uFillTx/>
              <a:latin typeface="Calibri"/>
            </a:endParaRPr>
          </a:p>
        </p:txBody>
      </p:sp>
      <p:sp>
        <p:nvSpPr>
          <p:cNvPr id="145" name="Text 0"/>
          <p:cNvSpPr/>
          <p:nvPr/>
        </p:nvSpPr>
        <p:spPr>
          <a:xfrm>
            <a:off x="971640" y="502560"/>
            <a:ext cx="3599640" cy="993600"/>
          </a:xfrm>
          <a:prstGeom prst="rect">
            <a:avLst/>
          </a:prstGeom>
          <a:noFill/>
          <a:ln w="0">
            <a:noFill/>
          </a:ln>
        </p:spPr>
        <p:style>
          <a:lnRef idx="0"/>
          <a:fillRef idx="0"/>
          <a:effectRef idx="0"/>
          <a:fontRef idx="minor"/>
        </p:style>
        <p:txBody>
          <a:bodyPr lIns="90000" rIns="90000" tIns="45000" bIns="45000" anchor="b">
            <a:normAutofit/>
          </a:bodyPr>
          <a:p>
            <a:pPr defTabSz="914400">
              <a:lnSpc>
                <a:spcPct val="90000"/>
              </a:lnSpc>
              <a:spcAft>
                <a:spcPts val="601"/>
              </a:spcAft>
              <a:tabLst>
                <a:tab algn="l" pos="0"/>
              </a:tabLst>
            </a:pPr>
            <a:r>
              <a:rPr b="1" lang="en-US" sz="3100" strike="noStrike" u="none">
                <a:solidFill>
                  <a:schemeClr val="lt1"/>
                </a:solidFill>
                <a:effectLst/>
                <a:uFillTx/>
                <a:latin typeface="Calibri"/>
              </a:rPr>
              <a:t>Know Your Customer</a:t>
            </a:r>
            <a:endParaRPr b="0" lang="en-US" sz="3100" strike="noStrike" u="none">
              <a:solidFill>
                <a:srgbClr val="000000"/>
              </a:solidFill>
              <a:effectLst/>
              <a:uFillTx/>
              <a:latin typeface="Arial"/>
            </a:endParaRPr>
          </a:p>
        </p:txBody>
      </p:sp>
      <p:cxnSp>
        <p:nvCxnSpPr>
          <p:cNvPr id="146" name="Straight Connector 50">
            <a:extLst>
              <a:ext uri="{C183D7F6-B498-43B3-948B-1728B52AA6E4}">
                <adec:decorative xmlns:adec="http://schemas.microsoft.com/office/drawing/2017/decorative" val="1"/>
              </a:ext>
            </a:extLst>
          </p:cNvPr>
          <p:cNvCxnSpPr/>
          <p:nvPr/>
        </p:nvCxnSpPr>
        <p:spPr>
          <a:xfrm flipH="1">
            <a:off x="0" y="1519560"/>
            <a:ext cx="4572720" cy="720"/>
          </a:xfrm>
          <a:prstGeom prst="straightConnector1">
            <a:avLst/>
          </a:prstGeom>
          <a:ln w="12700">
            <a:solidFill>
              <a:srgbClr val="ed7d31"/>
            </a:solidFill>
            <a:round/>
          </a:ln>
        </p:spPr>
      </p:cxnSp>
      <p:sp>
        <p:nvSpPr>
          <p:cNvPr id="147" name="TextBox 21"/>
          <p:cNvSpPr/>
          <p:nvPr/>
        </p:nvSpPr>
        <p:spPr>
          <a:xfrm>
            <a:off x="971640" y="1716480"/>
            <a:ext cx="3599640" cy="2782800"/>
          </a:xfrm>
          <a:prstGeom prst="rect">
            <a:avLst/>
          </a:prstGeom>
          <a:noFill/>
          <a:ln w="0">
            <a:noFill/>
          </a:ln>
        </p:spPr>
        <p:style>
          <a:lnRef idx="0"/>
          <a:fillRef idx="0"/>
          <a:effectRef idx="0"/>
          <a:fontRef idx="minor"/>
        </p:style>
        <p:txBody>
          <a:bodyPr lIns="90000" rIns="90000" tIns="45000" bIns="45000" anchor="t">
            <a:normAutofit/>
          </a:bodyPr>
          <a:p>
            <a:pPr marL="216000" indent="-228600" defTabSz="914400">
              <a:lnSpc>
                <a:spcPct val="90000"/>
              </a:lnSpc>
              <a:spcAft>
                <a:spcPts val="601"/>
              </a:spcAft>
              <a:buClr>
                <a:srgbClr val="000000"/>
              </a:buClr>
              <a:buFont typeface="Arial"/>
              <a:buChar char="•"/>
            </a:pPr>
            <a:r>
              <a:rPr b="1" lang="en-US" sz="1500" strike="noStrike" u="none">
                <a:solidFill>
                  <a:schemeClr val="lt1"/>
                </a:solidFill>
                <a:effectLst/>
                <a:uFillTx/>
                <a:latin typeface="Calibri"/>
              </a:rPr>
              <a:t>Each customer persona is different. </a:t>
            </a:r>
            <a:endParaRPr b="0" lang="en-US" sz="1500" strike="noStrike" u="none">
              <a:solidFill>
                <a:srgbClr val="000000"/>
              </a:solidFill>
              <a:effectLst/>
              <a:uFillTx/>
              <a:latin typeface="Arial"/>
            </a:endParaRPr>
          </a:p>
          <a:p>
            <a:pPr marL="216000" indent="-228600" defTabSz="914400">
              <a:lnSpc>
                <a:spcPct val="90000"/>
              </a:lnSpc>
              <a:spcAft>
                <a:spcPts val="601"/>
              </a:spcAft>
              <a:buClr>
                <a:srgbClr val="000000"/>
              </a:buClr>
              <a:buFont typeface="Arial"/>
              <a:buChar char="•"/>
            </a:pPr>
            <a:r>
              <a:rPr b="1" lang="en-US" sz="1500" strike="noStrike" u="none">
                <a:solidFill>
                  <a:schemeClr val="lt1"/>
                </a:solidFill>
                <a:effectLst/>
                <a:uFillTx/>
                <a:latin typeface="Calibri"/>
              </a:rPr>
              <a:t>Ask yourself:</a:t>
            </a:r>
            <a:endParaRPr b="0" lang="en-US" sz="1500" strike="noStrike" u="none">
              <a:solidFill>
                <a:srgbClr val="000000"/>
              </a:solidFill>
              <a:effectLst/>
              <a:uFillTx/>
              <a:latin typeface="Arial"/>
            </a:endParaRPr>
          </a:p>
          <a:p>
            <a:pPr defTabSz="914400">
              <a:lnSpc>
                <a:spcPct val="90000"/>
              </a:lnSpc>
              <a:spcAft>
                <a:spcPts val="601"/>
              </a:spcAft>
            </a:pPr>
            <a:endParaRPr b="0" lang="en-US" sz="1500" strike="noStrike" u="none">
              <a:solidFill>
                <a:srgbClr val="000000"/>
              </a:solidFill>
              <a:effectLst/>
              <a:uFillTx/>
              <a:latin typeface="Arial"/>
            </a:endParaRPr>
          </a:p>
          <a:p>
            <a:pPr marL="285840" indent="-228600" defTabSz="914400">
              <a:lnSpc>
                <a:spcPct val="90000"/>
              </a:lnSpc>
              <a:spcAft>
                <a:spcPts val="601"/>
              </a:spcAft>
              <a:buClr>
                <a:srgbClr val="000000"/>
              </a:buClr>
              <a:buFont typeface="Arial"/>
              <a:buChar char="•"/>
            </a:pPr>
            <a:r>
              <a:rPr b="0" lang="en-US" sz="1500" strike="noStrike" u="none">
                <a:solidFill>
                  <a:schemeClr val="lt1"/>
                </a:solidFill>
                <a:effectLst/>
                <a:uFillTx/>
                <a:latin typeface="Calibri"/>
              </a:rPr>
              <a:t>Which are the most valuable? </a:t>
            </a:r>
            <a:endParaRPr b="0" lang="en-US" sz="1500" strike="noStrike" u="none">
              <a:solidFill>
                <a:srgbClr val="000000"/>
              </a:solidFill>
              <a:effectLst/>
              <a:uFillTx/>
              <a:latin typeface="Arial"/>
            </a:endParaRPr>
          </a:p>
          <a:p>
            <a:pPr marL="285840" indent="-228600" defTabSz="914400">
              <a:lnSpc>
                <a:spcPct val="90000"/>
              </a:lnSpc>
              <a:spcAft>
                <a:spcPts val="601"/>
              </a:spcAft>
              <a:buClr>
                <a:srgbClr val="000000"/>
              </a:buClr>
              <a:buFont typeface="Arial"/>
              <a:buChar char="•"/>
            </a:pPr>
            <a:r>
              <a:rPr b="0" lang="en-US" sz="1500" strike="noStrike" u="none">
                <a:solidFill>
                  <a:schemeClr val="lt1"/>
                </a:solidFill>
                <a:effectLst/>
                <a:uFillTx/>
                <a:latin typeface="Calibri"/>
              </a:rPr>
              <a:t>How to acquire them effectively (CAC)?</a:t>
            </a:r>
            <a:endParaRPr b="0" lang="en-US" sz="1500" strike="noStrike" u="none">
              <a:solidFill>
                <a:srgbClr val="000000"/>
              </a:solidFill>
              <a:effectLst/>
              <a:uFillTx/>
              <a:latin typeface="Arial"/>
            </a:endParaRPr>
          </a:p>
          <a:p>
            <a:pPr marL="285840" indent="-228600" defTabSz="914400">
              <a:lnSpc>
                <a:spcPct val="90000"/>
              </a:lnSpc>
              <a:spcAft>
                <a:spcPts val="601"/>
              </a:spcAft>
              <a:buClr>
                <a:srgbClr val="000000"/>
              </a:buClr>
              <a:buFont typeface="Arial"/>
              <a:buChar char="•"/>
            </a:pPr>
            <a:r>
              <a:rPr b="0" lang="en-US" sz="1500" strike="noStrike" u="none">
                <a:solidFill>
                  <a:schemeClr val="lt1"/>
                </a:solidFill>
                <a:effectLst/>
                <a:uFillTx/>
                <a:latin typeface="Calibri"/>
              </a:rPr>
              <a:t>How to retain them? </a:t>
            </a:r>
            <a:endParaRPr b="0" lang="en-US" sz="1500" strike="noStrike" u="none">
              <a:solidFill>
                <a:srgbClr val="000000"/>
              </a:solidFill>
              <a:effectLst/>
              <a:uFillTx/>
              <a:latin typeface="Arial"/>
            </a:endParaRPr>
          </a:p>
          <a:p>
            <a:pPr marL="285840" indent="-228600" defTabSz="914400">
              <a:lnSpc>
                <a:spcPct val="90000"/>
              </a:lnSpc>
              <a:spcAft>
                <a:spcPts val="601"/>
              </a:spcAft>
              <a:buClr>
                <a:srgbClr val="000000"/>
              </a:buClr>
              <a:buFont typeface="Arial"/>
              <a:buChar char="•"/>
            </a:pPr>
            <a:r>
              <a:rPr b="0" lang="en-US" sz="1500" strike="noStrike" u="none">
                <a:solidFill>
                  <a:schemeClr val="lt1"/>
                </a:solidFill>
                <a:effectLst/>
                <a:uFillTx/>
                <a:latin typeface="Calibri"/>
              </a:rPr>
              <a:t>How to increase lifetime value (LTV)?</a:t>
            </a:r>
            <a:endParaRPr b="0" lang="en-US" sz="1500" strike="noStrike" u="none">
              <a:solidFill>
                <a:srgbClr val="000000"/>
              </a:solidFill>
              <a:effectLst/>
              <a:uFillTx/>
              <a:latin typeface="Arial"/>
            </a:endParaRPr>
          </a:p>
        </p:txBody>
      </p:sp>
      <p:pic>
        <p:nvPicPr>
          <p:cNvPr id="148" name="" descr="">
            <a:hlinkClick r:id="" action="ppaction://media"/>
          </p:cNvPr>
          <p:cNvPicPr/>
          <p:nvPr>
            <a:videoFile r:link="rId1"/>
            <p:extLst>
              <p:ext uri="{DAA4B4D4-6D71-4841-9C94-3DE7FCFB9230}">
                <p14:media r:embed="rId2"/>
              </p:ext>
            </p:extLst>
          </p:nvPr>
        </p:nvPicPr>
        <p:blipFill>
          <a:blip r:embed="rId3"/>
          <a:stretch>
            <a:fillRect/>
          </a:stretch>
        </p:blipFill>
        <p:spPr>
          <a:xfrm>
            <a:off x="5978520" y="0"/>
            <a:ext cx="2892600" cy="5142600"/>
          </a:xfrm>
          <a:prstGeom prst="rect">
            <a:avLst/>
          </a:prstGeom>
          <a:ln w="0">
            <a:noFill/>
          </a:ln>
        </p:spPr>
      </p:pic>
      <p:cxnSp>
        <p:nvCxnSpPr>
          <p:cNvPr id="149" name="Straight Connector 52">
            <a:extLst>
              <a:ext uri="{C183D7F6-B498-43B3-948B-1728B52AA6E4}">
                <adec:decorative xmlns:adec="http://schemas.microsoft.com/office/drawing/2017/decorative" val="1"/>
              </a:ext>
            </a:extLst>
          </p:cNvPr>
          <p:cNvCxnSpPr/>
          <p:nvPr/>
        </p:nvCxnSpPr>
        <p:spPr>
          <a:xfrm>
            <a:off x="8871480" y="0"/>
            <a:ext cx="720" cy="5144040"/>
          </a:xfrm>
          <a:prstGeom prst="straightConnector1">
            <a:avLst/>
          </a:prstGeom>
          <a:ln w="12700">
            <a:solidFill>
              <a:srgbClr val="ed7d31"/>
            </a:solidFill>
            <a:round/>
          </a:ln>
        </p:spPr>
      </p:cxn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mediacall">
                                  <p:stCondLst>
                                    <p:cond delay="0"/>
                                  </p:stCondLst>
                                  <p:childTnLst>
                                    <p:cmd type="call" cmd="playFrom(0.0)">
                                      <p:cBhvr>
                                        <p:cTn id="6" dur="50337" fill="hold"/>
                                        <p:tgtEl>
                                          <p:spTgt spid="148"/>
                                        </p:tgtEl>
                                      </p:cBhvr>
                                    </p:cmd>
                                  </p:childTnLst>
                                </p:cTn>
                              </p:par>
                            </p:childTnLst>
                          </p:cTn>
                        </p:par>
                      </p:childTnLst>
                    </p:cTn>
                  </p:par>
                </p:childTnLst>
              </p:cTn>
              <p:prevCondLst>
                <p:cond evt="onPrev">
                  <p:tgtEl>
                    <p:sldTgt/>
                  </p:tgtEl>
                </p:cond>
              </p:prevCondLst>
              <p:nextCondLst>
                <p:cond evt="onNext">
                  <p:tgtEl>
                    <p:sldTgt/>
                  </p:tgtEl>
                </p:cond>
              </p:nextCondLst>
            </p:seq>
            <p:seq>
              <p:cTn id="7" restart="whenNotActive" nodeType="interactiveSeq" fill="hold">
                <p:stCondLst>
                  <p:cond delay="0" evt="onClick">
                    <p:tgtEl>
                      <p:spTgt spid="148"/>
                    </p:tgtEl>
                  </p:cond>
                </p:stCondLst>
                <p:childTnLst>
                  <p:par>
                    <p:cTn id="8" fill="hold">
                      <p:stCondLst>
                        <p:cond delay="0" evt="onClick">
                          <p:tgtEl>
                            <p:spTgt spid="148"/>
                          </p:tgtEl>
                        </p:cond>
                      </p:stCondLst>
                      <p:childTnLst>
                        <p:par>
                          <p:cTn id="9" fill="hold">
                            <p:stCondLst>
                              <p:cond delay="0"/>
                            </p:stCondLst>
                            <p:childTnLst>
                              <p:par>
                                <p:cTn id="10" nodeType="clickEffect" fill="hold" presetClass="mediacall">
                                  <p:stCondLst>
                                    <p:cond delay="0"/>
                                  </p:stCondLst>
                                  <p:childTnLst>
                                    <p:cmd type="call" cmd="togglePause">
                                      <p:cBhvr>
                                        <p:cTn id="11" dur="1" fill="hold"/>
                                        <p:tgtEl>
                                          <p:spTgt spid="148"/>
                                        </p:tgtEl>
                                      </p:cBhvr>
                                    </p:cmd>
                                  </p:childTnLst>
                                </p:cTn>
                              </p:par>
                            </p:childTnLst>
                          </p:cTn>
                        </p:par>
                      </p:childTnLst>
                    </p:cTn>
                  </p:par>
                </p:childTnLst>
              </p:cTn>
              <p:prevCondLst>
                <p:cond evt="onPrev">
                  <p:tgtEl>
                    <p:sldTgt/>
                  </p:tgtEl>
                </p:cond>
              </p:prevCondLst>
              <p:nextCondLst>
                <p:cond evt="onNext">
                  <p:tgtEl>
                    <p:sldTgt/>
                  </p:tgtEl>
                </p:cond>
              </p:nextCondLst>
            </p:seq>
            <p:video>
              <p:cMediaNode>
                <p:cTn>
                  <p:stCondLst>
                    <p:cond delay="indefinite"/>
                  </p:stCondLst>
                </p:cTn>
                <p:tgtEl>
                  <p:spTgt spid="148"/>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0" name="Text 0"/>
          <p:cNvSpPr/>
          <p:nvPr/>
        </p:nvSpPr>
        <p:spPr>
          <a:xfrm>
            <a:off x="548640" y="274320"/>
            <a:ext cx="73144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trike="noStrike" u="none">
                <a:solidFill>
                  <a:srgbClr val="1a1a2e"/>
                </a:solidFill>
                <a:effectLst/>
                <a:uFillTx/>
                <a:latin typeface="Trebuchet MS"/>
                <a:ea typeface="Trebuchet MS"/>
              </a:rPr>
              <a:t>8 Components of a Marketing Campaign</a:t>
            </a:r>
            <a:endParaRPr b="0" lang="en-US" sz="3000" strike="noStrike" u="none">
              <a:solidFill>
                <a:srgbClr val="000000"/>
              </a:solidFill>
              <a:effectLst/>
              <a:uFillTx/>
              <a:latin typeface="Arial"/>
            </a:endParaRPr>
          </a:p>
        </p:txBody>
      </p:sp>
      <p:sp>
        <p:nvSpPr>
          <p:cNvPr id="151" name="Shape 1"/>
          <p:cNvSpPr/>
          <p:nvPr/>
        </p:nvSpPr>
        <p:spPr>
          <a:xfrm>
            <a:off x="548640" y="1097280"/>
            <a:ext cx="1965240" cy="1736640"/>
          </a:xfrm>
          <a:prstGeom prst="rect">
            <a:avLst/>
          </a:prstGeom>
          <a:solidFill>
            <a:srgbClr val="fdf6f0"/>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52" name="Text 2"/>
          <p:cNvSpPr/>
          <p:nvPr/>
        </p:nvSpPr>
        <p:spPr>
          <a:xfrm>
            <a:off x="548640" y="1188720"/>
            <a:ext cx="1965240" cy="456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800" strike="noStrike" u="none">
                <a:solidFill>
                  <a:srgbClr val="e94560"/>
                </a:solidFill>
                <a:effectLst/>
                <a:uFillTx/>
                <a:latin typeface="Trebuchet MS"/>
                <a:ea typeface="Trebuchet MS"/>
              </a:rPr>
              <a:t>01</a:t>
            </a:r>
            <a:endParaRPr b="0" lang="en-US" sz="2800" strike="noStrike" u="none">
              <a:solidFill>
                <a:srgbClr val="000000"/>
              </a:solidFill>
              <a:effectLst/>
              <a:uFillTx/>
              <a:latin typeface="Arial"/>
            </a:endParaRPr>
          </a:p>
        </p:txBody>
      </p:sp>
      <p:sp>
        <p:nvSpPr>
          <p:cNvPr id="153" name="Text 3"/>
          <p:cNvSpPr/>
          <p:nvPr/>
        </p:nvSpPr>
        <p:spPr>
          <a:xfrm>
            <a:off x="548640" y="1691640"/>
            <a:ext cx="19652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1a1a2e"/>
                </a:solidFill>
                <a:effectLst/>
                <a:uFillTx/>
                <a:latin typeface="Trebuchet MS"/>
                <a:ea typeface="Trebuchet MS"/>
              </a:rPr>
              <a:t>Objective</a:t>
            </a:r>
            <a:endParaRPr b="0" lang="en-US" sz="1300" strike="noStrike" u="none">
              <a:solidFill>
                <a:srgbClr val="000000"/>
              </a:solidFill>
              <a:effectLst/>
              <a:uFillTx/>
              <a:latin typeface="Arial"/>
            </a:endParaRPr>
          </a:p>
        </p:txBody>
      </p:sp>
      <p:sp>
        <p:nvSpPr>
          <p:cNvPr id="154" name="Text 4"/>
          <p:cNvSpPr/>
          <p:nvPr/>
        </p:nvSpPr>
        <p:spPr>
          <a:xfrm>
            <a:off x="685800" y="2103120"/>
            <a:ext cx="169092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00" strike="noStrike" u="none">
                <a:solidFill>
                  <a:srgbClr val="8e8e8e"/>
                </a:solidFill>
                <a:effectLst/>
                <a:uFillTx/>
                <a:latin typeface="Calibri"/>
                <a:ea typeface="Calibri"/>
              </a:rPr>
              <a:t>The goal you aim to achieve</a:t>
            </a:r>
            <a:endParaRPr b="0" lang="en-US" sz="1000" strike="noStrike" u="none">
              <a:solidFill>
                <a:srgbClr val="000000"/>
              </a:solidFill>
              <a:effectLst/>
              <a:uFillTx/>
              <a:latin typeface="Arial"/>
            </a:endParaRPr>
          </a:p>
        </p:txBody>
      </p:sp>
      <p:sp>
        <p:nvSpPr>
          <p:cNvPr id="155" name="Shape 5"/>
          <p:cNvSpPr/>
          <p:nvPr/>
        </p:nvSpPr>
        <p:spPr>
          <a:xfrm>
            <a:off x="2697480" y="1097280"/>
            <a:ext cx="1965240" cy="173664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56" name="Text 6"/>
          <p:cNvSpPr/>
          <p:nvPr/>
        </p:nvSpPr>
        <p:spPr>
          <a:xfrm>
            <a:off x="2697480" y="1188720"/>
            <a:ext cx="1965240" cy="456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800" strike="noStrike" u="none">
                <a:solidFill>
                  <a:srgbClr val="e94560"/>
                </a:solidFill>
                <a:effectLst/>
                <a:uFillTx/>
                <a:latin typeface="Trebuchet MS"/>
                <a:ea typeface="Trebuchet MS"/>
              </a:rPr>
              <a:t>02</a:t>
            </a:r>
            <a:endParaRPr b="0" lang="en-US" sz="2800" strike="noStrike" u="none">
              <a:solidFill>
                <a:srgbClr val="000000"/>
              </a:solidFill>
              <a:effectLst/>
              <a:uFillTx/>
              <a:latin typeface="Arial"/>
            </a:endParaRPr>
          </a:p>
        </p:txBody>
      </p:sp>
      <p:sp>
        <p:nvSpPr>
          <p:cNvPr id="157" name="Text 7"/>
          <p:cNvSpPr/>
          <p:nvPr/>
        </p:nvSpPr>
        <p:spPr>
          <a:xfrm>
            <a:off x="2697480" y="1691640"/>
            <a:ext cx="19652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1a1a2e"/>
                </a:solidFill>
                <a:effectLst/>
                <a:uFillTx/>
                <a:latin typeface="Trebuchet MS"/>
                <a:ea typeface="Trebuchet MS"/>
              </a:rPr>
              <a:t>Target</a:t>
            </a:r>
            <a:endParaRPr b="0" lang="en-US" sz="1300" strike="noStrike" u="none">
              <a:solidFill>
                <a:srgbClr val="000000"/>
              </a:solidFill>
              <a:effectLst/>
              <a:uFillTx/>
              <a:latin typeface="Arial"/>
            </a:endParaRPr>
          </a:p>
        </p:txBody>
      </p:sp>
      <p:sp>
        <p:nvSpPr>
          <p:cNvPr id="158" name="Text 8"/>
          <p:cNvSpPr/>
          <p:nvPr/>
        </p:nvSpPr>
        <p:spPr>
          <a:xfrm>
            <a:off x="2834640" y="2103120"/>
            <a:ext cx="169092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00" strike="noStrike" u="none">
                <a:solidFill>
                  <a:srgbClr val="8e8e8e"/>
                </a:solidFill>
                <a:effectLst/>
                <a:uFillTx/>
                <a:latin typeface="Calibri"/>
                <a:ea typeface="Calibri"/>
              </a:rPr>
              <a:t>The audience you want to reach</a:t>
            </a:r>
            <a:endParaRPr b="0" lang="en-US" sz="1000" strike="noStrike" u="none">
              <a:solidFill>
                <a:srgbClr val="000000"/>
              </a:solidFill>
              <a:effectLst/>
              <a:uFillTx/>
              <a:latin typeface="Arial"/>
            </a:endParaRPr>
          </a:p>
        </p:txBody>
      </p:sp>
      <p:sp>
        <p:nvSpPr>
          <p:cNvPr id="159" name="Shape 9"/>
          <p:cNvSpPr/>
          <p:nvPr/>
        </p:nvSpPr>
        <p:spPr>
          <a:xfrm>
            <a:off x="4846320" y="1097280"/>
            <a:ext cx="1965240" cy="1736640"/>
          </a:xfrm>
          <a:prstGeom prst="rect">
            <a:avLst/>
          </a:prstGeom>
          <a:solidFill>
            <a:srgbClr val="fdf6f0"/>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60" name="Text 10"/>
          <p:cNvSpPr/>
          <p:nvPr/>
        </p:nvSpPr>
        <p:spPr>
          <a:xfrm>
            <a:off x="4846320" y="1188720"/>
            <a:ext cx="1965240" cy="456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800" strike="noStrike" u="none">
                <a:solidFill>
                  <a:srgbClr val="e94560"/>
                </a:solidFill>
                <a:effectLst/>
                <a:uFillTx/>
                <a:latin typeface="Trebuchet MS"/>
                <a:ea typeface="Trebuchet MS"/>
              </a:rPr>
              <a:t>03</a:t>
            </a:r>
            <a:endParaRPr b="0" lang="en-US" sz="2800" strike="noStrike" u="none">
              <a:solidFill>
                <a:srgbClr val="000000"/>
              </a:solidFill>
              <a:effectLst/>
              <a:uFillTx/>
              <a:latin typeface="Arial"/>
            </a:endParaRPr>
          </a:p>
        </p:txBody>
      </p:sp>
      <p:sp>
        <p:nvSpPr>
          <p:cNvPr id="161" name="Text 11"/>
          <p:cNvSpPr/>
          <p:nvPr/>
        </p:nvSpPr>
        <p:spPr>
          <a:xfrm>
            <a:off x="4846320" y="1691640"/>
            <a:ext cx="19652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1a1a2e"/>
                </a:solidFill>
                <a:effectLst/>
                <a:uFillTx/>
                <a:latin typeface="Trebuchet MS"/>
                <a:ea typeface="Trebuchet MS"/>
              </a:rPr>
              <a:t>Messaging</a:t>
            </a:r>
            <a:endParaRPr b="0" lang="en-US" sz="1300" strike="noStrike" u="none">
              <a:solidFill>
                <a:srgbClr val="000000"/>
              </a:solidFill>
              <a:effectLst/>
              <a:uFillTx/>
              <a:latin typeface="Arial"/>
            </a:endParaRPr>
          </a:p>
        </p:txBody>
      </p:sp>
      <p:sp>
        <p:nvSpPr>
          <p:cNvPr id="162" name="Text 12"/>
          <p:cNvSpPr/>
          <p:nvPr/>
        </p:nvSpPr>
        <p:spPr>
          <a:xfrm>
            <a:off x="4983480" y="2103120"/>
            <a:ext cx="169092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00" strike="noStrike" u="none">
                <a:solidFill>
                  <a:srgbClr val="8e8e8e"/>
                </a:solidFill>
                <a:effectLst/>
                <a:uFillTx/>
                <a:latin typeface="Calibri"/>
                <a:ea typeface="Calibri"/>
              </a:rPr>
              <a:t>The key message to communicate</a:t>
            </a:r>
            <a:endParaRPr b="0" lang="en-US" sz="1000" strike="noStrike" u="none">
              <a:solidFill>
                <a:srgbClr val="000000"/>
              </a:solidFill>
              <a:effectLst/>
              <a:uFillTx/>
              <a:latin typeface="Arial"/>
            </a:endParaRPr>
          </a:p>
        </p:txBody>
      </p:sp>
      <p:sp>
        <p:nvSpPr>
          <p:cNvPr id="163" name="Shape 13"/>
          <p:cNvSpPr/>
          <p:nvPr/>
        </p:nvSpPr>
        <p:spPr>
          <a:xfrm>
            <a:off x="6995160" y="1097280"/>
            <a:ext cx="1965240" cy="173664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64" name="Text 14"/>
          <p:cNvSpPr/>
          <p:nvPr/>
        </p:nvSpPr>
        <p:spPr>
          <a:xfrm>
            <a:off x="6995160" y="1188720"/>
            <a:ext cx="1965240" cy="456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800" strike="noStrike" u="none">
                <a:solidFill>
                  <a:srgbClr val="e94560"/>
                </a:solidFill>
                <a:effectLst/>
                <a:uFillTx/>
                <a:latin typeface="Trebuchet MS"/>
                <a:ea typeface="Trebuchet MS"/>
              </a:rPr>
              <a:t>04</a:t>
            </a:r>
            <a:endParaRPr b="0" lang="en-US" sz="2800" strike="noStrike" u="none">
              <a:solidFill>
                <a:srgbClr val="000000"/>
              </a:solidFill>
              <a:effectLst/>
              <a:uFillTx/>
              <a:latin typeface="Arial"/>
            </a:endParaRPr>
          </a:p>
        </p:txBody>
      </p:sp>
      <p:sp>
        <p:nvSpPr>
          <p:cNvPr id="165" name="Text 15"/>
          <p:cNvSpPr/>
          <p:nvPr/>
        </p:nvSpPr>
        <p:spPr>
          <a:xfrm>
            <a:off x="6995160" y="1691640"/>
            <a:ext cx="19652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1a1a2e"/>
                </a:solidFill>
                <a:effectLst/>
                <a:uFillTx/>
                <a:latin typeface="Trebuchet MS"/>
                <a:ea typeface="Trebuchet MS"/>
              </a:rPr>
              <a:t>Channels</a:t>
            </a:r>
            <a:endParaRPr b="0" lang="en-US" sz="1300" strike="noStrike" u="none">
              <a:solidFill>
                <a:srgbClr val="000000"/>
              </a:solidFill>
              <a:effectLst/>
              <a:uFillTx/>
              <a:latin typeface="Arial"/>
            </a:endParaRPr>
          </a:p>
        </p:txBody>
      </p:sp>
      <p:sp>
        <p:nvSpPr>
          <p:cNvPr id="166" name="Text 16"/>
          <p:cNvSpPr/>
          <p:nvPr/>
        </p:nvSpPr>
        <p:spPr>
          <a:xfrm>
            <a:off x="7132320" y="2103120"/>
            <a:ext cx="169092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00" strike="noStrike" u="none">
                <a:solidFill>
                  <a:srgbClr val="8e8e8e"/>
                </a:solidFill>
                <a:effectLst/>
                <a:uFillTx/>
                <a:latin typeface="Calibri"/>
                <a:ea typeface="Calibri"/>
              </a:rPr>
              <a:t>Platforms to deliver the message</a:t>
            </a:r>
            <a:endParaRPr b="0" lang="en-US" sz="1000" strike="noStrike" u="none">
              <a:solidFill>
                <a:srgbClr val="000000"/>
              </a:solidFill>
              <a:effectLst/>
              <a:uFillTx/>
              <a:latin typeface="Arial"/>
            </a:endParaRPr>
          </a:p>
        </p:txBody>
      </p:sp>
      <p:sp>
        <p:nvSpPr>
          <p:cNvPr id="167" name="Shape 17"/>
          <p:cNvSpPr/>
          <p:nvPr/>
        </p:nvSpPr>
        <p:spPr>
          <a:xfrm>
            <a:off x="548640" y="3017520"/>
            <a:ext cx="1965240" cy="1736640"/>
          </a:xfrm>
          <a:prstGeom prst="rect">
            <a:avLst/>
          </a:prstGeom>
          <a:solidFill>
            <a:srgbClr val="fdf6f0"/>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68" name="Text 18"/>
          <p:cNvSpPr/>
          <p:nvPr/>
        </p:nvSpPr>
        <p:spPr>
          <a:xfrm>
            <a:off x="548640" y="3108960"/>
            <a:ext cx="1965240" cy="456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800" strike="noStrike" u="none">
                <a:solidFill>
                  <a:srgbClr val="e94560"/>
                </a:solidFill>
                <a:effectLst/>
                <a:uFillTx/>
                <a:latin typeface="Trebuchet MS"/>
                <a:ea typeface="Trebuchet MS"/>
              </a:rPr>
              <a:t>05</a:t>
            </a:r>
            <a:endParaRPr b="0" lang="en-US" sz="2800" strike="noStrike" u="none">
              <a:solidFill>
                <a:srgbClr val="000000"/>
              </a:solidFill>
              <a:effectLst/>
              <a:uFillTx/>
              <a:latin typeface="Arial"/>
            </a:endParaRPr>
          </a:p>
        </p:txBody>
      </p:sp>
      <p:sp>
        <p:nvSpPr>
          <p:cNvPr id="169" name="Text 19"/>
          <p:cNvSpPr/>
          <p:nvPr/>
        </p:nvSpPr>
        <p:spPr>
          <a:xfrm>
            <a:off x="548640" y="3611880"/>
            <a:ext cx="19652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1a1a2e"/>
                </a:solidFill>
                <a:effectLst/>
                <a:uFillTx/>
                <a:latin typeface="Trebuchet MS"/>
                <a:ea typeface="Trebuchet MS"/>
              </a:rPr>
              <a:t>Creative</a:t>
            </a:r>
            <a:endParaRPr b="0" lang="en-US" sz="1300" strike="noStrike" u="none">
              <a:solidFill>
                <a:srgbClr val="000000"/>
              </a:solidFill>
              <a:effectLst/>
              <a:uFillTx/>
              <a:latin typeface="Arial"/>
            </a:endParaRPr>
          </a:p>
        </p:txBody>
      </p:sp>
      <p:sp>
        <p:nvSpPr>
          <p:cNvPr id="170" name="Text 20"/>
          <p:cNvSpPr/>
          <p:nvPr/>
        </p:nvSpPr>
        <p:spPr>
          <a:xfrm>
            <a:off x="685800" y="4023360"/>
            <a:ext cx="169092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00" strike="noStrike" u="none">
                <a:solidFill>
                  <a:srgbClr val="8e8e8e"/>
                </a:solidFill>
                <a:effectLst/>
                <a:uFillTx/>
                <a:latin typeface="Calibri"/>
                <a:ea typeface="Calibri"/>
              </a:rPr>
              <a:t>Visual and content that grabs attention</a:t>
            </a:r>
            <a:endParaRPr b="0" lang="en-US" sz="1000" strike="noStrike" u="none">
              <a:solidFill>
                <a:srgbClr val="000000"/>
              </a:solidFill>
              <a:effectLst/>
              <a:uFillTx/>
              <a:latin typeface="Arial"/>
            </a:endParaRPr>
          </a:p>
        </p:txBody>
      </p:sp>
      <p:sp>
        <p:nvSpPr>
          <p:cNvPr id="171" name="Shape 21"/>
          <p:cNvSpPr/>
          <p:nvPr/>
        </p:nvSpPr>
        <p:spPr>
          <a:xfrm>
            <a:off x="2697480" y="3017520"/>
            <a:ext cx="1965240" cy="173664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72" name="Text 22"/>
          <p:cNvSpPr/>
          <p:nvPr/>
        </p:nvSpPr>
        <p:spPr>
          <a:xfrm>
            <a:off x="2697480" y="3108960"/>
            <a:ext cx="1965240" cy="456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800" strike="noStrike" u="none">
                <a:solidFill>
                  <a:srgbClr val="e94560"/>
                </a:solidFill>
                <a:effectLst/>
                <a:uFillTx/>
                <a:latin typeface="Trebuchet MS"/>
                <a:ea typeface="Trebuchet MS"/>
              </a:rPr>
              <a:t>06</a:t>
            </a:r>
            <a:endParaRPr b="0" lang="en-US" sz="2800" strike="noStrike" u="none">
              <a:solidFill>
                <a:srgbClr val="000000"/>
              </a:solidFill>
              <a:effectLst/>
              <a:uFillTx/>
              <a:latin typeface="Arial"/>
            </a:endParaRPr>
          </a:p>
        </p:txBody>
      </p:sp>
      <p:sp>
        <p:nvSpPr>
          <p:cNvPr id="173" name="Text 23"/>
          <p:cNvSpPr/>
          <p:nvPr/>
        </p:nvSpPr>
        <p:spPr>
          <a:xfrm>
            <a:off x="2697480" y="3611880"/>
            <a:ext cx="19652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1a1a2e"/>
                </a:solidFill>
                <a:effectLst/>
                <a:uFillTx/>
                <a:latin typeface="Trebuchet MS"/>
                <a:ea typeface="Trebuchet MS"/>
              </a:rPr>
              <a:t>Budget</a:t>
            </a:r>
            <a:endParaRPr b="0" lang="en-US" sz="1300" strike="noStrike" u="none">
              <a:solidFill>
                <a:srgbClr val="000000"/>
              </a:solidFill>
              <a:effectLst/>
              <a:uFillTx/>
              <a:latin typeface="Arial"/>
            </a:endParaRPr>
          </a:p>
        </p:txBody>
      </p:sp>
      <p:sp>
        <p:nvSpPr>
          <p:cNvPr id="174" name="Text 24"/>
          <p:cNvSpPr/>
          <p:nvPr/>
        </p:nvSpPr>
        <p:spPr>
          <a:xfrm>
            <a:off x="2834640" y="4023360"/>
            <a:ext cx="169092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00" strike="noStrike" u="none">
                <a:solidFill>
                  <a:srgbClr val="8e8e8e"/>
                </a:solidFill>
                <a:effectLst/>
                <a:uFillTx/>
                <a:latin typeface="Calibri"/>
                <a:ea typeface="Calibri"/>
              </a:rPr>
              <a:t>Financial resources allocated</a:t>
            </a:r>
            <a:endParaRPr b="0" lang="en-US" sz="1000" strike="noStrike" u="none">
              <a:solidFill>
                <a:srgbClr val="000000"/>
              </a:solidFill>
              <a:effectLst/>
              <a:uFillTx/>
              <a:latin typeface="Arial"/>
            </a:endParaRPr>
          </a:p>
        </p:txBody>
      </p:sp>
      <p:sp>
        <p:nvSpPr>
          <p:cNvPr id="175" name="Shape 25"/>
          <p:cNvSpPr/>
          <p:nvPr/>
        </p:nvSpPr>
        <p:spPr>
          <a:xfrm>
            <a:off x="4846320" y="3017520"/>
            <a:ext cx="1965240" cy="1736640"/>
          </a:xfrm>
          <a:prstGeom prst="rect">
            <a:avLst/>
          </a:prstGeom>
          <a:solidFill>
            <a:srgbClr val="fdf6f0"/>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76" name="Text 26"/>
          <p:cNvSpPr/>
          <p:nvPr/>
        </p:nvSpPr>
        <p:spPr>
          <a:xfrm>
            <a:off x="4846320" y="3108960"/>
            <a:ext cx="1965240" cy="456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800" strike="noStrike" u="none">
                <a:solidFill>
                  <a:srgbClr val="e94560"/>
                </a:solidFill>
                <a:effectLst/>
                <a:uFillTx/>
                <a:latin typeface="Trebuchet MS"/>
                <a:ea typeface="Trebuchet MS"/>
              </a:rPr>
              <a:t>07</a:t>
            </a:r>
            <a:endParaRPr b="0" lang="en-US" sz="2800" strike="noStrike" u="none">
              <a:solidFill>
                <a:srgbClr val="000000"/>
              </a:solidFill>
              <a:effectLst/>
              <a:uFillTx/>
              <a:latin typeface="Arial"/>
            </a:endParaRPr>
          </a:p>
        </p:txBody>
      </p:sp>
      <p:sp>
        <p:nvSpPr>
          <p:cNvPr id="177" name="Text 27"/>
          <p:cNvSpPr/>
          <p:nvPr/>
        </p:nvSpPr>
        <p:spPr>
          <a:xfrm>
            <a:off x="4846320" y="3611880"/>
            <a:ext cx="19652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1a1a2e"/>
                </a:solidFill>
                <a:effectLst/>
                <a:uFillTx/>
                <a:latin typeface="Trebuchet MS"/>
                <a:ea typeface="Trebuchet MS"/>
              </a:rPr>
              <a:t>Timeline</a:t>
            </a:r>
            <a:endParaRPr b="0" lang="en-US" sz="1300" strike="noStrike" u="none">
              <a:solidFill>
                <a:srgbClr val="000000"/>
              </a:solidFill>
              <a:effectLst/>
              <a:uFillTx/>
              <a:latin typeface="Arial"/>
            </a:endParaRPr>
          </a:p>
        </p:txBody>
      </p:sp>
      <p:sp>
        <p:nvSpPr>
          <p:cNvPr id="178" name="Text 28"/>
          <p:cNvSpPr/>
          <p:nvPr/>
        </p:nvSpPr>
        <p:spPr>
          <a:xfrm>
            <a:off x="4983480" y="4023360"/>
            <a:ext cx="169092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00" strike="noStrike" u="none">
                <a:solidFill>
                  <a:srgbClr val="8e8e8e"/>
                </a:solidFill>
                <a:effectLst/>
                <a:uFillTx/>
                <a:latin typeface="Calibri"/>
                <a:ea typeface="Calibri"/>
              </a:rPr>
              <a:t>Schedule for planning and execution</a:t>
            </a:r>
            <a:endParaRPr b="0" lang="en-US" sz="1000" strike="noStrike" u="none">
              <a:solidFill>
                <a:srgbClr val="000000"/>
              </a:solidFill>
              <a:effectLst/>
              <a:uFillTx/>
              <a:latin typeface="Arial"/>
            </a:endParaRPr>
          </a:p>
        </p:txBody>
      </p:sp>
      <p:sp>
        <p:nvSpPr>
          <p:cNvPr id="179" name="Shape 29"/>
          <p:cNvSpPr/>
          <p:nvPr/>
        </p:nvSpPr>
        <p:spPr>
          <a:xfrm>
            <a:off x="6995160" y="3017520"/>
            <a:ext cx="1965240" cy="173664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80" name="Text 30"/>
          <p:cNvSpPr/>
          <p:nvPr/>
        </p:nvSpPr>
        <p:spPr>
          <a:xfrm>
            <a:off x="6995160" y="3108960"/>
            <a:ext cx="1965240" cy="456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800" strike="noStrike" u="none">
                <a:solidFill>
                  <a:srgbClr val="e94560"/>
                </a:solidFill>
                <a:effectLst/>
                <a:uFillTx/>
                <a:latin typeface="Trebuchet MS"/>
                <a:ea typeface="Trebuchet MS"/>
              </a:rPr>
              <a:t>08</a:t>
            </a:r>
            <a:endParaRPr b="0" lang="en-US" sz="2800" strike="noStrike" u="none">
              <a:solidFill>
                <a:srgbClr val="000000"/>
              </a:solidFill>
              <a:effectLst/>
              <a:uFillTx/>
              <a:latin typeface="Arial"/>
            </a:endParaRPr>
          </a:p>
        </p:txBody>
      </p:sp>
      <p:sp>
        <p:nvSpPr>
          <p:cNvPr id="181" name="Text 31"/>
          <p:cNvSpPr/>
          <p:nvPr/>
        </p:nvSpPr>
        <p:spPr>
          <a:xfrm>
            <a:off x="6995160" y="3611880"/>
            <a:ext cx="19652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1a1a2e"/>
                </a:solidFill>
                <a:effectLst/>
                <a:uFillTx/>
                <a:latin typeface="Trebuchet MS"/>
                <a:ea typeface="Trebuchet MS"/>
              </a:rPr>
              <a:t>Measurement</a:t>
            </a:r>
            <a:endParaRPr b="0" lang="en-US" sz="1300" strike="noStrike" u="none">
              <a:solidFill>
                <a:srgbClr val="000000"/>
              </a:solidFill>
              <a:effectLst/>
              <a:uFillTx/>
              <a:latin typeface="Arial"/>
            </a:endParaRPr>
          </a:p>
        </p:txBody>
      </p:sp>
      <p:sp>
        <p:nvSpPr>
          <p:cNvPr id="182" name="Text 32"/>
          <p:cNvSpPr/>
          <p:nvPr/>
        </p:nvSpPr>
        <p:spPr>
          <a:xfrm>
            <a:off x="7132320" y="4023360"/>
            <a:ext cx="169092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00" strike="noStrike" u="none">
                <a:solidFill>
                  <a:srgbClr val="8e8e8e"/>
                </a:solidFill>
                <a:effectLst/>
                <a:uFillTx/>
                <a:latin typeface="Calibri"/>
                <a:ea typeface="Calibri"/>
              </a:rPr>
              <a:t>Track performance and analyse results</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3" name="Text 0"/>
          <p:cNvSpPr/>
          <p:nvPr/>
        </p:nvSpPr>
        <p:spPr>
          <a:xfrm>
            <a:off x="731520" y="548640"/>
            <a:ext cx="1828080" cy="1828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8000" strike="noStrike" u="none">
                <a:solidFill>
                  <a:srgbClr val="e94560"/>
                </a:solidFill>
                <a:effectLst/>
                <a:uFillTx/>
                <a:latin typeface="Trebuchet MS"/>
                <a:ea typeface="Trebuchet MS"/>
              </a:rPr>
              <a:t>02</a:t>
            </a:r>
            <a:endParaRPr b="0" lang="en-US" sz="8000" strike="noStrike" u="none">
              <a:solidFill>
                <a:srgbClr val="000000"/>
              </a:solidFill>
              <a:effectLst/>
              <a:uFillTx/>
              <a:latin typeface="Arial"/>
            </a:endParaRPr>
          </a:p>
        </p:txBody>
      </p:sp>
      <p:sp>
        <p:nvSpPr>
          <p:cNvPr id="184" name="Text 1"/>
          <p:cNvSpPr/>
          <p:nvPr/>
        </p:nvSpPr>
        <p:spPr>
          <a:xfrm>
            <a:off x="731520" y="2286000"/>
            <a:ext cx="7314480" cy="913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4000" strike="noStrike" u="none">
                <a:solidFill>
                  <a:srgbClr val="1a1a2e"/>
                </a:solidFill>
                <a:effectLst/>
                <a:uFillTx/>
                <a:latin typeface="Trebuchet MS"/>
                <a:ea typeface="Trebuchet MS"/>
              </a:rPr>
              <a:t>The Lean Marketing</a:t>
            </a:r>
            <a:endParaRPr b="0" lang="en-US" sz="4000" strike="noStrike" u="none">
              <a:solidFill>
                <a:srgbClr val="000000"/>
              </a:solidFill>
              <a:effectLst/>
              <a:uFillTx/>
              <a:latin typeface="Arial"/>
            </a:endParaRPr>
          </a:p>
          <a:p>
            <a:pPr defTabSz="914400">
              <a:lnSpc>
                <a:spcPct val="100000"/>
              </a:lnSpc>
              <a:tabLst>
                <a:tab algn="l" pos="0"/>
              </a:tabLst>
            </a:pPr>
            <a:r>
              <a:rPr b="1" lang="en-US" sz="4000" strike="noStrike" u="none">
                <a:solidFill>
                  <a:srgbClr val="1a1a2e"/>
                </a:solidFill>
                <a:effectLst/>
                <a:uFillTx/>
                <a:latin typeface="Trebuchet MS"/>
                <a:ea typeface="Trebuchet MS"/>
              </a:rPr>
              <a:t>Framework</a:t>
            </a:r>
            <a:endParaRPr b="0" lang="en-US" sz="4000" strike="noStrike" u="none">
              <a:solidFill>
                <a:srgbClr val="000000"/>
              </a:solidFill>
              <a:effectLst/>
              <a:uFillTx/>
              <a:latin typeface="Arial"/>
            </a:endParaRPr>
          </a:p>
        </p:txBody>
      </p:sp>
      <p:sp>
        <p:nvSpPr>
          <p:cNvPr id="185" name="Text 2"/>
          <p:cNvSpPr/>
          <p:nvPr/>
        </p:nvSpPr>
        <p:spPr>
          <a:xfrm>
            <a:off x="731520" y="3200400"/>
            <a:ext cx="64000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600" strike="noStrike" u="none">
                <a:solidFill>
                  <a:srgbClr val="0f9b8e"/>
                </a:solidFill>
                <a:effectLst/>
                <a:uFillTx/>
                <a:latin typeface="Calibri"/>
                <a:ea typeface="Calibri"/>
              </a:rPr>
              <a:t>High ROI with low cost - startup style</a:t>
            </a:r>
            <a:endParaRPr b="0" lang="en-US" sz="1600" strike="noStrike" u="none">
              <a:solidFill>
                <a:srgbClr val="000000"/>
              </a:solidFill>
              <a:effectLst/>
              <a:uFillTx/>
              <a:latin typeface="Arial"/>
            </a:endParaRPr>
          </a:p>
        </p:txBody>
      </p:sp>
      <p:sp>
        <p:nvSpPr>
          <p:cNvPr id="186" name="Shape 3"/>
          <p:cNvSpPr/>
          <p:nvPr/>
        </p:nvSpPr>
        <p:spPr>
          <a:xfrm>
            <a:off x="731520" y="4206240"/>
            <a:ext cx="1828080" cy="54000"/>
          </a:xfrm>
          <a:prstGeom prst="rect">
            <a:avLst/>
          </a:prstGeom>
          <a:solidFill>
            <a:srgbClr val="e94560"/>
          </a:solidFill>
          <a:ln w="0">
            <a:noFill/>
          </a:ln>
        </p:spPr>
        <p:style>
          <a:lnRef idx="0"/>
          <a:fillRef idx="0"/>
          <a:effectRef idx="0"/>
          <a:fontRef idx="minor"/>
        </p:style>
        <p:txBody>
          <a:bodyPr lIns="90000" rIns="90000" tIns="9720" bIns="9720" anchor="t">
            <a:noAutofit/>
          </a:bodyPr>
          <a:p>
            <a:pPr defTabSz="914400">
              <a:lnSpc>
                <a:spcPct val="100000"/>
              </a:lnSpc>
            </a:pPr>
            <a:endParaRPr b="0" lang="en-US" sz="18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7" name="Text 0"/>
          <p:cNvSpPr/>
          <p:nvPr/>
        </p:nvSpPr>
        <p:spPr>
          <a:xfrm>
            <a:off x="548640" y="731520"/>
            <a:ext cx="7314480" cy="913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4400" strike="noStrike" u="none">
                <a:solidFill>
                  <a:srgbClr val="1a1a2e"/>
                </a:solidFill>
                <a:effectLst/>
                <a:uFillTx/>
                <a:latin typeface="Trebuchet MS"/>
                <a:ea typeface="Trebuchet MS"/>
              </a:rPr>
              <a:t>Lean Marketing =</a:t>
            </a:r>
            <a:endParaRPr b="0" lang="en-US" sz="4400" strike="noStrike" u="none">
              <a:solidFill>
                <a:srgbClr val="000000"/>
              </a:solidFill>
              <a:effectLst/>
              <a:uFillTx/>
              <a:latin typeface="Arial"/>
            </a:endParaRPr>
          </a:p>
        </p:txBody>
      </p:sp>
      <p:sp>
        <p:nvSpPr>
          <p:cNvPr id="188" name="Text 1"/>
          <p:cNvSpPr/>
          <p:nvPr/>
        </p:nvSpPr>
        <p:spPr>
          <a:xfrm>
            <a:off x="548640" y="1645920"/>
            <a:ext cx="7314480" cy="913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4400" strike="noStrike" u="none">
                <a:solidFill>
                  <a:srgbClr val="e94560"/>
                </a:solidFill>
                <a:effectLst/>
                <a:uFillTx/>
                <a:latin typeface="Trebuchet MS"/>
                <a:ea typeface="Trebuchet MS"/>
              </a:rPr>
              <a:t>High ROI with Low Cost</a:t>
            </a:r>
            <a:endParaRPr b="0" lang="en-US" sz="4400" strike="noStrike" u="none">
              <a:solidFill>
                <a:srgbClr val="000000"/>
              </a:solidFill>
              <a:effectLst/>
              <a:uFillTx/>
              <a:latin typeface="Arial"/>
            </a:endParaRPr>
          </a:p>
        </p:txBody>
      </p:sp>
      <p:sp>
        <p:nvSpPr>
          <p:cNvPr id="189" name="Shape 2"/>
          <p:cNvSpPr/>
          <p:nvPr/>
        </p:nvSpPr>
        <p:spPr>
          <a:xfrm>
            <a:off x="548640" y="2926080"/>
            <a:ext cx="1828080" cy="45000"/>
          </a:xfrm>
          <a:prstGeom prst="rect">
            <a:avLst/>
          </a:prstGeom>
          <a:solidFill>
            <a:srgbClr val="f9e795"/>
          </a:solidFill>
          <a:ln w="0">
            <a:noFill/>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alibri"/>
            </a:endParaRPr>
          </a:p>
        </p:txBody>
      </p:sp>
      <p:sp>
        <p:nvSpPr>
          <p:cNvPr id="190" name="Text 3"/>
          <p:cNvSpPr/>
          <p:nvPr/>
        </p:nvSpPr>
        <p:spPr>
          <a:xfrm>
            <a:off x="548640" y="3200400"/>
            <a:ext cx="73144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2000" strike="noStrike" u="none">
                <a:solidFill>
                  <a:srgbClr val="0f9b8e"/>
                </a:solidFill>
                <a:effectLst/>
                <a:uFillTx/>
                <a:latin typeface="Calibri"/>
                <a:ea typeface="Calibri"/>
              </a:rPr>
              <a:t>Minimal Resources, Maximum Impact</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df6f0"/>
        </a:solidFill>
      </p:bgPr>
    </p:bg>
    <p:spTree>
      <p:nvGrpSpPr>
        <p:cNvPr id="1" name=""/>
        <p:cNvGrpSpPr/>
        <p:nvPr/>
      </p:nvGrpSpPr>
      <p:grpSpPr>
        <a:xfrm>
          <a:off x="0" y="0"/>
          <a:ext cx="0" cy="0"/>
          <a:chOff x="0" y="0"/>
          <a:chExt cx="0" cy="0"/>
        </a:xfrm>
      </p:grpSpPr>
      <p:sp>
        <p:nvSpPr>
          <p:cNvPr id="191" name="Text 0"/>
          <p:cNvSpPr/>
          <p:nvPr/>
        </p:nvSpPr>
        <p:spPr>
          <a:xfrm>
            <a:off x="548640" y="274320"/>
            <a:ext cx="73144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trike="noStrike" u="none">
                <a:solidFill>
                  <a:srgbClr val="1a1a2e"/>
                </a:solidFill>
                <a:effectLst/>
                <a:uFillTx/>
                <a:latin typeface="Trebuchet MS"/>
                <a:ea typeface="Trebuchet MS"/>
              </a:rPr>
              <a:t>Key Principles of Lean Marketing</a:t>
            </a:r>
            <a:endParaRPr b="0" lang="en-US" sz="3200" strike="noStrike" u="none">
              <a:solidFill>
                <a:srgbClr val="000000"/>
              </a:solidFill>
              <a:effectLst/>
              <a:uFillTx/>
              <a:latin typeface="Arial"/>
            </a:endParaRPr>
          </a:p>
        </p:txBody>
      </p:sp>
      <p:sp>
        <p:nvSpPr>
          <p:cNvPr id="192" name="Shape 1"/>
          <p:cNvSpPr/>
          <p:nvPr/>
        </p:nvSpPr>
        <p:spPr>
          <a:xfrm>
            <a:off x="548640" y="109728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193" name="Image 0" descr="preencoded.png"/>
          <p:cNvPicPr/>
          <p:nvPr/>
        </p:nvPicPr>
        <p:blipFill>
          <a:blip r:embed="rId1"/>
          <a:stretch/>
        </p:blipFill>
        <p:spPr>
          <a:xfrm>
            <a:off x="777240" y="1234440"/>
            <a:ext cx="365040" cy="365040"/>
          </a:xfrm>
          <a:prstGeom prst="rect">
            <a:avLst/>
          </a:prstGeom>
          <a:noFill/>
          <a:ln w="0">
            <a:noFill/>
          </a:ln>
        </p:spPr>
      </p:pic>
      <p:sp>
        <p:nvSpPr>
          <p:cNvPr id="194" name="Text 2"/>
          <p:cNvSpPr/>
          <p:nvPr/>
        </p:nvSpPr>
        <p:spPr>
          <a:xfrm>
            <a:off x="1371600" y="1097280"/>
            <a:ext cx="22852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trike="noStrike" u="none">
                <a:solidFill>
                  <a:srgbClr val="1a1a2e"/>
                </a:solidFill>
                <a:effectLst/>
                <a:uFillTx/>
                <a:latin typeface="Trebuchet MS"/>
                <a:ea typeface="Trebuchet MS"/>
              </a:rPr>
              <a:t>Customer-Centric</a:t>
            </a:r>
            <a:endParaRPr b="0" lang="en-US" sz="1400" strike="noStrike" u="none">
              <a:solidFill>
                <a:srgbClr val="000000"/>
              </a:solidFill>
              <a:effectLst/>
              <a:uFillTx/>
              <a:latin typeface="Arial"/>
            </a:endParaRPr>
          </a:p>
        </p:txBody>
      </p:sp>
      <p:sp>
        <p:nvSpPr>
          <p:cNvPr id="195" name="Text 3"/>
          <p:cNvSpPr/>
          <p:nvPr/>
        </p:nvSpPr>
        <p:spPr>
          <a:xfrm>
            <a:off x="3840480" y="1097280"/>
            <a:ext cx="45712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Focus on genuine feedback and real market responses</a:t>
            </a:r>
            <a:endParaRPr b="0" lang="en-US" sz="1200" strike="noStrike" u="none">
              <a:solidFill>
                <a:srgbClr val="000000"/>
              </a:solidFill>
              <a:effectLst/>
              <a:uFillTx/>
              <a:latin typeface="Arial"/>
            </a:endParaRPr>
          </a:p>
        </p:txBody>
      </p:sp>
      <p:sp>
        <p:nvSpPr>
          <p:cNvPr id="196" name="Shape 4"/>
          <p:cNvSpPr/>
          <p:nvPr/>
        </p:nvSpPr>
        <p:spPr>
          <a:xfrm>
            <a:off x="548640" y="187452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197" name="Image 1" descr="preencoded.png"/>
          <p:cNvPicPr/>
          <p:nvPr/>
        </p:nvPicPr>
        <p:blipFill>
          <a:blip r:embed="rId2"/>
          <a:stretch/>
        </p:blipFill>
        <p:spPr>
          <a:xfrm>
            <a:off x="777240" y="2011680"/>
            <a:ext cx="365040" cy="365040"/>
          </a:xfrm>
          <a:prstGeom prst="rect">
            <a:avLst/>
          </a:prstGeom>
          <a:noFill/>
          <a:ln w="0">
            <a:noFill/>
          </a:ln>
        </p:spPr>
      </p:pic>
      <p:sp>
        <p:nvSpPr>
          <p:cNvPr id="198" name="Text 5"/>
          <p:cNvSpPr/>
          <p:nvPr/>
        </p:nvSpPr>
        <p:spPr>
          <a:xfrm>
            <a:off x="1371600" y="1874520"/>
            <a:ext cx="22852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trike="noStrike" u="none">
                <a:solidFill>
                  <a:srgbClr val="1a1a2e"/>
                </a:solidFill>
                <a:effectLst/>
                <a:uFillTx/>
                <a:latin typeface="Trebuchet MS"/>
                <a:ea typeface="Trebuchet MS"/>
              </a:rPr>
              <a:t>Rapid Experimentation</a:t>
            </a:r>
            <a:endParaRPr b="0" lang="en-US" sz="1400" strike="noStrike" u="none">
              <a:solidFill>
                <a:srgbClr val="000000"/>
              </a:solidFill>
              <a:effectLst/>
              <a:uFillTx/>
              <a:latin typeface="Arial"/>
            </a:endParaRPr>
          </a:p>
        </p:txBody>
      </p:sp>
      <p:sp>
        <p:nvSpPr>
          <p:cNvPr id="199" name="Text 6"/>
          <p:cNvSpPr/>
          <p:nvPr/>
        </p:nvSpPr>
        <p:spPr>
          <a:xfrm>
            <a:off x="3840480" y="1874520"/>
            <a:ext cx="45712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Run quick tests to determine what works before scaling</a:t>
            </a:r>
            <a:endParaRPr b="0" lang="en-US" sz="1200" strike="noStrike" u="none">
              <a:solidFill>
                <a:srgbClr val="000000"/>
              </a:solidFill>
              <a:effectLst/>
              <a:uFillTx/>
              <a:latin typeface="Arial"/>
            </a:endParaRPr>
          </a:p>
        </p:txBody>
      </p:sp>
      <p:sp>
        <p:nvSpPr>
          <p:cNvPr id="200" name="Shape 7"/>
          <p:cNvSpPr/>
          <p:nvPr/>
        </p:nvSpPr>
        <p:spPr>
          <a:xfrm>
            <a:off x="548640" y="265176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201" name="Image 2" descr="preencoded.png"/>
          <p:cNvPicPr/>
          <p:nvPr/>
        </p:nvPicPr>
        <p:blipFill>
          <a:blip r:embed="rId3"/>
          <a:stretch/>
        </p:blipFill>
        <p:spPr>
          <a:xfrm>
            <a:off x="777240" y="2788920"/>
            <a:ext cx="365040" cy="365040"/>
          </a:xfrm>
          <a:prstGeom prst="rect">
            <a:avLst/>
          </a:prstGeom>
          <a:noFill/>
          <a:ln w="0">
            <a:noFill/>
          </a:ln>
        </p:spPr>
      </p:pic>
      <p:sp>
        <p:nvSpPr>
          <p:cNvPr id="202" name="Text 8"/>
          <p:cNvSpPr/>
          <p:nvPr/>
        </p:nvSpPr>
        <p:spPr>
          <a:xfrm>
            <a:off x="1371600" y="2651760"/>
            <a:ext cx="22852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trike="noStrike" u="none">
                <a:solidFill>
                  <a:srgbClr val="1a1a2e"/>
                </a:solidFill>
                <a:effectLst/>
                <a:uFillTx/>
                <a:latin typeface="Trebuchet MS"/>
                <a:ea typeface="Trebuchet MS"/>
              </a:rPr>
              <a:t>Iterative Improvements</a:t>
            </a:r>
            <a:endParaRPr b="0" lang="en-US" sz="1400" strike="noStrike" u="none">
              <a:solidFill>
                <a:srgbClr val="000000"/>
              </a:solidFill>
              <a:effectLst/>
              <a:uFillTx/>
              <a:latin typeface="Arial"/>
            </a:endParaRPr>
          </a:p>
        </p:txBody>
      </p:sp>
      <p:sp>
        <p:nvSpPr>
          <p:cNvPr id="203" name="Text 9"/>
          <p:cNvSpPr/>
          <p:nvPr/>
        </p:nvSpPr>
        <p:spPr>
          <a:xfrm>
            <a:off x="3840480" y="2651760"/>
            <a:ext cx="45712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Continuously refine campaigns based on results</a:t>
            </a:r>
            <a:endParaRPr b="0" lang="en-US" sz="1200" strike="noStrike" u="none">
              <a:solidFill>
                <a:srgbClr val="000000"/>
              </a:solidFill>
              <a:effectLst/>
              <a:uFillTx/>
              <a:latin typeface="Arial"/>
            </a:endParaRPr>
          </a:p>
        </p:txBody>
      </p:sp>
      <p:sp>
        <p:nvSpPr>
          <p:cNvPr id="204" name="Shape 10"/>
          <p:cNvSpPr/>
          <p:nvPr/>
        </p:nvSpPr>
        <p:spPr>
          <a:xfrm>
            <a:off x="548640" y="342900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205" name="Image 3" descr="preencoded.png"/>
          <p:cNvPicPr/>
          <p:nvPr/>
        </p:nvPicPr>
        <p:blipFill>
          <a:blip r:embed="rId4"/>
          <a:stretch/>
        </p:blipFill>
        <p:spPr>
          <a:xfrm>
            <a:off x="777240" y="3566160"/>
            <a:ext cx="365040" cy="365040"/>
          </a:xfrm>
          <a:prstGeom prst="rect">
            <a:avLst/>
          </a:prstGeom>
          <a:noFill/>
          <a:ln w="0">
            <a:noFill/>
          </a:ln>
        </p:spPr>
      </p:pic>
      <p:sp>
        <p:nvSpPr>
          <p:cNvPr id="206" name="Text 11"/>
          <p:cNvSpPr/>
          <p:nvPr/>
        </p:nvSpPr>
        <p:spPr>
          <a:xfrm>
            <a:off x="1371600" y="3429000"/>
            <a:ext cx="22852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trike="noStrike" u="none">
                <a:solidFill>
                  <a:srgbClr val="1a1a2e"/>
                </a:solidFill>
                <a:effectLst/>
                <a:uFillTx/>
                <a:latin typeface="Trebuchet MS"/>
                <a:ea typeface="Trebuchet MS"/>
              </a:rPr>
              <a:t>Data-Driven Decisions</a:t>
            </a:r>
            <a:endParaRPr b="0" lang="en-US" sz="1400" strike="noStrike" u="none">
              <a:solidFill>
                <a:srgbClr val="000000"/>
              </a:solidFill>
              <a:effectLst/>
              <a:uFillTx/>
              <a:latin typeface="Arial"/>
            </a:endParaRPr>
          </a:p>
        </p:txBody>
      </p:sp>
      <p:sp>
        <p:nvSpPr>
          <p:cNvPr id="207" name="Text 12"/>
          <p:cNvSpPr/>
          <p:nvPr/>
        </p:nvSpPr>
        <p:spPr>
          <a:xfrm>
            <a:off x="3840480" y="3429000"/>
            <a:ext cx="45712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Prioritise measurable outcomes over assumptions</a:t>
            </a:r>
            <a:endParaRPr b="0" lang="en-US" sz="1200" strike="noStrike" u="none">
              <a:solidFill>
                <a:srgbClr val="000000"/>
              </a:solidFill>
              <a:effectLst/>
              <a:uFillTx/>
              <a:latin typeface="Arial"/>
            </a:endParaRPr>
          </a:p>
        </p:txBody>
      </p:sp>
      <p:sp>
        <p:nvSpPr>
          <p:cNvPr id="208" name="Shape 13"/>
          <p:cNvSpPr/>
          <p:nvPr/>
        </p:nvSpPr>
        <p:spPr>
          <a:xfrm>
            <a:off x="548640" y="420624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209" name="Image 4" descr="preencoded.png"/>
          <p:cNvPicPr/>
          <p:nvPr/>
        </p:nvPicPr>
        <p:blipFill>
          <a:blip r:embed="rId5"/>
          <a:stretch/>
        </p:blipFill>
        <p:spPr>
          <a:xfrm>
            <a:off x="777240" y="4343400"/>
            <a:ext cx="365040" cy="365040"/>
          </a:xfrm>
          <a:prstGeom prst="rect">
            <a:avLst/>
          </a:prstGeom>
          <a:noFill/>
          <a:ln w="0">
            <a:noFill/>
          </a:ln>
        </p:spPr>
      </p:pic>
      <p:sp>
        <p:nvSpPr>
          <p:cNvPr id="210" name="Text 14"/>
          <p:cNvSpPr/>
          <p:nvPr/>
        </p:nvSpPr>
        <p:spPr>
          <a:xfrm>
            <a:off x="1371600" y="4206240"/>
            <a:ext cx="22852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trike="noStrike" u="none">
                <a:solidFill>
                  <a:srgbClr val="1a1a2e"/>
                </a:solidFill>
                <a:effectLst/>
                <a:uFillTx/>
                <a:latin typeface="Trebuchet MS"/>
                <a:ea typeface="Trebuchet MS"/>
              </a:rPr>
              <a:t>Growth Hack</a:t>
            </a:r>
            <a:endParaRPr b="0" lang="en-US" sz="1400" strike="noStrike" u="none">
              <a:solidFill>
                <a:srgbClr val="000000"/>
              </a:solidFill>
              <a:effectLst/>
              <a:uFillTx/>
              <a:latin typeface="Arial"/>
            </a:endParaRPr>
          </a:p>
        </p:txBody>
      </p:sp>
      <p:sp>
        <p:nvSpPr>
          <p:cNvPr id="211" name="Text 15"/>
          <p:cNvSpPr/>
          <p:nvPr/>
        </p:nvSpPr>
        <p:spPr>
          <a:xfrm>
            <a:off x="3840480" y="4206240"/>
            <a:ext cx="457128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Use available free tools wherever possible</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2" name="Shape 3"/>
          <p:cNvSpPr/>
          <p:nvPr/>
        </p:nvSpPr>
        <p:spPr>
          <a:xfrm>
            <a:off x="2268000" y="1121040"/>
            <a:ext cx="365040" cy="54000"/>
          </a:xfrm>
          <a:prstGeom prst="rect">
            <a:avLst/>
          </a:prstGeom>
          <a:solidFill>
            <a:srgbClr val="1a1a2e"/>
          </a:solidFill>
          <a:ln w="0">
            <a:noFill/>
          </a:ln>
        </p:spPr>
        <p:style>
          <a:lnRef idx="0"/>
          <a:fillRef idx="0"/>
          <a:effectRef idx="0"/>
          <a:fontRef idx="minor"/>
        </p:style>
        <p:txBody>
          <a:bodyPr lIns="90000" rIns="90000" tIns="9720" bIns="972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13" name="Text 0"/>
          <p:cNvSpPr/>
          <p:nvPr/>
        </p:nvSpPr>
        <p:spPr>
          <a:xfrm>
            <a:off x="457200" y="137160"/>
            <a:ext cx="6400080" cy="502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trike="noStrike" u="none">
                <a:solidFill>
                  <a:srgbClr val="1a1a2e"/>
                </a:solidFill>
                <a:effectLst/>
                <a:uFillTx/>
                <a:latin typeface="Trebuchet MS"/>
                <a:ea typeface="Trebuchet MS"/>
              </a:rPr>
              <a:t>Lean Marketing Framework</a:t>
            </a:r>
            <a:endParaRPr b="0" lang="en-US" sz="3000" strike="noStrike" u="none">
              <a:solidFill>
                <a:srgbClr val="000000"/>
              </a:solidFill>
              <a:effectLst/>
              <a:uFillTx/>
              <a:latin typeface="Arial"/>
            </a:endParaRPr>
          </a:p>
        </p:txBody>
      </p:sp>
      <p:sp>
        <p:nvSpPr>
          <p:cNvPr id="214" name="Shape 1"/>
          <p:cNvSpPr/>
          <p:nvPr/>
        </p:nvSpPr>
        <p:spPr>
          <a:xfrm>
            <a:off x="274320" y="777240"/>
            <a:ext cx="2010960" cy="82224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15" name="Text 2"/>
          <p:cNvSpPr/>
          <p:nvPr/>
        </p:nvSpPr>
        <p:spPr>
          <a:xfrm>
            <a:off x="274320" y="777240"/>
            <a:ext cx="2010960" cy="822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trike="noStrike" u="none">
                <a:solidFill>
                  <a:srgbClr val="ffffff"/>
                </a:solidFill>
                <a:effectLst/>
                <a:uFillTx/>
                <a:latin typeface="Trebuchet MS"/>
                <a:ea typeface="Trebuchet MS"/>
              </a:rPr>
              <a:t>MARKETING</a:t>
            </a:r>
            <a:endParaRPr b="0" lang="en-US" sz="1400" strike="noStrike" u="none">
              <a:solidFill>
                <a:srgbClr val="000000"/>
              </a:solidFill>
              <a:effectLst/>
              <a:uFillTx/>
              <a:latin typeface="Arial"/>
            </a:endParaRPr>
          </a:p>
          <a:p>
            <a:pPr algn="ctr" defTabSz="914400">
              <a:lnSpc>
                <a:spcPct val="100000"/>
              </a:lnSpc>
              <a:tabLst>
                <a:tab algn="l" pos="0"/>
              </a:tabLst>
            </a:pPr>
            <a:r>
              <a:rPr b="1" lang="en-US" sz="1400" strike="noStrike" u="none">
                <a:solidFill>
                  <a:srgbClr val="ffffff"/>
                </a:solidFill>
                <a:effectLst/>
                <a:uFillTx/>
                <a:latin typeface="Trebuchet MS"/>
                <a:ea typeface="Trebuchet MS"/>
              </a:rPr>
              <a:t>OBJECTIVE</a:t>
            </a:r>
            <a:endParaRPr b="0" lang="en-US" sz="1400" strike="noStrike" u="none">
              <a:solidFill>
                <a:srgbClr val="000000"/>
              </a:solidFill>
              <a:effectLst/>
              <a:uFillTx/>
              <a:latin typeface="Arial"/>
            </a:endParaRPr>
          </a:p>
        </p:txBody>
      </p:sp>
      <p:sp>
        <p:nvSpPr>
          <p:cNvPr id="216" name="Shape 5"/>
          <p:cNvSpPr/>
          <p:nvPr/>
        </p:nvSpPr>
        <p:spPr>
          <a:xfrm>
            <a:off x="2743200" y="685800"/>
            <a:ext cx="2285280" cy="1005120"/>
          </a:xfrm>
          <a:prstGeom prst="rect">
            <a:avLst/>
          </a:prstGeom>
          <a:solidFill>
            <a:srgbClr val="f0f4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17" name="Shape 6"/>
          <p:cNvSpPr/>
          <p:nvPr/>
        </p:nvSpPr>
        <p:spPr>
          <a:xfrm>
            <a:off x="2743200" y="685800"/>
            <a:ext cx="2285280" cy="319320"/>
          </a:xfrm>
          <a:prstGeom prst="rect">
            <a:avLst/>
          </a:prstGeom>
          <a:solidFill>
            <a:srgbClr val="3b82f6"/>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18" name="Text 7"/>
          <p:cNvSpPr/>
          <p:nvPr/>
        </p:nvSpPr>
        <p:spPr>
          <a:xfrm>
            <a:off x="2743200" y="685800"/>
            <a:ext cx="2285280" cy="3193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trike="noStrike" u="none">
                <a:solidFill>
                  <a:srgbClr val="ffffff"/>
                </a:solidFill>
                <a:effectLst/>
                <a:uFillTx/>
                <a:latin typeface="Trebuchet MS"/>
                <a:ea typeface="Trebuchet MS"/>
              </a:rPr>
              <a:t>1. MAP ASSUMPTIONS</a:t>
            </a:r>
            <a:endParaRPr b="0" lang="en-US" sz="1000" strike="noStrike" u="none">
              <a:solidFill>
                <a:srgbClr val="000000"/>
              </a:solidFill>
              <a:effectLst/>
              <a:uFillTx/>
              <a:latin typeface="Arial"/>
            </a:endParaRPr>
          </a:p>
        </p:txBody>
      </p:sp>
      <p:sp>
        <p:nvSpPr>
          <p:cNvPr id="219" name="Text 8"/>
          <p:cNvSpPr/>
          <p:nvPr/>
        </p:nvSpPr>
        <p:spPr>
          <a:xfrm>
            <a:off x="2834640" y="1051560"/>
            <a:ext cx="210240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trike="noStrike" u="none">
                <a:solidFill>
                  <a:srgbClr val="2d2d2d"/>
                </a:solidFill>
                <a:effectLst/>
                <a:uFillTx/>
                <a:latin typeface="Calibri"/>
                <a:ea typeface="Calibri"/>
              </a:rPr>
              <a:t>What do you want to achieve?</a:t>
            </a:r>
            <a:endParaRPr b="0" lang="en-US" sz="900" strike="noStrike" u="none">
              <a:solidFill>
                <a:srgbClr val="000000"/>
              </a:solidFill>
              <a:effectLst/>
              <a:uFillTx/>
              <a:latin typeface="Arial"/>
            </a:endParaRPr>
          </a:p>
          <a:p>
            <a:pPr defTabSz="914400">
              <a:lnSpc>
                <a:spcPct val="100000"/>
              </a:lnSpc>
              <a:tabLst>
                <a:tab algn="l" pos="0"/>
              </a:tabLst>
            </a:pPr>
            <a:r>
              <a:rPr b="0" lang="en-US" sz="900" strike="noStrike" u="none">
                <a:solidFill>
                  <a:srgbClr val="2d2d2d"/>
                </a:solidFill>
                <a:effectLst/>
                <a:uFillTx/>
                <a:latin typeface="Calibri"/>
                <a:ea typeface="Calibri"/>
              </a:rPr>
              <a:t>Map the key assumptions to test</a:t>
            </a:r>
            <a:endParaRPr b="0" lang="en-US" sz="900" strike="noStrike" u="none">
              <a:solidFill>
                <a:srgbClr val="000000"/>
              </a:solidFill>
              <a:effectLst/>
              <a:uFillTx/>
              <a:latin typeface="Arial"/>
            </a:endParaRPr>
          </a:p>
        </p:txBody>
      </p:sp>
      <p:sp>
        <p:nvSpPr>
          <p:cNvPr id="220" name="Shape 9"/>
          <p:cNvSpPr/>
          <p:nvPr/>
        </p:nvSpPr>
        <p:spPr>
          <a:xfrm>
            <a:off x="3017520" y="1600200"/>
            <a:ext cx="776520" cy="25524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21" name="Text 10"/>
          <p:cNvSpPr/>
          <p:nvPr/>
        </p:nvSpPr>
        <p:spPr>
          <a:xfrm>
            <a:off x="3017520" y="1600200"/>
            <a:ext cx="776520" cy="255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800" strike="noStrike" u="none">
                <a:solidFill>
                  <a:srgbClr val="ffffff"/>
                </a:solidFill>
                <a:effectLst/>
                <a:uFillTx/>
                <a:latin typeface="Trebuchet MS"/>
                <a:ea typeface="Trebuchet MS"/>
              </a:rPr>
              <a:t>[LOFAs]</a:t>
            </a:r>
            <a:endParaRPr b="0" lang="en-US" sz="800" strike="noStrike" u="none">
              <a:solidFill>
                <a:srgbClr val="000000"/>
              </a:solidFill>
              <a:effectLst/>
              <a:uFillTx/>
              <a:latin typeface="Arial"/>
            </a:endParaRPr>
          </a:p>
        </p:txBody>
      </p:sp>
      <p:sp>
        <p:nvSpPr>
          <p:cNvPr id="222" name="Text 11"/>
          <p:cNvSpPr/>
          <p:nvPr/>
        </p:nvSpPr>
        <p:spPr>
          <a:xfrm>
            <a:off x="4846320" y="1691640"/>
            <a:ext cx="456480" cy="273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400" strike="noStrike" u="none">
                <a:solidFill>
                  <a:srgbClr val="1a1a2e"/>
                </a:solidFill>
                <a:effectLst/>
                <a:uFillTx/>
                <a:latin typeface="Calibri"/>
              </a:rPr>
              <a:t>▼</a:t>
            </a:r>
            <a:endParaRPr b="0" lang="en-US" sz="1400" strike="noStrike" u="none">
              <a:solidFill>
                <a:srgbClr val="000000"/>
              </a:solidFill>
              <a:effectLst/>
              <a:uFillTx/>
              <a:latin typeface="Arial"/>
            </a:endParaRPr>
          </a:p>
        </p:txBody>
      </p:sp>
      <p:sp>
        <p:nvSpPr>
          <p:cNvPr id="223" name="Shape 12"/>
          <p:cNvSpPr/>
          <p:nvPr/>
        </p:nvSpPr>
        <p:spPr>
          <a:xfrm>
            <a:off x="5303520" y="685800"/>
            <a:ext cx="2285280" cy="1188000"/>
          </a:xfrm>
          <a:prstGeom prst="rect">
            <a:avLst/>
          </a:prstGeom>
          <a:solidFill>
            <a:srgbClr val="f0fff4"/>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24" name="Shape 13"/>
          <p:cNvSpPr/>
          <p:nvPr/>
        </p:nvSpPr>
        <p:spPr>
          <a:xfrm>
            <a:off x="5303520" y="685800"/>
            <a:ext cx="2285280" cy="31932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25" name="Text 14"/>
          <p:cNvSpPr/>
          <p:nvPr/>
        </p:nvSpPr>
        <p:spPr>
          <a:xfrm>
            <a:off x="5303520" y="685800"/>
            <a:ext cx="2285280" cy="3193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trike="noStrike" u="none">
                <a:solidFill>
                  <a:srgbClr val="ffffff"/>
                </a:solidFill>
                <a:effectLst/>
                <a:uFillTx/>
                <a:latin typeface="Trebuchet MS"/>
                <a:ea typeface="Trebuchet MS"/>
              </a:rPr>
              <a:t>2. BUILD</a:t>
            </a:r>
            <a:endParaRPr b="0" lang="en-US" sz="1000" strike="noStrike" u="none">
              <a:solidFill>
                <a:srgbClr val="000000"/>
              </a:solidFill>
              <a:effectLst/>
              <a:uFillTx/>
              <a:latin typeface="Arial"/>
            </a:endParaRPr>
          </a:p>
        </p:txBody>
      </p:sp>
      <p:sp>
        <p:nvSpPr>
          <p:cNvPr id="226" name="Text 15"/>
          <p:cNvSpPr/>
          <p:nvPr/>
        </p:nvSpPr>
        <p:spPr>
          <a:xfrm>
            <a:off x="5394960" y="1051560"/>
            <a:ext cx="2102400" cy="776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trike="noStrike" u="none">
                <a:solidFill>
                  <a:srgbClr val="2d2d2d"/>
                </a:solidFill>
                <a:effectLst/>
                <a:uFillTx/>
                <a:latin typeface="Calibri"/>
                <a:ea typeface="Calibri"/>
              </a:rPr>
              <a:t>Draft up fast with AI and</a:t>
            </a:r>
            <a:endParaRPr b="0" lang="en-US" sz="900" strike="noStrike" u="none">
              <a:solidFill>
                <a:srgbClr val="000000"/>
              </a:solidFill>
              <a:effectLst/>
              <a:uFillTx/>
              <a:latin typeface="Arial"/>
            </a:endParaRPr>
          </a:p>
          <a:p>
            <a:pPr defTabSz="914400">
              <a:lnSpc>
                <a:spcPct val="100000"/>
              </a:lnSpc>
              <a:tabLst>
                <a:tab algn="l" pos="0"/>
              </a:tabLst>
            </a:pPr>
            <a:r>
              <a:rPr b="0" lang="en-US" sz="900" strike="noStrike" u="none">
                <a:solidFill>
                  <a:srgbClr val="2d2d2d"/>
                </a:solidFill>
                <a:effectLst/>
                <a:uFillTx/>
                <a:latin typeface="Calibri"/>
                <a:ea typeface="Calibri"/>
              </a:rPr>
              <a:t>automation tools</a:t>
            </a:r>
            <a:endParaRPr b="0" lang="en-US" sz="900" strike="noStrike" u="none">
              <a:solidFill>
                <a:srgbClr val="000000"/>
              </a:solidFill>
              <a:effectLst/>
              <a:uFillTx/>
              <a:latin typeface="Arial"/>
            </a:endParaRPr>
          </a:p>
          <a:p>
            <a:pPr defTabSz="914400">
              <a:lnSpc>
                <a:spcPct val="100000"/>
              </a:lnSpc>
              <a:tabLst>
                <a:tab algn="l" pos="0"/>
              </a:tabLst>
            </a:pPr>
            <a:endParaRPr b="0" lang="en-US" sz="900" strike="noStrike" u="none">
              <a:solidFill>
                <a:srgbClr val="000000"/>
              </a:solidFill>
              <a:effectLst/>
              <a:uFillTx/>
              <a:latin typeface="Arial"/>
            </a:endParaRPr>
          </a:p>
          <a:p>
            <a:pPr defTabSz="914400">
              <a:lnSpc>
                <a:spcPct val="100000"/>
              </a:lnSpc>
              <a:tabLst>
                <a:tab algn="l" pos="0"/>
              </a:tabLst>
            </a:pPr>
            <a:r>
              <a:rPr b="0" lang="en-US" sz="900" strike="noStrike" u="none">
                <a:solidFill>
                  <a:srgbClr val="2d2d2d"/>
                </a:solidFill>
                <a:effectLst/>
                <a:uFillTx/>
                <a:latin typeface="Calibri"/>
                <a:ea typeface="Calibri"/>
              </a:rPr>
              <a:t>Define test measures to use</a:t>
            </a:r>
            <a:endParaRPr b="0" lang="en-US" sz="900" strike="noStrike" u="none">
              <a:solidFill>
                <a:srgbClr val="000000"/>
              </a:solidFill>
              <a:effectLst/>
              <a:uFillTx/>
              <a:latin typeface="Arial"/>
            </a:endParaRPr>
          </a:p>
          <a:p>
            <a:pPr defTabSz="914400">
              <a:lnSpc>
                <a:spcPct val="100000"/>
              </a:lnSpc>
              <a:tabLst>
                <a:tab algn="l" pos="0"/>
              </a:tabLst>
            </a:pPr>
            <a:r>
              <a:rPr b="0" lang="en-US" sz="900" strike="noStrike" u="none">
                <a:solidFill>
                  <a:srgbClr val="2d2d2d"/>
                </a:solidFill>
                <a:effectLst/>
                <a:uFillTx/>
                <a:latin typeface="Calibri"/>
                <a:ea typeface="Calibri"/>
              </a:rPr>
              <a:t>and devise experiment</a:t>
            </a:r>
            <a:endParaRPr b="0" lang="en-US" sz="900" strike="noStrike" u="none">
              <a:solidFill>
                <a:srgbClr val="000000"/>
              </a:solidFill>
              <a:effectLst/>
              <a:uFillTx/>
              <a:latin typeface="Arial"/>
            </a:endParaRPr>
          </a:p>
        </p:txBody>
      </p:sp>
      <p:sp>
        <p:nvSpPr>
          <p:cNvPr id="227" name="Shape 16"/>
          <p:cNvSpPr/>
          <p:nvPr/>
        </p:nvSpPr>
        <p:spPr>
          <a:xfrm>
            <a:off x="6217920" y="1783080"/>
            <a:ext cx="1188000" cy="25524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28" name="Text 17"/>
          <p:cNvSpPr/>
          <p:nvPr/>
        </p:nvSpPr>
        <p:spPr>
          <a:xfrm>
            <a:off x="6217920" y="1783080"/>
            <a:ext cx="1188000" cy="255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600" strike="noStrike" u="none">
                <a:solidFill>
                  <a:srgbClr val="ffffff"/>
                </a:solidFill>
                <a:effectLst/>
                <a:uFillTx/>
                <a:latin typeface="Trebuchet MS"/>
                <a:ea typeface="Trebuchet MS"/>
              </a:rPr>
              <a:t>[MINIMUM VIABLE PRODUCT]</a:t>
            </a:r>
            <a:endParaRPr b="0" lang="en-US" sz="600" strike="noStrike" u="none">
              <a:solidFill>
                <a:srgbClr val="000000"/>
              </a:solidFill>
              <a:effectLst/>
              <a:uFillTx/>
              <a:latin typeface="Arial"/>
            </a:endParaRPr>
          </a:p>
        </p:txBody>
      </p:sp>
      <p:sp>
        <p:nvSpPr>
          <p:cNvPr id="229" name="Shape 18"/>
          <p:cNvSpPr/>
          <p:nvPr/>
        </p:nvSpPr>
        <p:spPr>
          <a:xfrm>
            <a:off x="5943600" y="2286000"/>
            <a:ext cx="2285280" cy="1005120"/>
          </a:xfrm>
          <a:prstGeom prst="rect">
            <a:avLst/>
          </a:prstGeom>
          <a:solidFill>
            <a:srgbClr val="fff7ed"/>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30" name="Shape 19"/>
          <p:cNvSpPr/>
          <p:nvPr/>
        </p:nvSpPr>
        <p:spPr>
          <a:xfrm>
            <a:off x="5943600" y="2286000"/>
            <a:ext cx="2285280" cy="319320"/>
          </a:xfrm>
          <a:prstGeom prst="rect">
            <a:avLst/>
          </a:prstGeom>
          <a:solidFill>
            <a:srgbClr val="f59e0b"/>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31" name="Text 20"/>
          <p:cNvSpPr/>
          <p:nvPr/>
        </p:nvSpPr>
        <p:spPr>
          <a:xfrm>
            <a:off x="5943600" y="2286000"/>
            <a:ext cx="2285280" cy="3193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trike="noStrike" u="none">
                <a:solidFill>
                  <a:srgbClr val="ffffff"/>
                </a:solidFill>
                <a:effectLst/>
                <a:uFillTx/>
                <a:latin typeface="Trebuchet MS"/>
                <a:ea typeface="Trebuchet MS"/>
              </a:rPr>
              <a:t>3. MEASURE</a:t>
            </a:r>
            <a:endParaRPr b="0" lang="en-US" sz="1000" strike="noStrike" u="none">
              <a:solidFill>
                <a:srgbClr val="000000"/>
              </a:solidFill>
              <a:effectLst/>
              <a:uFillTx/>
              <a:latin typeface="Arial"/>
            </a:endParaRPr>
          </a:p>
        </p:txBody>
      </p:sp>
      <p:sp>
        <p:nvSpPr>
          <p:cNvPr id="232" name="Text 21"/>
          <p:cNvSpPr/>
          <p:nvPr/>
        </p:nvSpPr>
        <p:spPr>
          <a:xfrm>
            <a:off x="6035040" y="2651760"/>
            <a:ext cx="210240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trike="noStrike" u="none">
                <a:solidFill>
                  <a:srgbClr val="2d2d2d"/>
                </a:solidFill>
                <a:effectLst/>
                <a:uFillTx/>
                <a:latin typeface="Calibri"/>
                <a:ea typeface="Calibri"/>
              </a:rPr>
              <a:t>Use existing free tools</a:t>
            </a:r>
            <a:endParaRPr b="0" lang="en-US" sz="900" strike="noStrike" u="none">
              <a:solidFill>
                <a:srgbClr val="000000"/>
              </a:solidFill>
              <a:effectLst/>
              <a:uFillTx/>
              <a:latin typeface="Arial"/>
            </a:endParaRPr>
          </a:p>
          <a:p>
            <a:pPr defTabSz="914400">
              <a:lnSpc>
                <a:spcPct val="100000"/>
              </a:lnSpc>
              <a:tabLst>
                <a:tab algn="l" pos="0"/>
              </a:tabLst>
            </a:pPr>
            <a:r>
              <a:rPr b="0" lang="en-US" sz="900" strike="noStrike" u="none">
                <a:solidFill>
                  <a:srgbClr val="2d2d2d"/>
                </a:solidFill>
                <a:effectLst/>
                <a:uFillTx/>
                <a:latin typeface="Calibri"/>
                <a:ea typeface="Calibri"/>
              </a:rPr>
              <a:t>Test frequently for</a:t>
            </a:r>
            <a:endParaRPr b="0" lang="en-US" sz="900" strike="noStrike" u="none">
              <a:solidFill>
                <a:srgbClr val="000000"/>
              </a:solidFill>
              <a:effectLst/>
              <a:uFillTx/>
              <a:latin typeface="Arial"/>
            </a:endParaRPr>
          </a:p>
          <a:p>
            <a:pPr defTabSz="914400">
              <a:lnSpc>
                <a:spcPct val="100000"/>
              </a:lnSpc>
              <a:tabLst>
                <a:tab algn="l" pos="0"/>
              </a:tabLst>
            </a:pPr>
            <a:r>
              <a:rPr b="0" lang="en-US" sz="900" strike="noStrike" u="none">
                <a:solidFill>
                  <a:srgbClr val="2d2d2d"/>
                </a:solidFill>
                <a:effectLst/>
                <a:uFillTx/>
                <a:latin typeface="Calibri"/>
                <a:ea typeface="Calibri"/>
              </a:rPr>
              <a:t>iterative improvement</a:t>
            </a:r>
            <a:endParaRPr b="0" lang="en-US" sz="900" strike="noStrike" u="none">
              <a:solidFill>
                <a:srgbClr val="000000"/>
              </a:solidFill>
              <a:effectLst/>
              <a:uFillTx/>
              <a:latin typeface="Arial"/>
            </a:endParaRPr>
          </a:p>
        </p:txBody>
      </p:sp>
      <p:sp>
        <p:nvSpPr>
          <p:cNvPr id="233" name="Shape 22"/>
          <p:cNvSpPr/>
          <p:nvPr/>
        </p:nvSpPr>
        <p:spPr>
          <a:xfrm>
            <a:off x="6126480" y="3246120"/>
            <a:ext cx="1645200" cy="25524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34" name="Text 23"/>
          <p:cNvSpPr/>
          <p:nvPr/>
        </p:nvSpPr>
        <p:spPr>
          <a:xfrm>
            <a:off x="6126480" y="3246120"/>
            <a:ext cx="1645200" cy="255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700" strike="noStrike" u="none">
                <a:solidFill>
                  <a:srgbClr val="0f9b8e"/>
                </a:solidFill>
                <a:effectLst/>
                <a:uFillTx/>
                <a:latin typeface="Trebuchet MS"/>
                <a:ea typeface="Trebuchet MS"/>
              </a:rPr>
              <a:t>[BUILD-MEASURE-LEARN]</a:t>
            </a:r>
            <a:endParaRPr b="0" lang="en-US" sz="700" strike="noStrike" u="none">
              <a:solidFill>
                <a:srgbClr val="000000"/>
              </a:solidFill>
              <a:effectLst/>
              <a:uFillTx/>
              <a:latin typeface="Arial"/>
            </a:endParaRPr>
          </a:p>
        </p:txBody>
      </p:sp>
      <p:sp>
        <p:nvSpPr>
          <p:cNvPr id="235" name="Shape 24"/>
          <p:cNvSpPr/>
          <p:nvPr/>
        </p:nvSpPr>
        <p:spPr>
          <a:xfrm>
            <a:off x="3200400" y="3108960"/>
            <a:ext cx="2376720" cy="1005120"/>
          </a:xfrm>
          <a:prstGeom prst="rect">
            <a:avLst/>
          </a:prstGeom>
          <a:solidFill>
            <a:srgbClr val="f5f3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36" name="Shape 25"/>
          <p:cNvSpPr/>
          <p:nvPr/>
        </p:nvSpPr>
        <p:spPr>
          <a:xfrm>
            <a:off x="3200400" y="3108960"/>
            <a:ext cx="2376720" cy="319320"/>
          </a:xfrm>
          <a:prstGeom prst="rect">
            <a:avLst/>
          </a:prstGeom>
          <a:solidFill>
            <a:srgbClr val="8b5cf6"/>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37" name="Text 26"/>
          <p:cNvSpPr/>
          <p:nvPr/>
        </p:nvSpPr>
        <p:spPr>
          <a:xfrm>
            <a:off x="3200400" y="3108960"/>
            <a:ext cx="2376720" cy="3193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trike="noStrike" u="none">
                <a:solidFill>
                  <a:srgbClr val="ffffff"/>
                </a:solidFill>
                <a:effectLst/>
                <a:uFillTx/>
                <a:latin typeface="Trebuchet MS"/>
                <a:ea typeface="Trebuchet MS"/>
              </a:rPr>
              <a:t>4. LEARN</a:t>
            </a:r>
            <a:endParaRPr b="0" lang="en-US" sz="1000" strike="noStrike" u="none">
              <a:solidFill>
                <a:srgbClr val="000000"/>
              </a:solidFill>
              <a:effectLst/>
              <a:uFillTx/>
              <a:latin typeface="Arial"/>
            </a:endParaRPr>
          </a:p>
        </p:txBody>
      </p:sp>
      <p:sp>
        <p:nvSpPr>
          <p:cNvPr id="238" name="Text 27"/>
          <p:cNvSpPr/>
          <p:nvPr/>
        </p:nvSpPr>
        <p:spPr>
          <a:xfrm>
            <a:off x="3291840" y="3474720"/>
            <a:ext cx="219384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trike="noStrike" u="none">
                <a:solidFill>
                  <a:srgbClr val="2d2d2d"/>
                </a:solidFill>
                <a:effectLst/>
                <a:uFillTx/>
                <a:latin typeface="Calibri"/>
                <a:ea typeface="Calibri"/>
              </a:rPr>
              <a:t>Critically review learnings</a:t>
            </a:r>
            <a:endParaRPr b="0" lang="en-US" sz="900" strike="noStrike" u="none">
              <a:solidFill>
                <a:srgbClr val="000000"/>
              </a:solidFill>
              <a:effectLst/>
              <a:uFillTx/>
              <a:latin typeface="Arial"/>
            </a:endParaRPr>
          </a:p>
          <a:p>
            <a:pPr defTabSz="914400">
              <a:lnSpc>
                <a:spcPct val="100000"/>
              </a:lnSpc>
              <a:tabLst>
                <a:tab algn="l" pos="0"/>
              </a:tabLst>
            </a:pPr>
            <a:r>
              <a:rPr b="0" lang="en-US" sz="900" strike="noStrike" u="none">
                <a:solidFill>
                  <a:srgbClr val="2d2d2d"/>
                </a:solidFill>
                <a:effectLst/>
                <a:uFillTx/>
                <a:latin typeface="Calibri"/>
                <a:ea typeface="Calibri"/>
              </a:rPr>
              <a:t>Really assess the data</a:t>
            </a:r>
            <a:endParaRPr b="0" lang="en-US" sz="900" strike="noStrike" u="none">
              <a:solidFill>
                <a:srgbClr val="000000"/>
              </a:solidFill>
              <a:effectLst/>
              <a:uFillTx/>
              <a:latin typeface="Arial"/>
            </a:endParaRPr>
          </a:p>
        </p:txBody>
      </p:sp>
      <p:sp>
        <p:nvSpPr>
          <p:cNvPr id="239" name="Shape 28"/>
          <p:cNvSpPr/>
          <p:nvPr/>
        </p:nvSpPr>
        <p:spPr>
          <a:xfrm>
            <a:off x="3474720" y="4023360"/>
            <a:ext cx="1370880" cy="255240"/>
          </a:xfrm>
          <a:prstGeom prst="rect">
            <a:avLst/>
          </a:prstGeom>
          <a:solidFill>
            <a:srgbClr val="8b5cf6"/>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40" name="Text 29"/>
          <p:cNvSpPr/>
          <p:nvPr/>
        </p:nvSpPr>
        <p:spPr>
          <a:xfrm>
            <a:off x="3474720" y="4023360"/>
            <a:ext cx="1370880" cy="255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700" strike="noStrike" u="none">
                <a:solidFill>
                  <a:srgbClr val="ffffff"/>
                </a:solidFill>
                <a:effectLst/>
                <a:uFillTx/>
                <a:latin typeface="Trebuchet MS"/>
                <a:ea typeface="Trebuchet MS"/>
              </a:rPr>
              <a:t>[VALIDATED LEARNING]</a:t>
            </a:r>
            <a:endParaRPr b="0" lang="en-US" sz="700" strike="noStrike" u="none">
              <a:solidFill>
                <a:srgbClr val="000000"/>
              </a:solidFill>
              <a:effectLst/>
              <a:uFillTx/>
              <a:latin typeface="Arial"/>
            </a:endParaRPr>
          </a:p>
        </p:txBody>
      </p:sp>
      <p:sp>
        <p:nvSpPr>
          <p:cNvPr id="241" name="Shape 30"/>
          <p:cNvSpPr/>
          <p:nvPr/>
        </p:nvSpPr>
        <p:spPr>
          <a:xfrm>
            <a:off x="274320" y="2743200"/>
            <a:ext cx="2559600" cy="1370880"/>
          </a:xfrm>
          <a:prstGeom prst="rect">
            <a:avLst/>
          </a:prstGeom>
          <a:solidFill>
            <a:srgbClr val="1a1a2e"/>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42" name="Text 31"/>
          <p:cNvSpPr/>
          <p:nvPr/>
        </p:nvSpPr>
        <p:spPr>
          <a:xfrm>
            <a:off x="274320" y="2788920"/>
            <a:ext cx="2559600" cy="365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00" strike="noStrike" u="none">
                <a:solidFill>
                  <a:srgbClr val="e94560"/>
                </a:solidFill>
                <a:effectLst/>
                <a:uFillTx/>
                <a:latin typeface="Trebuchet MS"/>
                <a:ea typeface="Trebuchet MS"/>
              </a:rPr>
              <a:t>5. PERSEVERE or PIVOT</a:t>
            </a:r>
            <a:endParaRPr b="0" lang="en-US" sz="1200" strike="noStrike" u="none">
              <a:solidFill>
                <a:srgbClr val="000000"/>
              </a:solidFill>
              <a:effectLst/>
              <a:uFillTx/>
              <a:latin typeface="Arial"/>
            </a:endParaRPr>
          </a:p>
        </p:txBody>
      </p:sp>
      <p:sp>
        <p:nvSpPr>
          <p:cNvPr id="243" name="Text 32"/>
          <p:cNvSpPr/>
          <p:nvPr/>
        </p:nvSpPr>
        <p:spPr>
          <a:xfrm>
            <a:off x="457200" y="3154680"/>
            <a:ext cx="219384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ffffff"/>
                </a:solidFill>
                <a:effectLst/>
                <a:uFillTx/>
                <a:latin typeface="Calibri"/>
                <a:ea typeface="Calibri"/>
              </a:rPr>
              <a:t>PERSEVERE = Improve</a:t>
            </a:r>
            <a:endParaRPr b="0" lang="en-US"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ffffff"/>
                </a:solidFill>
                <a:effectLst/>
                <a:uFillTx/>
                <a:latin typeface="Calibri"/>
                <a:ea typeface="Calibri"/>
              </a:rPr>
              <a:t>PIVOT = Change direction</a:t>
            </a:r>
            <a:endParaRPr b="0" lang="en-US" sz="1000" strike="noStrike" u="none">
              <a:solidFill>
                <a:srgbClr val="000000"/>
              </a:solidFill>
              <a:effectLst/>
              <a:uFillTx/>
              <a:latin typeface="Arial"/>
            </a:endParaRPr>
          </a:p>
        </p:txBody>
      </p:sp>
      <p:sp>
        <p:nvSpPr>
          <p:cNvPr id="244" name="Shape 33"/>
          <p:cNvSpPr/>
          <p:nvPr/>
        </p:nvSpPr>
        <p:spPr>
          <a:xfrm>
            <a:off x="457200" y="3657600"/>
            <a:ext cx="2193840" cy="36504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45" name="Text 34"/>
          <p:cNvSpPr/>
          <p:nvPr/>
        </p:nvSpPr>
        <p:spPr>
          <a:xfrm>
            <a:off x="457200" y="3657600"/>
            <a:ext cx="2193840" cy="365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trike="noStrike" u="none">
                <a:solidFill>
                  <a:srgbClr val="ffffff"/>
                </a:solidFill>
                <a:effectLst/>
                <a:uFillTx/>
                <a:latin typeface="Calibri"/>
                <a:ea typeface="Calibri"/>
              </a:rPr>
              <a:t>Focus on community &amp; organic reach</a:t>
            </a:r>
            <a:endParaRPr b="0" lang="en-US" sz="900" strike="noStrike" u="none">
              <a:solidFill>
                <a:srgbClr val="000000"/>
              </a:solidFill>
              <a:effectLst/>
              <a:uFillTx/>
              <a:latin typeface="Arial"/>
            </a:endParaRPr>
          </a:p>
        </p:txBody>
      </p:sp>
      <p:sp>
        <p:nvSpPr>
          <p:cNvPr id="246" name="Shape 35"/>
          <p:cNvSpPr/>
          <p:nvPr/>
        </p:nvSpPr>
        <p:spPr>
          <a:xfrm>
            <a:off x="7086600" y="1920240"/>
            <a:ext cx="360" cy="365760"/>
          </a:xfrm>
          <a:prstGeom prst="line">
            <a:avLst/>
          </a:prstGeom>
          <a:ln w="25400">
            <a:solidFill>
              <a:srgbClr val="1a1a2e"/>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Calibri"/>
            </a:endParaRPr>
          </a:p>
        </p:txBody>
      </p:sp>
      <p:sp>
        <p:nvSpPr>
          <p:cNvPr id="247" name="Shape 36"/>
          <p:cNvSpPr/>
          <p:nvPr/>
        </p:nvSpPr>
        <p:spPr>
          <a:xfrm>
            <a:off x="5943600" y="3383280"/>
            <a:ext cx="360" cy="360"/>
          </a:xfrm>
          <a:prstGeom prst="line">
            <a:avLst/>
          </a:prstGeom>
          <a:ln w="25400">
            <a:solidFill>
              <a:srgbClr val="1a1a2e"/>
            </a:solidFill>
            <a:round/>
          </a:ln>
        </p:spPr>
        <p:style>
          <a:lnRef idx="0"/>
          <a:fillRef idx="0"/>
          <a:effectRef idx="0"/>
          <a:fontRef idx="minor"/>
        </p:style>
        <p:txBody>
          <a:bodyPr lIns="90000" rIns="90000" tIns="-44640" bIns="-44640" anchor="t">
            <a:noAutofit/>
          </a:bodyPr>
          <a:p>
            <a:endParaRPr b="0" lang="en-US" sz="1800" strike="noStrike" u="none">
              <a:solidFill>
                <a:srgbClr val="000000"/>
              </a:solidFill>
              <a:effectLst/>
              <a:uFillTx/>
              <a:latin typeface="Calibri"/>
            </a:endParaRPr>
          </a:p>
        </p:txBody>
      </p:sp>
      <p:sp>
        <p:nvSpPr>
          <p:cNvPr id="248" name="Shape 37"/>
          <p:cNvSpPr/>
          <p:nvPr/>
        </p:nvSpPr>
        <p:spPr>
          <a:xfrm>
            <a:off x="3200400" y="3611880"/>
            <a:ext cx="360" cy="360"/>
          </a:xfrm>
          <a:prstGeom prst="line">
            <a:avLst/>
          </a:prstGeom>
          <a:ln w="25400">
            <a:solidFill>
              <a:srgbClr val="1a1a2e"/>
            </a:solidFill>
            <a:round/>
          </a:ln>
        </p:spPr>
        <p:style>
          <a:lnRef idx="0"/>
          <a:fillRef idx="0"/>
          <a:effectRef idx="0"/>
          <a:fontRef idx="minor"/>
        </p:style>
        <p:txBody>
          <a:bodyPr lIns="90000" rIns="90000" tIns="-44640" bIns="-44640" anchor="t">
            <a:noAutofit/>
          </a:bodyPr>
          <a:p>
            <a:endParaRPr b="0" lang="en-US" sz="1800" strike="noStrike" u="none">
              <a:solidFill>
                <a:srgbClr val="000000"/>
              </a:solidFill>
              <a:effectLst/>
              <a:uFillTx/>
              <a:latin typeface="Calibri"/>
            </a:endParaRPr>
          </a:p>
        </p:txBody>
      </p:sp>
      <p:sp>
        <p:nvSpPr>
          <p:cNvPr id="249" name="Shape 38"/>
          <p:cNvSpPr/>
          <p:nvPr/>
        </p:nvSpPr>
        <p:spPr>
          <a:xfrm>
            <a:off x="1554480" y="2743200"/>
            <a:ext cx="360" cy="360"/>
          </a:xfrm>
          <a:prstGeom prst="line">
            <a:avLst/>
          </a:prstGeom>
          <a:ln w="25400">
            <a:solidFill>
              <a:srgbClr val="e94560"/>
            </a:solidFill>
            <a:prstDash val="dash"/>
            <a:round/>
          </a:ln>
        </p:spPr>
        <p:style>
          <a:lnRef idx="0"/>
          <a:fillRef idx="0"/>
          <a:effectRef idx="0"/>
          <a:fontRef idx="minor"/>
        </p:style>
        <p:txBody>
          <a:bodyPr lIns="90000" rIns="90000" tIns="-44640" bIns="-44640" anchor="t">
            <a:noAutofit/>
          </a:bodyPr>
          <a:p>
            <a:endParaRPr b="0" lang="en-US" sz="1800" strike="noStrike" u="none">
              <a:solidFill>
                <a:srgbClr val="000000"/>
              </a:solidFill>
              <a:effectLst/>
              <a:uFillTx/>
              <a:latin typeface="Calibri"/>
            </a:endParaRPr>
          </a:p>
        </p:txBody>
      </p:sp>
      <p:grpSp>
        <p:nvGrpSpPr>
          <p:cNvPr id="250" name="Group 45"/>
          <p:cNvGrpSpPr/>
          <p:nvPr/>
        </p:nvGrpSpPr>
        <p:grpSpPr>
          <a:xfrm>
            <a:off x="531000" y="1915200"/>
            <a:ext cx="1863000" cy="547920"/>
            <a:chOff x="531000" y="1915200"/>
            <a:chExt cx="1863000" cy="547920"/>
          </a:xfrm>
        </p:grpSpPr>
        <p:sp>
          <p:nvSpPr>
            <p:cNvPr id="251" name="Shape 39"/>
            <p:cNvSpPr/>
            <p:nvPr/>
          </p:nvSpPr>
          <p:spPr>
            <a:xfrm>
              <a:off x="531000" y="1915200"/>
              <a:ext cx="1863000" cy="547920"/>
            </a:xfrm>
            <a:prstGeom prst="rect">
              <a:avLst/>
            </a:prstGeom>
            <a:solidFill>
              <a:srgbClr val="fff9e6"/>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52" name="Text 40"/>
            <p:cNvSpPr/>
            <p:nvPr/>
          </p:nvSpPr>
          <p:spPr>
            <a:xfrm>
              <a:off x="584280" y="1915200"/>
              <a:ext cx="175644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200" strike="noStrike" u="none">
                  <a:solidFill>
                    <a:srgbClr val="2d2d2d"/>
                  </a:solidFill>
                  <a:effectLst/>
                  <a:uFillTx/>
                  <a:latin typeface="Calibri"/>
                </a:rPr>
                <a:t>It's </a:t>
              </a:r>
              <a:r>
                <a:rPr b="1" lang="en-US" sz="1200" strike="noStrike" u="none">
                  <a:solidFill>
                    <a:srgbClr val="2d2d2d"/>
                  </a:solidFill>
                  <a:effectLst/>
                  <a:uFillTx/>
                  <a:latin typeface="Calibri"/>
                </a:rPr>
                <a:t>OK </a:t>
              </a:r>
              <a:r>
                <a:rPr b="0" lang="en-US" sz="1200" strike="noStrike" u="none">
                  <a:solidFill>
                    <a:srgbClr val="2d2d2d"/>
                  </a:solidFill>
                  <a:effectLst/>
                  <a:uFillTx/>
                  <a:latin typeface="Calibri"/>
                </a:rPr>
                <a:t>to fail but </a:t>
              </a:r>
              <a:r>
                <a:rPr b="1" lang="en-US" sz="1300" strike="noStrike" u="none">
                  <a:solidFill>
                    <a:srgbClr val="e94560"/>
                  </a:solidFill>
                  <a:effectLst/>
                  <a:uFillTx/>
                  <a:latin typeface="Calibri"/>
                </a:rPr>
                <a:t>Fail Fast </a:t>
              </a:r>
              <a:r>
                <a:rPr b="0" lang="en-US" sz="1200" strike="noStrike" u="none">
                  <a:solidFill>
                    <a:srgbClr val="2d2d2d"/>
                  </a:solidFill>
                  <a:effectLst/>
                  <a:uFillTx/>
                  <a:latin typeface="Calibri"/>
                </a:rPr>
                <a:t>&amp; </a:t>
              </a:r>
              <a:r>
                <a:rPr b="1" lang="en-US" sz="1300" strike="noStrike" u="none">
                  <a:solidFill>
                    <a:srgbClr val="e94560"/>
                  </a:solidFill>
                  <a:effectLst/>
                  <a:uFillTx/>
                  <a:latin typeface="Calibri"/>
                </a:rPr>
                <a:t>Adapt Fast </a:t>
              </a:r>
              <a:r>
                <a:rPr b="0" lang="en-US" sz="1200" strike="noStrike" u="none">
                  <a:solidFill>
                    <a:srgbClr val="2d2d2d"/>
                  </a:solidFill>
                  <a:effectLst/>
                  <a:uFillTx/>
                  <a:latin typeface="Calibri"/>
                </a:rPr>
                <a:t>too</a:t>
              </a:r>
              <a:endParaRPr b="0" lang="en-US" sz="1200" strike="noStrike" u="none">
                <a:solidFill>
                  <a:srgbClr val="000000"/>
                </a:solidFill>
                <a:effectLst/>
                <a:uFillTx/>
                <a:latin typeface="Arial"/>
              </a:endParaRPr>
            </a:p>
          </p:txBody>
        </p:sp>
      </p:grpSp>
      <p:sp>
        <p:nvSpPr>
          <p:cNvPr id="253" name="Text 11"/>
          <p:cNvSpPr/>
          <p:nvPr/>
        </p:nvSpPr>
        <p:spPr>
          <a:xfrm rot="5400000">
            <a:off x="5544720" y="3223440"/>
            <a:ext cx="456480" cy="273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400" strike="noStrike" u="none">
                <a:solidFill>
                  <a:srgbClr val="1a1a2e"/>
                </a:solidFill>
                <a:effectLst/>
                <a:uFillTx/>
                <a:latin typeface="Calibri"/>
              </a:rPr>
              <a:t>▼</a:t>
            </a:r>
            <a:endParaRPr b="0" lang="en-US" sz="1400" strike="noStrike" u="none">
              <a:solidFill>
                <a:srgbClr val="000000"/>
              </a:solidFill>
              <a:effectLst/>
              <a:uFillTx/>
              <a:latin typeface="Arial"/>
            </a:endParaRPr>
          </a:p>
        </p:txBody>
      </p:sp>
      <p:sp>
        <p:nvSpPr>
          <p:cNvPr id="254" name="Text 11"/>
          <p:cNvSpPr/>
          <p:nvPr/>
        </p:nvSpPr>
        <p:spPr>
          <a:xfrm rot="5400000">
            <a:off x="2743920" y="3223440"/>
            <a:ext cx="456480" cy="273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400" strike="noStrike" u="none">
                <a:solidFill>
                  <a:srgbClr val="1a1a2e"/>
                </a:solidFill>
                <a:effectLst/>
                <a:uFillTx/>
                <a:latin typeface="Calibri"/>
              </a:rPr>
              <a:t>▼</a:t>
            </a:r>
            <a:endParaRPr b="0" lang="en-US" sz="1400" strike="noStrike" u="none">
              <a:solidFill>
                <a:srgbClr val="000000"/>
              </a:solidFill>
              <a:effectLst/>
              <a:uFillTx/>
              <a:latin typeface="Arial"/>
            </a:endParaRPr>
          </a:p>
        </p:txBody>
      </p:sp>
      <p:sp>
        <p:nvSpPr>
          <p:cNvPr id="255" name="Text 11"/>
          <p:cNvSpPr/>
          <p:nvPr/>
        </p:nvSpPr>
        <p:spPr>
          <a:xfrm rot="16200000">
            <a:off x="2468880" y="1006560"/>
            <a:ext cx="456480" cy="273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400" strike="noStrike" u="none">
                <a:solidFill>
                  <a:srgbClr val="1a1a2e"/>
                </a:solidFill>
                <a:effectLst/>
                <a:uFillTx/>
                <a:latin typeface="Calibri"/>
              </a:rPr>
              <a:t>▼</a:t>
            </a:r>
            <a:endParaRPr b="0" lang="en-US" sz="1400" strike="noStrike" u="none">
              <a:solidFill>
                <a:srgbClr val="000000"/>
              </a:solidFill>
              <a:effectLst/>
              <a:uFillTx/>
              <a:latin typeface="Arial"/>
            </a:endParaRPr>
          </a:p>
        </p:txBody>
      </p:sp>
      <p:grpSp>
        <p:nvGrpSpPr>
          <p:cNvPr id="256" name="Group 48"/>
          <p:cNvGrpSpPr/>
          <p:nvPr/>
        </p:nvGrpSpPr>
        <p:grpSpPr>
          <a:xfrm>
            <a:off x="225720" y="1654560"/>
            <a:ext cx="456480" cy="928080"/>
            <a:chOff x="225720" y="1654560"/>
            <a:chExt cx="456480" cy="928080"/>
          </a:xfrm>
        </p:grpSpPr>
        <p:sp>
          <p:nvSpPr>
            <p:cNvPr id="257" name="Text 11"/>
            <p:cNvSpPr/>
            <p:nvPr/>
          </p:nvSpPr>
          <p:spPr>
            <a:xfrm rot="10800000">
              <a:off x="225720" y="1654560"/>
              <a:ext cx="456480" cy="273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400" strike="noStrike" u="none">
                  <a:solidFill>
                    <a:srgbClr val="1a1a2e"/>
                  </a:solidFill>
                  <a:effectLst/>
                  <a:uFillTx/>
                  <a:latin typeface="Calibri"/>
                </a:rPr>
                <a:t>▼</a:t>
              </a:r>
              <a:endParaRPr b="0" lang="en-US" sz="1400" strike="noStrike" u="none">
                <a:solidFill>
                  <a:srgbClr val="000000"/>
                </a:solidFill>
                <a:effectLst/>
                <a:uFillTx/>
                <a:latin typeface="Arial"/>
              </a:endParaRPr>
            </a:p>
          </p:txBody>
        </p:sp>
        <p:sp>
          <p:nvSpPr>
            <p:cNvPr id="258" name="Shape 3"/>
            <p:cNvSpPr/>
            <p:nvPr/>
          </p:nvSpPr>
          <p:spPr>
            <a:xfrm rot="5400000">
              <a:off x="79200" y="2185920"/>
              <a:ext cx="748440" cy="45000"/>
            </a:xfrm>
            <a:prstGeom prst="rect">
              <a:avLst/>
            </a:prstGeom>
            <a:solidFill>
              <a:srgbClr val="1a1a2e"/>
            </a:solidFill>
            <a:ln w="0">
              <a:noFill/>
            </a:ln>
          </p:spPr>
          <p:style>
            <a:lnRef idx="0"/>
            <a:fillRef idx="0"/>
            <a:effectRef idx="0"/>
            <a:fontRef idx="minor"/>
          </p:style>
          <p:txBody>
            <a:bodyPr lIns="90000" rIns="90000" tIns="720" bIns="72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gr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4d5c"/>
        </a:solidFill>
      </p:bgPr>
    </p:bg>
    <p:spTree>
      <p:nvGrpSpPr>
        <p:cNvPr id="1" name=""/>
        <p:cNvGrpSpPr/>
        <p:nvPr/>
      </p:nvGrpSpPr>
      <p:grpSpPr>
        <a:xfrm>
          <a:off x="0" y="0"/>
          <a:ext cx="0" cy="0"/>
          <a:chOff x="0" y="0"/>
          <a:chExt cx="0" cy="0"/>
        </a:xfrm>
      </p:grpSpPr>
      <p:sp>
        <p:nvSpPr>
          <p:cNvPr id="259" name="Text 0"/>
          <p:cNvSpPr/>
          <p:nvPr/>
        </p:nvSpPr>
        <p:spPr>
          <a:xfrm>
            <a:off x="548640" y="182880"/>
            <a:ext cx="73144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4200" strike="noStrike" u="none">
                <a:solidFill>
                  <a:srgbClr val="0f9b8e"/>
                </a:solidFill>
                <a:effectLst/>
                <a:uFillTx/>
                <a:latin typeface="Trebuchet MS"/>
                <a:ea typeface="Trebuchet MS"/>
              </a:rPr>
              <a:t>ACTIVITY TIME!</a:t>
            </a:r>
            <a:endParaRPr b="0" lang="en-US" sz="4200" strike="noStrike" u="none">
              <a:solidFill>
                <a:srgbClr val="ffffff"/>
              </a:solidFill>
              <a:effectLst/>
              <a:uFillTx/>
              <a:latin typeface="Arial"/>
            </a:endParaRPr>
          </a:p>
        </p:txBody>
      </p:sp>
      <p:sp>
        <p:nvSpPr>
          <p:cNvPr id="260" name="Text 1"/>
          <p:cNvSpPr/>
          <p:nvPr/>
        </p:nvSpPr>
        <p:spPr>
          <a:xfrm>
            <a:off x="548640" y="777240"/>
            <a:ext cx="7314480" cy="410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trike="noStrike" u="none">
                <a:solidFill>
                  <a:srgbClr val="ffffff"/>
                </a:solidFill>
                <a:effectLst/>
                <a:uFillTx/>
                <a:latin typeface="Calibri"/>
                <a:ea typeface="Calibri"/>
              </a:rPr>
              <a:t>Use the Lean Marketing Framework</a:t>
            </a:r>
            <a:endParaRPr b="0" lang="en-US" sz="1800" strike="noStrike" u="none">
              <a:solidFill>
                <a:srgbClr val="ffffff"/>
              </a:solidFill>
              <a:effectLst/>
              <a:uFillTx/>
              <a:latin typeface="Arial"/>
            </a:endParaRPr>
          </a:p>
        </p:txBody>
      </p:sp>
      <p:sp>
        <p:nvSpPr>
          <p:cNvPr id="261" name="Shape 2"/>
          <p:cNvSpPr/>
          <p:nvPr/>
        </p:nvSpPr>
        <p:spPr>
          <a:xfrm>
            <a:off x="548640" y="1371600"/>
            <a:ext cx="8046000" cy="74916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62" name="Shape 3"/>
          <p:cNvSpPr/>
          <p:nvPr/>
        </p:nvSpPr>
        <p:spPr>
          <a:xfrm>
            <a:off x="685800" y="1481400"/>
            <a:ext cx="502200" cy="502200"/>
          </a:xfrm>
          <a:prstGeom prst="ellipse">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63" name="Text 4"/>
          <p:cNvSpPr/>
          <p:nvPr/>
        </p:nvSpPr>
        <p:spPr>
          <a:xfrm>
            <a:off x="685800" y="1481400"/>
            <a:ext cx="50220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trike="noStrike" u="none">
                <a:solidFill>
                  <a:srgbClr val="ffffff"/>
                </a:solidFill>
                <a:effectLst/>
                <a:uFillTx/>
                <a:latin typeface="Trebuchet MS"/>
                <a:ea typeface="Trebuchet MS"/>
              </a:rPr>
              <a:t>1</a:t>
            </a:r>
            <a:endParaRPr b="0" lang="en-US" sz="1600" strike="noStrike" u="none">
              <a:solidFill>
                <a:srgbClr val="ffffff"/>
              </a:solidFill>
              <a:effectLst/>
              <a:uFillTx/>
              <a:latin typeface="Arial"/>
            </a:endParaRPr>
          </a:p>
        </p:txBody>
      </p:sp>
      <p:sp>
        <p:nvSpPr>
          <p:cNvPr id="264" name="Text 5"/>
          <p:cNvSpPr/>
          <p:nvPr/>
        </p:nvSpPr>
        <p:spPr>
          <a:xfrm>
            <a:off x="1371600" y="1371600"/>
            <a:ext cx="7040160" cy="749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ffffff"/>
                </a:solidFill>
                <a:effectLst/>
                <a:uFillTx/>
                <a:latin typeface="Calibri"/>
                <a:ea typeface="Calibri"/>
              </a:rPr>
              <a:t>You're marketing a reusable water bottle brand. Brainstorm ONE simple marketing idea you could test rapidly.</a:t>
            </a:r>
            <a:endParaRPr b="0" lang="en-US" sz="1200" strike="noStrike" u="none">
              <a:solidFill>
                <a:srgbClr val="ffffff"/>
              </a:solidFill>
              <a:effectLst/>
              <a:uFillTx/>
              <a:latin typeface="Arial"/>
            </a:endParaRPr>
          </a:p>
        </p:txBody>
      </p:sp>
      <p:sp>
        <p:nvSpPr>
          <p:cNvPr id="265" name="Shape 6"/>
          <p:cNvSpPr/>
          <p:nvPr/>
        </p:nvSpPr>
        <p:spPr>
          <a:xfrm>
            <a:off x="548640" y="2286000"/>
            <a:ext cx="8046000" cy="74916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66" name="Shape 7"/>
          <p:cNvSpPr/>
          <p:nvPr/>
        </p:nvSpPr>
        <p:spPr>
          <a:xfrm>
            <a:off x="685800" y="2395800"/>
            <a:ext cx="502200" cy="502200"/>
          </a:xfrm>
          <a:prstGeom prst="ellipse">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67" name="Text 8"/>
          <p:cNvSpPr/>
          <p:nvPr/>
        </p:nvSpPr>
        <p:spPr>
          <a:xfrm>
            <a:off x="685800" y="2395800"/>
            <a:ext cx="50220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trike="noStrike" u="none">
                <a:solidFill>
                  <a:srgbClr val="ffffff"/>
                </a:solidFill>
                <a:effectLst/>
                <a:uFillTx/>
                <a:latin typeface="Trebuchet MS"/>
                <a:ea typeface="Trebuchet MS"/>
              </a:rPr>
              <a:t>2</a:t>
            </a:r>
            <a:endParaRPr b="0" lang="en-US" sz="1600" strike="noStrike" u="none">
              <a:solidFill>
                <a:srgbClr val="ffffff"/>
              </a:solidFill>
              <a:effectLst/>
              <a:uFillTx/>
              <a:latin typeface="Arial"/>
            </a:endParaRPr>
          </a:p>
        </p:txBody>
      </p:sp>
      <p:sp>
        <p:nvSpPr>
          <p:cNvPr id="268" name="Text 9"/>
          <p:cNvSpPr/>
          <p:nvPr/>
        </p:nvSpPr>
        <p:spPr>
          <a:xfrm>
            <a:off x="1371600" y="2286000"/>
            <a:ext cx="7040160" cy="749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ffffff"/>
                </a:solidFill>
                <a:effectLst/>
                <a:uFillTx/>
                <a:latin typeface="Calibri"/>
                <a:ea typeface="Calibri"/>
              </a:rPr>
              <a:t>Present your idea to the next table. They give instant feedback: Would they click, ignore, or engage? Why?</a:t>
            </a:r>
            <a:endParaRPr b="0" lang="en-US" sz="1200" strike="noStrike" u="none">
              <a:solidFill>
                <a:srgbClr val="ffffff"/>
              </a:solidFill>
              <a:effectLst/>
              <a:uFillTx/>
              <a:latin typeface="Arial"/>
            </a:endParaRPr>
          </a:p>
        </p:txBody>
      </p:sp>
      <p:sp>
        <p:nvSpPr>
          <p:cNvPr id="269" name="Shape 10"/>
          <p:cNvSpPr/>
          <p:nvPr/>
        </p:nvSpPr>
        <p:spPr>
          <a:xfrm>
            <a:off x="548640" y="3200400"/>
            <a:ext cx="8046000" cy="74916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70" name="Shape 11"/>
          <p:cNvSpPr/>
          <p:nvPr/>
        </p:nvSpPr>
        <p:spPr>
          <a:xfrm>
            <a:off x="685800" y="3310200"/>
            <a:ext cx="502200" cy="502200"/>
          </a:xfrm>
          <a:prstGeom prst="ellipse">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71" name="Text 12"/>
          <p:cNvSpPr/>
          <p:nvPr/>
        </p:nvSpPr>
        <p:spPr>
          <a:xfrm>
            <a:off x="685800" y="3310200"/>
            <a:ext cx="50220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trike="noStrike" u="none">
                <a:solidFill>
                  <a:srgbClr val="ffffff"/>
                </a:solidFill>
                <a:effectLst/>
                <a:uFillTx/>
                <a:latin typeface="Trebuchet MS"/>
                <a:ea typeface="Trebuchet MS"/>
              </a:rPr>
              <a:t>3</a:t>
            </a:r>
            <a:endParaRPr b="0" lang="en-US" sz="1600" strike="noStrike" u="none">
              <a:solidFill>
                <a:srgbClr val="ffffff"/>
              </a:solidFill>
              <a:effectLst/>
              <a:uFillTx/>
              <a:latin typeface="Arial"/>
            </a:endParaRPr>
          </a:p>
        </p:txBody>
      </p:sp>
      <p:sp>
        <p:nvSpPr>
          <p:cNvPr id="272" name="Text 13"/>
          <p:cNvSpPr/>
          <p:nvPr/>
        </p:nvSpPr>
        <p:spPr>
          <a:xfrm>
            <a:off x="1371600" y="3200400"/>
            <a:ext cx="7040160" cy="749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ffffff"/>
                </a:solidFill>
                <a:effectLst/>
                <a:uFillTx/>
                <a:latin typeface="Calibri"/>
                <a:ea typeface="Calibri"/>
              </a:rPr>
              <a:t>Discuss what you learned. Write down at least ONE adjustment or pivot based on feedback.</a:t>
            </a:r>
            <a:endParaRPr b="0" lang="en-US" sz="1200" strike="noStrike" u="none">
              <a:solidFill>
                <a:srgbClr val="ffffff"/>
              </a:solidFill>
              <a:effectLst/>
              <a:uFillTx/>
              <a:latin typeface="Arial"/>
            </a:endParaRPr>
          </a:p>
        </p:txBody>
      </p:sp>
      <p:sp>
        <p:nvSpPr>
          <p:cNvPr id="273" name="Shape 14"/>
          <p:cNvSpPr/>
          <p:nvPr/>
        </p:nvSpPr>
        <p:spPr>
          <a:xfrm>
            <a:off x="548640" y="4114800"/>
            <a:ext cx="8046000" cy="74916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74" name="Shape 15"/>
          <p:cNvSpPr/>
          <p:nvPr/>
        </p:nvSpPr>
        <p:spPr>
          <a:xfrm>
            <a:off x="685800" y="4224600"/>
            <a:ext cx="502200" cy="502200"/>
          </a:xfrm>
          <a:prstGeom prst="ellipse">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275" name="Text 16"/>
          <p:cNvSpPr/>
          <p:nvPr/>
        </p:nvSpPr>
        <p:spPr>
          <a:xfrm>
            <a:off x="685800" y="4224600"/>
            <a:ext cx="50220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trike="noStrike" u="none">
                <a:solidFill>
                  <a:srgbClr val="ffffff"/>
                </a:solidFill>
                <a:effectLst/>
                <a:uFillTx/>
                <a:latin typeface="Trebuchet MS"/>
                <a:ea typeface="Trebuchet MS"/>
              </a:rPr>
              <a:t>4</a:t>
            </a:r>
            <a:endParaRPr b="0" lang="en-US" sz="1600" strike="noStrike" u="none">
              <a:solidFill>
                <a:srgbClr val="ffffff"/>
              </a:solidFill>
              <a:effectLst/>
              <a:uFillTx/>
              <a:latin typeface="Arial"/>
            </a:endParaRPr>
          </a:p>
        </p:txBody>
      </p:sp>
      <p:sp>
        <p:nvSpPr>
          <p:cNvPr id="276" name="Text 17"/>
          <p:cNvSpPr/>
          <p:nvPr/>
        </p:nvSpPr>
        <p:spPr>
          <a:xfrm>
            <a:off x="1371600" y="4114800"/>
            <a:ext cx="7040160" cy="749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ffffff"/>
                </a:solidFill>
                <a:effectLst/>
                <a:uFillTx/>
                <a:latin typeface="Calibri"/>
                <a:ea typeface="Calibri"/>
              </a:rPr>
              <a:t>Be ready to share: (1) Original idea  (2) Feedback received  (3) Your pivot</a:t>
            </a:r>
            <a:endParaRPr b="0" lang="en-US"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7" name="Text 0"/>
          <p:cNvSpPr/>
          <p:nvPr/>
        </p:nvSpPr>
        <p:spPr>
          <a:xfrm>
            <a:off x="731520" y="548640"/>
            <a:ext cx="1828080" cy="1828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8000" strike="noStrike" u="none">
                <a:solidFill>
                  <a:srgbClr val="e94560"/>
                </a:solidFill>
                <a:effectLst/>
                <a:uFillTx/>
                <a:latin typeface="Trebuchet MS"/>
                <a:ea typeface="Trebuchet MS"/>
              </a:rPr>
              <a:t>03</a:t>
            </a:r>
            <a:endParaRPr b="0" lang="en-US" sz="8000" strike="noStrike" u="none">
              <a:solidFill>
                <a:srgbClr val="000000"/>
              </a:solidFill>
              <a:effectLst/>
              <a:uFillTx/>
              <a:latin typeface="Arial"/>
            </a:endParaRPr>
          </a:p>
        </p:txBody>
      </p:sp>
      <p:sp>
        <p:nvSpPr>
          <p:cNvPr id="278" name="Text 1"/>
          <p:cNvSpPr/>
          <p:nvPr/>
        </p:nvSpPr>
        <p:spPr>
          <a:xfrm>
            <a:off x="731520" y="2286000"/>
            <a:ext cx="7314480" cy="913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4000" strike="noStrike" u="none">
                <a:solidFill>
                  <a:srgbClr val="1a1a2e"/>
                </a:solidFill>
                <a:effectLst/>
                <a:uFillTx/>
                <a:latin typeface="Trebuchet MS"/>
                <a:ea typeface="Trebuchet MS"/>
              </a:rPr>
              <a:t>Social Media Marketing</a:t>
            </a:r>
            <a:endParaRPr b="0" lang="en-US" sz="4000" strike="noStrike" u="none">
              <a:solidFill>
                <a:srgbClr val="000000"/>
              </a:solidFill>
              <a:effectLst/>
              <a:uFillTx/>
              <a:latin typeface="Arial"/>
            </a:endParaRPr>
          </a:p>
        </p:txBody>
      </p:sp>
      <p:sp>
        <p:nvSpPr>
          <p:cNvPr id="279" name="Text 2"/>
          <p:cNvSpPr/>
          <p:nvPr/>
        </p:nvSpPr>
        <p:spPr>
          <a:xfrm>
            <a:off x="731520" y="3200400"/>
            <a:ext cx="64000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600" strike="noStrike" u="none">
                <a:solidFill>
                  <a:srgbClr val="0f9b8e"/>
                </a:solidFill>
                <a:effectLst/>
                <a:uFillTx/>
                <a:latin typeface="Calibri"/>
                <a:ea typeface="Calibri"/>
              </a:rPr>
              <a:t>Platform strategies backed by Singapore data</a:t>
            </a:r>
            <a:endParaRPr b="0" lang="en-US" sz="1600" strike="noStrike" u="none">
              <a:solidFill>
                <a:srgbClr val="000000"/>
              </a:solidFill>
              <a:effectLst/>
              <a:uFillTx/>
              <a:latin typeface="Arial"/>
            </a:endParaRPr>
          </a:p>
        </p:txBody>
      </p:sp>
      <p:sp>
        <p:nvSpPr>
          <p:cNvPr id="280" name="Shape 3"/>
          <p:cNvSpPr/>
          <p:nvPr/>
        </p:nvSpPr>
        <p:spPr>
          <a:xfrm>
            <a:off x="731520" y="4206240"/>
            <a:ext cx="1828080" cy="54000"/>
          </a:xfrm>
          <a:prstGeom prst="rect">
            <a:avLst/>
          </a:prstGeom>
          <a:solidFill>
            <a:srgbClr val="e94560"/>
          </a:solidFill>
          <a:ln w="0">
            <a:noFill/>
          </a:ln>
        </p:spPr>
        <p:style>
          <a:lnRef idx="0"/>
          <a:fillRef idx="0"/>
          <a:effectRef idx="0"/>
          <a:fontRef idx="minor"/>
        </p:style>
        <p:txBody>
          <a:bodyPr lIns="90000" rIns="90000" tIns="9720" bIns="9720" anchor="t">
            <a:noAutofit/>
          </a:bodyPr>
          <a:p>
            <a:pPr defTabSz="914400">
              <a:lnSpc>
                <a:spcPct val="100000"/>
              </a:lnSpc>
            </a:pPr>
            <a:endParaRPr b="0" lang="en-US" sz="18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1" name="Text 0"/>
          <p:cNvSpPr/>
          <p:nvPr/>
        </p:nvSpPr>
        <p:spPr>
          <a:xfrm>
            <a:off x="548640" y="274320"/>
            <a:ext cx="73144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trike="noStrike" u="none">
                <a:solidFill>
                  <a:srgbClr val="1a1a2e"/>
                </a:solidFill>
                <a:effectLst/>
                <a:uFillTx/>
                <a:latin typeface="Trebuchet MS"/>
                <a:ea typeface="Trebuchet MS"/>
              </a:rPr>
              <a:t>Singapore Digital Landscape 2025</a:t>
            </a:r>
            <a:endParaRPr b="0" lang="en-US" sz="3200" strike="noStrike" u="none">
              <a:solidFill>
                <a:srgbClr val="000000"/>
              </a:solidFill>
              <a:effectLst/>
              <a:uFillTx/>
              <a:latin typeface="Arial"/>
            </a:endParaRPr>
          </a:p>
        </p:txBody>
      </p:sp>
      <p:sp>
        <p:nvSpPr>
          <p:cNvPr id="282" name="Text 1"/>
          <p:cNvSpPr/>
          <p:nvPr/>
        </p:nvSpPr>
        <p:spPr>
          <a:xfrm>
            <a:off x="548640" y="475488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trike="noStrike" u="none">
                <a:solidFill>
                  <a:srgbClr val="8e8e8e"/>
                </a:solidFill>
                <a:effectLst/>
                <a:uFillTx/>
                <a:latin typeface="Calibri"/>
                <a:ea typeface="Calibri"/>
              </a:rPr>
              <a:t>Source: We Are Social, Meltwater</a:t>
            </a:r>
            <a:endParaRPr b="0" lang="en-US" sz="900" strike="noStrike" u="none">
              <a:solidFill>
                <a:srgbClr val="000000"/>
              </a:solidFill>
              <a:effectLst/>
              <a:uFillTx/>
              <a:latin typeface="Arial"/>
            </a:endParaRPr>
          </a:p>
        </p:txBody>
      </p:sp>
      <p:sp>
        <p:nvSpPr>
          <p:cNvPr id="283" name="Shape 2"/>
          <p:cNvSpPr/>
          <p:nvPr/>
        </p:nvSpPr>
        <p:spPr>
          <a:xfrm>
            <a:off x="548640" y="1280160"/>
            <a:ext cx="1965240" cy="20109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284" name="Text 3"/>
          <p:cNvSpPr/>
          <p:nvPr/>
        </p:nvSpPr>
        <p:spPr>
          <a:xfrm>
            <a:off x="548640" y="1463040"/>
            <a:ext cx="1965240" cy="7308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600" strike="noStrike" u="none">
                <a:solidFill>
                  <a:srgbClr val="e94560"/>
                </a:solidFill>
                <a:effectLst/>
                <a:uFillTx/>
                <a:latin typeface="Trebuchet MS"/>
                <a:ea typeface="Trebuchet MS"/>
              </a:rPr>
              <a:t>5.92M</a:t>
            </a:r>
            <a:endParaRPr b="0" lang="en-US" sz="3600" strike="noStrike" u="none">
              <a:solidFill>
                <a:srgbClr val="000000"/>
              </a:solidFill>
              <a:effectLst/>
              <a:uFillTx/>
              <a:latin typeface="Arial"/>
            </a:endParaRPr>
          </a:p>
        </p:txBody>
      </p:sp>
      <p:sp>
        <p:nvSpPr>
          <p:cNvPr id="285" name="Text 4"/>
          <p:cNvSpPr/>
          <p:nvPr/>
        </p:nvSpPr>
        <p:spPr>
          <a:xfrm>
            <a:off x="548640" y="2194560"/>
            <a:ext cx="1965240" cy="365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300" strike="noStrike" u="none">
                <a:solidFill>
                  <a:srgbClr val="1a1a2e"/>
                </a:solidFill>
                <a:effectLst/>
                <a:uFillTx/>
                <a:latin typeface="Trebuchet MS"/>
                <a:ea typeface="Trebuchet MS"/>
              </a:rPr>
              <a:t>Internet Users</a:t>
            </a:r>
            <a:endParaRPr b="0" lang="en-US" sz="1300" strike="noStrike" u="none">
              <a:solidFill>
                <a:srgbClr val="000000"/>
              </a:solidFill>
              <a:effectLst/>
              <a:uFillTx/>
              <a:latin typeface="Arial"/>
            </a:endParaRPr>
          </a:p>
        </p:txBody>
      </p:sp>
      <p:sp>
        <p:nvSpPr>
          <p:cNvPr id="286" name="Text 5"/>
          <p:cNvSpPr/>
          <p:nvPr/>
        </p:nvSpPr>
        <p:spPr>
          <a:xfrm>
            <a:off x="548640" y="2560320"/>
            <a:ext cx="1965240" cy="365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00" strike="noStrike" u="none">
                <a:solidFill>
                  <a:srgbClr val="0f9b8e"/>
                </a:solidFill>
                <a:effectLst/>
                <a:uFillTx/>
                <a:latin typeface="Calibri"/>
                <a:ea typeface="Calibri"/>
              </a:rPr>
              <a:t>96.9% penetration</a:t>
            </a:r>
            <a:endParaRPr b="0" lang="en-US" sz="1000" strike="noStrike" u="none">
              <a:solidFill>
                <a:srgbClr val="000000"/>
              </a:solidFill>
              <a:effectLst/>
              <a:uFillTx/>
              <a:latin typeface="Arial"/>
            </a:endParaRPr>
          </a:p>
        </p:txBody>
      </p:sp>
      <p:sp>
        <p:nvSpPr>
          <p:cNvPr id="287" name="Shape 6"/>
          <p:cNvSpPr/>
          <p:nvPr/>
        </p:nvSpPr>
        <p:spPr>
          <a:xfrm>
            <a:off x="2697480" y="1280160"/>
            <a:ext cx="1965240" cy="20109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288" name="Text 7"/>
          <p:cNvSpPr/>
          <p:nvPr/>
        </p:nvSpPr>
        <p:spPr>
          <a:xfrm>
            <a:off x="2697480" y="1463040"/>
            <a:ext cx="1965240" cy="7308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600" strike="noStrike" u="none">
                <a:solidFill>
                  <a:srgbClr val="e94560"/>
                </a:solidFill>
                <a:effectLst/>
                <a:uFillTx/>
                <a:latin typeface="Trebuchet MS"/>
                <a:ea typeface="Trebuchet MS"/>
              </a:rPr>
              <a:t>5.50M</a:t>
            </a:r>
            <a:endParaRPr b="0" lang="en-US" sz="3600" strike="noStrike" u="none">
              <a:solidFill>
                <a:srgbClr val="000000"/>
              </a:solidFill>
              <a:effectLst/>
              <a:uFillTx/>
              <a:latin typeface="Arial"/>
            </a:endParaRPr>
          </a:p>
        </p:txBody>
      </p:sp>
      <p:sp>
        <p:nvSpPr>
          <p:cNvPr id="289" name="Text 8"/>
          <p:cNvSpPr/>
          <p:nvPr/>
        </p:nvSpPr>
        <p:spPr>
          <a:xfrm>
            <a:off x="2697480" y="2194560"/>
            <a:ext cx="1965240" cy="365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300" strike="noStrike" u="none">
                <a:solidFill>
                  <a:srgbClr val="1a1a2e"/>
                </a:solidFill>
                <a:effectLst/>
                <a:uFillTx/>
                <a:latin typeface="Trebuchet MS"/>
                <a:ea typeface="Trebuchet MS"/>
              </a:rPr>
              <a:t>Social Media Users</a:t>
            </a:r>
            <a:endParaRPr b="0" lang="en-US" sz="1300" strike="noStrike" u="none">
              <a:solidFill>
                <a:srgbClr val="000000"/>
              </a:solidFill>
              <a:effectLst/>
              <a:uFillTx/>
              <a:latin typeface="Arial"/>
            </a:endParaRPr>
          </a:p>
        </p:txBody>
      </p:sp>
      <p:sp>
        <p:nvSpPr>
          <p:cNvPr id="290" name="Text 9"/>
          <p:cNvSpPr/>
          <p:nvPr/>
        </p:nvSpPr>
        <p:spPr>
          <a:xfrm>
            <a:off x="2697480" y="2560320"/>
            <a:ext cx="1965240" cy="365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00" strike="noStrike" u="none">
                <a:solidFill>
                  <a:srgbClr val="0f9b8e"/>
                </a:solidFill>
                <a:effectLst/>
                <a:uFillTx/>
                <a:latin typeface="Calibri"/>
                <a:ea typeface="Calibri"/>
              </a:rPr>
              <a:t>90.0% of population</a:t>
            </a:r>
            <a:endParaRPr b="0" lang="en-US" sz="1000" strike="noStrike" u="none">
              <a:solidFill>
                <a:srgbClr val="000000"/>
              </a:solidFill>
              <a:effectLst/>
              <a:uFillTx/>
              <a:latin typeface="Arial"/>
            </a:endParaRPr>
          </a:p>
        </p:txBody>
      </p:sp>
      <p:sp>
        <p:nvSpPr>
          <p:cNvPr id="291" name="Shape 10"/>
          <p:cNvSpPr/>
          <p:nvPr/>
        </p:nvSpPr>
        <p:spPr>
          <a:xfrm>
            <a:off x="4846320" y="1280160"/>
            <a:ext cx="1965240" cy="20109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292" name="Text 11"/>
          <p:cNvSpPr/>
          <p:nvPr/>
        </p:nvSpPr>
        <p:spPr>
          <a:xfrm>
            <a:off x="4846320" y="1463040"/>
            <a:ext cx="1965240" cy="7308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600" strike="noStrike" u="none">
                <a:solidFill>
                  <a:srgbClr val="e94560"/>
                </a:solidFill>
                <a:effectLst/>
                <a:uFillTx/>
                <a:latin typeface="Trebuchet MS"/>
                <a:ea typeface="Trebuchet MS"/>
              </a:rPr>
              <a:t>7.4</a:t>
            </a:r>
            <a:endParaRPr b="0" lang="en-US" sz="3600" strike="noStrike" u="none">
              <a:solidFill>
                <a:srgbClr val="000000"/>
              </a:solidFill>
              <a:effectLst/>
              <a:uFillTx/>
              <a:latin typeface="Arial"/>
            </a:endParaRPr>
          </a:p>
        </p:txBody>
      </p:sp>
      <p:sp>
        <p:nvSpPr>
          <p:cNvPr id="293" name="Text 12"/>
          <p:cNvSpPr/>
          <p:nvPr/>
        </p:nvSpPr>
        <p:spPr>
          <a:xfrm>
            <a:off x="4846320" y="2194560"/>
            <a:ext cx="1965240" cy="365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300" strike="noStrike" u="none">
                <a:solidFill>
                  <a:srgbClr val="1a1a2e"/>
                </a:solidFill>
                <a:effectLst/>
                <a:uFillTx/>
                <a:latin typeface="Trebuchet MS"/>
                <a:ea typeface="Trebuchet MS"/>
              </a:rPr>
              <a:t>Platforms/Month</a:t>
            </a:r>
            <a:endParaRPr b="0" lang="en-US" sz="1300" strike="noStrike" u="none">
              <a:solidFill>
                <a:srgbClr val="000000"/>
              </a:solidFill>
              <a:effectLst/>
              <a:uFillTx/>
              <a:latin typeface="Arial"/>
            </a:endParaRPr>
          </a:p>
        </p:txBody>
      </p:sp>
      <p:sp>
        <p:nvSpPr>
          <p:cNvPr id="294" name="Text 13"/>
          <p:cNvSpPr/>
          <p:nvPr/>
        </p:nvSpPr>
        <p:spPr>
          <a:xfrm>
            <a:off x="4846320" y="2560320"/>
            <a:ext cx="1965240" cy="365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00" strike="noStrike" u="none">
                <a:solidFill>
                  <a:srgbClr val="0f9b8e"/>
                </a:solidFill>
                <a:effectLst/>
                <a:uFillTx/>
                <a:latin typeface="Calibri"/>
                <a:ea typeface="Calibri"/>
              </a:rPr>
              <a:t>Average per user</a:t>
            </a:r>
            <a:endParaRPr b="0" lang="en-US" sz="1000" strike="noStrike" u="none">
              <a:solidFill>
                <a:srgbClr val="000000"/>
              </a:solidFill>
              <a:effectLst/>
              <a:uFillTx/>
              <a:latin typeface="Arial"/>
            </a:endParaRPr>
          </a:p>
        </p:txBody>
      </p:sp>
      <p:sp>
        <p:nvSpPr>
          <p:cNvPr id="295" name="Shape 14"/>
          <p:cNvSpPr/>
          <p:nvPr/>
        </p:nvSpPr>
        <p:spPr>
          <a:xfrm>
            <a:off x="6995160" y="1280160"/>
            <a:ext cx="1965240" cy="20109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296" name="Text 15"/>
          <p:cNvSpPr/>
          <p:nvPr/>
        </p:nvSpPr>
        <p:spPr>
          <a:xfrm>
            <a:off x="6995160" y="1463040"/>
            <a:ext cx="1965240" cy="7308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3600" strike="noStrike" u="none">
                <a:solidFill>
                  <a:srgbClr val="e94560"/>
                </a:solidFill>
                <a:effectLst/>
                <a:uFillTx/>
                <a:latin typeface="Trebuchet MS"/>
                <a:ea typeface="Trebuchet MS"/>
              </a:rPr>
              <a:t>2h 11m</a:t>
            </a:r>
            <a:endParaRPr b="0" lang="en-US" sz="3600" strike="noStrike" u="none">
              <a:solidFill>
                <a:srgbClr val="000000"/>
              </a:solidFill>
              <a:effectLst/>
              <a:uFillTx/>
              <a:latin typeface="Arial"/>
            </a:endParaRPr>
          </a:p>
        </p:txBody>
      </p:sp>
      <p:sp>
        <p:nvSpPr>
          <p:cNvPr id="297" name="Text 16"/>
          <p:cNvSpPr/>
          <p:nvPr/>
        </p:nvSpPr>
        <p:spPr>
          <a:xfrm>
            <a:off x="6995160" y="2194560"/>
            <a:ext cx="1965240" cy="365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300" strike="noStrike" u="none">
                <a:solidFill>
                  <a:srgbClr val="1a1a2e"/>
                </a:solidFill>
                <a:effectLst/>
                <a:uFillTx/>
                <a:latin typeface="Trebuchet MS"/>
                <a:ea typeface="Trebuchet MS"/>
              </a:rPr>
              <a:t>Daily Social Time</a:t>
            </a:r>
            <a:endParaRPr b="0" lang="en-US" sz="1300" strike="noStrike" u="none">
              <a:solidFill>
                <a:srgbClr val="000000"/>
              </a:solidFill>
              <a:effectLst/>
              <a:uFillTx/>
              <a:latin typeface="Arial"/>
            </a:endParaRPr>
          </a:p>
        </p:txBody>
      </p:sp>
      <p:sp>
        <p:nvSpPr>
          <p:cNvPr id="298" name="Text 17"/>
          <p:cNvSpPr/>
          <p:nvPr/>
        </p:nvSpPr>
        <p:spPr>
          <a:xfrm>
            <a:off x="6995160" y="2560320"/>
            <a:ext cx="1965240" cy="365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00" strike="noStrike" u="none">
                <a:solidFill>
                  <a:srgbClr val="0f9b8e"/>
                </a:solidFill>
                <a:effectLst/>
                <a:uFillTx/>
                <a:latin typeface="Calibri"/>
                <a:ea typeface="Calibri"/>
              </a:rPr>
              <a:t>Average per user</a:t>
            </a:r>
            <a:endParaRPr b="0" lang="en-US" sz="1000" strike="noStrike" u="none">
              <a:solidFill>
                <a:srgbClr val="000000"/>
              </a:solidFill>
              <a:effectLst/>
              <a:uFillTx/>
              <a:latin typeface="Arial"/>
            </a:endParaRPr>
          </a:p>
        </p:txBody>
      </p:sp>
      <p:sp>
        <p:nvSpPr>
          <p:cNvPr id="299" name="Shape 18"/>
          <p:cNvSpPr/>
          <p:nvPr/>
        </p:nvSpPr>
        <p:spPr>
          <a:xfrm>
            <a:off x="548640" y="3566160"/>
            <a:ext cx="8046000" cy="10965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00" name="Text 19"/>
          <p:cNvSpPr/>
          <p:nvPr/>
        </p:nvSpPr>
        <p:spPr>
          <a:xfrm>
            <a:off x="731520" y="3566160"/>
            <a:ext cx="7680240" cy="456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300" strike="noStrike" u="none">
                <a:solidFill>
                  <a:srgbClr val="1a1a2e"/>
                </a:solidFill>
                <a:effectLst/>
                <a:uFillTx/>
                <a:latin typeface="Calibri"/>
                <a:ea typeface="Calibri"/>
              </a:rPr>
              <a:t>Key Insight: 71.4% of Singaporeans are concerned about what is real vs fake online. Authenticity wins.</a:t>
            </a:r>
            <a:endParaRPr b="0" lang="en-US" sz="1300" strike="noStrike" u="none">
              <a:solidFill>
                <a:srgbClr val="000000"/>
              </a:solidFill>
              <a:effectLst/>
              <a:uFillTx/>
              <a:latin typeface="Arial"/>
            </a:endParaRPr>
          </a:p>
        </p:txBody>
      </p:sp>
      <p:sp>
        <p:nvSpPr>
          <p:cNvPr id="301" name="Text 20"/>
          <p:cNvSpPr/>
          <p:nvPr/>
        </p:nvSpPr>
        <p:spPr>
          <a:xfrm>
            <a:off x="731520" y="4023360"/>
            <a:ext cx="7680240" cy="456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trike="noStrike" u="none">
                <a:solidFill>
                  <a:srgbClr val="0f9b8e"/>
                </a:solidFill>
                <a:effectLst/>
                <a:uFillTx/>
                <a:latin typeface="Calibri"/>
                <a:ea typeface="Calibri"/>
              </a:rPr>
              <a:t>Social media ad spend grew 15.9% to US$510M  |  Influencer advertising grew 13.6% to US$106M</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df6f0"/>
        </a:solidFill>
      </p:bgPr>
    </p:bg>
    <p:spTree>
      <p:nvGrpSpPr>
        <p:cNvPr id="1" name=""/>
        <p:cNvGrpSpPr/>
        <p:nvPr/>
      </p:nvGrpSpPr>
      <p:grpSpPr>
        <a:xfrm>
          <a:off x="0" y="0"/>
          <a:ext cx="0" cy="0"/>
          <a:chOff x="0" y="0"/>
          <a:chExt cx="0" cy="0"/>
        </a:xfrm>
      </p:grpSpPr>
      <p:sp>
        <p:nvSpPr>
          <p:cNvPr id="302" name="Text 0"/>
          <p:cNvSpPr/>
          <p:nvPr/>
        </p:nvSpPr>
        <p:spPr>
          <a:xfrm>
            <a:off x="548640" y="274320"/>
            <a:ext cx="73144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trike="noStrike" u="none">
                <a:solidFill>
                  <a:srgbClr val="1a1a2e"/>
                </a:solidFill>
                <a:effectLst/>
                <a:uFillTx/>
                <a:latin typeface="Trebuchet MS"/>
                <a:ea typeface="Trebuchet MS"/>
              </a:rPr>
              <a:t>Top Platforms in Singapore</a:t>
            </a:r>
            <a:endParaRPr b="0" lang="en-US" sz="3200" strike="noStrike" u="none">
              <a:solidFill>
                <a:srgbClr val="000000"/>
              </a:solidFill>
              <a:effectLst/>
              <a:uFillTx/>
              <a:latin typeface="Arial"/>
            </a:endParaRPr>
          </a:p>
        </p:txBody>
      </p:sp>
      <p:sp>
        <p:nvSpPr>
          <p:cNvPr id="303" name="Shape 1"/>
          <p:cNvSpPr/>
          <p:nvPr/>
        </p:nvSpPr>
        <p:spPr>
          <a:xfrm>
            <a:off x="548640" y="1097280"/>
            <a:ext cx="3931200" cy="45648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04" name="Text 2"/>
          <p:cNvSpPr/>
          <p:nvPr/>
        </p:nvSpPr>
        <p:spPr>
          <a:xfrm>
            <a:off x="548640" y="1097280"/>
            <a:ext cx="3931200" cy="456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trike="noStrike" u="none">
                <a:solidFill>
                  <a:srgbClr val="ffffff"/>
                </a:solidFill>
                <a:effectLst/>
                <a:uFillTx/>
                <a:latin typeface="Trebuchet MS"/>
                <a:ea typeface="Trebuchet MS"/>
              </a:rPr>
              <a:t>TOP 3 FAVOURITE</a:t>
            </a:r>
            <a:endParaRPr b="0" lang="en-US" sz="1400" strike="noStrike" u="none">
              <a:solidFill>
                <a:srgbClr val="000000"/>
              </a:solidFill>
              <a:effectLst/>
              <a:uFillTx/>
              <a:latin typeface="Arial"/>
            </a:endParaRPr>
          </a:p>
        </p:txBody>
      </p:sp>
      <p:sp>
        <p:nvSpPr>
          <p:cNvPr id="305" name="Shape 3"/>
          <p:cNvSpPr/>
          <p:nvPr/>
        </p:nvSpPr>
        <p:spPr>
          <a:xfrm>
            <a:off x="4663440" y="1097280"/>
            <a:ext cx="3931200" cy="45648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06" name="Text 4"/>
          <p:cNvSpPr/>
          <p:nvPr/>
        </p:nvSpPr>
        <p:spPr>
          <a:xfrm>
            <a:off x="4663440" y="1097280"/>
            <a:ext cx="3931200" cy="4564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trike="noStrike" u="none">
                <a:solidFill>
                  <a:srgbClr val="ffffff"/>
                </a:solidFill>
                <a:effectLst/>
                <a:uFillTx/>
                <a:latin typeface="Trebuchet MS"/>
                <a:ea typeface="Trebuchet MS"/>
              </a:rPr>
              <a:t>MOST TIME SPENT</a:t>
            </a:r>
            <a:endParaRPr b="0" lang="en-US" sz="1400" strike="noStrike" u="none">
              <a:solidFill>
                <a:srgbClr val="000000"/>
              </a:solidFill>
              <a:effectLst/>
              <a:uFillTx/>
              <a:latin typeface="Arial"/>
            </a:endParaRPr>
          </a:p>
        </p:txBody>
      </p:sp>
      <p:sp>
        <p:nvSpPr>
          <p:cNvPr id="307" name="Shape 5"/>
          <p:cNvSpPr/>
          <p:nvPr/>
        </p:nvSpPr>
        <p:spPr>
          <a:xfrm>
            <a:off x="548640" y="1737360"/>
            <a:ext cx="3931200" cy="7308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08" name="Text 6"/>
          <p:cNvSpPr/>
          <p:nvPr/>
        </p:nvSpPr>
        <p:spPr>
          <a:xfrm>
            <a:off x="731520" y="1737360"/>
            <a:ext cx="54792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trike="noStrike" u="none">
                <a:solidFill>
                  <a:srgbClr val="e94560"/>
                </a:solidFill>
                <a:effectLst/>
                <a:uFillTx/>
                <a:latin typeface="Trebuchet MS"/>
                <a:ea typeface="Trebuchet MS"/>
              </a:rPr>
              <a:t>1</a:t>
            </a:r>
            <a:endParaRPr b="0" lang="en-US" sz="2800" strike="noStrike" u="none">
              <a:solidFill>
                <a:srgbClr val="000000"/>
              </a:solidFill>
              <a:effectLst/>
              <a:uFillTx/>
              <a:latin typeface="Arial"/>
            </a:endParaRPr>
          </a:p>
        </p:txBody>
      </p:sp>
      <p:sp>
        <p:nvSpPr>
          <p:cNvPr id="309" name="Text 7"/>
          <p:cNvSpPr/>
          <p:nvPr/>
        </p:nvSpPr>
        <p:spPr>
          <a:xfrm>
            <a:off x="1371600" y="1737360"/>
            <a:ext cx="2742480" cy="73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a1a2e"/>
                </a:solidFill>
                <a:effectLst/>
                <a:uFillTx/>
                <a:latin typeface="Trebuchet MS"/>
                <a:ea typeface="Trebuchet MS"/>
              </a:rPr>
              <a:t>WhatsApp</a:t>
            </a:r>
            <a:endParaRPr b="0" lang="en-US" sz="1800" strike="noStrike" u="none">
              <a:solidFill>
                <a:srgbClr val="000000"/>
              </a:solidFill>
              <a:effectLst/>
              <a:uFillTx/>
              <a:latin typeface="Arial"/>
            </a:endParaRPr>
          </a:p>
        </p:txBody>
      </p:sp>
      <p:sp>
        <p:nvSpPr>
          <p:cNvPr id="310" name="Shape 8"/>
          <p:cNvSpPr/>
          <p:nvPr/>
        </p:nvSpPr>
        <p:spPr>
          <a:xfrm>
            <a:off x="548640" y="2606040"/>
            <a:ext cx="3931200" cy="7308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11" name="Text 9"/>
          <p:cNvSpPr/>
          <p:nvPr/>
        </p:nvSpPr>
        <p:spPr>
          <a:xfrm>
            <a:off x="731520" y="2606040"/>
            <a:ext cx="54792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trike="noStrike" u="none">
                <a:solidFill>
                  <a:srgbClr val="e94560"/>
                </a:solidFill>
                <a:effectLst/>
                <a:uFillTx/>
                <a:latin typeface="Trebuchet MS"/>
                <a:ea typeface="Trebuchet MS"/>
              </a:rPr>
              <a:t>2</a:t>
            </a:r>
            <a:endParaRPr b="0" lang="en-US" sz="2800" strike="noStrike" u="none">
              <a:solidFill>
                <a:srgbClr val="000000"/>
              </a:solidFill>
              <a:effectLst/>
              <a:uFillTx/>
              <a:latin typeface="Arial"/>
            </a:endParaRPr>
          </a:p>
        </p:txBody>
      </p:sp>
      <p:sp>
        <p:nvSpPr>
          <p:cNvPr id="312" name="Text 10"/>
          <p:cNvSpPr/>
          <p:nvPr/>
        </p:nvSpPr>
        <p:spPr>
          <a:xfrm>
            <a:off x="1371600" y="2606040"/>
            <a:ext cx="2742480" cy="73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a1a2e"/>
                </a:solidFill>
                <a:effectLst/>
                <a:uFillTx/>
                <a:latin typeface="Trebuchet MS"/>
                <a:ea typeface="Trebuchet MS"/>
              </a:rPr>
              <a:t>Facebook</a:t>
            </a:r>
            <a:endParaRPr b="0" lang="en-US" sz="1800" strike="noStrike" u="none">
              <a:solidFill>
                <a:srgbClr val="000000"/>
              </a:solidFill>
              <a:effectLst/>
              <a:uFillTx/>
              <a:latin typeface="Arial"/>
            </a:endParaRPr>
          </a:p>
        </p:txBody>
      </p:sp>
      <p:sp>
        <p:nvSpPr>
          <p:cNvPr id="313" name="Shape 11"/>
          <p:cNvSpPr/>
          <p:nvPr/>
        </p:nvSpPr>
        <p:spPr>
          <a:xfrm>
            <a:off x="548640" y="3474720"/>
            <a:ext cx="3931200" cy="7308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14" name="Text 12"/>
          <p:cNvSpPr/>
          <p:nvPr/>
        </p:nvSpPr>
        <p:spPr>
          <a:xfrm>
            <a:off x="731520" y="3474720"/>
            <a:ext cx="54792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trike="noStrike" u="none">
                <a:solidFill>
                  <a:srgbClr val="e94560"/>
                </a:solidFill>
                <a:effectLst/>
                <a:uFillTx/>
                <a:latin typeface="Trebuchet MS"/>
                <a:ea typeface="Trebuchet MS"/>
              </a:rPr>
              <a:t>3</a:t>
            </a:r>
            <a:endParaRPr b="0" lang="en-US" sz="2800" strike="noStrike" u="none">
              <a:solidFill>
                <a:srgbClr val="000000"/>
              </a:solidFill>
              <a:effectLst/>
              <a:uFillTx/>
              <a:latin typeface="Arial"/>
            </a:endParaRPr>
          </a:p>
        </p:txBody>
      </p:sp>
      <p:sp>
        <p:nvSpPr>
          <p:cNvPr id="315" name="Text 13"/>
          <p:cNvSpPr/>
          <p:nvPr/>
        </p:nvSpPr>
        <p:spPr>
          <a:xfrm>
            <a:off x="1371600" y="3474720"/>
            <a:ext cx="2742480" cy="73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a1a2e"/>
                </a:solidFill>
                <a:effectLst/>
                <a:uFillTx/>
                <a:latin typeface="Trebuchet MS"/>
                <a:ea typeface="Trebuchet MS"/>
              </a:rPr>
              <a:t>TikTok</a:t>
            </a:r>
            <a:endParaRPr b="0" lang="en-US" sz="1800" strike="noStrike" u="none">
              <a:solidFill>
                <a:srgbClr val="000000"/>
              </a:solidFill>
              <a:effectLst/>
              <a:uFillTx/>
              <a:latin typeface="Arial"/>
            </a:endParaRPr>
          </a:p>
        </p:txBody>
      </p:sp>
      <p:sp>
        <p:nvSpPr>
          <p:cNvPr id="316" name="Shape 14"/>
          <p:cNvSpPr/>
          <p:nvPr/>
        </p:nvSpPr>
        <p:spPr>
          <a:xfrm>
            <a:off x="4663440" y="1737360"/>
            <a:ext cx="3931200" cy="7308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17" name="Text 15"/>
          <p:cNvSpPr/>
          <p:nvPr/>
        </p:nvSpPr>
        <p:spPr>
          <a:xfrm>
            <a:off x="4846320" y="1737360"/>
            <a:ext cx="54792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trike="noStrike" u="none">
                <a:solidFill>
                  <a:srgbClr val="0f9b8e"/>
                </a:solidFill>
                <a:effectLst/>
                <a:uFillTx/>
                <a:latin typeface="Trebuchet MS"/>
                <a:ea typeface="Trebuchet MS"/>
              </a:rPr>
              <a:t>1</a:t>
            </a:r>
            <a:endParaRPr b="0" lang="en-US" sz="2800" strike="noStrike" u="none">
              <a:solidFill>
                <a:srgbClr val="000000"/>
              </a:solidFill>
              <a:effectLst/>
              <a:uFillTx/>
              <a:latin typeface="Arial"/>
            </a:endParaRPr>
          </a:p>
        </p:txBody>
      </p:sp>
      <p:sp>
        <p:nvSpPr>
          <p:cNvPr id="318" name="Text 16"/>
          <p:cNvSpPr/>
          <p:nvPr/>
        </p:nvSpPr>
        <p:spPr>
          <a:xfrm>
            <a:off x="5486400" y="1737360"/>
            <a:ext cx="2742480" cy="73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a1a2e"/>
                </a:solidFill>
                <a:effectLst/>
                <a:uFillTx/>
                <a:latin typeface="Trebuchet MS"/>
                <a:ea typeface="Trebuchet MS"/>
              </a:rPr>
              <a:t>TikTok</a:t>
            </a:r>
            <a:endParaRPr b="0" lang="en-US" sz="1800" strike="noStrike" u="none">
              <a:solidFill>
                <a:srgbClr val="000000"/>
              </a:solidFill>
              <a:effectLst/>
              <a:uFillTx/>
              <a:latin typeface="Arial"/>
            </a:endParaRPr>
          </a:p>
        </p:txBody>
      </p:sp>
      <p:sp>
        <p:nvSpPr>
          <p:cNvPr id="319" name="Shape 17"/>
          <p:cNvSpPr/>
          <p:nvPr/>
        </p:nvSpPr>
        <p:spPr>
          <a:xfrm>
            <a:off x="4663440" y="2606040"/>
            <a:ext cx="3931200" cy="7308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20" name="Text 18"/>
          <p:cNvSpPr/>
          <p:nvPr/>
        </p:nvSpPr>
        <p:spPr>
          <a:xfrm>
            <a:off x="4846320" y="2606040"/>
            <a:ext cx="54792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trike="noStrike" u="none">
                <a:solidFill>
                  <a:srgbClr val="0f9b8e"/>
                </a:solidFill>
                <a:effectLst/>
                <a:uFillTx/>
                <a:latin typeface="Trebuchet MS"/>
                <a:ea typeface="Trebuchet MS"/>
              </a:rPr>
              <a:t>2</a:t>
            </a:r>
            <a:endParaRPr b="0" lang="en-US" sz="2800" strike="noStrike" u="none">
              <a:solidFill>
                <a:srgbClr val="000000"/>
              </a:solidFill>
              <a:effectLst/>
              <a:uFillTx/>
              <a:latin typeface="Arial"/>
            </a:endParaRPr>
          </a:p>
        </p:txBody>
      </p:sp>
      <p:sp>
        <p:nvSpPr>
          <p:cNvPr id="321" name="Text 19"/>
          <p:cNvSpPr/>
          <p:nvPr/>
        </p:nvSpPr>
        <p:spPr>
          <a:xfrm>
            <a:off x="5486400" y="2606040"/>
            <a:ext cx="2742480" cy="73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a1a2e"/>
                </a:solidFill>
                <a:effectLst/>
                <a:uFillTx/>
                <a:latin typeface="Trebuchet MS"/>
                <a:ea typeface="Trebuchet MS"/>
              </a:rPr>
              <a:t>YouTube</a:t>
            </a:r>
            <a:endParaRPr b="0" lang="en-US" sz="1800" strike="noStrike" u="none">
              <a:solidFill>
                <a:srgbClr val="000000"/>
              </a:solidFill>
              <a:effectLst/>
              <a:uFillTx/>
              <a:latin typeface="Arial"/>
            </a:endParaRPr>
          </a:p>
        </p:txBody>
      </p:sp>
      <p:sp>
        <p:nvSpPr>
          <p:cNvPr id="322" name="Shape 20"/>
          <p:cNvSpPr/>
          <p:nvPr/>
        </p:nvSpPr>
        <p:spPr>
          <a:xfrm>
            <a:off x="4663440" y="3474720"/>
            <a:ext cx="3931200" cy="7308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23" name="Text 21"/>
          <p:cNvSpPr/>
          <p:nvPr/>
        </p:nvSpPr>
        <p:spPr>
          <a:xfrm>
            <a:off x="4846320" y="3474720"/>
            <a:ext cx="54792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trike="noStrike" u="none">
                <a:solidFill>
                  <a:srgbClr val="0f9b8e"/>
                </a:solidFill>
                <a:effectLst/>
                <a:uFillTx/>
                <a:latin typeface="Trebuchet MS"/>
                <a:ea typeface="Trebuchet MS"/>
              </a:rPr>
              <a:t>3</a:t>
            </a:r>
            <a:endParaRPr b="0" lang="en-US" sz="2800" strike="noStrike" u="none">
              <a:solidFill>
                <a:srgbClr val="000000"/>
              </a:solidFill>
              <a:effectLst/>
              <a:uFillTx/>
              <a:latin typeface="Arial"/>
            </a:endParaRPr>
          </a:p>
        </p:txBody>
      </p:sp>
      <p:sp>
        <p:nvSpPr>
          <p:cNvPr id="324" name="Text 22"/>
          <p:cNvSpPr/>
          <p:nvPr/>
        </p:nvSpPr>
        <p:spPr>
          <a:xfrm>
            <a:off x="5486400" y="3474720"/>
            <a:ext cx="2742480" cy="730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a1a2e"/>
                </a:solidFill>
                <a:effectLst/>
                <a:uFillTx/>
                <a:latin typeface="Trebuchet MS"/>
                <a:ea typeface="Trebuchet MS"/>
              </a:rPr>
              <a:t>WhatsApp</a:t>
            </a:r>
            <a:endParaRPr b="0" lang="en-US" sz="1800" strike="noStrike" u="none">
              <a:solidFill>
                <a:srgbClr val="000000"/>
              </a:solidFill>
              <a:effectLst/>
              <a:uFillTx/>
              <a:latin typeface="Arial"/>
            </a:endParaRPr>
          </a:p>
        </p:txBody>
      </p:sp>
      <p:sp>
        <p:nvSpPr>
          <p:cNvPr id="325" name="Text 23"/>
          <p:cNvSpPr/>
          <p:nvPr/>
        </p:nvSpPr>
        <p:spPr>
          <a:xfrm>
            <a:off x="548640" y="4663440"/>
            <a:ext cx="73144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trike="noStrike" u="none">
                <a:solidFill>
                  <a:srgbClr val="8e8e8e"/>
                </a:solidFill>
                <a:effectLst/>
                <a:uFillTx/>
                <a:latin typeface="Calibri"/>
                <a:ea typeface="Calibri"/>
              </a:rPr>
              <a:t>Source: We Are Social / Meltwater, Digital 2025 Singapore</a:t>
            </a:r>
            <a:endParaRPr b="0" lang="en-US"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6" name="Shape 0"/>
          <p:cNvSpPr/>
          <p:nvPr/>
        </p:nvSpPr>
        <p:spPr>
          <a:xfrm>
            <a:off x="0" y="0"/>
            <a:ext cx="9143280" cy="913680"/>
          </a:xfrm>
          <a:prstGeom prst="rect">
            <a:avLst/>
          </a:prstGeom>
          <a:solidFill>
            <a:srgbClr val="c13584"/>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327" name="Image 0" descr="preencoded.png"/>
          <p:cNvPicPr/>
          <p:nvPr/>
        </p:nvPicPr>
        <p:blipFill>
          <a:blip r:embed="rId1"/>
          <a:stretch/>
        </p:blipFill>
        <p:spPr>
          <a:xfrm>
            <a:off x="548640" y="182880"/>
            <a:ext cx="502200" cy="502200"/>
          </a:xfrm>
          <a:prstGeom prst="rect">
            <a:avLst/>
          </a:prstGeom>
          <a:noFill/>
          <a:ln w="0">
            <a:noFill/>
          </a:ln>
        </p:spPr>
      </p:pic>
      <p:sp>
        <p:nvSpPr>
          <p:cNvPr id="328" name="Text 1"/>
          <p:cNvSpPr/>
          <p:nvPr/>
        </p:nvSpPr>
        <p:spPr>
          <a:xfrm>
            <a:off x="1188720" y="0"/>
            <a:ext cx="45712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trike="noStrike" u="none">
                <a:solidFill>
                  <a:srgbClr val="ffffff"/>
                </a:solidFill>
                <a:effectLst/>
                <a:uFillTx/>
                <a:latin typeface="Trebuchet MS"/>
                <a:ea typeface="Trebuchet MS"/>
              </a:rPr>
              <a:t>Instagram</a:t>
            </a:r>
            <a:endParaRPr b="0" lang="en-US" sz="3200" strike="noStrike" u="none">
              <a:solidFill>
                <a:srgbClr val="000000"/>
              </a:solidFill>
              <a:effectLst/>
              <a:uFillTx/>
              <a:latin typeface="Arial"/>
            </a:endParaRPr>
          </a:p>
        </p:txBody>
      </p:sp>
      <p:sp>
        <p:nvSpPr>
          <p:cNvPr id="329" name="Shape 2"/>
          <p:cNvSpPr/>
          <p:nvPr/>
        </p:nvSpPr>
        <p:spPr>
          <a:xfrm>
            <a:off x="548640" y="1097280"/>
            <a:ext cx="3931200" cy="45648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30" name="Text 3"/>
          <p:cNvSpPr/>
          <p:nvPr/>
        </p:nvSpPr>
        <p:spPr>
          <a:xfrm>
            <a:off x="731520" y="1097280"/>
            <a:ext cx="365688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1a1a2e"/>
                </a:solidFill>
                <a:effectLst/>
                <a:uFillTx/>
                <a:latin typeface="Calibri"/>
                <a:ea typeface="Calibri"/>
              </a:rPr>
              <a:t>Best For: Branding and Engagement</a:t>
            </a:r>
            <a:endParaRPr b="0" lang="en-US" sz="1200" strike="noStrike" u="none">
              <a:solidFill>
                <a:srgbClr val="000000"/>
              </a:solidFill>
              <a:effectLst/>
              <a:uFillTx/>
              <a:latin typeface="Arial"/>
            </a:endParaRPr>
          </a:p>
        </p:txBody>
      </p:sp>
      <p:sp>
        <p:nvSpPr>
          <p:cNvPr id="331" name="Shape 4"/>
          <p:cNvSpPr/>
          <p:nvPr/>
        </p:nvSpPr>
        <p:spPr>
          <a:xfrm>
            <a:off x="4663440" y="1097280"/>
            <a:ext cx="3931200" cy="45648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32" name="Text 5"/>
          <p:cNvSpPr/>
          <p:nvPr/>
        </p:nvSpPr>
        <p:spPr>
          <a:xfrm>
            <a:off x="4846320" y="1097280"/>
            <a:ext cx="365688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1a1a2e"/>
                </a:solidFill>
                <a:effectLst/>
                <a:uFillTx/>
                <a:latin typeface="Calibri"/>
                <a:ea typeface="Calibri"/>
              </a:rPr>
              <a:t>Strategy: Storytelling, Reels, influencer collaborations</a:t>
            </a:r>
            <a:endParaRPr b="0" lang="en-US" sz="1200" strike="noStrike" u="none">
              <a:solidFill>
                <a:srgbClr val="000000"/>
              </a:solidFill>
              <a:effectLst/>
              <a:uFillTx/>
              <a:latin typeface="Arial"/>
            </a:endParaRPr>
          </a:p>
        </p:txBody>
      </p:sp>
      <p:sp>
        <p:nvSpPr>
          <p:cNvPr id="333" name="Shape 6"/>
          <p:cNvSpPr/>
          <p:nvPr/>
        </p:nvSpPr>
        <p:spPr>
          <a:xfrm>
            <a:off x="548640" y="182880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34" name="Shape 7"/>
          <p:cNvSpPr/>
          <p:nvPr/>
        </p:nvSpPr>
        <p:spPr>
          <a:xfrm>
            <a:off x="548640" y="1828800"/>
            <a:ext cx="54000" cy="685080"/>
          </a:xfrm>
          <a:prstGeom prst="rect">
            <a:avLst/>
          </a:prstGeom>
          <a:solidFill>
            <a:srgbClr val="c13584"/>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35" name="Text 8"/>
          <p:cNvSpPr/>
          <p:nvPr/>
        </p:nvSpPr>
        <p:spPr>
          <a:xfrm>
            <a:off x="777240" y="1828800"/>
            <a:ext cx="758880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Visual Appeal: Showcase products and brand identity with stunning visuals</a:t>
            </a:r>
            <a:endParaRPr b="0" lang="en-US" sz="1200" strike="noStrike" u="none">
              <a:solidFill>
                <a:srgbClr val="000000"/>
              </a:solidFill>
              <a:effectLst/>
              <a:uFillTx/>
              <a:latin typeface="Arial"/>
            </a:endParaRPr>
          </a:p>
        </p:txBody>
      </p:sp>
      <p:sp>
        <p:nvSpPr>
          <p:cNvPr id="336" name="Shape 9"/>
          <p:cNvSpPr/>
          <p:nvPr/>
        </p:nvSpPr>
        <p:spPr>
          <a:xfrm>
            <a:off x="548640" y="265176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37" name="Shape 10"/>
          <p:cNvSpPr/>
          <p:nvPr/>
        </p:nvSpPr>
        <p:spPr>
          <a:xfrm>
            <a:off x="548640" y="2651760"/>
            <a:ext cx="54000" cy="685080"/>
          </a:xfrm>
          <a:prstGeom prst="rect">
            <a:avLst/>
          </a:prstGeom>
          <a:solidFill>
            <a:srgbClr val="c13584"/>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38" name="Text 11"/>
          <p:cNvSpPr/>
          <p:nvPr/>
        </p:nvSpPr>
        <p:spPr>
          <a:xfrm>
            <a:off x="777240" y="2651760"/>
            <a:ext cx="758880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Storytelling: Craft stories about your journey and customer experiences</a:t>
            </a:r>
            <a:endParaRPr b="0" lang="en-US" sz="1200" strike="noStrike" u="none">
              <a:solidFill>
                <a:srgbClr val="000000"/>
              </a:solidFill>
              <a:effectLst/>
              <a:uFillTx/>
              <a:latin typeface="Arial"/>
            </a:endParaRPr>
          </a:p>
        </p:txBody>
      </p:sp>
      <p:sp>
        <p:nvSpPr>
          <p:cNvPr id="339" name="Shape 12"/>
          <p:cNvSpPr/>
          <p:nvPr/>
        </p:nvSpPr>
        <p:spPr>
          <a:xfrm>
            <a:off x="548640" y="347472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40" name="Shape 13"/>
          <p:cNvSpPr/>
          <p:nvPr/>
        </p:nvSpPr>
        <p:spPr>
          <a:xfrm>
            <a:off x="548640" y="3474720"/>
            <a:ext cx="54000" cy="685080"/>
          </a:xfrm>
          <a:prstGeom prst="rect">
            <a:avLst/>
          </a:prstGeom>
          <a:solidFill>
            <a:srgbClr val="c13584"/>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41" name="Text 14"/>
          <p:cNvSpPr/>
          <p:nvPr/>
        </p:nvSpPr>
        <p:spPr>
          <a:xfrm>
            <a:off x="777240" y="3474720"/>
            <a:ext cx="758880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Influencer Collabs: Partner with micro-influencers for niche credibility</a:t>
            </a:r>
            <a:endParaRPr b="0" lang="en-US" sz="1200" strike="noStrike" u="none">
              <a:solidFill>
                <a:srgbClr val="000000"/>
              </a:solidFill>
              <a:effectLst/>
              <a:uFillTx/>
              <a:latin typeface="Arial"/>
            </a:endParaRPr>
          </a:p>
        </p:txBody>
      </p:sp>
      <p:sp>
        <p:nvSpPr>
          <p:cNvPr id="342" name="Shape 15"/>
          <p:cNvSpPr/>
          <p:nvPr/>
        </p:nvSpPr>
        <p:spPr>
          <a:xfrm>
            <a:off x="548640" y="4389120"/>
            <a:ext cx="8046000" cy="45648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43" name="Text 16"/>
          <p:cNvSpPr/>
          <p:nvPr/>
        </p:nvSpPr>
        <p:spPr>
          <a:xfrm>
            <a:off x="731520" y="4389120"/>
            <a:ext cx="768024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0f9b8e"/>
                </a:solidFill>
                <a:effectLst/>
                <a:uFillTx/>
                <a:latin typeface="Calibri"/>
                <a:ea typeface="Calibri"/>
              </a:rPr>
              <a:t>Key Metrics: Engagement rate, Reach, Impressions, Follower growth, Story metrics</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4" name="Shape 0"/>
          <p:cNvSpPr/>
          <p:nvPr/>
        </p:nvSpPr>
        <p:spPr>
          <a:xfrm>
            <a:off x="0" y="0"/>
            <a:ext cx="9143280" cy="913680"/>
          </a:xfrm>
          <a:prstGeom prst="rect">
            <a:avLst/>
          </a:prstGeom>
          <a:solidFill>
            <a:srgbClr val="0077b5"/>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345" name="Image 0" descr="preencoded.png"/>
          <p:cNvPicPr/>
          <p:nvPr/>
        </p:nvPicPr>
        <p:blipFill>
          <a:blip r:embed="rId1"/>
          <a:stretch/>
        </p:blipFill>
        <p:spPr>
          <a:xfrm>
            <a:off x="548640" y="182880"/>
            <a:ext cx="502200" cy="502200"/>
          </a:xfrm>
          <a:prstGeom prst="rect">
            <a:avLst/>
          </a:prstGeom>
          <a:noFill/>
          <a:ln w="0">
            <a:noFill/>
          </a:ln>
        </p:spPr>
      </p:pic>
      <p:sp>
        <p:nvSpPr>
          <p:cNvPr id="346" name="Text 1"/>
          <p:cNvSpPr/>
          <p:nvPr/>
        </p:nvSpPr>
        <p:spPr>
          <a:xfrm>
            <a:off x="1188720" y="0"/>
            <a:ext cx="45712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trike="noStrike" u="none">
                <a:solidFill>
                  <a:srgbClr val="ffffff"/>
                </a:solidFill>
                <a:effectLst/>
                <a:uFillTx/>
                <a:latin typeface="Trebuchet MS"/>
                <a:ea typeface="Trebuchet MS"/>
              </a:rPr>
              <a:t>LinkedIn</a:t>
            </a:r>
            <a:endParaRPr b="0" lang="en-US" sz="3200" strike="noStrike" u="none">
              <a:solidFill>
                <a:srgbClr val="000000"/>
              </a:solidFill>
              <a:effectLst/>
              <a:uFillTx/>
              <a:latin typeface="Arial"/>
            </a:endParaRPr>
          </a:p>
        </p:txBody>
      </p:sp>
      <p:sp>
        <p:nvSpPr>
          <p:cNvPr id="347" name="Shape 2"/>
          <p:cNvSpPr/>
          <p:nvPr/>
        </p:nvSpPr>
        <p:spPr>
          <a:xfrm>
            <a:off x="548640" y="1097280"/>
            <a:ext cx="3931200" cy="45648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48" name="Text 3"/>
          <p:cNvSpPr/>
          <p:nvPr/>
        </p:nvSpPr>
        <p:spPr>
          <a:xfrm>
            <a:off x="731520" y="1097280"/>
            <a:ext cx="365688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1a1a2e"/>
                </a:solidFill>
                <a:effectLst/>
                <a:uFillTx/>
                <a:latin typeface="Calibri"/>
                <a:ea typeface="Calibri"/>
              </a:rPr>
              <a:t>Best For: B2B and Thought Leadership</a:t>
            </a:r>
            <a:endParaRPr b="0" lang="en-US" sz="1200" strike="noStrike" u="none">
              <a:solidFill>
                <a:srgbClr val="000000"/>
              </a:solidFill>
              <a:effectLst/>
              <a:uFillTx/>
              <a:latin typeface="Arial"/>
            </a:endParaRPr>
          </a:p>
        </p:txBody>
      </p:sp>
      <p:sp>
        <p:nvSpPr>
          <p:cNvPr id="349" name="Shape 4"/>
          <p:cNvSpPr/>
          <p:nvPr/>
        </p:nvSpPr>
        <p:spPr>
          <a:xfrm>
            <a:off x="4663440" y="1097280"/>
            <a:ext cx="3931200" cy="45648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50" name="Text 5"/>
          <p:cNvSpPr/>
          <p:nvPr/>
        </p:nvSpPr>
        <p:spPr>
          <a:xfrm>
            <a:off x="4846320" y="1097280"/>
            <a:ext cx="365688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1a1a2e"/>
                </a:solidFill>
                <a:effectLst/>
                <a:uFillTx/>
                <a:latin typeface="Calibri"/>
                <a:ea typeface="Calibri"/>
              </a:rPr>
              <a:t>Strategy: Authority-building, niche expertise</a:t>
            </a:r>
            <a:endParaRPr b="0" lang="en-US" sz="1200" strike="noStrike" u="none">
              <a:solidFill>
                <a:srgbClr val="000000"/>
              </a:solidFill>
              <a:effectLst/>
              <a:uFillTx/>
              <a:latin typeface="Arial"/>
            </a:endParaRPr>
          </a:p>
        </p:txBody>
      </p:sp>
      <p:sp>
        <p:nvSpPr>
          <p:cNvPr id="351" name="Shape 6"/>
          <p:cNvSpPr/>
          <p:nvPr/>
        </p:nvSpPr>
        <p:spPr>
          <a:xfrm>
            <a:off x="548640" y="182880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52" name="Shape 7"/>
          <p:cNvSpPr/>
          <p:nvPr/>
        </p:nvSpPr>
        <p:spPr>
          <a:xfrm>
            <a:off x="548640" y="1828800"/>
            <a:ext cx="54000" cy="685080"/>
          </a:xfrm>
          <a:prstGeom prst="rect">
            <a:avLst/>
          </a:prstGeom>
          <a:solidFill>
            <a:srgbClr val="0077b5"/>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53" name="Text 8"/>
          <p:cNvSpPr/>
          <p:nvPr/>
        </p:nvSpPr>
        <p:spPr>
          <a:xfrm>
            <a:off x="777240" y="1828800"/>
            <a:ext cx="758880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Professional Network: Essential for B2B - build credibility and partnerships</a:t>
            </a:r>
            <a:endParaRPr b="0" lang="en-US" sz="1200" strike="noStrike" u="none">
              <a:solidFill>
                <a:srgbClr val="000000"/>
              </a:solidFill>
              <a:effectLst/>
              <a:uFillTx/>
              <a:latin typeface="Arial"/>
            </a:endParaRPr>
          </a:p>
        </p:txBody>
      </p:sp>
      <p:sp>
        <p:nvSpPr>
          <p:cNvPr id="354" name="Shape 9"/>
          <p:cNvSpPr/>
          <p:nvPr/>
        </p:nvSpPr>
        <p:spPr>
          <a:xfrm>
            <a:off x="548640" y="265176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55" name="Shape 10"/>
          <p:cNvSpPr/>
          <p:nvPr/>
        </p:nvSpPr>
        <p:spPr>
          <a:xfrm>
            <a:off x="548640" y="2651760"/>
            <a:ext cx="54000" cy="685080"/>
          </a:xfrm>
          <a:prstGeom prst="rect">
            <a:avLst/>
          </a:prstGeom>
          <a:solidFill>
            <a:srgbClr val="0077b5"/>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56" name="Text 11"/>
          <p:cNvSpPr/>
          <p:nvPr/>
        </p:nvSpPr>
        <p:spPr>
          <a:xfrm>
            <a:off x="777240" y="2651760"/>
            <a:ext cx="758880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Thought Leadership: Share articles, case studies, and industry commentary</a:t>
            </a:r>
            <a:endParaRPr b="0" lang="en-US" sz="1200" strike="noStrike" u="none">
              <a:solidFill>
                <a:srgbClr val="000000"/>
              </a:solidFill>
              <a:effectLst/>
              <a:uFillTx/>
              <a:latin typeface="Arial"/>
            </a:endParaRPr>
          </a:p>
        </p:txBody>
      </p:sp>
      <p:sp>
        <p:nvSpPr>
          <p:cNvPr id="357" name="Shape 12"/>
          <p:cNvSpPr/>
          <p:nvPr/>
        </p:nvSpPr>
        <p:spPr>
          <a:xfrm>
            <a:off x="548640" y="347472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58" name="Shape 13"/>
          <p:cNvSpPr/>
          <p:nvPr/>
        </p:nvSpPr>
        <p:spPr>
          <a:xfrm>
            <a:off x="548640" y="3474720"/>
            <a:ext cx="54000" cy="685080"/>
          </a:xfrm>
          <a:prstGeom prst="rect">
            <a:avLst/>
          </a:prstGeom>
          <a:solidFill>
            <a:srgbClr val="0077b5"/>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59" name="Text 14"/>
          <p:cNvSpPr/>
          <p:nvPr/>
        </p:nvSpPr>
        <p:spPr>
          <a:xfrm>
            <a:off x="777240" y="3474720"/>
            <a:ext cx="758880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Building Authority: Engage in relevant groups to become a trusted voice</a:t>
            </a:r>
            <a:endParaRPr b="0" lang="en-US" sz="1200" strike="noStrike" u="none">
              <a:solidFill>
                <a:srgbClr val="000000"/>
              </a:solidFill>
              <a:effectLst/>
              <a:uFillTx/>
              <a:latin typeface="Arial"/>
            </a:endParaRPr>
          </a:p>
        </p:txBody>
      </p:sp>
      <p:sp>
        <p:nvSpPr>
          <p:cNvPr id="360" name="Shape 15"/>
          <p:cNvSpPr/>
          <p:nvPr/>
        </p:nvSpPr>
        <p:spPr>
          <a:xfrm>
            <a:off x="548640" y="4389120"/>
            <a:ext cx="8046000" cy="45648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61" name="Text 16"/>
          <p:cNvSpPr/>
          <p:nvPr/>
        </p:nvSpPr>
        <p:spPr>
          <a:xfrm>
            <a:off x="731520" y="4389120"/>
            <a:ext cx="768024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0f9b8e"/>
                </a:solidFill>
                <a:effectLst/>
                <a:uFillTx/>
                <a:latin typeface="Calibri"/>
                <a:ea typeface="Calibri"/>
              </a:rPr>
              <a:t>Key Metrics: Engagement rate, Impressions, CTR, Follower growth, Lead generation</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2" name="Shape 0"/>
          <p:cNvSpPr/>
          <p:nvPr/>
        </p:nvSpPr>
        <p:spPr>
          <a:xfrm>
            <a:off x="0" y="0"/>
            <a:ext cx="9143280" cy="913680"/>
          </a:xfrm>
          <a:prstGeom prst="rect">
            <a:avLst/>
          </a:prstGeom>
          <a:solidFill>
            <a:srgbClr val="00000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363" name="Image 0" descr="preencoded.png"/>
          <p:cNvPicPr/>
          <p:nvPr/>
        </p:nvPicPr>
        <p:blipFill>
          <a:blip r:embed="rId1"/>
          <a:stretch/>
        </p:blipFill>
        <p:spPr>
          <a:xfrm>
            <a:off x="548640" y="182880"/>
            <a:ext cx="502200" cy="502200"/>
          </a:xfrm>
          <a:prstGeom prst="rect">
            <a:avLst/>
          </a:prstGeom>
          <a:noFill/>
          <a:ln w="0">
            <a:noFill/>
          </a:ln>
        </p:spPr>
      </p:pic>
      <p:sp>
        <p:nvSpPr>
          <p:cNvPr id="364" name="Text 1"/>
          <p:cNvSpPr/>
          <p:nvPr/>
        </p:nvSpPr>
        <p:spPr>
          <a:xfrm>
            <a:off x="1188720" y="0"/>
            <a:ext cx="45712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trike="noStrike" u="none">
                <a:solidFill>
                  <a:srgbClr val="ffffff"/>
                </a:solidFill>
                <a:effectLst/>
                <a:uFillTx/>
                <a:latin typeface="Trebuchet MS"/>
                <a:ea typeface="Trebuchet MS"/>
              </a:rPr>
              <a:t>TikTok</a:t>
            </a:r>
            <a:endParaRPr b="0" lang="en-US" sz="3200" strike="noStrike" u="none">
              <a:solidFill>
                <a:srgbClr val="000000"/>
              </a:solidFill>
              <a:effectLst/>
              <a:uFillTx/>
              <a:latin typeface="Arial"/>
            </a:endParaRPr>
          </a:p>
        </p:txBody>
      </p:sp>
      <p:sp>
        <p:nvSpPr>
          <p:cNvPr id="365" name="Shape 2"/>
          <p:cNvSpPr/>
          <p:nvPr/>
        </p:nvSpPr>
        <p:spPr>
          <a:xfrm>
            <a:off x="548640" y="1097280"/>
            <a:ext cx="3931200" cy="45648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66" name="Text 3"/>
          <p:cNvSpPr/>
          <p:nvPr/>
        </p:nvSpPr>
        <p:spPr>
          <a:xfrm>
            <a:off x="731520" y="1097280"/>
            <a:ext cx="365688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1a1a2e"/>
                </a:solidFill>
                <a:effectLst/>
                <a:uFillTx/>
                <a:latin typeface="Calibri"/>
                <a:ea typeface="Calibri"/>
              </a:rPr>
              <a:t>Best For: Virality and Engagement</a:t>
            </a:r>
            <a:endParaRPr b="0" lang="en-US" sz="1200" strike="noStrike" u="none">
              <a:solidFill>
                <a:srgbClr val="000000"/>
              </a:solidFill>
              <a:effectLst/>
              <a:uFillTx/>
              <a:latin typeface="Arial"/>
            </a:endParaRPr>
          </a:p>
        </p:txBody>
      </p:sp>
      <p:sp>
        <p:nvSpPr>
          <p:cNvPr id="367" name="Shape 4"/>
          <p:cNvSpPr/>
          <p:nvPr/>
        </p:nvSpPr>
        <p:spPr>
          <a:xfrm>
            <a:off x="4663440" y="1097280"/>
            <a:ext cx="3931200" cy="45648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68" name="Text 5"/>
          <p:cNvSpPr/>
          <p:nvPr/>
        </p:nvSpPr>
        <p:spPr>
          <a:xfrm>
            <a:off x="4846320" y="1097280"/>
            <a:ext cx="365688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1a1a2e"/>
                </a:solidFill>
                <a:effectLst/>
                <a:uFillTx/>
                <a:latin typeface="Calibri"/>
                <a:ea typeface="Calibri"/>
              </a:rPr>
              <a:t>Strategy: Trendy short-form content, interactive</a:t>
            </a:r>
            <a:endParaRPr b="0" lang="en-US" sz="1200" strike="noStrike" u="none">
              <a:solidFill>
                <a:srgbClr val="000000"/>
              </a:solidFill>
              <a:effectLst/>
              <a:uFillTx/>
              <a:latin typeface="Arial"/>
            </a:endParaRPr>
          </a:p>
        </p:txBody>
      </p:sp>
      <p:sp>
        <p:nvSpPr>
          <p:cNvPr id="369" name="Shape 6"/>
          <p:cNvSpPr/>
          <p:nvPr/>
        </p:nvSpPr>
        <p:spPr>
          <a:xfrm>
            <a:off x="548640" y="182880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70" name="Shape 7"/>
          <p:cNvSpPr/>
          <p:nvPr/>
        </p:nvSpPr>
        <p:spPr>
          <a:xfrm>
            <a:off x="548640" y="1828800"/>
            <a:ext cx="54000" cy="685080"/>
          </a:xfrm>
          <a:prstGeom prst="rect">
            <a:avLst/>
          </a:prstGeom>
          <a:solidFill>
            <a:srgbClr val="00000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71" name="Text 8"/>
          <p:cNvSpPr/>
          <p:nvPr/>
        </p:nvSpPr>
        <p:spPr>
          <a:xfrm>
            <a:off x="777240" y="1828800"/>
            <a:ext cx="758880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Engagement: Leverage trending challenges, memes, and hashtags</a:t>
            </a:r>
            <a:endParaRPr b="0" lang="en-US" sz="1200" strike="noStrike" u="none">
              <a:solidFill>
                <a:srgbClr val="000000"/>
              </a:solidFill>
              <a:effectLst/>
              <a:uFillTx/>
              <a:latin typeface="Arial"/>
            </a:endParaRPr>
          </a:p>
        </p:txBody>
      </p:sp>
      <p:sp>
        <p:nvSpPr>
          <p:cNvPr id="372" name="Shape 9"/>
          <p:cNvSpPr/>
          <p:nvPr/>
        </p:nvSpPr>
        <p:spPr>
          <a:xfrm>
            <a:off x="548640" y="265176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73" name="Shape 10"/>
          <p:cNvSpPr/>
          <p:nvPr/>
        </p:nvSpPr>
        <p:spPr>
          <a:xfrm>
            <a:off x="548640" y="2651760"/>
            <a:ext cx="54000" cy="685080"/>
          </a:xfrm>
          <a:prstGeom prst="rect">
            <a:avLst/>
          </a:prstGeom>
          <a:solidFill>
            <a:srgbClr val="00000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74" name="Text 11"/>
          <p:cNvSpPr/>
          <p:nvPr/>
        </p:nvSpPr>
        <p:spPr>
          <a:xfrm>
            <a:off x="777240" y="2651760"/>
            <a:ext cx="758880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Creative Freedom: The platform rewards authenticity and creativity</a:t>
            </a:r>
            <a:endParaRPr b="0" lang="en-US" sz="1200" strike="noStrike" u="none">
              <a:solidFill>
                <a:srgbClr val="000000"/>
              </a:solidFill>
              <a:effectLst/>
              <a:uFillTx/>
              <a:latin typeface="Arial"/>
            </a:endParaRPr>
          </a:p>
        </p:txBody>
      </p:sp>
      <p:sp>
        <p:nvSpPr>
          <p:cNvPr id="375" name="Shape 12"/>
          <p:cNvSpPr/>
          <p:nvPr/>
        </p:nvSpPr>
        <p:spPr>
          <a:xfrm>
            <a:off x="548640" y="347472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76" name="Shape 13"/>
          <p:cNvSpPr/>
          <p:nvPr/>
        </p:nvSpPr>
        <p:spPr>
          <a:xfrm>
            <a:off x="548640" y="3474720"/>
            <a:ext cx="54000" cy="685080"/>
          </a:xfrm>
          <a:prstGeom prst="rect">
            <a:avLst/>
          </a:prstGeom>
          <a:solidFill>
            <a:srgbClr val="00000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77" name="Text 14"/>
          <p:cNvSpPr/>
          <p:nvPr/>
        </p:nvSpPr>
        <p:spPr>
          <a:xfrm>
            <a:off x="777240" y="3474720"/>
            <a:ext cx="758880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Community: Engage directly through comments and user-generated content</a:t>
            </a:r>
            <a:endParaRPr b="0" lang="en-US" sz="1200" strike="noStrike" u="none">
              <a:solidFill>
                <a:srgbClr val="000000"/>
              </a:solidFill>
              <a:effectLst/>
              <a:uFillTx/>
              <a:latin typeface="Arial"/>
            </a:endParaRPr>
          </a:p>
        </p:txBody>
      </p:sp>
      <p:sp>
        <p:nvSpPr>
          <p:cNvPr id="378" name="Shape 15"/>
          <p:cNvSpPr/>
          <p:nvPr/>
        </p:nvSpPr>
        <p:spPr>
          <a:xfrm>
            <a:off x="548640" y="4389120"/>
            <a:ext cx="8046000" cy="45648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79" name="Text 16"/>
          <p:cNvSpPr/>
          <p:nvPr/>
        </p:nvSpPr>
        <p:spPr>
          <a:xfrm>
            <a:off x="731520" y="4389120"/>
            <a:ext cx="768024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0f9b8e"/>
                </a:solidFill>
                <a:effectLst/>
                <a:uFillTx/>
                <a:latin typeface="Calibri"/>
                <a:ea typeface="Calibri"/>
              </a:rPr>
              <a:t>Key Metrics: Engagement rate, Views, Follower growth, Completion rate, Shares</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0" name="Shape 0"/>
          <p:cNvSpPr/>
          <p:nvPr/>
        </p:nvSpPr>
        <p:spPr>
          <a:xfrm>
            <a:off x="0" y="0"/>
            <a:ext cx="9143280" cy="913680"/>
          </a:xfrm>
          <a:prstGeom prst="rect">
            <a:avLst/>
          </a:prstGeom>
          <a:solidFill>
            <a:srgbClr val="ff000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381" name="Image 0" descr="preencoded.png"/>
          <p:cNvPicPr/>
          <p:nvPr/>
        </p:nvPicPr>
        <p:blipFill>
          <a:blip r:embed="rId1"/>
          <a:stretch/>
        </p:blipFill>
        <p:spPr>
          <a:xfrm>
            <a:off x="548640" y="182880"/>
            <a:ext cx="502200" cy="502200"/>
          </a:xfrm>
          <a:prstGeom prst="rect">
            <a:avLst/>
          </a:prstGeom>
          <a:noFill/>
          <a:ln w="0">
            <a:noFill/>
          </a:ln>
        </p:spPr>
      </p:pic>
      <p:sp>
        <p:nvSpPr>
          <p:cNvPr id="382" name="Text 1"/>
          <p:cNvSpPr/>
          <p:nvPr/>
        </p:nvSpPr>
        <p:spPr>
          <a:xfrm>
            <a:off x="1188720" y="0"/>
            <a:ext cx="45712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trike="noStrike" u="none">
                <a:solidFill>
                  <a:srgbClr val="ffffff"/>
                </a:solidFill>
                <a:effectLst/>
                <a:uFillTx/>
                <a:latin typeface="Trebuchet MS"/>
                <a:ea typeface="Trebuchet MS"/>
              </a:rPr>
              <a:t>YouTube Shorts</a:t>
            </a:r>
            <a:endParaRPr b="0" lang="en-US" sz="3200" strike="noStrike" u="none">
              <a:solidFill>
                <a:srgbClr val="000000"/>
              </a:solidFill>
              <a:effectLst/>
              <a:uFillTx/>
              <a:latin typeface="Arial"/>
            </a:endParaRPr>
          </a:p>
        </p:txBody>
      </p:sp>
      <p:sp>
        <p:nvSpPr>
          <p:cNvPr id="383" name="Shape 2"/>
          <p:cNvSpPr/>
          <p:nvPr/>
        </p:nvSpPr>
        <p:spPr>
          <a:xfrm>
            <a:off x="548640" y="1097280"/>
            <a:ext cx="3931200" cy="45648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84" name="Text 3"/>
          <p:cNvSpPr/>
          <p:nvPr/>
        </p:nvSpPr>
        <p:spPr>
          <a:xfrm>
            <a:off x="731520" y="1097280"/>
            <a:ext cx="365688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1a1a2e"/>
                </a:solidFill>
                <a:effectLst/>
                <a:uFillTx/>
                <a:latin typeface="Calibri"/>
                <a:ea typeface="Calibri"/>
              </a:rPr>
              <a:t>Best For: Video Discoverability</a:t>
            </a:r>
            <a:endParaRPr b="0" lang="en-US" sz="1200" strike="noStrike" u="none">
              <a:solidFill>
                <a:srgbClr val="000000"/>
              </a:solidFill>
              <a:effectLst/>
              <a:uFillTx/>
              <a:latin typeface="Arial"/>
            </a:endParaRPr>
          </a:p>
        </p:txBody>
      </p:sp>
      <p:sp>
        <p:nvSpPr>
          <p:cNvPr id="385" name="Shape 4"/>
          <p:cNvSpPr/>
          <p:nvPr/>
        </p:nvSpPr>
        <p:spPr>
          <a:xfrm>
            <a:off x="4663440" y="1097280"/>
            <a:ext cx="3931200" cy="45648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86" name="Text 5"/>
          <p:cNvSpPr/>
          <p:nvPr/>
        </p:nvSpPr>
        <p:spPr>
          <a:xfrm>
            <a:off x="4846320" y="1097280"/>
            <a:ext cx="365688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1a1a2e"/>
                </a:solidFill>
                <a:effectLst/>
                <a:uFillTx/>
                <a:latin typeface="Calibri"/>
                <a:ea typeface="Calibri"/>
              </a:rPr>
              <a:t>Strategy: Mini-tutorials, engaging hooks</a:t>
            </a:r>
            <a:endParaRPr b="0" lang="en-US" sz="1200" strike="noStrike" u="none">
              <a:solidFill>
                <a:srgbClr val="000000"/>
              </a:solidFill>
              <a:effectLst/>
              <a:uFillTx/>
              <a:latin typeface="Arial"/>
            </a:endParaRPr>
          </a:p>
        </p:txBody>
      </p:sp>
      <p:sp>
        <p:nvSpPr>
          <p:cNvPr id="387" name="Shape 6"/>
          <p:cNvSpPr/>
          <p:nvPr/>
        </p:nvSpPr>
        <p:spPr>
          <a:xfrm>
            <a:off x="548640" y="182880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88" name="Shape 7"/>
          <p:cNvSpPr/>
          <p:nvPr/>
        </p:nvSpPr>
        <p:spPr>
          <a:xfrm>
            <a:off x="548640" y="1828800"/>
            <a:ext cx="54000" cy="685080"/>
          </a:xfrm>
          <a:prstGeom prst="rect">
            <a:avLst/>
          </a:prstGeom>
          <a:solidFill>
            <a:srgbClr val="ff000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89" name="Text 8"/>
          <p:cNvSpPr/>
          <p:nvPr/>
        </p:nvSpPr>
        <p:spPr>
          <a:xfrm>
            <a:off x="777240" y="1828800"/>
            <a:ext cx="758880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Quick Tutorials: Perfect for bite-sized product demos and how-tos</a:t>
            </a:r>
            <a:endParaRPr b="0" lang="en-US" sz="1200" strike="noStrike" u="none">
              <a:solidFill>
                <a:srgbClr val="000000"/>
              </a:solidFill>
              <a:effectLst/>
              <a:uFillTx/>
              <a:latin typeface="Arial"/>
            </a:endParaRPr>
          </a:p>
        </p:txBody>
      </p:sp>
      <p:sp>
        <p:nvSpPr>
          <p:cNvPr id="390" name="Shape 9"/>
          <p:cNvSpPr/>
          <p:nvPr/>
        </p:nvSpPr>
        <p:spPr>
          <a:xfrm>
            <a:off x="548640" y="265176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91" name="Shape 10"/>
          <p:cNvSpPr/>
          <p:nvPr/>
        </p:nvSpPr>
        <p:spPr>
          <a:xfrm>
            <a:off x="548640" y="2651760"/>
            <a:ext cx="54000" cy="685080"/>
          </a:xfrm>
          <a:prstGeom prst="rect">
            <a:avLst/>
          </a:prstGeom>
          <a:solidFill>
            <a:srgbClr val="ff000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92" name="Text 11"/>
          <p:cNvSpPr/>
          <p:nvPr/>
        </p:nvSpPr>
        <p:spPr>
          <a:xfrm>
            <a:off x="777240" y="2651760"/>
            <a:ext cx="758880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Strong Hooks: Open with a hook in the first 3-5 seconds</a:t>
            </a:r>
            <a:endParaRPr b="0" lang="en-US" sz="1200" strike="noStrike" u="none">
              <a:solidFill>
                <a:srgbClr val="000000"/>
              </a:solidFill>
              <a:effectLst/>
              <a:uFillTx/>
              <a:latin typeface="Arial"/>
            </a:endParaRPr>
          </a:p>
        </p:txBody>
      </p:sp>
      <p:sp>
        <p:nvSpPr>
          <p:cNvPr id="393" name="Shape 12"/>
          <p:cNvSpPr/>
          <p:nvPr/>
        </p:nvSpPr>
        <p:spPr>
          <a:xfrm>
            <a:off x="548640" y="347472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94" name="Shape 13"/>
          <p:cNvSpPr/>
          <p:nvPr/>
        </p:nvSpPr>
        <p:spPr>
          <a:xfrm>
            <a:off x="548640" y="3474720"/>
            <a:ext cx="54000" cy="685080"/>
          </a:xfrm>
          <a:prstGeom prst="rect">
            <a:avLst/>
          </a:prstGeom>
          <a:solidFill>
            <a:srgbClr val="ff000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95" name="Text 14"/>
          <p:cNvSpPr/>
          <p:nvPr/>
        </p:nvSpPr>
        <p:spPr>
          <a:xfrm>
            <a:off x="777240" y="3474720"/>
            <a:ext cx="758880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Algorithm Friendly: Favours new content - great for discovery</a:t>
            </a:r>
            <a:endParaRPr b="0" lang="en-US" sz="1200" strike="noStrike" u="none">
              <a:solidFill>
                <a:srgbClr val="000000"/>
              </a:solidFill>
              <a:effectLst/>
              <a:uFillTx/>
              <a:latin typeface="Arial"/>
            </a:endParaRPr>
          </a:p>
        </p:txBody>
      </p:sp>
      <p:sp>
        <p:nvSpPr>
          <p:cNvPr id="396" name="Shape 15"/>
          <p:cNvSpPr/>
          <p:nvPr/>
        </p:nvSpPr>
        <p:spPr>
          <a:xfrm>
            <a:off x="548640" y="4389120"/>
            <a:ext cx="8046000" cy="45648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397" name="Text 16"/>
          <p:cNvSpPr/>
          <p:nvPr/>
        </p:nvSpPr>
        <p:spPr>
          <a:xfrm>
            <a:off x="731520" y="4389120"/>
            <a:ext cx="768024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0f9b8e"/>
                </a:solidFill>
                <a:effectLst/>
                <a:uFillTx/>
                <a:latin typeface="Calibri"/>
                <a:ea typeface="Calibri"/>
              </a:rPr>
              <a:t>Key Metrics: Views, Engagement rate, Watch time, Subscriber growth, CTR</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8" name="Shape 0"/>
          <p:cNvSpPr/>
          <p:nvPr/>
        </p:nvSpPr>
        <p:spPr>
          <a:xfrm>
            <a:off x="0" y="0"/>
            <a:ext cx="9143280" cy="913680"/>
          </a:xfrm>
          <a:prstGeom prst="rect">
            <a:avLst/>
          </a:prstGeom>
          <a:solidFill>
            <a:srgbClr val="1877f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399" name="Image 0" descr="preencoded.png"/>
          <p:cNvPicPr/>
          <p:nvPr/>
        </p:nvPicPr>
        <p:blipFill>
          <a:blip r:embed="rId1"/>
          <a:stretch/>
        </p:blipFill>
        <p:spPr>
          <a:xfrm>
            <a:off x="548640" y="182880"/>
            <a:ext cx="502200" cy="502200"/>
          </a:xfrm>
          <a:prstGeom prst="rect">
            <a:avLst/>
          </a:prstGeom>
          <a:noFill/>
          <a:ln w="0">
            <a:noFill/>
          </a:ln>
        </p:spPr>
      </p:pic>
      <p:sp>
        <p:nvSpPr>
          <p:cNvPr id="400" name="Text 1"/>
          <p:cNvSpPr/>
          <p:nvPr/>
        </p:nvSpPr>
        <p:spPr>
          <a:xfrm>
            <a:off x="1188720" y="0"/>
            <a:ext cx="45712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200" strike="noStrike" u="none">
                <a:solidFill>
                  <a:srgbClr val="ffffff"/>
                </a:solidFill>
                <a:effectLst/>
                <a:uFillTx/>
                <a:latin typeface="Trebuchet MS"/>
                <a:ea typeface="Trebuchet MS"/>
              </a:rPr>
              <a:t>Facebook</a:t>
            </a:r>
            <a:endParaRPr b="0" lang="en-US" sz="3200" strike="noStrike" u="none">
              <a:solidFill>
                <a:srgbClr val="000000"/>
              </a:solidFill>
              <a:effectLst/>
              <a:uFillTx/>
              <a:latin typeface="Arial"/>
            </a:endParaRPr>
          </a:p>
        </p:txBody>
      </p:sp>
      <p:sp>
        <p:nvSpPr>
          <p:cNvPr id="401" name="Shape 2"/>
          <p:cNvSpPr/>
          <p:nvPr/>
        </p:nvSpPr>
        <p:spPr>
          <a:xfrm>
            <a:off x="548640" y="1097280"/>
            <a:ext cx="3931200" cy="45648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402" name="Text 3"/>
          <p:cNvSpPr/>
          <p:nvPr/>
        </p:nvSpPr>
        <p:spPr>
          <a:xfrm>
            <a:off x="731520" y="1097280"/>
            <a:ext cx="365688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1a1a2e"/>
                </a:solidFill>
                <a:effectLst/>
                <a:uFillTx/>
                <a:latin typeface="Calibri"/>
                <a:ea typeface="Calibri"/>
              </a:rPr>
              <a:t>Best For: Community Building and B2C</a:t>
            </a:r>
            <a:endParaRPr b="0" lang="en-US" sz="1200" strike="noStrike" u="none">
              <a:solidFill>
                <a:srgbClr val="000000"/>
              </a:solidFill>
              <a:effectLst/>
              <a:uFillTx/>
              <a:latin typeface="Arial"/>
            </a:endParaRPr>
          </a:p>
        </p:txBody>
      </p:sp>
      <p:sp>
        <p:nvSpPr>
          <p:cNvPr id="403" name="Shape 4"/>
          <p:cNvSpPr/>
          <p:nvPr/>
        </p:nvSpPr>
        <p:spPr>
          <a:xfrm>
            <a:off x="4663440" y="1097280"/>
            <a:ext cx="3931200" cy="45648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404" name="Text 5"/>
          <p:cNvSpPr/>
          <p:nvPr/>
        </p:nvSpPr>
        <p:spPr>
          <a:xfrm>
            <a:off x="4846320" y="1097280"/>
            <a:ext cx="365688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1a1a2e"/>
                </a:solidFill>
                <a:effectLst/>
                <a:uFillTx/>
                <a:latin typeface="Calibri"/>
                <a:ea typeface="Calibri"/>
              </a:rPr>
              <a:t>Strategy: Content variety, Groups, Targeted Ads</a:t>
            </a:r>
            <a:endParaRPr b="0" lang="en-US" sz="1200" strike="noStrike" u="none">
              <a:solidFill>
                <a:srgbClr val="000000"/>
              </a:solidFill>
              <a:effectLst/>
              <a:uFillTx/>
              <a:latin typeface="Arial"/>
            </a:endParaRPr>
          </a:p>
        </p:txBody>
      </p:sp>
      <p:sp>
        <p:nvSpPr>
          <p:cNvPr id="405" name="Shape 6"/>
          <p:cNvSpPr/>
          <p:nvPr/>
        </p:nvSpPr>
        <p:spPr>
          <a:xfrm>
            <a:off x="548640" y="182880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406" name="Shape 7"/>
          <p:cNvSpPr/>
          <p:nvPr/>
        </p:nvSpPr>
        <p:spPr>
          <a:xfrm>
            <a:off x="548640" y="1828800"/>
            <a:ext cx="54000" cy="685080"/>
          </a:xfrm>
          <a:prstGeom prst="rect">
            <a:avLst/>
          </a:prstGeom>
          <a:solidFill>
            <a:srgbClr val="1877f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407" name="Text 8"/>
          <p:cNvSpPr/>
          <p:nvPr/>
        </p:nvSpPr>
        <p:spPr>
          <a:xfrm>
            <a:off x="777240" y="1828800"/>
            <a:ext cx="758880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Brand Awareness: Build loyalty through pages, interactions, and niche groups</a:t>
            </a:r>
            <a:endParaRPr b="0" lang="en-US" sz="1200" strike="noStrike" u="none">
              <a:solidFill>
                <a:srgbClr val="000000"/>
              </a:solidFill>
              <a:effectLst/>
              <a:uFillTx/>
              <a:latin typeface="Arial"/>
            </a:endParaRPr>
          </a:p>
        </p:txBody>
      </p:sp>
      <p:sp>
        <p:nvSpPr>
          <p:cNvPr id="408" name="Shape 9"/>
          <p:cNvSpPr/>
          <p:nvPr/>
        </p:nvSpPr>
        <p:spPr>
          <a:xfrm>
            <a:off x="548640" y="265176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409" name="Shape 10"/>
          <p:cNvSpPr/>
          <p:nvPr/>
        </p:nvSpPr>
        <p:spPr>
          <a:xfrm>
            <a:off x="548640" y="2651760"/>
            <a:ext cx="54000" cy="685080"/>
          </a:xfrm>
          <a:prstGeom prst="rect">
            <a:avLst/>
          </a:prstGeom>
          <a:solidFill>
            <a:srgbClr val="1877f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410" name="Text 11"/>
          <p:cNvSpPr/>
          <p:nvPr/>
        </p:nvSpPr>
        <p:spPr>
          <a:xfrm>
            <a:off x="777240" y="2651760"/>
            <a:ext cx="758880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Content Variety: Experiment with text, images, videos, stories, and polls</a:t>
            </a:r>
            <a:endParaRPr b="0" lang="en-US" sz="1200" strike="noStrike" u="none">
              <a:solidFill>
                <a:srgbClr val="000000"/>
              </a:solidFill>
              <a:effectLst/>
              <a:uFillTx/>
              <a:latin typeface="Arial"/>
            </a:endParaRPr>
          </a:p>
        </p:txBody>
      </p:sp>
      <p:sp>
        <p:nvSpPr>
          <p:cNvPr id="411" name="Shape 12"/>
          <p:cNvSpPr/>
          <p:nvPr/>
        </p:nvSpPr>
        <p:spPr>
          <a:xfrm>
            <a:off x="548640" y="3474720"/>
            <a:ext cx="8046000" cy="68508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412" name="Shape 13"/>
          <p:cNvSpPr/>
          <p:nvPr/>
        </p:nvSpPr>
        <p:spPr>
          <a:xfrm>
            <a:off x="548640" y="3474720"/>
            <a:ext cx="54000" cy="685080"/>
          </a:xfrm>
          <a:prstGeom prst="rect">
            <a:avLst/>
          </a:prstGeom>
          <a:solidFill>
            <a:srgbClr val="1877f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413" name="Text 14"/>
          <p:cNvSpPr/>
          <p:nvPr/>
        </p:nvSpPr>
        <p:spPr>
          <a:xfrm>
            <a:off x="777240" y="3474720"/>
            <a:ext cx="7588800" cy="685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Targeted Ads: Use advanced targeting to reach specific audiences</a:t>
            </a:r>
            <a:endParaRPr b="0" lang="en-US" sz="1200" strike="noStrike" u="none">
              <a:solidFill>
                <a:srgbClr val="000000"/>
              </a:solidFill>
              <a:effectLst/>
              <a:uFillTx/>
              <a:latin typeface="Arial"/>
            </a:endParaRPr>
          </a:p>
        </p:txBody>
      </p:sp>
      <p:sp>
        <p:nvSpPr>
          <p:cNvPr id="414" name="Shape 15"/>
          <p:cNvSpPr/>
          <p:nvPr/>
        </p:nvSpPr>
        <p:spPr>
          <a:xfrm>
            <a:off x="548640" y="4389120"/>
            <a:ext cx="8046000" cy="45648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415" name="Text 16"/>
          <p:cNvSpPr/>
          <p:nvPr/>
        </p:nvSpPr>
        <p:spPr>
          <a:xfrm>
            <a:off x="731520" y="4389120"/>
            <a:ext cx="768024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0f9b8e"/>
                </a:solidFill>
                <a:effectLst/>
                <a:uFillTx/>
                <a:latin typeface="Calibri"/>
                <a:ea typeface="Calibri"/>
              </a:rPr>
              <a:t>Key Metrics: Engagement rate, Reach, CTR, Follower growth, Conversion rate</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6" name="Text 0"/>
          <p:cNvSpPr/>
          <p:nvPr/>
        </p:nvSpPr>
        <p:spPr>
          <a:xfrm>
            <a:off x="548640" y="182880"/>
            <a:ext cx="6400080" cy="502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trike="noStrike" u="none">
                <a:solidFill>
                  <a:srgbClr val="1a1a2e"/>
                </a:solidFill>
                <a:effectLst/>
                <a:uFillTx/>
                <a:latin typeface="Trebuchet MS"/>
                <a:ea typeface="Trebuchet MS"/>
              </a:rPr>
              <a:t>Overview of Social Media Use</a:t>
            </a:r>
            <a:endParaRPr b="0" lang="en-US" sz="2800" strike="noStrike" u="none">
              <a:solidFill>
                <a:srgbClr val="000000"/>
              </a:solidFill>
              <a:effectLst/>
              <a:uFillTx/>
              <a:latin typeface="Arial"/>
            </a:endParaRPr>
          </a:p>
        </p:txBody>
      </p:sp>
      <p:sp>
        <p:nvSpPr>
          <p:cNvPr id="417" name="Text 1"/>
          <p:cNvSpPr/>
          <p:nvPr/>
        </p:nvSpPr>
        <p:spPr>
          <a:xfrm>
            <a:off x="548640" y="640080"/>
            <a:ext cx="36568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trike="noStrike" u="none">
                <a:solidFill>
                  <a:srgbClr val="0f9b8e"/>
                </a:solidFill>
                <a:effectLst/>
                <a:uFillTx/>
                <a:latin typeface="Calibri"/>
                <a:ea typeface="Calibri"/>
              </a:rPr>
              <a:t>Singapore  |  Feb 2025</a:t>
            </a:r>
            <a:endParaRPr b="0" lang="en-US" sz="1200" strike="noStrike" u="none">
              <a:solidFill>
                <a:srgbClr val="000000"/>
              </a:solidFill>
              <a:effectLst/>
              <a:uFillTx/>
              <a:latin typeface="Arial"/>
            </a:endParaRPr>
          </a:p>
        </p:txBody>
      </p:sp>
      <p:sp>
        <p:nvSpPr>
          <p:cNvPr id="418" name="Shape 2"/>
          <p:cNvSpPr/>
          <p:nvPr/>
        </p:nvSpPr>
        <p:spPr>
          <a:xfrm>
            <a:off x="365760" y="1051560"/>
            <a:ext cx="1599480" cy="1828080"/>
          </a:xfrm>
          <a:prstGeom prst="rect">
            <a:avLst/>
          </a:prstGeom>
          <a:solidFill>
            <a:srgbClr val="0d3b4f"/>
          </a:solidFill>
          <a:ln w="25400">
            <a:solidFill>
              <a:srgbClr val="0f9b8e"/>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19" name="Text 3"/>
          <p:cNvSpPr/>
          <p:nvPr/>
        </p:nvSpPr>
        <p:spPr>
          <a:xfrm>
            <a:off x="365760" y="1188720"/>
            <a:ext cx="159948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400" strike="noStrike" u="none">
                <a:solidFill>
                  <a:srgbClr val="0f9b8e"/>
                </a:solidFill>
                <a:effectLst/>
                <a:uFillTx/>
                <a:latin typeface="Trebuchet MS"/>
                <a:ea typeface="Trebuchet MS"/>
              </a:rPr>
              <a:t>5.16M</a:t>
            </a:r>
            <a:endParaRPr b="0" lang="en-US" sz="2400" strike="noStrike" u="none">
              <a:solidFill>
                <a:srgbClr val="000000"/>
              </a:solidFill>
              <a:effectLst/>
              <a:uFillTx/>
              <a:latin typeface="Arial"/>
            </a:endParaRPr>
          </a:p>
        </p:txBody>
      </p:sp>
      <p:sp>
        <p:nvSpPr>
          <p:cNvPr id="420" name="Text 4"/>
          <p:cNvSpPr/>
          <p:nvPr/>
        </p:nvSpPr>
        <p:spPr>
          <a:xfrm>
            <a:off x="365760" y="1691640"/>
            <a:ext cx="159948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trike="noStrike" u="none">
                <a:solidFill>
                  <a:srgbClr val="1a1a2e"/>
                </a:solidFill>
                <a:effectLst/>
                <a:uFillTx/>
                <a:latin typeface="Calibri"/>
                <a:ea typeface="Calibri"/>
              </a:rPr>
              <a:t>Social Media</a:t>
            </a:r>
            <a:endParaRPr b="0" lang="en-US" sz="900" strike="noStrike" u="none">
              <a:solidFill>
                <a:srgbClr val="000000"/>
              </a:solidFill>
              <a:effectLst/>
              <a:uFillTx/>
              <a:latin typeface="Arial"/>
            </a:endParaRPr>
          </a:p>
          <a:p>
            <a:pPr algn="ctr" defTabSz="914400">
              <a:lnSpc>
                <a:spcPct val="100000"/>
              </a:lnSpc>
              <a:tabLst>
                <a:tab algn="l" pos="0"/>
              </a:tabLst>
            </a:pPr>
            <a:r>
              <a:rPr b="0" lang="en-US" sz="900" strike="noStrike" u="none">
                <a:solidFill>
                  <a:srgbClr val="1a1a2e"/>
                </a:solidFill>
                <a:effectLst/>
                <a:uFillTx/>
                <a:latin typeface="Calibri"/>
                <a:ea typeface="Calibri"/>
              </a:rPr>
              <a:t>User Identities</a:t>
            </a:r>
            <a:endParaRPr b="0" lang="en-US" sz="900" strike="noStrike" u="none">
              <a:solidFill>
                <a:srgbClr val="000000"/>
              </a:solidFill>
              <a:effectLst/>
              <a:uFillTx/>
              <a:latin typeface="Arial"/>
            </a:endParaRPr>
          </a:p>
        </p:txBody>
      </p:sp>
      <p:sp>
        <p:nvSpPr>
          <p:cNvPr id="421" name="Shape 5"/>
          <p:cNvSpPr/>
          <p:nvPr/>
        </p:nvSpPr>
        <p:spPr>
          <a:xfrm>
            <a:off x="2103120" y="1051560"/>
            <a:ext cx="1599480" cy="182808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22" name="Text 6"/>
          <p:cNvSpPr/>
          <p:nvPr/>
        </p:nvSpPr>
        <p:spPr>
          <a:xfrm>
            <a:off x="2103120" y="1188720"/>
            <a:ext cx="159948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400" strike="noStrike" u="none">
                <a:solidFill>
                  <a:srgbClr val="e94560"/>
                </a:solidFill>
                <a:effectLst/>
                <a:uFillTx/>
                <a:latin typeface="Trebuchet MS"/>
                <a:ea typeface="Trebuchet MS"/>
              </a:rPr>
              <a:t>0%</a:t>
            </a:r>
            <a:endParaRPr b="0" lang="en-US" sz="2400" strike="noStrike" u="none">
              <a:solidFill>
                <a:srgbClr val="000000"/>
              </a:solidFill>
              <a:effectLst/>
              <a:uFillTx/>
              <a:latin typeface="Arial"/>
            </a:endParaRPr>
          </a:p>
        </p:txBody>
      </p:sp>
      <p:sp>
        <p:nvSpPr>
          <p:cNvPr id="423" name="Text 7"/>
          <p:cNvSpPr/>
          <p:nvPr/>
        </p:nvSpPr>
        <p:spPr>
          <a:xfrm>
            <a:off x="2103120" y="1691640"/>
            <a:ext cx="159948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trike="noStrike" u="none">
                <a:solidFill>
                  <a:srgbClr val="1a1a2e"/>
                </a:solidFill>
                <a:effectLst/>
                <a:uFillTx/>
                <a:latin typeface="Calibri"/>
                <a:ea typeface="Calibri"/>
              </a:rPr>
              <a:t>Quarter-on-Quarter</a:t>
            </a:r>
            <a:endParaRPr b="0" lang="en-US" sz="900" strike="noStrike" u="none">
              <a:solidFill>
                <a:srgbClr val="000000"/>
              </a:solidFill>
              <a:effectLst/>
              <a:uFillTx/>
              <a:latin typeface="Arial"/>
            </a:endParaRPr>
          </a:p>
          <a:p>
            <a:pPr algn="ctr" defTabSz="914400">
              <a:lnSpc>
                <a:spcPct val="100000"/>
              </a:lnSpc>
              <a:tabLst>
                <a:tab algn="l" pos="0"/>
              </a:tabLst>
            </a:pPr>
            <a:r>
              <a:rPr b="0" lang="en-US" sz="900" strike="noStrike" u="none">
                <a:solidFill>
                  <a:srgbClr val="1a1a2e"/>
                </a:solidFill>
                <a:effectLst/>
                <a:uFillTx/>
                <a:latin typeface="Calibri"/>
                <a:ea typeface="Calibri"/>
              </a:rPr>
              <a:t>Change</a:t>
            </a:r>
            <a:endParaRPr b="0" lang="en-US" sz="900" strike="noStrike" u="none">
              <a:solidFill>
                <a:srgbClr val="000000"/>
              </a:solidFill>
              <a:effectLst/>
              <a:uFillTx/>
              <a:latin typeface="Arial"/>
            </a:endParaRPr>
          </a:p>
        </p:txBody>
      </p:sp>
      <p:sp>
        <p:nvSpPr>
          <p:cNvPr id="424" name="Text 8"/>
          <p:cNvSpPr/>
          <p:nvPr/>
        </p:nvSpPr>
        <p:spPr>
          <a:xfrm>
            <a:off x="2103120" y="2286000"/>
            <a:ext cx="1599480" cy="319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0f9b8e"/>
                </a:solidFill>
                <a:effectLst/>
                <a:uFillTx/>
                <a:latin typeface="Calibri"/>
                <a:ea typeface="Calibri"/>
              </a:rPr>
              <a:t>[Unchanged]</a:t>
            </a:r>
            <a:endParaRPr b="0" lang="en-US" sz="800" strike="noStrike" u="none">
              <a:solidFill>
                <a:srgbClr val="000000"/>
              </a:solidFill>
              <a:effectLst/>
              <a:uFillTx/>
              <a:latin typeface="Arial"/>
            </a:endParaRPr>
          </a:p>
        </p:txBody>
      </p:sp>
      <p:sp>
        <p:nvSpPr>
          <p:cNvPr id="425" name="Shape 9"/>
          <p:cNvSpPr/>
          <p:nvPr/>
        </p:nvSpPr>
        <p:spPr>
          <a:xfrm>
            <a:off x="3840480" y="1051560"/>
            <a:ext cx="1599480" cy="182808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26" name="Text 10"/>
          <p:cNvSpPr/>
          <p:nvPr/>
        </p:nvSpPr>
        <p:spPr>
          <a:xfrm>
            <a:off x="3840480" y="1188720"/>
            <a:ext cx="159948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400" strike="noStrike" u="none">
                <a:solidFill>
                  <a:srgbClr val="e94560"/>
                </a:solidFill>
                <a:effectLst/>
                <a:uFillTx/>
                <a:latin typeface="Trebuchet MS"/>
                <a:ea typeface="Trebuchet MS"/>
              </a:rPr>
              <a:t>+0.6%</a:t>
            </a:r>
            <a:endParaRPr b="0" lang="en-US" sz="2400" strike="noStrike" u="none">
              <a:solidFill>
                <a:srgbClr val="000000"/>
              </a:solidFill>
              <a:effectLst/>
              <a:uFillTx/>
              <a:latin typeface="Arial"/>
            </a:endParaRPr>
          </a:p>
        </p:txBody>
      </p:sp>
      <p:sp>
        <p:nvSpPr>
          <p:cNvPr id="427" name="Text 11"/>
          <p:cNvSpPr/>
          <p:nvPr/>
        </p:nvSpPr>
        <p:spPr>
          <a:xfrm>
            <a:off x="3840480" y="1691640"/>
            <a:ext cx="159948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trike="noStrike" u="none">
                <a:solidFill>
                  <a:srgbClr val="1a1a2e"/>
                </a:solidFill>
                <a:effectLst/>
                <a:uFillTx/>
                <a:latin typeface="Calibri"/>
                <a:ea typeface="Calibri"/>
              </a:rPr>
              <a:t>Year-on-Year</a:t>
            </a:r>
            <a:endParaRPr b="0" lang="en-US" sz="900" strike="noStrike" u="none">
              <a:solidFill>
                <a:srgbClr val="000000"/>
              </a:solidFill>
              <a:effectLst/>
              <a:uFillTx/>
              <a:latin typeface="Arial"/>
            </a:endParaRPr>
          </a:p>
          <a:p>
            <a:pPr algn="ctr" defTabSz="914400">
              <a:lnSpc>
                <a:spcPct val="100000"/>
              </a:lnSpc>
              <a:tabLst>
                <a:tab algn="l" pos="0"/>
              </a:tabLst>
            </a:pPr>
            <a:r>
              <a:rPr b="0" lang="en-US" sz="900" strike="noStrike" u="none">
                <a:solidFill>
                  <a:srgbClr val="1a1a2e"/>
                </a:solidFill>
                <a:effectLst/>
                <a:uFillTx/>
                <a:latin typeface="Calibri"/>
                <a:ea typeface="Calibri"/>
              </a:rPr>
              <a:t>Change</a:t>
            </a:r>
            <a:endParaRPr b="0" lang="en-US" sz="900" strike="noStrike" u="none">
              <a:solidFill>
                <a:srgbClr val="000000"/>
              </a:solidFill>
              <a:effectLst/>
              <a:uFillTx/>
              <a:latin typeface="Arial"/>
            </a:endParaRPr>
          </a:p>
        </p:txBody>
      </p:sp>
      <p:sp>
        <p:nvSpPr>
          <p:cNvPr id="428" name="Text 12"/>
          <p:cNvSpPr/>
          <p:nvPr/>
        </p:nvSpPr>
        <p:spPr>
          <a:xfrm>
            <a:off x="3840480" y="2286000"/>
            <a:ext cx="1599480" cy="319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0f9b8e"/>
                </a:solidFill>
                <a:effectLst/>
                <a:uFillTx/>
                <a:latin typeface="Calibri"/>
                <a:ea typeface="Calibri"/>
              </a:rPr>
              <a:t>+30 Thousand</a:t>
            </a:r>
            <a:endParaRPr b="0" lang="en-US" sz="800" strike="noStrike" u="none">
              <a:solidFill>
                <a:srgbClr val="000000"/>
              </a:solidFill>
              <a:effectLst/>
              <a:uFillTx/>
              <a:latin typeface="Arial"/>
            </a:endParaRPr>
          </a:p>
        </p:txBody>
      </p:sp>
      <p:sp>
        <p:nvSpPr>
          <p:cNvPr id="429" name="Shape 13"/>
          <p:cNvSpPr/>
          <p:nvPr/>
        </p:nvSpPr>
        <p:spPr>
          <a:xfrm>
            <a:off x="5577840" y="1051560"/>
            <a:ext cx="1599480" cy="1828080"/>
          </a:xfrm>
          <a:prstGeom prst="rect">
            <a:avLst/>
          </a:prstGeom>
          <a:solidFill>
            <a:srgbClr val="0d3b4f"/>
          </a:solidFill>
          <a:ln w="25400">
            <a:solidFill>
              <a:srgbClr val="0f9b8e"/>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30" name="Text 14"/>
          <p:cNvSpPr/>
          <p:nvPr/>
        </p:nvSpPr>
        <p:spPr>
          <a:xfrm>
            <a:off x="5577840" y="1188720"/>
            <a:ext cx="159948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400" strike="noStrike" u="none">
                <a:solidFill>
                  <a:srgbClr val="0f9b8e"/>
                </a:solidFill>
                <a:effectLst/>
                <a:uFillTx/>
                <a:latin typeface="Trebuchet MS"/>
                <a:ea typeface="Trebuchet MS"/>
              </a:rPr>
              <a:t>2H 02M</a:t>
            </a:r>
            <a:endParaRPr b="0" lang="en-US" sz="2400" strike="noStrike" u="none">
              <a:solidFill>
                <a:srgbClr val="000000"/>
              </a:solidFill>
              <a:effectLst/>
              <a:uFillTx/>
              <a:latin typeface="Arial"/>
            </a:endParaRPr>
          </a:p>
        </p:txBody>
      </p:sp>
      <p:sp>
        <p:nvSpPr>
          <p:cNvPr id="431" name="Text 15"/>
          <p:cNvSpPr/>
          <p:nvPr/>
        </p:nvSpPr>
        <p:spPr>
          <a:xfrm>
            <a:off x="5577840" y="1691640"/>
            <a:ext cx="159948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trike="noStrike" u="none">
                <a:solidFill>
                  <a:srgbClr val="1a1a2e"/>
                </a:solidFill>
                <a:effectLst/>
                <a:uFillTx/>
                <a:latin typeface="Calibri"/>
                <a:ea typeface="Calibri"/>
              </a:rPr>
              <a:t>Average Daily Time</a:t>
            </a:r>
            <a:endParaRPr b="0" lang="en-US" sz="900" strike="noStrike" u="none">
              <a:solidFill>
                <a:srgbClr val="000000"/>
              </a:solidFill>
              <a:effectLst/>
              <a:uFillTx/>
              <a:latin typeface="Arial"/>
            </a:endParaRPr>
          </a:p>
          <a:p>
            <a:pPr algn="ctr" defTabSz="914400">
              <a:lnSpc>
                <a:spcPct val="100000"/>
              </a:lnSpc>
              <a:tabLst>
                <a:tab algn="l" pos="0"/>
              </a:tabLst>
            </a:pPr>
            <a:r>
              <a:rPr b="0" lang="en-US" sz="900" strike="noStrike" u="none">
                <a:solidFill>
                  <a:srgbClr val="1a1a2e"/>
                </a:solidFill>
                <a:effectLst/>
                <a:uFillTx/>
                <a:latin typeface="Calibri"/>
                <a:ea typeface="Calibri"/>
              </a:rPr>
              <a:t>on Social Media</a:t>
            </a:r>
            <a:endParaRPr b="0" lang="en-US" sz="900" strike="noStrike" u="none">
              <a:solidFill>
                <a:srgbClr val="000000"/>
              </a:solidFill>
              <a:effectLst/>
              <a:uFillTx/>
              <a:latin typeface="Arial"/>
            </a:endParaRPr>
          </a:p>
        </p:txBody>
      </p:sp>
      <p:sp>
        <p:nvSpPr>
          <p:cNvPr id="432" name="Text 16"/>
          <p:cNvSpPr/>
          <p:nvPr/>
        </p:nvSpPr>
        <p:spPr>
          <a:xfrm>
            <a:off x="5577840" y="2286000"/>
            <a:ext cx="1599480" cy="319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0f9b8e"/>
                </a:solidFill>
                <a:effectLst/>
                <a:uFillTx/>
                <a:latin typeface="Calibri"/>
                <a:ea typeface="Calibri"/>
              </a:rPr>
              <a:t>YOY: -8.4% (-11 mins)</a:t>
            </a:r>
            <a:endParaRPr b="0" lang="en-US" sz="800" strike="noStrike" u="none">
              <a:solidFill>
                <a:srgbClr val="000000"/>
              </a:solidFill>
              <a:effectLst/>
              <a:uFillTx/>
              <a:latin typeface="Arial"/>
            </a:endParaRPr>
          </a:p>
        </p:txBody>
      </p:sp>
      <p:sp>
        <p:nvSpPr>
          <p:cNvPr id="433" name="Shape 17"/>
          <p:cNvSpPr/>
          <p:nvPr/>
        </p:nvSpPr>
        <p:spPr>
          <a:xfrm>
            <a:off x="7315200" y="1051560"/>
            <a:ext cx="1599480" cy="1828080"/>
          </a:xfrm>
          <a:prstGeom prst="rect">
            <a:avLst/>
          </a:prstGeom>
          <a:solidFill>
            <a:srgbClr val="0d3b4f"/>
          </a:solidFill>
          <a:ln w="25400">
            <a:solidFill>
              <a:srgbClr val="0f9b8e"/>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34" name="Text 18"/>
          <p:cNvSpPr/>
          <p:nvPr/>
        </p:nvSpPr>
        <p:spPr>
          <a:xfrm>
            <a:off x="7315200" y="1188720"/>
            <a:ext cx="159948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400" strike="noStrike" u="none">
                <a:solidFill>
                  <a:srgbClr val="0f9b8e"/>
                </a:solidFill>
                <a:effectLst/>
                <a:uFillTx/>
                <a:latin typeface="Trebuchet MS"/>
                <a:ea typeface="Trebuchet MS"/>
              </a:rPr>
              <a:t>7.2</a:t>
            </a:r>
            <a:endParaRPr b="0" lang="en-US" sz="2400" strike="noStrike" u="none">
              <a:solidFill>
                <a:srgbClr val="000000"/>
              </a:solidFill>
              <a:effectLst/>
              <a:uFillTx/>
              <a:latin typeface="Arial"/>
            </a:endParaRPr>
          </a:p>
        </p:txBody>
      </p:sp>
      <p:sp>
        <p:nvSpPr>
          <p:cNvPr id="435" name="Text 19"/>
          <p:cNvSpPr/>
          <p:nvPr/>
        </p:nvSpPr>
        <p:spPr>
          <a:xfrm>
            <a:off x="7315200" y="1691640"/>
            <a:ext cx="159948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trike="noStrike" u="none">
                <a:solidFill>
                  <a:srgbClr val="1a1a2e"/>
                </a:solidFill>
                <a:effectLst/>
                <a:uFillTx/>
                <a:latin typeface="Calibri"/>
                <a:ea typeface="Calibri"/>
              </a:rPr>
              <a:t>Platforms Used</a:t>
            </a:r>
            <a:endParaRPr b="0" lang="en-US" sz="900" strike="noStrike" u="none">
              <a:solidFill>
                <a:srgbClr val="000000"/>
              </a:solidFill>
              <a:effectLst/>
              <a:uFillTx/>
              <a:latin typeface="Arial"/>
            </a:endParaRPr>
          </a:p>
          <a:p>
            <a:pPr algn="ctr" defTabSz="914400">
              <a:lnSpc>
                <a:spcPct val="100000"/>
              </a:lnSpc>
              <a:tabLst>
                <a:tab algn="l" pos="0"/>
              </a:tabLst>
            </a:pPr>
            <a:r>
              <a:rPr b="0" lang="en-US" sz="900" strike="noStrike" u="none">
                <a:solidFill>
                  <a:srgbClr val="1a1a2e"/>
                </a:solidFill>
                <a:effectLst/>
                <a:uFillTx/>
                <a:latin typeface="Calibri"/>
                <a:ea typeface="Calibri"/>
              </a:rPr>
              <a:t>Each Month</a:t>
            </a:r>
            <a:endParaRPr b="0" lang="en-US" sz="900" strike="noStrike" u="none">
              <a:solidFill>
                <a:srgbClr val="000000"/>
              </a:solidFill>
              <a:effectLst/>
              <a:uFillTx/>
              <a:latin typeface="Arial"/>
            </a:endParaRPr>
          </a:p>
        </p:txBody>
      </p:sp>
      <p:sp>
        <p:nvSpPr>
          <p:cNvPr id="436" name="Text 20"/>
          <p:cNvSpPr/>
          <p:nvPr/>
        </p:nvSpPr>
        <p:spPr>
          <a:xfrm>
            <a:off x="7315200" y="2286000"/>
            <a:ext cx="1599480" cy="319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0f9b8e"/>
                </a:solidFill>
                <a:effectLst/>
                <a:uFillTx/>
                <a:latin typeface="Calibri"/>
                <a:ea typeface="Calibri"/>
              </a:rPr>
              <a:t>YOY: +4.3% (+0.3)</a:t>
            </a:r>
            <a:endParaRPr b="0" lang="en-US" sz="800" strike="noStrike" u="none">
              <a:solidFill>
                <a:srgbClr val="000000"/>
              </a:solidFill>
              <a:effectLst/>
              <a:uFillTx/>
              <a:latin typeface="Arial"/>
            </a:endParaRPr>
          </a:p>
        </p:txBody>
      </p:sp>
      <p:sp>
        <p:nvSpPr>
          <p:cNvPr id="437" name="Shape 21"/>
          <p:cNvSpPr/>
          <p:nvPr/>
        </p:nvSpPr>
        <p:spPr>
          <a:xfrm>
            <a:off x="365760" y="3108960"/>
            <a:ext cx="1599480" cy="137088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38" name="Text 22"/>
          <p:cNvSpPr/>
          <p:nvPr/>
        </p:nvSpPr>
        <p:spPr>
          <a:xfrm>
            <a:off x="365760" y="3246120"/>
            <a:ext cx="159948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400" strike="noStrike" u="none">
                <a:solidFill>
                  <a:srgbClr val="e94560"/>
                </a:solidFill>
                <a:effectLst/>
                <a:uFillTx/>
                <a:latin typeface="Trebuchet MS"/>
                <a:ea typeface="Trebuchet MS"/>
              </a:rPr>
              <a:t>88.2%</a:t>
            </a:r>
            <a:endParaRPr b="0" lang="en-US" sz="2400" strike="noStrike" u="none">
              <a:solidFill>
                <a:srgbClr val="000000"/>
              </a:solidFill>
              <a:effectLst/>
              <a:uFillTx/>
              <a:latin typeface="Arial"/>
            </a:endParaRPr>
          </a:p>
        </p:txBody>
      </p:sp>
      <p:sp>
        <p:nvSpPr>
          <p:cNvPr id="439" name="Text 23"/>
          <p:cNvSpPr/>
          <p:nvPr/>
        </p:nvSpPr>
        <p:spPr>
          <a:xfrm>
            <a:off x="365760" y="3749040"/>
            <a:ext cx="159948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trike="noStrike" u="none">
                <a:solidFill>
                  <a:srgbClr val="1a1a2e"/>
                </a:solidFill>
                <a:effectLst/>
                <a:uFillTx/>
                <a:latin typeface="Calibri"/>
                <a:ea typeface="Calibri"/>
              </a:rPr>
              <a:t>Social Media vs</a:t>
            </a:r>
            <a:endParaRPr b="0" lang="en-US" sz="900" strike="noStrike" u="none">
              <a:solidFill>
                <a:srgbClr val="000000"/>
              </a:solidFill>
              <a:effectLst/>
              <a:uFillTx/>
              <a:latin typeface="Arial"/>
            </a:endParaRPr>
          </a:p>
          <a:p>
            <a:pPr algn="ctr" defTabSz="914400">
              <a:lnSpc>
                <a:spcPct val="100000"/>
              </a:lnSpc>
              <a:tabLst>
                <a:tab algn="l" pos="0"/>
              </a:tabLst>
            </a:pPr>
            <a:r>
              <a:rPr b="0" lang="en-US" sz="900" strike="noStrike" u="none">
                <a:solidFill>
                  <a:srgbClr val="1a1a2e"/>
                </a:solidFill>
                <a:effectLst/>
                <a:uFillTx/>
                <a:latin typeface="Calibri"/>
                <a:ea typeface="Calibri"/>
              </a:rPr>
              <a:t>Total Population</a:t>
            </a:r>
            <a:endParaRPr b="0" lang="en-US" sz="900" strike="noStrike" u="none">
              <a:solidFill>
                <a:srgbClr val="000000"/>
              </a:solidFill>
              <a:effectLst/>
              <a:uFillTx/>
              <a:latin typeface="Arial"/>
            </a:endParaRPr>
          </a:p>
        </p:txBody>
      </p:sp>
      <p:sp>
        <p:nvSpPr>
          <p:cNvPr id="440" name="Shape 24"/>
          <p:cNvSpPr/>
          <p:nvPr/>
        </p:nvSpPr>
        <p:spPr>
          <a:xfrm>
            <a:off x="2103120" y="3108960"/>
            <a:ext cx="1599480" cy="137088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41" name="Text 25"/>
          <p:cNvSpPr/>
          <p:nvPr/>
        </p:nvSpPr>
        <p:spPr>
          <a:xfrm>
            <a:off x="2103120" y="3246120"/>
            <a:ext cx="159948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400" strike="noStrike" u="none">
                <a:solidFill>
                  <a:srgbClr val="e94560"/>
                </a:solidFill>
                <a:effectLst/>
                <a:uFillTx/>
                <a:latin typeface="Trebuchet MS"/>
                <a:ea typeface="Trebuchet MS"/>
              </a:rPr>
              <a:t>91.8%</a:t>
            </a:r>
            <a:endParaRPr b="0" lang="en-US" sz="2400" strike="noStrike" u="none">
              <a:solidFill>
                <a:srgbClr val="000000"/>
              </a:solidFill>
              <a:effectLst/>
              <a:uFillTx/>
              <a:latin typeface="Arial"/>
            </a:endParaRPr>
          </a:p>
        </p:txBody>
      </p:sp>
      <p:sp>
        <p:nvSpPr>
          <p:cNvPr id="442" name="Text 26"/>
          <p:cNvSpPr/>
          <p:nvPr/>
        </p:nvSpPr>
        <p:spPr>
          <a:xfrm>
            <a:off x="2103120" y="3749040"/>
            <a:ext cx="159948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trike="noStrike" u="none">
                <a:solidFill>
                  <a:srgbClr val="1a1a2e"/>
                </a:solidFill>
                <a:effectLst/>
                <a:uFillTx/>
                <a:latin typeface="Calibri"/>
                <a:ea typeface="Calibri"/>
              </a:rPr>
              <a:t>Social Media 18+ vs</a:t>
            </a:r>
            <a:endParaRPr b="0" lang="en-US" sz="900" strike="noStrike" u="none">
              <a:solidFill>
                <a:srgbClr val="000000"/>
              </a:solidFill>
              <a:effectLst/>
              <a:uFillTx/>
              <a:latin typeface="Arial"/>
            </a:endParaRPr>
          </a:p>
          <a:p>
            <a:pPr algn="ctr" defTabSz="914400">
              <a:lnSpc>
                <a:spcPct val="100000"/>
              </a:lnSpc>
              <a:tabLst>
                <a:tab algn="l" pos="0"/>
              </a:tabLst>
            </a:pPr>
            <a:r>
              <a:rPr b="0" lang="en-US" sz="900" strike="noStrike" u="none">
                <a:solidFill>
                  <a:srgbClr val="1a1a2e"/>
                </a:solidFill>
                <a:effectLst/>
                <a:uFillTx/>
                <a:latin typeface="Calibri"/>
                <a:ea typeface="Calibri"/>
              </a:rPr>
              <a:t>Population 18+</a:t>
            </a:r>
            <a:endParaRPr b="0" lang="en-US" sz="900" strike="noStrike" u="none">
              <a:solidFill>
                <a:srgbClr val="000000"/>
              </a:solidFill>
              <a:effectLst/>
              <a:uFillTx/>
              <a:latin typeface="Arial"/>
            </a:endParaRPr>
          </a:p>
        </p:txBody>
      </p:sp>
      <p:sp>
        <p:nvSpPr>
          <p:cNvPr id="443" name="Shape 27"/>
          <p:cNvSpPr/>
          <p:nvPr/>
        </p:nvSpPr>
        <p:spPr>
          <a:xfrm>
            <a:off x="3840480" y="3108960"/>
            <a:ext cx="1599480" cy="1370880"/>
          </a:xfrm>
          <a:prstGeom prst="rect">
            <a:avLst/>
          </a:prstGeom>
          <a:solidFill>
            <a:srgbClr val="0d3b4f"/>
          </a:solidFill>
          <a:ln w="25400">
            <a:solidFill>
              <a:srgbClr val="0f9b8e"/>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44" name="Text 28"/>
          <p:cNvSpPr/>
          <p:nvPr/>
        </p:nvSpPr>
        <p:spPr>
          <a:xfrm>
            <a:off x="3840480" y="3246120"/>
            <a:ext cx="159948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400" strike="noStrike" u="none">
                <a:solidFill>
                  <a:srgbClr val="0f9b8e"/>
                </a:solidFill>
                <a:effectLst/>
                <a:uFillTx/>
                <a:latin typeface="Trebuchet MS"/>
                <a:ea typeface="Trebuchet MS"/>
              </a:rPr>
              <a:t>92.0%</a:t>
            </a:r>
            <a:endParaRPr b="0" lang="en-US" sz="2400" strike="noStrike" u="none">
              <a:solidFill>
                <a:srgbClr val="000000"/>
              </a:solidFill>
              <a:effectLst/>
              <a:uFillTx/>
              <a:latin typeface="Arial"/>
            </a:endParaRPr>
          </a:p>
        </p:txBody>
      </p:sp>
      <p:sp>
        <p:nvSpPr>
          <p:cNvPr id="445" name="Text 29"/>
          <p:cNvSpPr/>
          <p:nvPr/>
        </p:nvSpPr>
        <p:spPr>
          <a:xfrm>
            <a:off x="3840480" y="3749040"/>
            <a:ext cx="159948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trike="noStrike" u="none">
                <a:solidFill>
                  <a:srgbClr val="1a1a2e"/>
                </a:solidFill>
                <a:effectLst/>
                <a:uFillTx/>
                <a:latin typeface="Calibri"/>
                <a:ea typeface="Calibri"/>
              </a:rPr>
              <a:t>Social Media vs</a:t>
            </a:r>
            <a:endParaRPr b="0" lang="en-US" sz="900" strike="noStrike" u="none">
              <a:solidFill>
                <a:srgbClr val="000000"/>
              </a:solidFill>
              <a:effectLst/>
              <a:uFillTx/>
              <a:latin typeface="Arial"/>
            </a:endParaRPr>
          </a:p>
          <a:p>
            <a:pPr algn="ctr" defTabSz="914400">
              <a:lnSpc>
                <a:spcPct val="100000"/>
              </a:lnSpc>
              <a:tabLst>
                <a:tab algn="l" pos="0"/>
              </a:tabLst>
            </a:pPr>
            <a:r>
              <a:rPr b="0" lang="en-US" sz="900" strike="noStrike" u="none">
                <a:solidFill>
                  <a:srgbClr val="1a1a2e"/>
                </a:solidFill>
                <a:effectLst/>
                <a:uFillTx/>
                <a:latin typeface="Calibri"/>
                <a:ea typeface="Calibri"/>
              </a:rPr>
              <a:t>Internet Users</a:t>
            </a:r>
            <a:endParaRPr b="0" lang="en-US" sz="900" strike="noStrike" u="none">
              <a:solidFill>
                <a:srgbClr val="000000"/>
              </a:solidFill>
              <a:effectLst/>
              <a:uFillTx/>
              <a:latin typeface="Arial"/>
            </a:endParaRPr>
          </a:p>
        </p:txBody>
      </p:sp>
      <p:sp>
        <p:nvSpPr>
          <p:cNvPr id="446" name="Shape 30"/>
          <p:cNvSpPr/>
          <p:nvPr/>
        </p:nvSpPr>
        <p:spPr>
          <a:xfrm>
            <a:off x="5577840" y="3108960"/>
            <a:ext cx="1599480" cy="1370880"/>
          </a:xfrm>
          <a:prstGeom prst="rect">
            <a:avLst/>
          </a:prstGeom>
          <a:solidFill>
            <a:srgbClr val="0d3b4f"/>
          </a:solidFill>
          <a:ln w="25400">
            <a:solidFill>
              <a:srgbClr val="0f9b8e"/>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47" name="Text 31"/>
          <p:cNvSpPr/>
          <p:nvPr/>
        </p:nvSpPr>
        <p:spPr>
          <a:xfrm>
            <a:off x="5577840" y="3246120"/>
            <a:ext cx="159948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400" strike="noStrike" u="none">
                <a:solidFill>
                  <a:srgbClr val="0f9b8e"/>
                </a:solidFill>
                <a:effectLst/>
                <a:uFillTx/>
                <a:latin typeface="Trebuchet MS"/>
                <a:ea typeface="Trebuchet MS"/>
              </a:rPr>
              <a:t>47.6%</a:t>
            </a:r>
            <a:endParaRPr b="0" lang="en-US" sz="2400" strike="noStrike" u="none">
              <a:solidFill>
                <a:srgbClr val="000000"/>
              </a:solidFill>
              <a:effectLst/>
              <a:uFillTx/>
              <a:latin typeface="Arial"/>
            </a:endParaRPr>
          </a:p>
        </p:txBody>
      </p:sp>
      <p:sp>
        <p:nvSpPr>
          <p:cNvPr id="448" name="Text 32"/>
          <p:cNvSpPr/>
          <p:nvPr/>
        </p:nvSpPr>
        <p:spPr>
          <a:xfrm>
            <a:off x="5577840" y="3749040"/>
            <a:ext cx="159948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trike="noStrike" u="none">
                <a:solidFill>
                  <a:srgbClr val="1a1a2e"/>
                </a:solidFill>
                <a:effectLst/>
                <a:uFillTx/>
                <a:latin typeface="Calibri"/>
                <a:ea typeface="Calibri"/>
              </a:rPr>
              <a:t>Female Users</a:t>
            </a:r>
            <a:endParaRPr b="0" lang="en-US" sz="900" strike="noStrike" u="none">
              <a:solidFill>
                <a:srgbClr val="000000"/>
              </a:solidFill>
              <a:effectLst/>
              <a:uFillTx/>
              <a:latin typeface="Arial"/>
            </a:endParaRPr>
          </a:p>
        </p:txBody>
      </p:sp>
      <p:sp>
        <p:nvSpPr>
          <p:cNvPr id="449" name="Shape 33"/>
          <p:cNvSpPr/>
          <p:nvPr/>
        </p:nvSpPr>
        <p:spPr>
          <a:xfrm>
            <a:off x="7315200" y="3108960"/>
            <a:ext cx="1599480" cy="1370880"/>
          </a:xfrm>
          <a:prstGeom prst="rect">
            <a:avLst/>
          </a:prstGeom>
          <a:solidFill>
            <a:srgbClr val="0d3b4f"/>
          </a:solidFill>
          <a:ln w="25400">
            <a:solidFill>
              <a:srgbClr val="0f9b8e"/>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50" name="Text 34"/>
          <p:cNvSpPr/>
          <p:nvPr/>
        </p:nvSpPr>
        <p:spPr>
          <a:xfrm>
            <a:off x="7315200" y="3246120"/>
            <a:ext cx="159948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400" strike="noStrike" u="none">
                <a:solidFill>
                  <a:srgbClr val="0f9b8e"/>
                </a:solidFill>
                <a:effectLst/>
                <a:uFillTx/>
                <a:latin typeface="Trebuchet MS"/>
                <a:ea typeface="Trebuchet MS"/>
              </a:rPr>
              <a:t>52.4%</a:t>
            </a:r>
            <a:endParaRPr b="0" lang="en-US" sz="2400" strike="noStrike" u="none">
              <a:solidFill>
                <a:srgbClr val="000000"/>
              </a:solidFill>
              <a:effectLst/>
              <a:uFillTx/>
              <a:latin typeface="Arial"/>
            </a:endParaRPr>
          </a:p>
        </p:txBody>
      </p:sp>
      <p:sp>
        <p:nvSpPr>
          <p:cNvPr id="451" name="Text 35"/>
          <p:cNvSpPr/>
          <p:nvPr/>
        </p:nvSpPr>
        <p:spPr>
          <a:xfrm>
            <a:off x="7315200" y="3749040"/>
            <a:ext cx="159948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trike="noStrike" u="none">
                <a:solidFill>
                  <a:srgbClr val="1a1a2e"/>
                </a:solidFill>
                <a:effectLst/>
                <a:uFillTx/>
                <a:latin typeface="Calibri"/>
                <a:ea typeface="Calibri"/>
              </a:rPr>
              <a:t>Male Users</a:t>
            </a:r>
            <a:endParaRPr b="0" lang="en-US" sz="900" strike="noStrike" u="none">
              <a:solidFill>
                <a:srgbClr val="000000"/>
              </a:solidFill>
              <a:effectLst/>
              <a:uFillTx/>
              <a:latin typeface="Arial"/>
            </a:endParaRPr>
          </a:p>
        </p:txBody>
      </p:sp>
      <p:sp>
        <p:nvSpPr>
          <p:cNvPr id="452" name="Text 36"/>
          <p:cNvSpPr/>
          <p:nvPr/>
        </p:nvSpPr>
        <p:spPr>
          <a:xfrm>
            <a:off x="365760" y="4709160"/>
            <a:ext cx="54856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00" strike="noStrike" u="none">
                <a:solidFill>
                  <a:srgbClr val="8e8e8e"/>
                </a:solidFill>
                <a:effectLst/>
                <a:uFillTx/>
                <a:latin typeface="Calibri"/>
                <a:ea typeface="Calibri"/>
              </a:rPr>
              <a:t>Source: We Are Social, Meltwater - Digital 2025 Singapore</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3" name="Text 0"/>
          <p:cNvSpPr/>
          <p:nvPr/>
        </p:nvSpPr>
        <p:spPr>
          <a:xfrm>
            <a:off x="548640" y="182880"/>
            <a:ext cx="5485680" cy="502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trike="noStrike" u="none">
                <a:solidFill>
                  <a:srgbClr val="1a1a2e"/>
                </a:solidFill>
                <a:effectLst/>
                <a:uFillTx/>
                <a:latin typeface="Trebuchet MS"/>
                <a:ea typeface="Trebuchet MS"/>
              </a:rPr>
              <a:t>Favourite Social Media Platforms</a:t>
            </a:r>
            <a:endParaRPr b="0" lang="en-US" sz="2800" strike="noStrike" u="none">
              <a:solidFill>
                <a:srgbClr val="000000"/>
              </a:solidFill>
              <a:effectLst/>
              <a:uFillTx/>
              <a:latin typeface="Arial"/>
            </a:endParaRPr>
          </a:p>
        </p:txBody>
      </p:sp>
      <p:sp>
        <p:nvSpPr>
          <p:cNvPr id="454" name="Text 1"/>
          <p:cNvSpPr/>
          <p:nvPr/>
        </p:nvSpPr>
        <p:spPr>
          <a:xfrm>
            <a:off x="548640" y="640080"/>
            <a:ext cx="64000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trike="noStrike" u="none">
                <a:solidFill>
                  <a:srgbClr val="8e8e8e"/>
                </a:solidFill>
                <a:effectLst/>
                <a:uFillTx/>
                <a:latin typeface="Calibri"/>
                <a:ea typeface="Calibri"/>
              </a:rPr>
              <a:t>% of active social media users aged 16+ who say each is their favourite</a:t>
            </a:r>
            <a:endParaRPr b="0" lang="en-US" sz="1000" strike="noStrike" u="none">
              <a:solidFill>
                <a:srgbClr val="000000"/>
              </a:solidFill>
              <a:effectLst/>
              <a:uFillTx/>
              <a:latin typeface="Arial"/>
            </a:endParaRPr>
          </a:p>
        </p:txBody>
      </p:sp>
      <p:sp>
        <p:nvSpPr>
          <p:cNvPr id="455" name="Text 2"/>
          <p:cNvSpPr/>
          <p:nvPr/>
        </p:nvSpPr>
        <p:spPr>
          <a:xfrm>
            <a:off x="548640" y="1051560"/>
            <a:ext cx="1279440" cy="273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WhatsApp</a:t>
            </a:r>
            <a:endParaRPr b="0" lang="en-US" sz="900" strike="noStrike" u="none">
              <a:solidFill>
                <a:srgbClr val="000000"/>
              </a:solidFill>
              <a:effectLst/>
              <a:uFillTx/>
              <a:latin typeface="Arial"/>
            </a:endParaRPr>
          </a:p>
        </p:txBody>
      </p:sp>
      <p:sp>
        <p:nvSpPr>
          <p:cNvPr id="456" name="Shape 3"/>
          <p:cNvSpPr/>
          <p:nvPr/>
        </p:nvSpPr>
        <p:spPr>
          <a:xfrm>
            <a:off x="1920240" y="1088280"/>
            <a:ext cx="5028480" cy="20052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57" name="Shape 4"/>
          <p:cNvSpPr/>
          <p:nvPr/>
        </p:nvSpPr>
        <p:spPr>
          <a:xfrm>
            <a:off x="1920240" y="1088280"/>
            <a:ext cx="4367520" cy="20052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58" name="Text 5"/>
          <p:cNvSpPr/>
          <p:nvPr/>
        </p:nvSpPr>
        <p:spPr>
          <a:xfrm>
            <a:off x="6361560" y="1051560"/>
            <a:ext cx="4564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30.4%</a:t>
            </a:r>
            <a:endParaRPr b="0" lang="en-US" sz="800" strike="noStrike" u="none">
              <a:solidFill>
                <a:srgbClr val="000000"/>
              </a:solidFill>
              <a:effectLst/>
              <a:uFillTx/>
              <a:latin typeface="Arial"/>
            </a:endParaRPr>
          </a:p>
        </p:txBody>
      </p:sp>
      <p:sp>
        <p:nvSpPr>
          <p:cNvPr id="459" name="Text 6"/>
          <p:cNvSpPr/>
          <p:nvPr/>
        </p:nvSpPr>
        <p:spPr>
          <a:xfrm>
            <a:off x="548640" y="1344240"/>
            <a:ext cx="1279440" cy="273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Facebook</a:t>
            </a:r>
            <a:endParaRPr b="0" lang="en-US" sz="900" strike="noStrike" u="none">
              <a:solidFill>
                <a:srgbClr val="000000"/>
              </a:solidFill>
              <a:effectLst/>
              <a:uFillTx/>
              <a:latin typeface="Arial"/>
            </a:endParaRPr>
          </a:p>
        </p:txBody>
      </p:sp>
      <p:sp>
        <p:nvSpPr>
          <p:cNvPr id="460" name="Shape 7"/>
          <p:cNvSpPr/>
          <p:nvPr/>
        </p:nvSpPr>
        <p:spPr>
          <a:xfrm>
            <a:off x="1920240" y="1380600"/>
            <a:ext cx="5028480" cy="20052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61" name="Shape 8"/>
          <p:cNvSpPr/>
          <p:nvPr/>
        </p:nvSpPr>
        <p:spPr>
          <a:xfrm>
            <a:off x="1920240" y="1380600"/>
            <a:ext cx="2197800" cy="20052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62" name="Text 9"/>
          <p:cNvSpPr/>
          <p:nvPr/>
        </p:nvSpPr>
        <p:spPr>
          <a:xfrm>
            <a:off x="4191840" y="1344240"/>
            <a:ext cx="4564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15.3%</a:t>
            </a:r>
            <a:endParaRPr b="0" lang="en-US" sz="800" strike="noStrike" u="none">
              <a:solidFill>
                <a:srgbClr val="000000"/>
              </a:solidFill>
              <a:effectLst/>
              <a:uFillTx/>
              <a:latin typeface="Arial"/>
            </a:endParaRPr>
          </a:p>
        </p:txBody>
      </p:sp>
      <p:sp>
        <p:nvSpPr>
          <p:cNvPr id="463" name="Text 10"/>
          <p:cNvSpPr/>
          <p:nvPr/>
        </p:nvSpPr>
        <p:spPr>
          <a:xfrm>
            <a:off x="548640" y="1636920"/>
            <a:ext cx="1279440" cy="273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TikTok</a:t>
            </a:r>
            <a:endParaRPr b="0" lang="en-US" sz="900" strike="noStrike" u="none">
              <a:solidFill>
                <a:srgbClr val="000000"/>
              </a:solidFill>
              <a:effectLst/>
              <a:uFillTx/>
              <a:latin typeface="Arial"/>
            </a:endParaRPr>
          </a:p>
        </p:txBody>
      </p:sp>
      <p:sp>
        <p:nvSpPr>
          <p:cNvPr id="464" name="Shape 11"/>
          <p:cNvSpPr/>
          <p:nvPr/>
        </p:nvSpPr>
        <p:spPr>
          <a:xfrm>
            <a:off x="1920240" y="1673280"/>
            <a:ext cx="5028480" cy="20052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65" name="Shape 12"/>
          <p:cNvSpPr/>
          <p:nvPr/>
        </p:nvSpPr>
        <p:spPr>
          <a:xfrm>
            <a:off x="1920240" y="1673280"/>
            <a:ext cx="2039760" cy="20052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66" name="Text 13"/>
          <p:cNvSpPr/>
          <p:nvPr/>
        </p:nvSpPr>
        <p:spPr>
          <a:xfrm>
            <a:off x="4033800" y="1636920"/>
            <a:ext cx="4564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14.2%</a:t>
            </a:r>
            <a:endParaRPr b="0" lang="en-US" sz="800" strike="noStrike" u="none">
              <a:solidFill>
                <a:srgbClr val="000000"/>
              </a:solidFill>
              <a:effectLst/>
              <a:uFillTx/>
              <a:latin typeface="Arial"/>
            </a:endParaRPr>
          </a:p>
        </p:txBody>
      </p:sp>
      <p:sp>
        <p:nvSpPr>
          <p:cNvPr id="467" name="Text 14"/>
          <p:cNvSpPr/>
          <p:nvPr/>
        </p:nvSpPr>
        <p:spPr>
          <a:xfrm>
            <a:off x="548640" y="1929240"/>
            <a:ext cx="1279440" cy="273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Instagram</a:t>
            </a:r>
            <a:endParaRPr b="0" lang="en-US" sz="900" strike="noStrike" u="none">
              <a:solidFill>
                <a:srgbClr val="000000"/>
              </a:solidFill>
              <a:effectLst/>
              <a:uFillTx/>
              <a:latin typeface="Arial"/>
            </a:endParaRPr>
          </a:p>
        </p:txBody>
      </p:sp>
      <p:sp>
        <p:nvSpPr>
          <p:cNvPr id="468" name="Shape 15"/>
          <p:cNvSpPr/>
          <p:nvPr/>
        </p:nvSpPr>
        <p:spPr>
          <a:xfrm>
            <a:off x="1920240" y="1965960"/>
            <a:ext cx="5028480" cy="20052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69" name="Shape 16"/>
          <p:cNvSpPr/>
          <p:nvPr/>
        </p:nvSpPr>
        <p:spPr>
          <a:xfrm>
            <a:off x="1920240" y="1965960"/>
            <a:ext cx="1881720" cy="20052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70" name="Text 17"/>
          <p:cNvSpPr/>
          <p:nvPr/>
        </p:nvSpPr>
        <p:spPr>
          <a:xfrm>
            <a:off x="3875760" y="1929240"/>
            <a:ext cx="4564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13.1%</a:t>
            </a:r>
            <a:endParaRPr b="0" lang="en-US" sz="800" strike="noStrike" u="none">
              <a:solidFill>
                <a:srgbClr val="000000"/>
              </a:solidFill>
              <a:effectLst/>
              <a:uFillTx/>
              <a:latin typeface="Arial"/>
            </a:endParaRPr>
          </a:p>
        </p:txBody>
      </p:sp>
      <p:sp>
        <p:nvSpPr>
          <p:cNvPr id="471" name="Text 18"/>
          <p:cNvSpPr/>
          <p:nvPr/>
        </p:nvSpPr>
        <p:spPr>
          <a:xfrm>
            <a:off x="548640" y="2221920"/>
            <a:ext cx="1279440" cy="273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Xiaohongshu</a:t>
            </a:r>
            <a:endParaRPr b="0" lang="en-US" sz="900" strike="noStrike" u="none">
              <a:solidFill>
                <a:srgbClr val="000000"/>
              </a:solidFill>
              <a:effectLst/>
              <a:uFillTx/>
              <a:latin typeface="Arial"/>
            </a:endParaRPr>
          </a:p>
        </p:txBody>
      </p:sp>
      <p:sp>
        <p:nvSpPr>
          <p:cNvPr id="472" name="Shape 19"/>
          <p:cNvSpPr/>
          <p:nvPr/>
        </p:nvSpPr>
        <p:spPr>
          <a:xfrm>
            <a:off x="1920240" y="2258640"/>
            <a:ext cx="5028480" cy="20052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73" name="Shape 20"/>
          <p:cNvSpPr/>
          <p:nvPr/>
        </p:nvSpPr>
        <p:spPr>
          <a:xfrm>
            <a:off x="1920240" y="2258640"/>
            <a:ext cx="516600" cy="20052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74" name="Text 21"/>
          <p:cNvSpPr/>
          <p:nvPr/>
        </p:nvSpPr>
        <p:spPr>
          <a:xfrm>
            <a:off x="2510640" y="2221920"/>
            <a:ext cx="4564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3.6%</a:t>
            </a:r>
            <a:endParaRPr b="0" lang="en-US" sz="800" strike="noStrike" u="none">
              <a:solidFill>
                <a:srgbClr val="000000"/>
              </a:solidFill>
              <a:effectLst/>
              <a:uFillTx/>
              <a:latin typeface="Arial"/>
            </a:endParaRPr>
          </a:p>
        </p:txBody>
      </p:sp>
      <p:sp>
        <p:nvSpPr>
          <p:cNvPr id="475" name="Text 22"/>
          <p:cNvSpPr/>
          <p:nvPr/>
        </p:nvSpPr>
        <p:spPr>
          <a:xfrm>
            <a:off x="548640" y="2514600"/>
            <a:ext cx="1279440" cy="273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Telegram</a:t>
            </a:r>
            <a:endParaRPr b="0" lang="en-US" sz="900" strike="noStrike" u="none">
              <a:solidFill>
                <a:srgbClr val="000000"/>
              </a:solidFill>
              <a:effectLst/>
              <a:uFillTx/>
              <a:latin typeface="Arial"/>
            </a:endParaRPr>
          </a:p>
        </p:txBody>
      </p:sp>
      <p:sp>
        <p:nvSpPr>
          <p:cNvPr id="476" name="Shape 23"/>
          <p:cNvSpPr/>
          <p:nvPr/>
        </p:nvSpPr>
        <p:spPr>
          <a:xfrm>
            <a:off x="1920240" y="2551320"/>
            <a:ext cx="5028480" cy="20052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77" name="Shape 24"/>
          <p:cNvSpPr/>
          <p:nvPr/>
        </p:nvSpPr>
        <p:spPr>
          <a:xfrm>
            <a:off x="1920240" y="2551320"/>
            <a:ext cx="473400" cy="20052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78" name="Text 25"/>
          <p:cNvSpPr/>
          <p:nvPr/>
        </p:nvSpPr>
        <p:spPr>
          <a:xfrm>
            <a:off x="2467440" y="2514600"/>
            <a:ext cx="4564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3.3%</a:t>
            </a:r>
            <a:endParaRPr b="0" lang="en-US" sz="800" strike="noStrike" u="none">
              <a:solidFill>
                <a:srgbClr val="000000"/>
              </a:solidFill>
              <a:effectLst/>
              <a:uFillTx/>
              <a:latin typeface="Arial"/>
            </a:endParaRPr>
          </a:p>
        </p:txBody>
      </p:sp>
      <p:sp>
        <p:nvSpPr>
          <p:cNvPr id="479" name="Text 26"/>
          <p:cNvSpPr/>
          <p:nvPr/>
        </p:nvSpPr>
        <p:spPr>
          <a:xfrm>
            <a:off x="548640" y="2807280"/>
            <a:ext cx="1279440" cy="273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X</a:t>
            </a:r>
            <a:endParaRPr b="0" lang="en-US" sz="900" strike="noStrike" u="none">
              <a:solidFill>
                <a:srgbClr val="000000"/>
              </a:solidFill>
              <a:effectLst/>
              <a:uFillTx/>
              <a:latin typeface="Arial"/>
            </a:endParaRPr>
          </a:p>
        </p:txBody>
      </p:sp>
      <p:sp>
        <p:nvSpPr>
          <p:cNvPr id="480" name="Shape 27"/>
          <p:cNvSpPr/>
          <p:nvPr/>
        </p:nvSpPr>
        <p:spPr>
          <a:xfrm>
            <a:off x="1920240" y="2843640"/>
            <a:ext cx="5028480" cy="20052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81" name="Shape 28"/>
          <p:cNvSpPr/>
          <p:nvPr/>
        </p:nvSpPr>
        <p:spPr>
          <a:xfrm>
            <a:off x="1920240" y="2843640"/>
            <a:ext cx="286560" cy="20052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82" name="Text 29"/>
          <p:cNvSpPr/>
          <p:nvPr/>
        </p:nvSpPr>
        <p:spPr>
          <a:xfrm>
            <a:off x="2280600" y="2807280"/>
            <a:ext cx="4564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2%</a:t>
            </a:r>
            <a:endParaRPr b="0" lang="en-US" sz="800" strike="noStrike" u="none">
              <a:solidFill>
                <a:srgbClr val="000000"/>
              </a:solidFill>
              <a:effectLst/>
              <a:uFillTx/>
              <a:latin typeface="Arial"/>
            </a:endParaRPr>
          </a:p>
        </p:txBody>
      </p:sp>
      <p:sp>
        <p:nvSpPr>
          <p:cNvPr id="483" name="Text 30"/>
          <p:cNvSpPr/>
          <p:nvPr/>
        </p:nvSpPr>
        <p:spPr>
          <a:xfrm>
            <a:off x="548640" y="3099960"/>
            <a:ext cx="1279440" cy="273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Messenger</a:t>
            </a:r>
            <a:endParaRPr b="0" lang="en-US" sz="900" strike="noStrike" u="none">
              <a:solidFill>
                <a:srgbClr val="000000"/>
              </a:solidFill>
              <a:effectLst/>
              <a:uFillTx/>
              <a:latin typeface="Arial"/>
            </a:endParaRPr>
          </a:p>
        </p:txBody>
      </p:sp>
      <p:sp>
        <p:nvSpPr>
          <p:cNvPr id="484" name="Shape 31"/>
          <p:cNvSpPr/>
          <p:nvPr/>
        </p:nvSpPr>
        <p:spPr>
          <a:xfrm>
            <a:off x="1920240" y="3136320"/>
            <a:ext cx="5028480" cy="20052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85" name="Shape 32"/>
          <p:cNvSpPr/>
          <p:nvPr/>
        </p:nvSpPr>
        <p:spPr>
          <a:xfrm>
            <a:off x="1920240" y="3136320"/>
            <a:ext cx="257760" cy="20052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86" name="Text 33"/>
          <p:cNvSpPr/>
          <p:nvPr/>
        </p:nvSpPr>
        <p:spPr>
          <a:xfrm>
            <a:off x="2252160" y="3099960"/>
            <a:ext cx="4564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1.8%</a:t>
            </a:r>
            <a:endParaRPr b="0" lang="en-US" sz="800" strike="noStrike" u="none">
              <a:solidFill>
                <a:srgbClr val="000000"/>
              </a:solidFill>
              <a:effectLst/>
              <a:uFillTx/>
              <a:latin typeface="Arial"/>
            </a:endParaRPr>
          </a:p>
        </p:txBody>
      </p:sp>
      <p:sp>
        <p:nvSpPr>
          <p:cNvPr id="487" name="Text 34"/>
          <p:cNvSpPr/>
          <p:nvPr/>
        </p:nvSpPr>
        <p:spPr>
          <a:xfrm>
            <a:off x="548640" y="3392280"/>
            <a:ext cx="1279440" cy="273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WeChat</a:t>
            </a:r>
            <a:endParaRPr b="0" lang="en-US" sz="900" strike="noStrike" u="none">
              <a:solidFill>
                <a:srgbClr val="000000"/>
              </a:solidFill>
              <a:effectLst/>
              <a:uFillTx/>
              <a:latin typeface="Arial"/>
            </a:endParaRPr>
          </a:p>
        </p:txBody>
      </p:sp>
      <p:sp>
        <p:nvSpPr>
          <p:cNvPr id="488" name="Shape 35"/>
          <p:cNvSpPr/>
          <p:nvPr/>
        </p:nvSpPr>
        <p:spPr>
          <a:xfrm>
            <a:off x="1920240" y="3429000"/>
            <a:ext cx="5028480" cy="20052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89" name="Shape 36"/>
          <p:cNvSpPr/>
          <p:nvPr/>
        </p:nvSpPr>
        <p:spPr>
          <a:xfrm>
            <a:off x="1920240" y="3429000"/>
            <a:ext cx="257760" cy="20052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90" name="Text 37"/>
          <p:cNvSpPr/>
          <p:nvPr/>
        </p:nvSpPr>
        <p:spPr>
          <a:xfrm>
            <a:off x="2252160" y="3392280"/>
            <a:ext cx="4564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1.8%</a:t>
            </a:r>
            <a:endParaRPr b="0" lang="en-US" sz="800" strike="noStrike" u="none">
              <a:solidFill>
                <a:srgbClr val="000000"/>
              </a:solidFill>
              <a:effectLst/>
              <a:uFillTx/>
              <a:latin typeface="Arial"/>
            </a:endParaRPr>
          </a:p>
        </p:txBody>
      </p:sp>
      <p:sp>
        <p:nvSpPr>
          <p:cNvPr id="491" name="Text 38"/>
          <p:cNvSpPr/>
          <p:nvPr/>
        </p:nvSpPr>
        <p:spPr>
          <a:xfrm>
            <a:off x="548640" y="3684960"/>
            <a:ext cx="1279440" cy="273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Reddit</a:t>
            </a:r>
            <a:endParaRPr b="0" lang="en-US" sz="900" strike="noStrike" u="none">
              <a:solidFill>
                <a:srgbClr val="000000"/>
              </a:solidFill>
              <a:effectLst/>
              <a:uFillTx/>
              <a:latin typeface="Arial"/>
            </a:endParaRPr>
          </a:p>
        </p:txBody>
      </p:sp>
      <p:sp>
        <p:nvSpPr>
          <p:cNvPr id="492" name="Shape 39"/>
          <p:cNvSpPr/>
          <p:nvPr/>
        </p:nvSpPr>
        <p:spPr>
          <a:xfrm>
            <a:off x="1920240" y="3721680"/>
            <a:ext cx="5028480" cy="20052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93" name="Shape 40"/>
          <p:cNvSpPr/>
          <p:nvPr/>
        </p:nvSpPr>
        <p:spPr>
          <a:xfrm>
            <a:off x="1920240" y="3721680"/>
            <a:ext cx="214920" cy="20052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94" name="Text 41"/>
          <p:cNvSpPr/>
          <p:nvPr/>
        </p:nvSpPr>
        <p:spPr>
          <a:xfrm>
            <a:off x="2208960" y="3684960"/>
            <a:ext cx="4564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1.5%</a:t>
            </a:r>
            <a:endParaRPr b="0" lang="en-US" sz="800" strike="noStrike" u="none">
              <a:solidFill>
                <a:srgbClr val="000000"/>
              </a:solidFill>
              <a:effectLst/>
              <a:uFillTx/>
              <a:latin typeface="Arial"/>
            </a:endParaRPr>
          </a:p>
        </p:txBody>
      </p:sp>
      <p:sp>
        <p:nvSpPr>
          <p:cNvPr id="495" name="Text 42"/>
          <p:cNvSpPr/>
          <p:nvPr/>
        </p:nvSpPr>
        <p:spPr>
          <a:xfrm>
            <a:off x="548640" y="3977640"/>
            <a:ext cx="1279440" cy="273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LinkedIn</a:t>
            </a:r>
            <a:endParaRPr b="0" lang="en-US" sz="900" strike="noStrike" u="none">
              <a:solidFill>
                <a:srgbClr val="000000"/>
              </a:solidFill>
              <a:effectLst/>
              <a:uFillTx/>
              <a:latin typeface="Arial"/>
            </a:endParaRPr>
          </a:p>
        </p:txBody>
      </p:sp>
      <p:sp>
        <p:nvSpPr>
          <p:cNvPr id="496" name="Shape 43"/>
          <p:cNvSpPr/>
          <p:nvPr/>
        </p:nvSpPr>
        <p:spPr>
          <a:xfrm>
            <a:off x="1920240" y="4014360"/>
            <a:ext cx="5028480" cy="20052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97" name="Shape 44"/>
          <p:cNvSpPr/>
          <p:nvPr/>
        </p:nvSpPr>
        <p:spPr>
          <a:xfrm>
            <a:off x="1920240" y="4014360"/>
            <a:ext cx="200520" cy="20052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498" name="Text 45"/>
          <p:cNvSpPr/>
          <p:nvPr/>
        </p:nvSpPr>
        <p:spPr>
          <a:xfrm>
            <a:off x="2194560" y="3977640"/>
            <a:ext cx="4564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1.4%</a:t>
            </a:r>
            <a:endParaRPr b="0" lang="en-US" sz="800" strike="noStrike" u="none">
              <a:solidFill>
                <a:srgbClr val="000000"/>
              </a:solidFill>
              <a:effectLst/>
              <a:uFillTx/>
              <a:latin typeface="Arial"/>
            </a:endParaRPr>
          </a:p>
        </p:txBody>
      </p:sp>
      <p:sp>
        <p:nvSpPr>
          <p:cNvPr id="499" name="Text 46"/>
          <p:cNvSpPr/>
          <p:nvPr/>
        </p:nvSpPr>
        <p:spPr>
          <a:xfrm>
            <a:off x="548640" y="4270320"/>
            <a:ext cx="1279440" cy="273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Pinterest</a:t>
            </a:r>
            <a:endParaRPr b="0" lang="en-US" sz="900" strike="noStrike" u="none">
              <a:solidFill>
                <a:srgbClr val="000000"/>
              </a:solidFill>
              <a:effectLst/>
              <a:uFillTx/>
              <a:latin typeface="Arial"/>
            </a:endParaRPr>
          </a:p>
        </p:txBody>
      </p:sp>
      <p:sp>
        <p:nvSpPr>
          <p:cNvPr id="500" name="Shape 47"/>
          <p:cNvSpPr/>
          <p:nvPr/>
        </p:nvSpPr>
        <p:spPr>
          <a:xfrm>
            <a:off x="1920240" y="4306680"/>
            <a:ext cx="5028480" cy="20052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01" name="Shape 48"/>
          <p:cNvSpPr/>
          <p:nvPr/>
        </p:nvSpPr>
        <p:spPr>
          <a:xfrm>
            <a:off x="1920240" y="4306680"/>
            <a:ext cx="128520" cy="20052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02" name="Text 49"/>
          <p:cNvSpPr/>
          <p:nvPr/>
        </p:nvSpPr>
        <p:spPr>
          <a:xfrm>
            <a:off x="2122560" y="4270320"/>
            <a:ext cx="4564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0.9%</a:t>
            </a:r>
            <a:endParaRPr b="0" lang="en-US" sz="800" strike="noStrike" u="none">
              <a:solidFill>
                <a:srgbClr val="000000"/>
              </a:solidFill>
              <a:effectLst/>
              <a:uFillTx/>
              <a:latin typeface="Arial"/>
            </a:endParaRPr>
          </a:p>
        </p:txBody>
      </p:sp>
      <p:sp>
        <p:nvSpPr>
          <p:cNvPr id="503" name="Shape 50"/>
          <p:cNvSpPr/>
          <p:nvPr/>
        </p:nvSpPr>
        <p:spPr>
          <a:xfrm>
            <a:off x="6675120" y="1645920"/>
            <a:ext cx="2102400" cy="1645200"/>
          </a:xfrm>
          <a:prstGeom prst="rect">
            <a:avLst/>
          </a:prstGeom>
          <a:solidFill>
            <a:srgbClr val="0d3b4f"/>
          </a:solidFill>
          <a:ln w="25400">
            <a:solidFill>
              <a:srgbClr val="0f9b8e"/>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04" name="Text 51"/>
          <p:cNvSpPr/>
          <p:nvPr/>
        </p:nvSpPr>
        <p:spPr>
          <a:xfrm>
            <a:off x="6766560" y="1737360"/>
            <a:ext cx="191952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Top 3 Favourite</a:t>
            </a:r>
            <a:endParaRPr b="0" lang="en-US" sz="1300" strike="noStrike" u="none">
              <a:solidFill>
                <a:srgbClr val="000000"/>
              </a:solidFill>
              <a:effectLst/>
              <a:uFillTx/>
              <a:latin typeface="Arial"/>
            </a:endParaRPr>
          </a:p>
          <a:p>
            <a:pPr defTabSz="914400">
              <a:lnSpc>
                <a:spcPct val="100000"/>
              </a:lnSpc>
              <a:tabLst>
                <a:tab algn="l" pos="0"/>
              </a:tabLst>
            </a:pPr>
            <a:r>
              <a:rPr b="1" lang="en-US" sz="1300" strike="noStrike" u="none">
                <a:solidFill>
                  <a:srgbClr val="1a1a2e"/>
                </a:solidFill>
                <a:effectLst/>
                <a:uFillTx/>
                <a:latin typeface="Trebuchet MS"/>
                <a:ea typeface="Trebuchet MS"/>
              </a:rPr>
              <a:t>Platforms:</a:t>
            </a:r>
            <a:endParaRPr b="0" lang="en-US" sz="1300" strike="noStrike" u="none">
              <a:solidFill>
                <a:srgbClr val="000000"/>
              </a:solidFill>
              <a:effectLst/>
              <a:uFillTx/>
              <a:latin typeface="Arial"/>
            </a:endParaRPr>
          </a:p>
        </p:txBody>
      </p:sp>
      <p:sp>
        <p:nvSpPr>
          <p:cNvPr id="505" name="Text 52"/>
          <p:cNvSpPr/>
          <p:nvPr/>
        </p:nvSpPr>
        <p:spPr>
          <a:xfrm>
            <a:off x="6858000" y="2286000"/>
            <a:ext cx="182808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0f9b8e"/>
                </a:solidFill>
                <a:effectLst/>
                <a:uFillTx/>
                <a:latin typeface="Calibri"/>
                <a:ea typeface="Calibri"/>
              </a:rPr>
              <a:t>1. WhatsApp</a:t>
            </a:r>
            <a:endParaRPr b="0" lang="en-US" sz="1200" strike="noStrike" u="none">
              <a:solidFill>
                <a:srgbClr val="000000"/>
              </a:solidFill>
              <a:effectLst/>
              <a:uFillTx/>
              <a:latin typeface="Arial"/>
            </a:endParaRPr>
          </a:p>
          <a:p>
            <a:pPr defTabSz="914400">
              <a:lnSpc>
                <a:spcPct val="100000"/>
              </a:lnSpc>
              <a:tabLst>
                <a:tab algn="l" pos="0"/>
              </a:tabLst>
            </a:pPr>
            <a:r>
              <a:rPr b="0" lang="en-US" sz="1200" strike="noStrike" u="none">
                <a:solidFill>
                  <a:srgbClr val="0f9b8e"/>
                </a:solidFill>
                <a:effectLst/>
                <a:uFillTx/>
                <a:latin typeface="Calibri"/>
                <a:ea typeface="Calibri"/>
              </a:rPr>
              <a:t>2. Facebook</a:t>
            </a:r>
            <a:endParaRPr b="0" lang="en-US" sz="1200" strike="noStrike" u="none">
              <a:solidFill>
                <a:srgbClr val="000000"/>
              </a:solidFill>
              <a:effectLst/>
              <a:uFillTx/>
              <a:latin typeface="Arial"/>
            </a:endParaRPr>
          </a:p>
          <a:p>
            <a:pPr defTabSz="914400">
              <a:lnSpc>
                <a:spcPct val="100000"/>
              </a:lnSpc>
              <a:tabLst>
                <a:tab algn="l" pos="0"/>
              </a:tabLst>
            </a:pPr>
            <a:r>
              <a:rPr b="0" lang="en-US" sz="1200" strike="noStrike" u="none">
                <a:solidFill>
                  <a:srgbClr val="0f9b8e"/>
                </a:solidFill>
                <a:effectLst/>
                <a:uFillTx/>
                <a:latin typeface="Calibri"/>
                <a:ea typeface="Calibri"/>
              </a:rPr>
              <a:t>3. TikTok</a:t>
            </a:r>
            <a:endParaRPr b="0" lang="en-US" sz="1200" strike="noStrike" u="none">
              <a:solidFill>
                <a:srgbClr val="000000"/>
              </a:solidFill>
              <a:effectLst/>
              <a:uFillTx/>
              <a:latin typeface="Arial"/>
            </a:endParaRPr>
          </a:p>
        </p:txBody>
      </p:sp>
      <p:sp>
        <p:nvSpPr>
          <p:cNvPr id="506" name="Text 53"/>
          <p:cNvSpPr/>
          <p:nvPr/>
        </p:nvSpPr>
        <p:spPr>
          <a:xfrm>
            <a:off x="548640" y="4709160"/>
            <a:ext cx="73144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trike="noStrike" u="none">
                <a:solidFill>
                  <a:srgbClr val="8e8e8e"/>
                </a:solidFill>
                <a:effectLst/>
                <a:uFillTx/>
                <a:latin typeface="Calibri"/>
                <a:ea typeface="Calibri"/>
              </a:rPr>
              <a:t>Source: We Are Social / Meltwater, Digital 2025 Singapore  |  Note: YouTube not available as answer option</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7" name="Text 0"/>
          <p:cNvSpPr/>
          <p:nvPr/>
        </p:nvSpPr>
        <p:spPr>
          <a:xfrm>
            <a:off x="548640" y="182880"/>
            <a:ext cx="6400080" cy="502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600" strike="noStrike" u="none">
                <a:solidFill>
                  <a:srgbClr val="1a1a2e"/>
                </a:solidFill>
                <a:effectLst/>
                <a:uFillTx/>
                <a:latin typeface="Trebuchet MS"/>
                <a:ea typeface="Trebuchet MS"/>
              </a:rPr>
              <a:t>Social Media Apps: Average Time Per User</a:t>
            </a:r>
            <a:endParaRPr b="0" lang="en-US" sz="2600" strike="noStrike" u="none">
              <a:solidFill>
                <a:srgbClr val="000000"/>
              </a:solidFill>
              <a:effectLst/>
              <a:uFillTx/>
              <a:latin typeface="Arial"/>
            </a:endParaRPr>
          </a:p>
        </p:txBody>
      </p:sp>
      <p:sp>
        <p:nvSpPr>
          <p:cNvPr id="508" name="Text 1"/>
          <p:cNvSpPr/>
          <p:nvPr/>
        </p:nvSpPr>
        <p:spPr>
          <a:xfrm>
            <a:off x="548640" y="640080"/>
            <a:ext cx="54856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trike="noStrike" u="none">
                <a:solidFill>
                  <a:srgbClr val="8e8e8e"/>
                </a:solidFill>
                <a:effectLst/>
                <a:uFillTx/>
                <a:latin typeface="Calibri"/>
                <a:ea typeface="Calibri"/>
              </a:rPr>
              <a:t>Average time per month on Android, Nov 2024</a:t>
            </a:r>
            <a:endParaRPr b="0" lang="en-US" sz="1000" strike="noStrike" u="none">
              <a:solidFill>
                <a:srgbClr val="000000"/>
              </a:solidFill>
              <a:effectLst/>
              <a:uFillTx/>
              <a:latin typeface="Arial"/>
            </a:endParaRPr>
          </a:p>
        </p:txBody>
      </p:sp>
      <p:sp>
        <p:nvSpPr>
          <p:cNvPr id="509" name="Text 2"/>
          <p:cNvSpPr/>
          <p:nvPr/>
        </p:nvSpPr>
        <p:spPr>
          <a:xfrm>
            <a:off x="548640" y="1005840"/>
            <a:ext cx="1096560" cy="264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TikTok</a:t>
            </a:r>
            <a:endParaRPr b="0" lang="en-US" sz="900" strike="noStrike" u="none">
              <a:solidFill>
                <a:srgbClr val="000000"/>
              </a:solidFill>
              <a:effectLst/>
              <a:uFillTx/>
              <a:latin typeface="Arial"/>
            </a:endParaRPr>
          </a:p>
        </p:txBody>
      </p:sp>
      <p:sp>
        <p:nvSpPr>
          <p:cNvPr id="510" name="Shape 3"/>
          <p:cNvSpPr/>
          <p:nvPr/>
        </p:nvSpPr>
        <p:spPr>
          <a:xfrm>
            <a:off x="1737360" y="1042560"/>
            <a:ext cx="5028480" cy="191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11" name="Shape 4"/>
          <p:cNvSpPr/>
          <p:nvPr/>
        </p:nvSpPr>
        <p:spPr>
          <a:xfrm>
            <a:off x="1737360" y="1042560"/>
            <a:ext cx="4954320" cy="19116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12" name="Text 5"/>
          <p:cNvSpPr/>
          <p:nvPr/>
        </p:nvSpPr>
        <p:spPr>
          <a:xfrm>
            <a:off x="6765480" y="1005840"/>
            <a:ext cx="730800" cy="264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34H 29M</a:t>
            </a:r>
            <a:endParaRPr b="0" lang="en-US" sz="800" strike="noStrike" u="none">
              <a:solidFill>
                <a:srgbClr val="000000"/>
              </a:solidFill>
              <a:effectLst/>
              <a:uFillTx/>
              <a:latin typeface="Arial"/>
            </a:endParaRPr>
          </a:p>
        </p:txBody>
      </p:sp>
      <p:sp>
        <p:nvSpPr>
          <p:cNvPr id="513" name="Text 6"/>
          <p:cNvSpPr/>
          <p:nvPr/>
        </p:nvSpPr>
        <p:spPr>
          <a:xfrm>
            <a:off x="548640" y="1289160"/>
            <a:ext cx="1096560" cy="264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YouTube</a:t>
            </a:r>
            <a:endParaRPr b="0" lang="en-US" sz="900" strike="noStrike" u="none">
              <a:solidFill>
                <a:srgbClr val="000000"/>
              </a:solidFill>
              <a:effectLst/>
              <a:uFillTx/>
              <a:latin typeface="Arial"/>
            </a:endParaRPr>
          </a:p>
        </p:txBody>
      </p:sp>
      <p:sp>
        <p:nvSpPr>
          <p:cNvPr id="514" name="Shape 7"/>
          <p:cNvSpPr/>
          <p:nvPr/>
        </p:nvSpPr>
        <p:spPr>
          <a:xfrm>
            <a:off x="1737360" y="1325880"/>
            <a:ext cx="5028480" cy="191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15" name="Shape 8"/>
          <p:cNvSpPr/>
          <p:nvPr/>
        </p:nvSpPr>
        <p:spPr>
          <a:xfrm>
            <a:off x="1737360" y="1325880"/>
            <a:ext cx="4274280" cy="19116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16" name="Text 9"/>
          <p:cNvSpPr/>
          <p:nvPr/>
        </p:nvSpPr>
        <p:spPr>
          <a:xfrm>
            <a:off x="6085440" y="1289160"/>
            <a:ext cx="730800" cy="264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29H 45M</a:t>
            </a:r>
            <a:endParaRPr b="0" lang="en-US" sz="800" strike="noStrike" u="none">
              <a:solidFill>
                <a:srgbClr val="000000"/>
              </a:solidFill>
              <a:effectLst/>
              <a:uFillTx/>
              <a:latin typeface="Arial"/>
            </a:endParaRPr>
          </a:p>
        </p:txBody>
      </p:sp>
      <p:sp>
        <p:nvSpPr>
          <p:cNvPr id="517" name="Text 10"/>
          <p:cNvSpPr/>
          <p:nvPr/>
        </p:nvSpPr>
        <p:spPr>
          <a:xfrm>
            <a:off x="548640" y="1572840"/>
            <a:ext cx="1096560" cy="264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WhatsApp</a:t>
            </a:r>
            <a:endParaRPr b="0" lang="en-US" sz="900" strike="noStrike" u="none">
              <a:solidFill>
                <a:srgbClr val="000000"/>
              </a:solidFill>
              <a:effectLst/>
              <a:uFillTx/>
              <a:latin typeface="Arial"/>
            </a:endParaRPr>
          </a:p>
        </p:txBody>
      </p:sp>
      <p:sp>
        <p:nvSpPr>
          <p:cNvPr id="518" name="Shape 11"/>
          <p:cNvSpPr/>
          <p:nvPr/>
        </p:nvSpPr>
        <p:spPr>
          <a:xfrm>
            <a:off x="1737360" y="1609200"/>
            <a:ext cx="5028480" cy="191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19" name="Shape 12"/>
          <p:cNvSpPr/>
          <p:nvPr/>
        </p:nvSpPr>
        <p:spPr>
          <a:xfrm>
            <a:off x="1737360" y="1609200"/>
            <a:ext cx="2085120" cy="19116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20" name="Text 13"/>
          <p:cNvSpPr/>
          <p:nvPr/>
        </p:nvSpPr>
        <p:spPr>
          <a:xfrm>
            <a:off x="3896280" y="1572840"/>
            <a:ext cx="730800" cy="264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14H 31M</a:t>
            </a:r>
            <a:endParaRPr b="0" lang="en-US" sz="800" strike="noStrike" u="none">
              <a:solidFill>
                <a:srgbClr val="000000"/>
              </a:solidFill>
              <a:effectLst/>
              <a:uFillTx/>
              <a:latin typeface="Arial"/>
            </a:endParaRPr>
          </a:p>
        </p:txBody>
      </p:sp>
      <p:sp>
        <p:nvSpPr>
          <p:cNvPr id="521" name="Text 14"/>
          <p:cNvSpPr/>
          <p:nvPr/>
        </p:nvSpPr>
        <p:spPr>
          <a:xfrm>
            <a:off x="548640" y="1856160"/>
            <a:ext cx="1096560" cy="264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Facebook</a:t>
            </a:r>
            <a:endParaRPr b="0" lang="en-US" sz="900" strike="noStrike" u="none">
              <a:solidFill>
                <a:srgbClr val="000000"/>
              </a:solidFill>
              <a:effectLst/>
              <a:uFillTx/>
              <a:latin typeface="Arial"/>
            </a:endParaRPr>
          </a:p>
        </p:txBody>
      </p:sp>
      <p:sp>
        <p:nvSpPr>
          <p:cNvPr id="522" name="Shape 15"/>
          <p:cNvSpPr/>
          <p:nvPr/>
        </p:nvSpPr>
        <p:spPr>
          <a:xfrm>
            <a:off x="1737360" y="1892880"/>
            <a:ext cx="5028480" cy="191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23" name="Shape 16"/>
          <p:cNvSpPr/>
          <p:nvPr/>
        </p:nvSpPr>
        <p:spPr>
          <a:xfrm>
            <a:off x="1737360" y="1892880"/>
            <a:ext cx="1862640" cy="191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24" name="Text 17"/>
          <p:cNvSpPr/>
          <p:nvPr/>
        </p:nvSpPr>
        <p:spPr>
          <a:xfrm>
            <a:off x="3673800" y="1856160"/>
            <a:ext cx="730800" cy="264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12H 58M</a:t>
            </a:r>
            <a:endParaRPr b="0" lang="en-US" sz="800" strike="noStrike" u="none">
              <a:solidFill>
                <a:srgbClr val="000000"/>
              </a:solidFill>
              <a:effectLst/>
              <a:uFillTx/>
              <a:latin typeface="Arial"/>
            </a:endParaRPr>
          </a:p>
        </p:txBody>
      </p:sp>
      <p:sp>
        <p:nvSpPr>
          <p:cNvPr id="525" name="Text 18"/>
          <p:cNvSpPr/>
          <p:nvPr/>
        </p:nvSpPr>
        <p:spPr>
          <a:xfrm>
            <a:off x="548640" y="2139840"/>
            <a:ext cx="1096560" cy="264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Instagram</a:t>
            </a:r>
            <a:endParaRPr b="0" lang="en-US" sz="900" strike="noStrike" u="none">
              <a:solidFill>
                <a:srgbClr val="000000"/>
              </a:solidFill>
              <a:effectLst/>
              <a:uFillTx/>
              <a:latin typeface="Arial"/>
            </a:endParaRPr>
          </a:p>
        </p:txBody>
      </p:sp>
      <p:sp>
        <p:nvSpPr>
          <p:cNvPr id="526" name="Shape 19"/>
          <p:cNvSpPr/>
          <p:nvPr/>
        </p:nvSpPr>
        <p:spPr>
          <a:xfrm>
            <a:off x="1737360" y="2176200"/>
            <a:ext cx="5028480" cy="191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27" name="Shape 20"/>
          <p:cNvSpPr/>
          <p:nvPr/>
        </p:nvSpPr>
        <p:spPr>
          <a:xfrm>
            <a:off x="1737360" y="2176200"/>
            <a:ext cx="1347480" cy="191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28" name="Text 21"/>
          <p:cNvSpPr/>
          <p:nvPr/>
        </p:nvSpPr>
        <p:spPr>
          <a:xfrm>
            <a:off x="3158640" y="2139840"/>
            <a:ext cx="730800" cy="264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9H 23M</a:t>
            </a:r>
            <a:endParaRPr b="0" lang="en-US" sz="800" strike="noStrike" u="none">
              <a:solidFill>
                <a:srgbClr val="000000"/>
              </a:solidFill>
              <a:effectLst/>
              <a:uFillTx/>
              <a:latin typeface="Arial"/>
            </a:endParaRPr>
          </a:p>
        </p:txBody>
      </p:sp>
      <p:sp>
        <p:nvSpPr>
          <p:cNvPr id="529" name="Text 22"/>
          <p:cNvSpPr/>
          <p:nvPr/>
        </p:nvSpPr>
        <p:spPr>
          <a:xfrm>
            <a:off x="548640" y="2423160"/>
            <a:ext cx="1096560" cy="264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Reddit</a:t>
            </a:r>
            <a:endParaRPr b="0" lang="en-US" sz="900" strike="noStrike" u="none">
              <a:solidFill>
                <a:srgbClr val="000000"/>
              </a:solidFill>
              <a:effectLst/>
              <a:uFillTx/>
              <a:latin typeface="Arial"/>
            </a:endParaRPr>
          </a:p>
        </p:txBody>
      </p:sp>
      <p:sp>
        <p:nvSpPr>
          <p:cNvPr id="530" name="Shape 23"/>
          <p:cNvSpPr/>
          <p:nvPr/>
        </p:nvSpPr>
        <p:spPr>
          <a:xfrm>
            <a:off x="1737360" y="2459880"/>
            <a:ext cx="5028480" cy="191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31" name="Shape 24"/>
          <p:cNvSpPr/>
          <p:nvPr/>
        </p:nvSpPr>
        <p:spPr>
          <a:xfrm>
            <a:off x="1737360" y="2459880"/>
            <a:ext cx="564480" cy="191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32" name="Text 25"/>
          <p:cNvSpPr/>
          <p:nvPr/>
        </p:nvSpPr>
        <p:spPr>
          <a:xfrm>
            <a:off x="2375640" y="2423160"/>
            <a:ext cx="730800" cy="264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3H 56M</a:t>
            </a:r>
            <a:endParaRPr b="0" lang="en-US" sz="800" strike="noStrike" u="none">
              <a:solidFill>
                <a:srgbClr val="000000"/>
              </a:solidFill>
              <a:effectLst/>
              <a:uFillTx/>
              <a:latin typeface="Arial"/>
            </a:endParaRPr>
          </a:p>
        </p:txBody>
      </p:sp>
      <p:sp>
        <p:nvSpPr>
          <p:cNvPr id="533" name="Text 26"/>
          <p:cNvSpPr/>
          <p:nvPr/>
        </p:nvSpPr>
        <p:spPr>
          <a:xfrm>
            <a:off x="548640" y="2706480"/>
            <a:ext cx="1096560" cy="264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Telegram</a:t>
            </a:r>
            <a:endParaRPr b="0" lang="en-US" sz="900" strike="noStrike" u="none">
              <a:solidFill>
                <a:srgbClr val="000000"/>
              </a:solidFill>
              <a:effectLst/>
              <a:uFillTx/>
              <a:latin typeface="Arial"/>
            </a:endParaRPr>
          </a:p>
        </p:txBody>
      </p:sp>
      <p:sp>
        <p:nvSpPr>
          <p:cNvPr id="534" name="Shape 27"/>
          <p:cNvSpPr/>
          <p:nvPr/>
        </p:nvSpPr>
        <p:spPr>
          <a:xfrm>
            <a:off x="1737360" y="2743200"/>
            <a:ext cx="5028480" cy="191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35" name="Shape 28"/>
          <p:cNvSpPr/>
          <p:nvPr/>
        </p:nvSpPr>
        <p:spPr>
          <a:xfrm>
            <a:off x="1737360" y="2743200"/>
            <a:ext cx="506880" cy="191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36" name="Text 29"/>
          <p:cNvSpPr/>
          <p:nvPr/>
        </p:nvSpPr>
        <p:spPr>
          <a:xfrm>
            <a:off x="2318400" y="2706480"/>
            <a:ext cx="730800" cy="264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3H 32M</a:t>
            </a:r>
            <a:endParaRPr b="0" lang="en-US" sz="800" strike="noStrike" u="none">
              <a:solidFill>
                <a:srgbClr val="000000"/>
              </a:solidFill>
              <a:effectLst/>
              <a:uFillTx/>
              <a:latin typeface="Arial"/>
            </a:endParaRPr>
          </a:p>
        </p:txBody>
      </p:sp>
      <p:sp>
        <p:nvSpPr>
          <p:cNvPr id="537" name="Text 30"/>
          <p:cNvSpPr/>
          <p:nvPr/>
        </p:nvSpPr>
        <p:spPr>
          <a:xfrm>
            <a:off x="548640" y="2990160"/>
            <a:ext cx="1096560" cy="264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X</a:t>
            </a:r>
            <a:endParaRPr b="0" lang="en-US" sz="900" strike="noStrike" u="none">
              <a:solidFill>
                <a:srgbClr val="000000"/>
              </a:solidFill>
              <a:effectLst/>
              <a:uFillTx/>
              <a:latin typeface="Arial"/>
            </a:endParaRPr>
          </a:p>
        </p:txBody>
      </p:sp>
      <p:sp>
        <p:nvSpPr>
          <p:cNvPr id="538" name="Shape 31"/>
          <p:cNvSpPr/>
          <p:nvPr/>
        </p:nvSpPr>
        <p:spPr>
          <a:xfrm>
            <a:off x="1737360" y="3026520"/>
            <a:ext cx="5028480" cy="191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39" name="Shape 32"/>
          <p:cNvSpPr/>
          <p:nvPr/>
        </p:nvSpPr>
        <p:spPr>
          <a:xfrm>
            <a:off x="1737360" y="3026520"/>
            <a:ext cx="435240" cy="191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40" name="Text 33"/>
          <p:cNvSpPr/>
          <p:nvPr/>
        </p:nvSpPr>
        <p:spPr>
          <a:xfrm>
            <a:off x="2246400" y="2990160"/>
            <a:ext cx="730800" cy="264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3H 02M</a:t>
            </a:r>
            <a:endParaRPr b="0" lang="en-US" sz="800" strike="noStrike" u="none">
              <a:solidFill>
                <a:srgbClr val="000000"/>
              </a:solidFill>
              <a:effectLst/>
              <a:uFillTx/>
              <a:latin typeface="Arial"/>
            </a:endParaRPr>
          </a:p>
        </p:txBody>
      </p:sp>
      <p:sp>
        <p:nvSpPr>
          <p:cNvPr id="541" name="Text 34"/>
          <p:cNvSpPr/>
          <p:nvPr/>
        </p:nvSpPr>
        <p:spPr>
          <a:xfrm>
            <a:off x="548640" y="3273480"/>
            <a:ext cx="1096560" cy="264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Messenger</a:t>
            </a:r>
            <a:endParaRPr b="0" lang="en-US" sz="900" strike="noStrike" u="none">
              <a:solidFill>
                <a:srgbClr val="000000"/>
              </a:solidFill>
              <a:effectLst/>
              <a:uFillTx/>
              <a:latin typeface="Arial"/>
            </a:endParaRPr>
          </a:p>
        </p:txBody>
      </p:sp>
      <p:sp>
        <p:nvSpPr>
          <p:cNvPr id="542" name="Shape 35"/>
          <p:cNvSpPr/>
          <p:nvPr/>
        </p:nvSpPr>
        <p:spPr>
          <a:xfrm>
            <a:off x="1737360" y="3310200"/>
            <a:ext cx="5028480" cy="191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43" name="Shape 36"/>
          <p:cNvSpPr/>
          <p:nvPr/>
        </p:nvSpPr>
        <p:spPr>
          <a:xfrm>
            <a:off x="1737360" y="3310200"/>
            <a:ext cx="306000" cy="191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44" name="Text 37"/>
          <p:cNvSpPr/>
          <p:nvPr/>
        </p:nvSpPr>
        <p:spPr>
          <a:xfrm>
            <a:off x="2117160" y="3273480"/>
            <a:ext cx="730800" cy="264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2H 08M</a:t>
            </a:r>
            <a:endParaRPr b="0" lang="en-US" sz="800" strike="noStrike" u="none">
              <a:solidFill>
                <a:srgbClr val="000000"/>
              </a:solidFill>
              <a:effectLst/>
              <a:uFillTx/>
              <a:latin typeface="Arial"/>
            </a:endParaRPr>
          </a:p>
        </p:txBody>
      </p:sp>
      <p:sp>
        <p:nvSpPr>
          <p:cNvPr id="545" name="Text 38"/>
          <p:cNvSpPr/>
          <p:nvPr/>
        </p:nvSpPr>
        <p:spPr>
          <a:xfrm>
            <a:off x="548640" y="3557160"/>
            <a:ext cx="1096560" cy="264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Pinterest</a:t>
            </a:r>
            <a:endParaRPr b="0" lang="en-US" sz="900" strike="noStrike" u="none">
              <a:solidFill>
                <a:srgbClr val="000000"/>
              </a:solidFill>
              <a:effectLst/>
              <a:uFillTx/>
              <a:latin typeface="Arial"/>
            </a:endParaRPr>
          </a:p>
        </p:txBody>
      </p:sp>
      <p:sp>
        <p:nvSpPr>
          <p:cNvPr id="546" name="Shape 39"/>
          <p:cNvSpPr/>
          <p:nvPr/>
        </p:nvSpPr>
        <p:spPr>
          <a:xfrm>
            <a:off x="1737360" y="3593520"/>
            <a:ext cx="5028480" cy="191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47" name="Shape 40"/>
          <p:cNvSpPr/>
          <p:nvPr/>
        </p:nvSpPr>
        <p:spPr>
          <a:xfrm>
            <a:off x="1737360" y="3593520"/>
            <a:ext cx="198000" cy="191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48" name="Text 41"/>
          <p:cNvSpPr/>
          <p:nvPr/>
        </p:nvSpPr>
        <p:spPr>
          <a:xfrm>
            <a:off x="2009160" y="3557160"/>
            <a:ext cx="730800" cy="264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1H 23M</a:t>
            </a:r>
            <a:endParaRPr b="0" lang="en-US" sz="800" strike="noStrike" u="none">
              <a:solidFill>
                <a:srgbClr val="000000"/>
              </a:solidFill>
              <a:effectLst/>
              <a:uFillTx/>
              <a:latin typeface="Arial"/>
            </a:endParaRPr>
          </a:p>
        </p:txBody>
      </p:sp>
      <p:sp>
        <p:nvSpPr>
          <p:cNvPr id="549" name="Text 42"/>
          <p:cNvSpPr/>
          <p:nvPr/>
        </p:nvSpPr>
        <p:spPr>
          <a:xfrm>
            <a:off x="548640" y="3840480"/>
            <a:ext cx="1096560" cy="264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LINE</a:t>
            </a:r>
            <a:endParaRPr b="0" lang="en-US" sz="900" strike="noStrike" u="none">
              <a:solidFill>
                <a:srgbClr val="000000"/>
              </a:solidFill>
              <a:effectLst/>
              <a:uFillTx/>
              <a:latin typeface="Arial"/>
            </a:endParaRPr>
          </a:p>
        </p:txBody>
      </p:sp>
      <p:sp>
        <p:nvSpPr>
          <p:cNvPr id="550" name="Shape 43"/>
          <p:cNvSpPr/>
          <p:nvPr/>
        </p:nvSpPr>
        <p:spPr>
          <a:xfrm>
            <a:off x="1737360" y="3877200"/>
            <a:ext cx="5028480" cy="191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51" name="Shape 44"/>
          <p:cNvSpPr/>
          <p:nvPr/>
        </p:nvSpPr>
        <p:spPr>
          <a:xfrm>
            <a:off x="1737360" y="3877200"/>
            <a:ext cx="119160" cy="191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52" name="Text 45"/>
          <p:cNvSpPr/>
          <p:nvPr/>
        </p:nvSpPr>
        <p:spPr>
          <a:xfrm>
            <a:off x="1930320" y="3840480"/>
            <a:ext cx="730800" cy="264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0H 50M</a:t>
            </a:r>
            <a:endParaRPr b="0" lang="en-US" sz="800" strike="noStrike" u="none">
              <a:solidFill>
                <a:srgbClr val="000000"/>
              </a:solidFill>
              <a:effectLst/>
              <a:uFillTx/>
              <a:latin typeface="Arial"/>
            </a:endParaRPr>
          </a:p>
        </p:txBody>
      </p:sp>
      <p:sp>
        <p:nvSpPr>
          <p:cNvPr id="553" name="Text 46"/>
          <p:cNvSpPr/>
          <p:nvPr/>
        </p:nvSpPr>
        <p:spPr>
          <a:xfrm>
            <a:off x="548640" y="4123800"/>
            <a:ext cx="1096560" cy="264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Snapchat</a:t>
            </a:r>
            <a:endParaRPr b="0" lang="en-US" sz="900" strike="noStrike" u="none">
              <a:solidFill>
                <a:srgbClr val="000000"/>
              </a:solidFill>
              <a:effectLst/>
              <a:uFillTx/>
              <a:latin typeface="Arial"/>
            </a:endParaRPr>
          </a:p>
        </p:txBody>
      </p:sp>
      <p:sp>
        <p:nvSpPr>
          <p:cNvPr id="554" name="Shape 47"/>
          <p:cNvSpPr/>
          <p:nvPr/>
        </p:nvSpPr>
        <p:spPr>
          <a:xfrm>
            <a:off x="1737360" y="4160520"/>
            <a:ext cx="5028480" cy="191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55" name="Shape 48"/>
          <p:cNvSpPr/>
          <p:nvPr/>
        </p:nvSpPr>
        <p:spPr>
          <a:xfrm>
            <a:off x="1737360" y="4160520"/>
            <a:ext cx="97560" cy="191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56" name="Text 49"/>
          <p:cNvSpPr/>
          <p:nvPr/>
        </p:nvSpPr>
        <p:spPr>
          <a:xfrm>
            <a:off x="1908720" y="4123800"/>
            <a:ext cx="730800" cy="264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0H 41M</a:t>
            </a:r>
            <a:endParaRPr b="0" lang="en-US" sz="800" strike="noStrike" u="none">
              <a:solidFill>
                <a:srgbClr val="000000"/>
              </a:solidFill>
              <a:effectLst/>
              <a:uFillTx/>
              <a:latin typeface="Arial"/>
            </a:endParaRPr>
          </a:p>
        </p:txBody>
      </p:sp>
      <p:sp>
        <p:nvSpPr>
          <p:cNvPr id="557" name="Text 50"/>
          <p:cNvSpPr/>
          <p:nvPr/>
        </p:nvSpPr>
        <p:spPr>
          <a:xfrm>
            <a:off x="548640" y="4407480"/>
            <a:ext cx="1096560" cy="2646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900" strike="noStrike" u="none">
                <a:solidFill>
                  <a:srgbClr val="1a1a2e"/>
                </a:solidFill>
                <a:effectLst/>
                <a:uFillTx/>
                <a:latin typeface="Calibri"/>
                <a:ea typeface="Calibri"/>
              </a:rPr>
              <a:t>LinkedIn</a:t>
            </a:r>
            <a:endParaRPr b="0" lang="en-US" sz="900" strike="noStrike" u="none">
              <a:solidFill>
                <a:srgbClr val="000000"/>
              </a:solidFill>
              <a:effectLst/>
              <a:uFillTx/>
              <a:latin typeface="Arial"/>
            </a:endParaRPr>
          </a:p>
        </p:txBody>
      </p:sp>
      <p:sp>
        <p:nvSpPr>
          <p:cNvPr id="558" name="Shape 51"/>
          <p:cNvSpPr/>
          <p:nvPr/>
        </p:nvSpPr>
        <p:spPr>
          <a:xfrm>
            <a:off x="1737360" y="4443840"/>
            <a:ext cx="5028480" cy="191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59" name="Shape 52"/>
          <p:cNvSpPr/>
          <p:nvPr/>
        </p:nvSpPr>
        <p:spPr>
          <a:xfrm>
            <a:off x="1737360" y="4443840"/>
            <a:ext cx="85320" cy="191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60" name="Text 53"/>
          <p:cNvSpPr/>
          <p:nvPr/>
        </p:nvSpPr>
        <p:spPr>
          <a:xfrm>
            <a:off x="1896840" y="4407480"/>
            <a:ext cx="730800" cy="264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0f9b8e"/>
                </a:solidFill>
                <a:effectLst/>
                <a:uFillTx/>
                <a:latin typeface="Calibri"/>
                <a:ea typeface="Calibri"/>
              </a:rPr>
              <a:t>0H 36M</a:t>
            </a:r>
            <a:endParaRPr b="0" lang="en-US" sz="800" strike="noStrike" u="none">
              <a:solidFill>
                <a:srgbClr val="000000"/>
              </a:solidFill>
              <a:effectLst/>
              <a:uFillTx/>
              <a:latin typeface="Arial"/>
            </a:endParaRPr>
          </a:p>
        </p:txBody>
      </p:sp>
      <p:sp>
        <p:nvSpPr>
          <p:cNvPr id="561" name="Shape 54"/>
          <p:cNvSpPr/>
          <p:nvPr/>
        </p:nvSpPr>
        <p:spPr>
          <a:xfrm>
            <a:off x="6675120" y="1828800"/>
            <a:ext cx="2102400" cy="1645200"/>
          </a:xfrm>
          <a:prstGeom prst="rect">
            <a:avLst/>
          </a:prstGeom>
          <a:solidFill>
            <a:srgbClr val="0d3b4f"/>
          </a:solidFill>
          <a:ln w="25400">
            <a:solidFill>
              <a:srgbClr val="0f9b8e"/>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62" name="Text 55"/>
          <p:cNvSpPr/>
          <p:nvPr/>
        </p:nvSpPr>
        <p:spPr>
          <a:xfrm>
            <a:off x="6766560" y="1920240"/>
            <a:ext cx="191952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Top 3 Most</a:t>
            </a:r>
            <a:endParaRPr b="0" lang="en-US" sz="1300" strike="noStrike" u="none">
              <a:solidFill>
                <a:srgbClr val="000000"/>
              </a:solidFill>
              <a:effectLst/>
              <a:uFillTx/>
              <a:latin typeface="Arial"/>
            </a:endParaRPr>
          </a:p>
          <a:p>
            <a:pPr defTabSz="914400">
              <a:lnSpc>
                <a:spcPct val="100000"/>
              </a:lnSpc>
              <a:tabLst>
                <a:tab algn="l" pos="0"/>
              </a:tabLst>
            </a:pPr>
            <a:r>
              <a:rPr b="1" lang="en-US" sz="1300" strike="noStrike" u="none">
                <a:solidFill>
                  <a:srgbClr val="1a1a2e"/>
                </a:solidFill>
                <a:effectLst/>
                <a:uFillTx/>
                <a:latin typeface="Trebuchet MS"/>
                <a:ea typeface="Trebuchet MS"/>
              </a:rPr>
              <a:t>Time Spent:</a:t>
            </a:r>
            <a:endParaRPr b="0" lang="en-US" sz="1300" strike="noStrike" u="none">
              <a:solidFill>
                <a:srgbClr val="000000"/>
              </a:solidFill>
              <a:effectLst/>
              <a:uFillTx/>
              <a:latin typeface="Arial"/>
            </a:endParaRPr>
          </a:p>
        </p:txBody>
      </p:sp>
      <p:sp>
        <p:nvSpPr>
          <p:cNvPr id="563" name="Text 56"/>
          <p:cNvSpPr/>
          <p:nvPr/>
        </p:nvSpPr>
        <p:spPr>
          <a:xfrm>
            <a:off x="6858000" y="2468880"/>
            <a:ext cx="182808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0f9b8e"/>
                </a:solidFill>
                <a:effectLst/>
                <a:uFillTx/>
                <a:latin typeface="Calibri"/>
                <a:ea typeface="Calibri"/>
              </a:rPr>
              <a:t>1. TikTok</a:t>
            </a:r>
            <a:endParaRPr b="0" lang="en-US" sz="1200" strike="noStrike" u="none">
              <a:solidFill>
                <a:srgbClr val="000000"/>
              </a:solidFill>
              <a:effectLst/>
              <a:uFillTx/>
              <a:latin typeface="Arial"/>
            </a:endParaRPr>
          </a:p>
          <a:p>
            <a:pPr defTabSz="914400">
              <a:lnSpc>
                <a:spcPct val="100000"/>
              </a:lnSpc>
              <a:tabLst>
                <a:tab algn="l" pos="0"/>
              </a:tabLst>
            </a:pPr>
            <a:r>
              <a:rPr b="0" lang="en-US" sz="1200" strike="noStrike" u="none">
                <a:solidFill>
                  <a:srgbClr val="0f9b8e"/>
                </a:solidFill>
                <a:effectLst/>
                <a:uFillTx/>
                <a:latin typeface="Calibri"/>
                <a:ea typeface="Calibri"/>
              </a:rPr>
              <a:t>2. YouTube</a:t>
            </a:r>
            <a:endParaRPr b="0" lang="en-US" sz="1200" strike="noStrike" u="none">
              <a:solidFill>
                <a:srgbClr val="000000"/>
              </a:solidFill>
              <a:effectLst/>
              <a:uFillTx/>
              <a:latin typeface="Arial"/>
            </a:endParaRPr>
          </a:p>
          <a:p>
            <a:pPr defTabSz="914400">
              <a:lnSpc>
                <a:spcPct val="100000"/>
              </a:lnSpc>
              <a:tabLst>
                <a:tab algn="l" pos="0"/>
              </a:tabLst>
            </a:pPr>
            <a:r>
              <a:rPr b="0" lang="en-US" sz="1200" strike="noStrike" u="none">
                <a:solidFill>
                  <a:srgbClr val="0f9b8e"/>
                </a:solidFill>
                <a:effectLst/>
                <a:uFillTx/>
                <a:latin typeface="Calibri"/>
                <a:ea typeface="Calibri"/>
              </a:rPr>
              <a:t>3. WhatsApp</a:t>
            </a:r>
            <a:endParaRPr b="0" lang="en-US" sz="1200" strike="noStrike" u="none">
              <a:solidFill>
                <a:srgbClr val="000000"/>
              </a:solidFill>
              <a:effectLst/>
              <a:uFillTx/>
              <a:latin typeface="Arial"/>
            </a:endParaRPr>
          </a:p>
        </p:txBody>
      </p:sp>
      <p:sp>
        <p:nvSpPr>
          <p:cNvPr id="564" name="Text 57"/>
          <p:cNvSpPr/>
          <p:nvPr/>
        </p:nvSpPr>
        <p:spPr>
          <a:xfrm>
            <a:off x="548640" y="4709160"/>
            <a:ext cx="64000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trike="noStrike" u="none">
                <a:solidFill>
                  <a:srgbClr val="8e8e8e"/>
                </a:solidFill>
                <a:effectLst/>
                <a:uFillTx/>
                <a:latin typeface="Calibri"/>
                <a:ea typeface="Calibri"/>
              </a:rPr>
              <a:t>Source: data.ai (Sensor Tower) via We Are Social / Meltwater</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5" name="Text 0"/>
          <p:cNvSpPr/>
          <p:nvPr/>
        </p:nvSpPr>
        <p:spPr>
          <a:xfrm>
            <a:off x="548640" y="182880"/>
            <a:ext cx="6400080" cy="502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600" strike="noStrike" u="none">
                <a:solidFill>
                  <a:srgbClr val="1a1a2e"/>
                </a:solidFill>
                <a:effectLst/>
                <a:uFillTx/>
                <a:latin typeface="Trebuchet MS"/>
                <a:ea typeface="Trebuchet MS"/>
              </a:rPr>
              <a:t>Social Media Account Types Followed</a:t>
            </a:r>
            <a:endParaRPr b="0" lang="en-US" sz="2600" strike="noStrike" u="none">
              <a:solidFill>
                <a:srgbClr val="000000"/>
              </a:solidFill>
              <a:effectLst/>
              <a:uFillTx/>
              <a:latin typeface="Arial"/>
            </a:endParaRPr>
          </a:p>
        </p:txBody>
      </p:sp>
      <p:sp>
        <p:nvSpPr>
          <p:cNvPr id="566" name="Text 1"/>
          <p:cNvSpPr/>
          <p:nvPr/>
        </p:nvSpPr>
        <p:spPr>
          <a:xfrm>
            <a:off x="548640" y="640080"/>
            <a:ext cx="64000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trike="noStrike" u="none">
                <a:solidFill>
                  <a:srgbClr val="8e8e8e"/>
                </a:solidFill>
                <a:effectLst/>
                <a:uFillTx/>
                <a:latin typeface="Calibri"/>
                <a:ea typeface="Calibri"/>
              </a:rPr>
              <a:t>% of social media users aged 16-64 who follow each type</a:t>
            </a:r>
            <a:endParaRPr b="0" lang="en-US" sz="1000" strike="noStrike" u="none">
              <a:solidFill>
                <a:srgbClr val="000000"/>
              </a:solidFill>
              <a:effectLst/>
              <a:uFillTx/>
              <a:latin typeface="Arial"/>
            </a:endParaRPr>
          </a:p>
        </p:txBody>
      </p:sp>
      <p:sp>
        <p:nvSpPr>
          <p:cNvPr id="567" name="Text 2"/>
          <p:cNvSpPr/>
          <p:nvPr/>
        </p:nvSpPr>
        <p:spPr>
          <a:xfrm>
            <a:off x="548640" y="960120"/>
            <a:ext cx="2193840" cy="227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trike="noStrike" u="none">
                <a:solidFill>
                  <a:srgbClr val="1a1a2e"/>
                </a:solidFill>
                <a:effectLst/>
                <a:uFillTx/>
                <a:latin typeface="Calibri"/>
                <a:ea typeface="Calibri"/>
              </a:rPr>
              <a:t>Friends, Family, or People You Know</a:t>
            </a:r>
            <a:endParaRPr b="0" lang="en-US" sz="800" strike="noStrike" u="none">
              <a:solidFill>
                <a:srgbClr val="000000"/>
              </a:solidFill>
              <a:effectLst/>
              <a:uFillTx/>
              <a:latin typeface="Arial"/>
            </a:endParaRPr>
          </a:p>
        </p:txBody>
      </p:sp>
      <p:sp>
        <p:nvSpPr>
          <p:cNvPr id="568" name="Shape 3"/>
          <p:cNvSpPr/>
          <p:nvPr/>
        </p:nvSpPr>
        <p:spPr>
          <a:xfrm>
            <a:off x="2834640" y="987480"/>
            <a:ext cx="4754160" cy="173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69" name="Shape 4"/>
          <p:cNvSpPr/>
          <p:nvPr/>
        </p:nvSpPr>
        <p:spPr>
          <a:xfrm>
            <a:off x="2834640" y="987480"/>
            <a:ext cx="4136040" cy="17316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70" name="Text 5"/>
          <p:cNvSpPr/>
          <p:nvPr/>
        </p:nvSpPr>
        <p:spPr>
          <a:xfrm>
            <a:off x="7026120" y="960120"/>
            <a:ext cx="41076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00" strike="noStrike" u="none">
                <a:solidFill>
                  <a:srgbClr val="0f9b8e"/>
                </a:solidFill>
                <a:effectLst/>
                <a:uFillTx/>
                <a:latin typeface="Calibri"/>
                <a:ea typeface="Calibri"/>
              </a:rPr>
              <a:t>43.5%</a:t>
            </a:r>
            <a:endParaRPr b="0" lang="en-US" sz="700" strike="noStrike" u="none">
              <a:solidFill>
                <a:srgbClr val="000000"/>
              </a:solidFill>
              <a:effectLst/>
              <a:uFillTx/>
              <a:latin typeface="Arial"/>
            </a:endParaRPr>
          </a:p>
        </p:txBody>
      </p:sp>
      <p:sp>
        <p:nvSpPr>
          <p:cNvPr id="571" name="Text 6"/>
          <p:cNvSpPr/>
          <p:nvPr/>
        </p:nvSpPr>
        <p:spPr>
          <a:xfrm>
            <a:off x="548640" y="1207080"/>
            <a:ext cx="2193840" cy="227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trike="noStrike" u="none">
                <a:solidFill>
                  <a:srgbClr val="1a1a2e"/>
                </a:solidFill>
                <a:effectLst/>
                <a:uFillTx/>
                <a:latin typeface="Calibri"/>
                <a:ea typeface="Calibri"/>
              </a:rPr>
              <a:t>Restaurants, Chefs, or Food</a:t>
            </a:r>
            <a:endParaRPr b="0" lang="en-US" sz="800" strike="noStrike" u="none">
              <a:solidFill>
                <a:srgbClr val="000000"/>
              </a:solidFill>
              <a:effectLst/>
              <a:uFillTx/>
              <a:latin typeface="Arial"/>
            </a:endParaRPr>
          </a:p>
        </p:txBody>
      </p:sp>
      <p:sp>
        <p:nvSpPr>
          <p:cNvPr id="572" name="Shape 7"/>
          <p:cNvSpPr/>
          <p:nvPr/>
        </p:nvSpPr>
        <p:spPr>
          <a:xfrm>
            <a:off x="2834640" y="1234440"/>
            <a:ext cx="4754160" cy="173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73" name="Shape 8"/>
          <p:cNvSpPr/>
          <p:nvPr/>
        </p:nvSpPr>
        <p:spPr>
          <a:xfrm>
            <a:off x="2834640" y="1234440"/>
            <a:ext cx="2215080" cy="17316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74" name="Text 9"/>
          <p:cNvSpPr/>
          <p:nvPr/>
        </p:nvSpPr>
        <p:spPr>
          <a:xfrm>
            <a:off x="5105160" y="1207080"/>
            <a:ext cx="41076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00" strike="noStrike" u="none">
                <a:solidFill>
                  <a:srgbClr val="0f9b8e"/>
                </a:solidFill>
                <a:effectLst/>
                <a:uFillTx/>
                <a:latin typeface="Calibri"/>
                <a:ea typeface="Calibri"/>
              </a:rPr>
              <a:t>23.3%</a:t>
            </a:r>
            <a:endParaRPr b="0" lang="en-US" sz="700" strike="noStrike" u="none">
              <a:solidFill>
                <a:srgbClr val="000000"/>
              </a:solidFill>
              <a:effectLst/>
              <a:uFillTx/>
              <a:latin typeface="Arial"/>
            </a:endParaRPr>
          </a:p>
        </p:txBody>
      </p:sp>
      <p:sp>
        <p:nvSpPr>
          <p:cNvPr id="575" name="Text 10"/>
          <p:cNvSpPr/>
          <p:nvPr/>
        </p:nvSpPr>
        <p:spPr>
          <a:xfrm>
            <a:off x="548640" y="1454040"/>
            <a:ext cx="2193840" cy="227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trike="noStrike" u="none">
                <a:solidFill>
                  <a:srgbClr val="1a1a2e"/>
                </a:solidFill>
                <a:effectLst/>
                <a:uFillTx/>
                <a:latin typeface="Calibri"/>
                <a:ea typeface="Calibri"/>
              </a:rPr>
              <a:t>Actors, Comedians, or Performers</a:t>
            </a:r>
            <a:endParaRPr b="0" lang="en-US" sz="800" strike="noStrike" u="none">
              <a:solidFill>
                <a:srgbClr val="000000"/>
              </a:solidFill>
              <a:effectLst/>
              <a:uFillTx/>
              <a:latin typeface="Arial"/>
            </a:endParaRPr>
          </a:p>
        </p:txBody>
      </p:sp>
      <p:sp>
        <p:nvSpPr>
          <p:cNvPr id="576" name="Shape 11"/>
          <p:cNvSpPr/>
          <p:nvPr/>
        </p:nvSpPr>
        <p:spPr>
          <a:xfrm>
            <a:off x="2834640" y="1481400"/>
            <a:ext cx="4754160" cy="173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77" name="Shape 12"/>
          <p:cNvSpPr/>
          <p:nvPr/>
        </p:nvSpPr>
        <p:spPr>
          <a:xfrm>
            <a:off x="2834640" y="1481400"/>
            <a:ext cx="2043720" cy="17316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78" name="Text 13"/>
          <p:cNvSpPr/>
          <p:nvPr/>
        </p:nvSpPr>
        <p:spPr>
          <a:xfrm>
            <a:off x="4934160" y="1454040"/>
            <a:ext cx="41076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00" strike="noStrike" u="none">
                <a:solidFill>
                  <a:srgbClr val="0f9b8e"/>
                </a:solidFill>
                <a:effectLst/>
                <a:uFillTx/>
                <a:latin typeface="Calibri"/>
                <a:ea typeface="Calibri"/>
              </a:rPr>
              <a:t>21.5%</a:t>
            </a:r>
            <a:endParaRPr b="0" lang="en-US" sz="700" strike="noStrike" u="none">
              <a:solidFill>
                <a:srgbClr val="000000"/>
              </a:solidFill>
              <a:effectLst/>
              <a:uFillTx/>
              <a:latin typeface="Arial"/>
            </a:endParaRPr>
          </a:p>
        </p:txBody>
      </p:sp>
      <p:sp>
        <p:nvSpPr>
          <p:cNvPr id="579" name="Text 14"/>
          <p:cNvSpPr/>
          <p:nvPr/>
        </p:nvSpPr>
        <p:spPr>
          <a:xfrm>
            <a:off x="548640" y="1700640"/>
            <a:ext cx="2193840" cy="227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trike="noStrike" u="none">
                <a:solidFill>
                  <a:srgbClr val="1a1a2e"/>
                </a:solidFill>
                <a:effectLst/>
                <a:uFillTx/>
                <a:latin typeface="Calibri"/>
                <a:ea typeface="Calibri"/>
              </a:rPr>
              <a:t>Influencers or Other Experts</a:t>
            </a:r>
            <a:endParaRPr b="0" lang="en-US" sz="800" strike="noStrike" u="none">
              <a:solidFill>
                <a:srgbClr val="000000"/>
              </a:solidFill>
              <a:effectLst/>
              <a:uFillTx/>
              <a:latin typeface="Arial"/>
            </a:endParaRPr>
          </a:p>
        </p:txBody>
      </p:sp>
      <p:sp>
        <p:nvSpPr>
          <p:cNvPr id="580" name="Shape 15"/>
          <p:cNvSpPr/>
          <p:nvPr/>
        </p:nvSpPr>
        <p:spPr>
          <a:xfrm>
            <a:off x="2834640" y="1728360"/>
            <a:ext cx="4754160" cy="173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81" name="Shape 16"/>
          <p:cNvSpPr/>
          <p:nvPr/>
        </p:nvSpPr>
        <p:spPr>
          <a:xfrm>
            <a:off x="2834640" y="1728360"/>
            <a:ext cx="1929600" cy="17316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82" name="Text 17"/>
          <p:cNvSpPr/>
          <p:nvPr/>
        </p:nvSpPr>
        <p:spPr>
          <a:xfrm>
            <a:off x="4820040" y="1700640"/>
            <a:ext cx="41076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00" strike="noStrike" u="none">
                <a:solidFill>
                  <a:srgbClr val="0f9b8e"/>
                </a:solidFill>
                <a:effectLst/>
                <a:uFillTx/>
                <a:latin typeface="Calibri"/>
                <a:ea typeface="Calibri"/>
              </a:rPr>
              <a:t>20.3%</a:t>
            </a:r>
            <a:endParaRPr b="0" lang="en-US" sz="700" strike="noStrike" u="none">
              <a:solidFill>
                <a:srgbClr val="000000"/>
              </a:solidFill>
              <a:effectLst/>
              <a:uFillTx/>
              <a:latin typeface="Arial"/>
            </a:endParaRPr>
          </a:p>
        </p:txBody>
      </p:sp>
      <p:sp>
        <p:nvSpPr>
          <p:cNvPr id="583" name="Text 18"/>
          <p:cNvSpPr/>
          <p:nvPr/>
        </p:nvSpPr>
        <p:spPr>
          <a:xfrm>
            <a:off x="548640" y="1947600"/>
            <a:ext cx="2193840" cy="227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trike="noStrike" u="none">
                <a:solidFill>
                  <a:srgbClr val="1a1a2e"/>
                </a:solidFill>
                <a:effectLst/>
                <a:uFillTx/>
                <a:latin typeface="Calibri"/>
                <a:ea typeface="Calibri"/>
              </a:rPr>
              <a:t>TV Shows or Channels</a:t>
            </a:r>
            <a:endParaRPr b="0" lang="en-US" sz="800" strike="noStrike" u="none">
              <a:solidFill>
                <a:srgbClr val="000000"/>
              </a:solidFill>
              <a:effectLst/>
              <a:uFillTx/>
              <a:latin typeface="Arial"/>
            </a:endParaRPr>
          </a:p>
        </p:txBody>
      </p:sp>
      <p:sp>
        <p:nvSpPr>
          <p:cNvPr id="584" name="Shape 19"/>
          <p:cNvSpPr/>
          <p:nvPr/>
        </p:nvSpPr>
        <p:spPr>
          <a:xfrm>
            <a:off x="2834640" y="1974960"/>
            <a:ext cx="4754160" cy="173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85" name="Shape 20"/>
          <p:cNvSpPr/>
          <p:nvPr/>
        </p:nvSpPr>
        <p:spPr>
          <a:xfrm>
            <a:off x="2834640" y="1974960"/>
            <a:ext cx="1929600" cy="173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86" name="Text 21"/>
          <p:cNvSpPr/>
          <p:nvPr/>
        </p:nvSpPr>
        <p:spPr>
          <a:xfrm>
            <a:off x="4820040" y="1947600"/>
            <a:ext cx="41076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00" strike="noStrike" u="none">
                <a:solidFill>
                  <a:srgbClr val="0f9b8e"/>
                </a:solidFill>
                <a:effectLst/>
                <a:uFillTx/>
                <a:latin typeface="Calibri"/>
                <a:ea typeface="Calibri"/>
              </a:rPr>
              <a:t>20.3%</a:t>
            </a:r>
            <a:endParaRPr b="0" lang="en-US" sz="700" strike="noStrike" u="none">
              <a:solidFill>
                <a:srgbClr val="000000"/>
              </a:solidFill>
              <a:effectLst/>
              <a:uFillTx/>
              <a:latin typeface="Arial"/>
            </a:endParaRPr>
          </a:p>
        </p:txBody>
      </p:sp>
      <p:sp>
        <p:nvSpPr>
          <p:cNvPr id="587" name="Text 22"/>
          <p:cNvSpPr/>
          <p:nvPr/>
        </p:nvSpPr>
        <p:spPr>
          <a:xfrm>
            <a:off x="548640" y="2194560"/>
            <a:ext cx="2193840" cy="227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trike="noStrike" u="none">
                <a:solidFill>
                  <a:srgbClr val="1a1a2e"/>
                </a:solidFill>
                <a:effectLst/>
                <a:uFillTx/>
                <a:latin typeface="Calibri"/>
                <a:ea typeface="Calibri"/>
              </a:rPr>
              <a:t>Entertainment, Memes, or Parody</a:t>
            </a:r>
            <a:endParaRPr b="0" lang="en-US" sz="800" strike="noStrike" u="none">
              <a:solidFill>
                <a:srgbClr val="000000"/>
              </a:solidFill>
              <a:effectLst/>
              <a:uFillTx/>
              <a:latin typeface="Arial"/>
            </a:endParaRPr>
          </a:p>
        </p:txBody>
      </p:sp>
      <p:sp>
        <p:nvSpPr>
          <p:cNvPr id="588" name="Shape 23"/>
          <p:cNvSpPr/>
          <p:nvPr/>
        </p:nvSpPr>
        <p:spPr>
          <a:xfrm>
            <a:off x="2834640" y="2221920"/>
            <a:ext cx="4754160" cy="173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89" name="Shape 24"/>
          <p:cNvSpPr/>
          <p:nvPr/>
        </p:nvSpPr>
        <p:spPr>
          <a:xfrm>
            <a:off x="2834640" y="2221920"/>
            <a:ext cx="1777680" cy="173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90" name="Text 25"/>
          <p:cNvSpPr/>
          <p:nvPr/>
        </p:nvSpPr>
        <p:spPr>
          <a:xfrm>
            <a:off x="4667760" y="2194560"/>
            <a:ext cx="41076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00" strike="noStrike" u="none">
                <a:solidFill>
                  <a:srgbClr val="0f9b8e"/>
                </a:solidFill>
                <a:effectLst/>
                <a:uFillTx/>
                <a:latin typeface="Calibri"/>
                <a:ea typeface="Calibri"/>
              </a:rPr>
              <a:t>18.7%</a:t>
            </a:r>
            <a:endParaRPr b="0" lang="en-US" sz="700" strike="noStrike" u="none">
              <a:solidFill>
                <a:srgbClr val="000000"/>
              </a:solidFill>
              <a:effectLst/>
              <a:uFillTx/>
              <a:latin typeface="Arial"/>
            </a:endParaRPr>
          </a:p>
        </p:txBody>
      </p:sp>
      <p:sp>
        <p:nvSpPr>
          <p:cNvPr id="591" name="Text 26"/>
          <p:cNvSpPr/>
          <p:nvPr/>
        </p:nvSpPr>
        <p:spPr>
          <a:xfrm>
            <a:off x="548640" y="2441520"/>
            <a:ext cx="2193840" cy="227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trike="noStrike" u="none">
                <a:solidFill>
                  <a:srgbClr val="1a1a2e"/>
                </a:solidFill>
                <a:effectLst/>
                <a:uFillTx/>
                <a:latin typeface="Calibri"/>
                <a:ea typeface="Calibri"/>
              </a:rPr>
              <a:t>Bands, Singers, or Musicians</a:t>
            </a:r>
            <a:endParaRPr b="0" lang="en-US" sz="800" strike="noStrike" u="none">
              <a:solidFill>
                <a:srgbClr val="000000"/>
              </a:solidFill>
              <a:effectLst/>
              <a:uFillTx/>
              <a:latin typeface="Arial"/>
            </a:endParaRPr>
          </a:p>
        </p:txBody>
      </p:sp>
      <p:sp>
        <p:nvSpPr>
          <p:cNvPr id="592" name="Shape 27"/>
          <p:cNvSpPr/>
          <p:nvPr/>
        </p:nvSpPr>
        <p:spPr>
          <a:xfrm>
            <a:off x="2834640" y="2468880"/>
            <a:ext cx="4754160" cy="173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93" name="Shape 28"/>
          <p:cNvSpPr/>
          <p:nvPr/>
        </p:nvSpPr>
        <p:spPr>
          <a:xfrm>
            <a:off x="2834640" y="2468880"/>
            <a:ext cx="1711080" cy="173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94" name="Text 29"/>
          <p:cNvSpPr/>
          <p:nvPr/>
        </p:nvSpPr>
        <p:spPr>
          <a:xfrm>
            <a:off x="4601160" y="2441520"/>
            <a:ext cx="41076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00" strike="noStrike" u="none">
                <a:solidFill>
                  <a:srgbClr val="0f9b8e"/>
                </a:solidFill>
                <a:effectLst/>
                <a:uFillTx/>
                <a:latin typeface="Calibri"/>
                <a:ea typeface="Calibri"/>
              </a:rPr>
              <a:t>18%</a:t>
            </a:r>
            <a:endParaRPr b="0" lang="en-US" sz="700" strike="noStrike" u="none">
              <a:solidFill>
                <a:srgbClr val="000000"/>
              </a:solidFill>
              <a:effectLst/>
              <a:uFillTx/>
              <a:latin typeface="Arial"/>
            </a:endParaRPr>
          </a:p>
        </p:txBody>
      </p:sp>
      <p:sp>
        <p:nvSpPr>
          <p:cNvPr id="595" name="Text 30"/>
          <p:cNvSpPr/>
          <p:nvPr/>
        </p:nvSpPr>
        <p:spPr>
          <a:xfrm>
            <a:off x="548640" y="2688480"/>
            <a:ext cx="2193840" cy="227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trike="noStrike" u="none">
                <a:solidFill>
                  <a:srgbClr val="1a1a2e"/>
                </a:solidFill>
                <a:effectLst/>
                <a:uFillTx/>
                <a:latin typeface="Calibri"/>
                <a:ea typeface="Calibri"/>
              </a:rPr>
              <a:t>Companies &amp; Brands You Buy From</a:t>
            </a:r>
            <a:endParaRPr b="0" lang="en-US" sz="800" strike="noStrike" u="none">
              <a:solidFill>
                <a:srgbClr val="000000"/>
              </a:solidFill>
              <a:effectLst/>
              <a:uFillTx/>
              <a:latin typeface="Arial"/>
            </a:endParaRPr>
          </a:p>
        </p:txBody>
      </p:sp>
      <p:sp>
        <p:nvSpPr>
          <p:cNvPr id="596" name="Shape 31"/>
          <p:cNvSpPr/>
          <p:nvPr/>
        </p:nvSpPr>
        <p:spPr>
          <a:xfrm>
            <a:off x="2834640" y="2715840"/>
            <a:ext cx="4754160" cy="173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97" name="Shape 32"/>
          <p:cNvSpPr/>
          <p:nvPr/>
        </p:nvSpPr>
        <p:spPr>
          <a:xfrm>
            <a:off x="2834640" y="2715840"/>
            <a:ext cx="1692000" cy="173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598" name="Text 33"/>
          <p:cNvSpPr/>
          <p:nvPr/>
        </p:nvSpPr>
        <p:spPr>
          <a:xfrm>
            <a:off x="4582080" y="2688480"/>
            <a:ext cx="41076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00" strike="noStrike" u="none">
                <a:solidFill>
                  <a:srgbClr val="0f9b8e"/>
                </a:solidFill>
                <a:effectLst/>
                <a:uFillTx/>
                <a:latin typeface="Calibri"/>
                <a:ea typeface="Calibri"/>
              </a:rPr>
              <a:t>17.8%</a:t>
            </a:r>
            <a:endParaRPr b="0" lang="en-US" sz="700" strike="noStrike" u="none">
              <a:solidFill>
                <a:srgbClr val="000000"/>
              </a:solidFill>
              <a:effectLst/>
              <a:uFillTx/>
              <a:latin typeface="Arial"/>
            </a:endParaRPr>
          </a:p>
        </p:txBody>
      </p:sp>
      <p:sp>
        <p:nvSpPr>
          <p:cNvPr id="599" name="Text 34"/>
          <p:cNvSpPr/>
          <p:nvPr/>
        </p:nvSpPr>
        <p:spPr>
          <a:xfrm>
            <a:off x="548640" y="2935080"/>
            <a:ext cx="2193840" cy="227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trike="noStrike" u="none">
                <a:solidFill>
                  <a:srgbClr val="1a1a2e"/>
                </a:solidFill>
                <a:effectLst/>
                <a:uFillTx/>
                <a:latin typeface="Calibri"/>
                <a:ea typeface="Calibri"/>
              </a:rPr>
              <a:t>Brands You're Considering</a:t>
            </a:r>
            <a:endParaRPr b="0" lang="en-US" sz="800" strike="noStrike" u="none">
              <a:solidFill>
                <a:srgbClr val="000000"/>
              </a:solidFill>
              <a:effectLst/>
              <a:uFillTx/>
              <a:latin typeface="Arial"/>
            </a:endParaRPr>
          </a:p>
        </p:txBody>
      </p:sp>
      <p:sp>
        <p:nvSpPr>
          <p:cNvPr id="600" name="Shape 35"/>
          <p:cNvSpPr/>
          <p:nvPr/>
        </p:nvSpPr>
        <p:spPr>
          <a:xfrm>
            <a:off x="2834640" y="2962800"/>
            <a:ext cx="4754160" cy="173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01" name="Shape 36"/>
          <p:cNvSpPr/>
          <p:nvPr/>
        </p:nvSpPr>
        <p:spPr>
          <a:xfrm>
            <a:off x="2834640" y="2962800"/>
            <a:ext cx="1577880" cy="173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02" name="Text 37"/>
          <p:cNvSpPr/>
          <p:nvPr/>
        </p:nvSpPr>
        <p:spPr>
          <a:xfrm>
            <a:off x="4467960" y="2935080"/>
            <a:ext cx="41076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00" strike="noStrike" u="none">
                <a:solidFill>
                  <a:srgbClr val="0f9b8e"/>
                </a:solidFill>
                <a:effectLst/>
                <a:uFillTx/>
                <a:latin typeface="Calibri"/>
                <a:ea typeface="Calibri"/>
              </a:rPr>
              <a:t>16.6%</a:t>
            </a:r>
            <a:endParaRPr b="0" lang="en-US" sz="700" strike="noStrike" u="none">
              <a:solidFill>
                <a:srgbClr val="000000"/>
              </a:solidFill>
              <a:effectLst/>
              <a:uFillTx/>
              <a:latin typeface="Arial"/>
            </a:endParaRPr>
          </a:p>
        </p:txBody>
      </p:sp>
      <p:sp>
        <p:nvSpPr>
          <p:cNvPr id="603" name="Text 38"/>
          <p:cNvSpPr/>
          <p:nvPr/>
        </p:nvSpPr>
        <p:spPr>
          <a:xfrm>
            <a:off x="548640" y="3182040"/>
            <a:ext cx="2193840" cy="227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trike="noStrike" u="none">
                <a:solidFill>
                  <a:srgbClr val="1a1a2e"/>
                </a:solidFill>
                <a:effectLst/>
                <a:uFillTx/>
                <a:latin typeface="Calibri"/>
                <a:ea typeface="Calibri"/>
              </a:rPr>
              <a:t>Sports People and Teams</a:t>
            </a:r>
            <a:endParaRPr b="0" lang="en-US" sz="800" strike="noStrike" u="none">
              <a:solidFill>
                <a:srgbClr val="000000"/>
              </a:solidFill>
              <a:effectLst/>
              <a:uFillTx/>
              <a:latin typeface="Arial"/>
            </a:endParaRPr>
          </a:p>
        </p:txBody>
      </p:sp>
      <p:sp>
        <p:nvSpPr>
          <p:cNvPr id="604" name="Shape 39"/>
          <p:cNvSpPr/>
          <p:nvPr/>
        </p:nvSpPr>
        <p:spPr>
          <a:xfrm>
            <a:off x="2834640" y="3209400"/>
            <a:ext cx="4754160" cy="173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05" name="Shape 40"/>
          <p:cNvSpPr/>
          <p:nvPr/>
        </p:nvSpPr>
        <p:spPr>
          <a:xfrm>
            <a:off x="2834640" y="3209400"/>
            <a:ext cx="1435320" cy="173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06" name="Text 41"/>
          <p:cNvSpPr/>
          <p:nvPr/>
        </p:nvSpPr>
        <p:spPr>
          <a:xfrm>
            <a:off x="4325400" y="3182040"/>
            <a:ext cx="41076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00" strike="noStrike" u="none">
                <a:solidFill>
                  <a:srgbClr val="0f9b8e"/>
                </a:solidFill>
                <a:effectLst/>
                <a:uFillTx/>
                <a:latin typeface="Calibri"/>
                <a:ea typeface="Calibri"/>
              </a:rPr>
              <a:t>15.1%</a:t>
            </a:r>
            <a:endParaRPr b="0" lang="en-US" sz="700" strike="noStrike" u="none">
              <a:solidFill>
                <a:srgbClr val="000000"/>
              </a:solidFill>
              <a:effectLst/>
              <a:uFillTx/>
              <a:latin typeface="Arial"/>
            </a:endParaRPr>
          </a:p>
        </p:txBody>
      </p:sp>
      <p:sp>
        <p:nvSpPr>
          <p:cNvPr id="607" name="Text 42"/>
          <p:cNvSpPr/>
          <p:nvPr/>
        </p:nvSpPr>
        <p:spPr>
          <a:xfrm>
            <a:off x="548640" y="3429000"/>
            <a:ext cx="2193840" cy="227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trike="noStrike" u="none">
                <a:solidFill>
                  <a:srgbClr val="1a1a2e"/>
                </a:solidFill>
                <a:effectLst/>
                <a:uFillTx/>
                <a:latin typeface="Calibri"/>
                <a:ea typeface="Calibri"/>
              </a:rPr>
              <a:t>Contacts Relevant to Work</a:t>
            </a:r>
            <a:endParaRPr b="0" lang="en-US" sz="800" strike="noStrike" u="none">
              <a:solidFill>
                <a:srgbClr val="000000"/>
              </a:solidFill>
              <a:effectLst/>
              <a:uFillTx/>
              <a:latin typeface="Arial"/>
            </a:endParaRPr>
          </a:p>
        </p:txBody>
      </p:sp>
      <p:sp>
        <p:nvSpPr>
          <p:cNvPr id="608" name="Shape 43"/>
          <p:cNvSpPr/>
          <p:nvPr/>
        </p:nvSpPr>
        <p:spPr>
          <a:xfrm>
            <a:off x="2834640" y="3456360"/>
            <a:ext cx="4754160" cy="173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09" name="Shape 44"/>
          <p:cNvSpPr/>
          <p:nvPr/>
        </p:nvSpPr>
        <p:spPr>
          <a:xfrm>
            <a:off x="2834640" y="3456360"/>
            <a:ext cx="1368720" cy="173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10" name="Text 45"/>
          <p:cNvSpPr/>
          <p:nvPr/>
        </p:nvSpPr>
        <p:spPr>
          <a:xfrm>
            <a:off x="4258800" y="3429000"/>
            <a:ext cx="41076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00" strike="noStrike" u="none">
                <a:solidFill>
                  <a:srgbClr val="0f9b8e"/>
                </a:solidFill>
                <a:effectLst/>
                <a:uFillTx/>
                <a:latin typeface="Calibri"/>
                <a:ea typeface="Calibri"/>
              </a:rPr>
              <a:t>14.4%</a:t>
            </a:r>
            <a:endParaRPr b="0" lang="en-US" sz="700" strike="noStrike" u="none">
              <a:solidFill>
                <a:srgbClr val="000000"/>
              </a:solidFill>
              <a:effectLst/>
              <a:uFillTx/>
              <a:latin typeface="Arial"/>
            </a:endParaRPr>
          </a:p>
        </p:txBody>
      </p:sp>
      <p:sp>
        <p:nvSpPr>
          <p:cNvPr id="611" name="Text 46"/>
          <p:cNvSpPr/>
          <p:nvPr/>
        </p:nvSpPr>
        <p:spPr>
          <a:xfrm>
            <a:off x="548640" y="3675960"/>
            <a:ext cx="2193840" cy="227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trike="noStrike" u="none">
                <a:solidFill>
                  <a:srgbClr val="1a1a2e"/>
                </a:solidFill>
                <a:effectLst/>
                <a:uFillTx/>
                <a:latin typeface="Calibri"/>
                <a:ea typeface="Calibri"/>
              </a:rPr>
              <a:t>Companies Relevant to Work</a:t>
            </a:r>
            <a:endParaRPr b="0" lang="en-US" sz="800" strike="noStrike" u="none">
              <a:solidFill>
                <a:srgbClr val="000000"/>
              </a:solidFill>
              <a:effectLst/>
              <a:uFillTx/>
              <a:latin typeface="Arial"/>
            </a:endParaRPr>
          </a:p>
        </p:txBody>
      </p:sp>
      <p:sp>
        <p:nvSpPr>
          <p:cNvPr id="612" name="Shape 47"/>
          <p:cNvSpPr/>
          <p:nvPr/>
        </p:nvSpPr>
        <p:spPr>
          <a:xfrm>
            <a:off x="2834640" y="3703320"/>
            <a:ext cx="4754160" cy="173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13" name="Shape 48"/>
          <p:cNvSpPr/>
          <p:nvPr/>
        </p:nvSpPr>
        <p:spPr>
          <a:xfrm>
            <a:off x="2834640" y="3703320"/>
            <a:ext cx="1244880" cy="173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14" name="Text 49"/>
          <p:cNvSpPr/>
          <p:nvPr/>
        </p:nvSpPr>
        <p:spPr>
          <a:xfrm>
            <a:off x="4135320" y="3675960"/>
            <a:ext cx="41076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00" strike="noStrike" u="none">
                <a:solidFill>
                  <a:srgbClr val="0f9b8e"/>
                </a:solidFill>
                <a:effectLst/>
                <a:uFillTx/>
                <a:latin typeface="Calibri"/>
                <a:ea typeface="Calibri"/>
              </a:rPr>
              <a:t>13.1%</a:t>
            </a:r>
            <a:endParaRPr b="0" lang="en-US" sz="700" strike="noStrike" u="none">
              <a:solidFill>
                <a:srgbClr val="000000"/>
              </a:solidFill>
              <a:effectLst/>
              <a:uFillTx/>
              <a:latin typeface="Arial"/>
            </a:endParaRPr>
          </a:p>
        </p:txBody>
      </p:sp>
      <p:sp>
        <p:nvSpPr>
          <p:cNvPr id="615" name="Text 50"/>
          <p:cNvSpPr/>
          <p:nvPr/>
        </p:nvSpPr>
        <p:spPr>
          <a:xfrm>
            <a:off x="548640" y="3922920"/>
            <a:ext cx="2193840" cy="227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trike="noStrike" u="none">
                <a:solidFill>
                  <a:srgbClr val="1a1a2e"/>
                </a:solidFill>
                <a:effectLst/>
                <a:uFillTx/>
                <a:latin typeface="Calibri"/>
                <a:ea typeface="Calibri"/>
              </a:rPr>
              <a:t>Travel Writers and Companies</a:t>
            </a:r>
            <a:endParaRPr b="0" lang="en-US" sz="800" strike="noStrike" u="none">
              <a:solidFill>
                <a:srgbClr val="000000"/>
              </a:solidFill>
              <a:effectLst/>
              <a:uFillTx/>
              <a:latin typeface="Arial"/>
            </a:endParaRPr>
          </a:p>
        </p:txBody>
      </p:sp>
      <p:sp>
        <p:nvSpPr>
          <p:cNvPr id="616" name="Shape 51"/>
          <p:cNvSpPr/>
          <p:nvPr/>
        </p:nvSpPr>
        <p:spPr>
          <a:xfrm>
            <a:off x="2834640" y="3950280"/>
            <a:ext cx="4754160" cy="173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17" name="Shape 52"/>
          <p:cNvSpPr/>
          <p:nvPr/>
        </p:nvSpPr>
        <p:spPr>
          <a:xfrm>
            <a:off x="2834640" y="3950280"/>
            <a:ext cx="1216440" cy="173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18" name="Text 53"/>
          <p:cNvSpPr/>
          <p:nvPr/>
        </p:nvSpPr>
        <p:spPr>
          <a:xfrm>
            <a:off x="4106880" y="3922920"/>
            <a:ext cx="41076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00" strike="noStrike" u="none">
                <a:solidFill>
                  <a:srgbClr val="0f9b8e"/>
                </a:solidFill>
                <a:effectLst/>
                <a:uFillTx/>
                <a:latin typeface="Calibri"/>
                <a:ea typeface="Calibri"/>
              </a:rPr>
              <a:t>12.8%</a:t>
            </a:r>
            <a:endParaRPr b="0" lang="en-US" sz="700" strike="noStrike" u="none">
              <a:solidFill>
                <a:srgbClr val="000000"/>
              </a:solidFill>
              <a:effectLst/>
              <a:uFillTx/>
              <a:latin typeface="Arial"/>
            </a:endParaRPr>
          </a:p>
        </p:txBody>
      </p:sp>
      <p:sp>
        <p:nvSpPr>
          <p:cNvPr id="619" name="Text 54"/>
          <p:cNvSpPr/>
          <p:nvPr/>
        </p:nvSpPr>
        <p:spPr>
          <a:xfrm>
            <a:off x="548640" y="4169520"/>
            <a:ext cx="2193840" cy="227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trike="noStrike" u="none">
                <a:solidFill>
                  <a:srgbClr val="1a1a2e"/>
                </a:solidFill>
                <a:effectLst/>
                <a:uFillTx/>
                <a:latin typeface="Calibri"/>
                <a:ea typeface="Calibri"/>
              </a:rPr>
              <a:t>Wildlife Organisations</a:t>
            </a:r>
            <a:endParaRPr b="0" lang="en-US" sz="800" strike="noStrike" u="none">
              <a:solidFill>
                <a:srgbClr val="000000"/>
              </a:solidFill>
              <a:effectLst/>
              <a:uFillTx/>
              <a:latin typeface="Arial"/>
            </a:endParaRPr>
          </a:p>
        </p:txBody>
      </p:sp>
      <p:sp>
        <p:nvSpPr>
          <p:cNvPr id="620" name="Shape 55"/>
          <p:cNvSpPr/>
          <p:nvPr/>
        </p:nvSpPr>
        <p:spPr>
          <a:xfrm>
            <a:off x="2834640" y="4197240"/>
            <a:ext cx="4754160" cy="173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21" name="Shape 56"/>
          <p:cNvSpPr/>
          <p:nvPr/>
        </p:nvSpPr>
        <p:spPr>
          <a:xfrm>
            <a:off x="2834640" y="4197240"/>
            <a:ext cx="1159560" cy="173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22" name="Text 57"/>
          <p:cNvSpPr/>
          <p:nvPr/>
        </p:nvSpPr>
        <p:spPr>
          <a:xfrm>
            <a:off x="4049640" y="4169520"/>
            <a:ext cx="41076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00" strike="noStrike" u="none">
                <a:solidFill>
                  <a:srgbClr val="0f9b8e"/>
                </a:solidFill>
                <a:effectLst/>
                <a:uFillTx/>
                <a:latin typeface="Calibri"/>
                <a:ea typeface="Calibri"/>
              </a:rPr>
              <a:t>12.2%</a:t>
            </a:r>
            <a:endParaRPr b="0" lang="en-US" sz="700" strike="noStrike" u="none">
              <a:solidFill>
                <a:srgbClr val="000000"/>
              </a:solidFill>
              <a:effectLst/>
              <a:uFillTx/>
              <a:latin typeface="Arial"/>
            </a:endParaRPr>
          </a:p>
        </p:txBody>
      </p:sp>
      <p:sp>
        <p:nvSpPr>
          <p:cNvPr id="623" name="Text 58"/>
          <p:cNvSpPr/>
          <p:nvPr/>
        </p:nvSpPr>
        <p:spPr>
          <a:xfrm>
            <a:off x="548640" y="4416480"/>
            <a:ext cx="2193840" cy="22788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800" strike="noStrike" u="none">
                <a:solidFill>
                  <a:srgbClr val="1a1a2e"/>
                </a:solidFill>
                <a:effectLst/>
                <a:uFillTx/>
                <a:latin typeface="Calibri"/>
                <a:ea typeface="Calibri"/>
              </a:rPr>
              <a:t>Fitness Experts or Organisations</a:t>
            </a:r>
            <a:endParaRPr b="0" lang="en-US" sz="800" strike="noStrike" u="none">
              <a:solidFill>
                <a:srgbClr val="000000"/>
              </a:solidFill>
              <a:effectLst/>
              <a:uFillTx/>
              <a:latin typeface="Arial"/>
            </a:endParaRPr>
          </a:p>
        </p:txBody>
      </p:sp>
      <p:sp>
        <p:nvSpPr>
          <p:cNvPr id="624" name="Shape 59"/>
          <p:cNvSpPr/>
          <p:nvPr/>
        </p:nvSpPr>
        <p:spPr>
          <a:xfrm>
            <a:off x="2834640" y="4443840"/>
            <a:ext cx="4754160" cy="173160"/>
          </a:xfrm>
          <a:prstGeom prst="rect">
            <a:avLst/>
          </a:prstGeom>
          <a:solidFill>
            <a:srgbClr val="2a2a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25" name="Shape 60"/>
          <p:cNvSpPr/>
          <p:nvPr/>
        </p:nvSpPr>
        <p:spPr>
          <a:xfrm>
            <a:off x="2834640" y="4443840"/>
            <a:ext cx="1149840" cy="173160"/>
          </a:xfrm>
          <a:prstGeom prst="rect">
            <a:avLst/>
          </a:prstGeom>
          <a:solidFill>
            <a:srgbClr val="d4a04a"/>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26" name="Text 61"/>
          <p:cNvSpPr/>
          <p:nvPr/>
        </p:nvSpPr>
        <p:spPr>
          <a:xfrm>
            <a:off x="4040280" y="4416480"/>
            <a:ext cx="410760" cy="227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00" strike="noStrike" u="none">
                <a:solidFill>
                  <a:srgbClr val="0f9b8e"/>
                </a:solidFill>
                <a:effectLst/>
                <a:uFillTx/>
                <a:latin typeface="Calibri"/>
                <a:ea typeface="Calibri"/>
              </a:rPr>
              <a:t>12.1%</a:t>
            </a:r>
            <a:endParaRPr b="0" lang="en-US" sz="700" strike="noStrike" u="none">
              <a:solidFill>
                <a:srgbClr val="000000"/>
              </a:solidFill>
              <a:effectLst/>
              <a:uFillTx/>
              <a:latin typeface="Arial"/>
            </a:endParaRPr>
          </a:p>
        </p:txBody>
      </p:sp>
      <p:sp>
        <p:nvSpPr>
          <p:cNvPr id="627" name="Shape 62"/>
          <p:cNvSpPr/>
          <p:nvPr/>
        </p:nvSpPr>
        <p:spPr>
          <a:xfrm>
            <a:off x="6400800" y="2743200"/>
            <a:ext cx="2376720" cy="1096560"/>
          </a:xfrm>
          <a:prstGeom prst="rect">
            <a:avLst/>
          </a:prstGeom>
          <a:solidFill>
            <a:srgbClr val="0d3b4f"/>
          </a:solidFill>
          <a:ln w="25400">
            <a:solidFill>
              <a:srgbClr val="0f9b8e"/>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28" name="Text 63"/>
          <p:cNvSpPr/>
          <p:nvPr/>
        </p:nvSpPr>
        <p:spPr>
          <a:xfrm>
            <a:off x="6492240" y="2834640"/>
            <a:ext cx="219384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1a1a2e"/>
                </a:solidFill>
                <a:effectLst/>
                <a:uFillTx/>
                <a:latin typeface="Trebuchet MS"/>
                <a:ea typeface="Trebuchet MS"/>
              </a:rPr>
              <a:t>Friend &amp; family circles</a:t>
            </a:r>
            <a:endParaRPr b="0" lang="en-US" sz="1200" strike="noStrike" u="none">
              <a:solidFill>
                <a:srgbClr val="000000"/>
              </a:solidFill>
              <a:effectLst/>
              <a:uFillTx/>
              <a:latin typeface="Arial"/>
            </a:endParaRPr>
          </a:p>
          <a:p>
            <a:pPr defTabSz="914400">
              <a:lnSpc>
                <a:spcPct val="100000"/>
              </a:lnSpc>
              <a:tabLst>
                <a:tab algn="l" pos="0"/>
              </a:tabLst>
            </a:pPr>
            <a:r>
              <a:rPr b="1" lang="en-US" sz="1200" strike="noStrike" u="none">
                <a:solidFill>
                  <a:srgbClr val="1a1a2e"/>
                </a:solidFill>
                <a:effectLst/>
                <a:uFillTx/>
                <a:latin typeface="Trebuchet MS"/>
                <a:ea typeface="Trebuchet MS"/>
              </a:rPr>
              <a:t>and Influencers are</a:t>
            </a:r>
            <a:endParaRPr b="0" lang="en-US" sz="1200" strike="noStrike" u="none">
              <a:solidFill>
                <a:srgbClr val="000000"/>
              </a:solidFill>
              <a:effectLst/>
              <a:uFillTx/>
              <a:latin typeface="Arial"/>
            </a:endParaRPr>
          </a:p>
          <a:p>
            <a:pPr defTabSz="914400">
              <a:lnSpc>
                <a:spcPct val="100000"/>
              </a:lnSpc>
              <a:tabLst>
                <a:tab algn="l" pos="0"/>
              </a:tabLst>
            </a:pPr>
            <a:r>
              <a:rPr b="1" lang="en-US" sz="1200" strike="noStrike" u="none">
                <a:solidFill>
                  <a:srgbClr val="1a1a2e"/>
                </a:solidFill>
                <a:effectLst/>
                <a:uFillTx/>
                <a:latin typeface="Trebuchet MS"/>
                <a:ea typeface="Trebuchet MS"/>
              </a:rPr>
              <a:t>the most followed</a:t>
            </a:r>
            <a:endParaRPr b="0" lang="en-US" sz="1200" strike="noStrike" u="none">
              <a:solidFill>
                <a:srgbClr val="000000"/>
              </a:solidFill>
              <a:effectLst/>
              <a:uFillTx/>
              <a:latin typeface="Arial"/>
            </a:endParaRPr>
          </a:p>
        </p:txBody>
      </p:sp>
      <p:sp>
        <p:nvSpPr>
          <p:cNvPr id="629" name="Text 64"/>
          <p:cNvSpPr/>
          <p:nvPr/>
        </p:nvSpPr>
        <p:spPr>
          <a:xfrm>
            <a:off x="548640" y="4709160"/>
            <a:ext cx="54856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trike="noStrike" u="none">
                <a:solidFill>
                  <a:srgbClr val="8e8e8e"/>
                </a:solidFill>
                <a:effectLst/>
                <a:uFillTx/>
                <a:latin typeface="Calibri"/>
                <a:ea typeface="Calibri"/>
              </a:rPr>
              <a:t>Source: GWI (Q3 2023) via We Are Social / Meltwater</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df6f0"/>
        </a:solidFill>
      </p:bgPr>
    </p:bg>
    <p:spTree>
      <p:nvGrpSpPr>
        <p:cNvPr id="1" name=""/>
        <p:cNvGrpSpPr/>
        <p:nvPr/>
      </p:nvGrpSpPr>
      <p:grpSpPr>
        <a:xfrm>
          <a:off x="0" y="0"/>
          <a:ext cx="0" cy="0"/>
          <a:chOff x="0" y="0"/>
          <a:chExt cx="0" cy="0"/>
        </a:xfrm>
      </p:grpSpPr>
      <p:sp>
        <p:nvSpPr>
          <p:cNvPr id="630" name="Text 0"/>
          <p:cNvSpPr/>
          <p:nvPr/>
        </p:nvSpPr>
        <p:spPr>
          <a:xfrm>
            <a:off x="548640" y="274320"/>
            <a:ext cx="73144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trike="noStrike" u="none">
                <a:solidFill>
                  <a:srgbClr val="1a1a2e"/>
                </a:solidFill>
                <a:effectLst/>
                <a:uFillTx/>
                <a:latin typeface="Trebuchet MS"/>
                <a:ea typeface="Trebuchet MS"/>
              </a:rPr>
              <a:t>Cheat Sheet: Maximise Social Media</a:t>
            </a:r>
            <a:endParaRPr b="0" lang="en-US" sz="2800" strike="noStrike" u="none">
              <a:solidFill>
                <a:srgbClr val="000000"/>
              </a:solidFill>
              <a:effectLst/>
              <a:uFillTx/>
              <a:latin typeface="Arial"/>
            </a:endParaRPr>
          </a:p>
        </p:txBody>
      </p:sp>
      <p:graphicFrame>
        <p:nvGraphicFramePr>
          <p:cNvPr id="631" name="Table 0"/>
          <p:cNvGraphicFramePr/>
          <p:nvPr/>
        </p:nvGraphicFramePr>
        <p:xfrm>
          <a:off x="548640" y="1005840"/>
          <a:ext cx="8046360" cy="2880360"/>
        </p:xfrm>
        <a:graphic>
          <a:graphicData uri="http://schemas.openxmlformats.org/drawingml/2006/table">
            <a:tbl>
              <a:tblPr/>
              <a:tblGrid>
                <a:gridCol w="1371600"/>
                <a:gridCol w="1828800"/>
                <a:gridCol w="2286000"/>
                <a:gridCol w="2560320"/>
              </a:tblGrid>
              <a:tr h="365760">
                <a:tc>
                  <a:txBody>
                    <a:bodyPr anchor="t">
                      <a:noAutofit/>
                    </a:bodyPr>
                    <a:p>
                      <a:pPr defTabSz="914400">
                        <a:lnSpc>
                          <a:spcPct val="100000"/>
                        </a:lnSpc>
                        <a:tabLst>
                          <a:tab algn="l" pos="0"/>
                        </a:tabLst>
                      </a:pPr>
                      <a:r>
                        <a:rPr b="1" lang="en-US" sz="1100" strike="noStrike" u="none">
                          <a:solidFill>
                            <a:srgbClr val="ffffff"/>
                          </a:solidFill>
                          <a:effectLst/>
                          <a:uFillTx/>
                          <a:latin typeface="Calibri"/>
                          <a:ea typeface="Calibri"/>
                        </a:rPr>
                        <a:t>Platform</a:t>
                      </a:r>
                      <a:endParaRPr b="0" lang="en-US" sz="1100" strike="noStrike" u="none">
                        <a:solidFill>
                          <a:srgbClr val="ffffff"/>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1a1a2e"/>
                    </a:solidFill>
                  </a:tcPr>
                </a:tc>
                <a:tc>
                  <a:txBody>
                    <a:bodyPr anchor="t">
                      <a:noAutofit/>
                    </a:bodyPr>
                    <a:p>
                      <a:pPr defTabSz="914400">
                        <a:lnSpc>
                          <a:spcPct val="100000"/>
                        </a:lnSpc>
                        <a:tabLst>
                          <a:tab algn="l" pos="0"/>
                        </a:tabLst>
                      </a:pPr>
                      <a:r>
                        <a:rPr b="1" lang="en-US" sz="1100" strike="noStrike" u="none">
                          <a:solidFill>
                            <a:srgbClr val="ffffff"/>
                          </a:solidFill>
                          <a:effectLst/>
                          <a:uFillTx/>
                          <a:latin typeface="Calibri"/>
                          <a:ea typeface="Calibri"/>
                        </a:rPr>
                        <a:t>Best For</a:t>
                      </a:r>
                      <a:endParaRPr b="0" lang="en-US" sz="1100" strike="noStrike" u="none">
                        <a:solidFill>
                          <a:srgbClr val="ffffff"/>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1a1a2e"/>
                    </a:solidFill>
                  </a:tcPr>
                </a:tc>
                <a:tc>
                  <a:txBody>
                    <a:bodyPr anchor="t">
                      <a:noAutofit/>
                    </a:bodyPr>
                    <a:p>
                      <a:pPr defTabSz="914400">
                        <a:lnSpc>
                          <a:spcPct val="100000"/>
                        </a:lnSpc>
                        <a:tabLst>
                          <a:tab algn="l" pos="0"/>
                        </a:tabLst>
                      </a:pPr>
                      <a:r>
                        <a:rPr b="1" lang="en-US" sz="1100" strike="noStrike" u="none">
                          <a:solidFill>
                            <a:srgbClr val="ffffff"/>
                          </a:solidFill>
                          <a:effectLst/>
                          <a:uFillTx/>
                          <a:latin typeface="Calibri"/>
                          <a:ea typeface="Calibri"/>
                        </a:rPr>
                        <a:t>Key Strategy</a:t>
                      </a:r>
                      <a:endParaRPr b="0" lang="en-US" sz="1100" strike="noStrike" u="none">
                        <a:solidFill>
                          <a:srgbClr val="ffffff"/>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1a1a2e"/>
                    </a:solidFill>
                  </a:tcPr>
                </a:tc>
                <a:tc>
                  <a:txBody>
                    <a:bodyPr anchor="t">
                      <a:noAutofit/>
                    </a:bodyPr>
                    <a:p>
                      <a:pPr defTabSz="914400">
                        <a:lnSpc>
                          <a:spcPct val="100000"/>
                        </a:lnSpc>
                        <a:tabLst>
                          <a:tab algn="l" pos="0"/>
                        </a:tabLst>
                      </a:pPr>
                      <a:r>
                        <a:rPr b="1" lang="en-US" sz="1100" strike="noStrike" u="none">
                          <a:solidFill>
                            <a:srgbClr val="ffffff"/>
                          </a:solidFill>
                          <a:effectLst/>
                          <a:uFillTx/>
                          <a:latin typeface="Calibri"/>
                          <a:ea typeface="Calibri"/>
                        </a:rPr>
                        <a:t>Key Metrics</a:t>
                      </a:r>
                      <a:endParaRPr b="0" lang="en-US" sz="1100" strike="noStrike" u="none">
                        <a:solidFill>
                          <a:srgbClr val="ffffff"/>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1a1a2e"/>
                    </a:solidFill>
                  </a:tcPr>
                </a:tc>
              </a:tr>
              <a:tr h="502920">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Instagram</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Branding &amp; Engagement</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Storytelling, Reels, Collabs</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Engagement, Reach, Impressions</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502920">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LinkedIn</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B2B &amp; Thought Leadership</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Authority-building, Expertise</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Engagement, CTR, Lead Gen</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502920">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TikTok</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Virality &amp; Engagement</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Trendy short-form, Interactive</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Views, Completion, Shares</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502920">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YouTube Shorts</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Video Discoverability</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Mini-tutorials, Hooks</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Views, Watch Time, CTR</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502920">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Facebook</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Community &amp; B2C</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Content Variety, Groups, Ads</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Reach, CTR, Conversion</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2" name="Text 0"/>
          <p:cNvSpPr/>
          <p:nvPr/>
        </p:nvSpPr>
        <p:spPr>
          <a:xfrm>
            <a:off x="548640" y="274320"/>
            <a:ext cx="73144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600" strike="noStrike" u="none">
                <a:solidFill>
                  <a:srgbClr val="1a1a2e"/>
                </a:solidFill>
                <a:effectLst/>
                <a:uFillTx/>
                <a:latin typeface="Trebuchet MS"/>
                <a:ea typeface="Trebuchet MS"/>
              </a:rPr>
              <a:t>Other Key Highlights from Digital 2025: Singapore</a:t>
            </a:r>
            <a:endParaRPr b="0" lang="en-US" sz="2600" strike="noStrike" u="none">
              <a:solidFill>
                <a:srgbClr val="000000"/>
              </a:solidFill>
              <a:effectLst/>
              <a:uFillTx/>
              <a:latin typeface="Arial"/>
            </a:endParaRPr>
          </a:p>
        </p:txBody>
      </p:sp>
      <p:sp>
        <p:nvSpPr>
          <p:cNvPr id="633" name="Shape 1"/>
          <p:cNvSpPr/>
          <p:nvPr/>
        </p:nvSpPr>
        <p:spPr>
          <a:xfrm>
            <a:off x="548640" y="1097280"/>
            <a:ext cx="8046000" cy="65772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34" name="Shape 2"/>
          <p:cNvSpPr/>
          <p:nvPr/>
        </p:nvSpPr>
        <p:spPr>
          <a:xfrm>
            <a:off x="548640" y="1097280"/>
            <a:ext cx="54000" cy="65772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35" name="Text 3"/>
          <p:cNvSpPr/>
          <p:nvPr/>
        </p:nvSpPr>
        <p:spPr>
          <a:xfrm>
            <a:off x="777240" y="1097280"/>
            <a:ext cx="7634520" cy="657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1a1a2e"/>
                </a:solidFill>
                <a:effectLst/>
                <a:uFillTx/>
                <a:latin typeface="Calibri"/>
                <a:ea typeface="Calibri"/>
              </a:rPr>
              <a:t>Social media ad spend grew 15.9% to US$510M and influencer advertising grew 13.6% to US$106M.</a:t>
            </a:r>
            <a:endParaRPr b="0" lang="en-US" sz="1200" strike="noStrike" u="none">
              <a:solidFill>
                <a:srgbClr val="000000"/>
              </a:solidFill>
              <a:effectLst/>
              <a:uFillTx/>
              <a:latin typeface="Arial"/>
            </a:endParaRPr>
          </a:p>
        </p:txBody>
      </p:sp>
      <p:sp>
        <p:nvSpPr>
          <p:cNvPr id="636" name="Shape 4"/>
          <p:cNvSpPr/>
          <p:nvPr/>
        </p:nvSpPr>
        <p:spPr>
          <a:xfrm>
            <a:off x="548640" y="1874520"/>
            <a:ext cx="8046000" cy="65772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37" name="Shape 5"/>
          <p:cNvSpPr/>
          <p:nvPr/>
        </p:nvSpPr>
        <p:spPr>
          <a:xfrm>
            <a:off x="548640" y="1874520"/>
            <a:ext cx="54000" cy="65772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38" name="Text 6"/>
          <p:cNvSpPr/>
          <p:nvPr/>
        </p:nvSpPr>
        <p:spPr>
          <a:xfrm>
            <a:off x="777240" y="1874520"/>
            <a:ext cx="7634520" cy="657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1a1a2e"/>
                </a:solidFill>
                <a:effectLst/>
                <a:uFillTx/>
                <a:latin typeface="Calibri"/>
                <a:ea typeface="Calibri"/>
              </a:rPr>
              <a:t>Facebook's share of web traffic referrals dropped 30% year-on-year but it still remains the #1 referral channel against other social media platforms.</a:t>
            </a:r>
            <a:endParaRPr b="0" lang="en-US" sz="1200" strike="noStrike" u="none">
              <a:solidFill>
                <a:srgbClr val="000000"/>
              </a:solidFill>
              <a:effectLst/>
              <a:uFillTx/>
              <a:latin typeface="Arial"/>
            </a:endParaRPr>
          </a:p>
        </p:txBody>
      </p:sp>
      <p:sp>
        <p:nvSpPr>
          <p:cNvPr id="639" name="Shape 7"/>
          <p:cNvSpPr/>
          <p:nvPr/>
        </p:nvSpPr>
        <p:spPr>
          <a:xfrm>
            <a:off x="548640" y="2651760"/>
            <a:ext cx="8046000" cy="65772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40" name="Shape 8"/>
          <p:cNvSpPr/>
          <p:nvPr/>
        </p:nvSpPr>
        <p:spPr>
          <a:xfrm>
            <a:off x="548640" y="2651760"/>
            <a:ext cx="54000" cy="65772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41" name="Text 9"/>
          <p:cNvSpPr/>
          <p:nvPr/>
        </p:nvSpPr>
        <p:spPr>
          <a:xfrm>
            <a:off x="777240" y="2651760"/>
            <a:ext cx="7634520" cy="657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1a1a2e"/>
                </a:solidFill>
                <a:effectLst/>
                <a:uFillTx/>
                <a:latin typeface="Calibri"/>
                <a:ea typeface="Calibri"/>
              </a:rPr>
              <a:t>More than a quarter (27.6%) of Singaporeans watch comedy, meme or viral videos online each week.</a:t>
            </a:r>
            <a:endParaRPr b="0" lang="en-US" sz="1200" strike="noStrike" u="none">
              <a:solidFill>
                <a:srgbClr val="000000"/>
              </a:solidFill>
              <a:effectLst/>
              <a:uFillTx/>
              <a:latin typeface="Arial"/>
            </a:endParaRPr>
          </a:p>
        </p:txBody>
      </p:sp>
      <p:sp>
        <p:nvSpPr>
          <p:cNvPr id="642" name="Shape 10"/>
          <p:cNvSpPr/>
          <p:nvPr/>
        </p:nvSpPr>
        <p:spPr>
          <a:xfrm>
            <a:off x="548640" y="3429000"/>
            <a:ext cx="8046000" cy="65772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43" name="Shape 11"/>
          <p:cNvSpPr/>
          <p:nvPr/>
        </p:nvSpPr>
        <p:spPr>
          <a:xfrm>
            <a:off x="548640" y="3429000"/>
            <a:ext cx="54000" cy="65772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44" name="Text 12"/>
          <p:cNvSpPr/>
          <p:nvPr/>
        </p:nvSpPr>
        <p:spPr>
          <a:xfrm>
            <a:off x="777240" y="3429000"/>
            <a:ext cx="7634520" cy="657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1a1a2e"/>
                </a:solidFill>
                <a:effectLst/>
                <a:uFillTx/>
                <a:latin typeface="Calibri"/>
                <a:ea typeface="Calibri"/>
              </a:rPr>
              <a:t>While reading the news is the 3rd most popular reason Singaporeans use social media, only 11.7% say they follow journalists or news companies.</a:t>
            </a:r>
            <a:endParaRPr b="0" lang="en-US" sz="1200" strike="noStrike" u="none">
              <a:solidFill>
                <a:srgbClr val="000000"/>
              </a:solidFill>
              <a:effectLst/>
              <a:uFillTx/>
              <a:latin typeface="Arial"/>
            </a:endParaRPr>
          </a:p>
        </p:txBody>
      </p:sp>
      <p:sp>
        <p:nvSpPr>
          <p:cNvPr id="645" name="Shape 13"/>
          <p:cNvSpPr/>
          <p:nvPr/>
        </p:nvSpPr>
        <p:spPr>
          <a:xfrm>
            <a:off x="548640" y="4206240"/>
            <a:ext cx="8046000" cy="65772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46" name="Shape 14"/>
          <p:cNvSpPr/>
          <p:nvPr/>
        </p:nvSpPr>
        <p:spPr>
          <a:xfrm>
            <a:off x="548640" y="4206240"/>
            <a:ext cx="54000" cy="65772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47" name="Text 15"/>
          <p:cNvSpPr/>
          <p:nvPr/>
        </p:nvSpPr>
        <p:spPr>
          <a:xfrm>
            <a:off x="777240" y="4206240"/>
            <a:ext cx="7634520" cy="657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1a1a2e"/>
                </a:solidFill>
                <a:effectLst/>
                <a:uFillTx/>
                <a:latin typeface="Calibri"/>
                <a:ea typeface="Calibri"/>
              </a:rPr>
              <a:t>Nearly three quarters (71.4%) of Singaporeans are concerned about what is real versus fake online.</a:t>
            </a:r>
            <a:endParaRPr b="0" lang="en-US" sz="1200" strike="noStrike" u="none">
              <a:solidFill>
                <a:srgbClr val="000000"/>
              </a:solidFill>
              <a:effectLst/>
              <a:uFillTx/>
              <a:latin typeface="Arial"/>
            </a:endParaRPr>
          </a:p>
        </p:txBody>
      </p:sp>
      <p:sp>
        <p:nvSpPr>
          <p:cNvPr id="648" name="Text 16"/>
          <p:cNvSpPr/>
          <p:nvPr/>
        </p:nvSpPr>
        <p:spPr>
          <a:xfrm>
            <a:off x="548640" y="4709160"/>
            <a:ext cx="54856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800" strike="noStrike" u="none">
                <a:solidFill>
                  <a:srgbClr val="8e8e8e"/>
                </a:solidFill>
                <a:effectLst/>
                <a:uFillTx/>
                <a:latin typeface="Calibri"/>
                <a:ea typeface="Calibri"/>
              </a:rPr>
              <a:t>Source: We Are Social, Meltwater - Digital 2025 Singapore</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9" name="Shape 0"/>
          <p:cNvSpPr/>
          <p:nvPr/>
        </p:nvSpPr>
        <p:spPr>
          <a:xfrm>
            <a:off x="0" y="0"/>
            <a:ext cx="9143280" cy="822240"/>
          </a:xfrm>
          <a:prstGeom prst="rect">
            <a:avLst/>
          </a:prstGeom>
          <a:solidFill>
            <a:srgbClr val="c13584"/>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50" name="Text 1"/>
          <p:cNvSpPr/>
          <p:nvPr/>
        </p:nvSpPr>
        <p:spPr>
          <a:xfrm>
            <a:off x="548640" y="0"/>
            <a:ext cx="731448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600" strike="noStrike" u="none">
                <a:solidFill>
                  <a:srgbClr val="1a1a2e"/>
                </a:solidFill>
                <a:effectLst/>
                <a:uFillTx/>
                <a:latin typeface="Trebuchet MS"/>
                <a:ea typeface="Trebuchet MS"/>
              </a:rPr>
              <a:t>Instagram: Advertising Audience Profile</a:t>
            </a:r>
            <a:endParaRPr b="0" lang="en-US" sz="2600" strike="noStrike" u="none">
              <a:solidFill>
                <a:srgbClr val="000000"/>
              </a:solidFill>
              <a:effectLst/>
              <a:uFillTx/>
              <a:latin typeface="Arial"/>
            </a:endParaRPr>
          </a:p>
        </p:txBody>
      </p:sp>
      <p:sp>
        <p:nvSpPr>
          <p:cNvPr id="651" name="Text 2"/>
          <p:cNvSpPr/>
          <p:nvPr/>
        </p:nvSpPr>
        <p:spPr>
          <a:xfrm>
            <a:off x="548640" y="868680"/>
            <a:ext cx="73144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trike="noStrike" u="none">
                <a:solidFill>
                  <a:srgbClr val="8e8e8e"/>
                </a:solidFill>
                <a:effectLst/>
                <a:uFillTx/>
                <a:latin typeface="Calibri"/>
                <a:ea typeface="Calibri"/>
              </a:rPr>
              <a:t>Share of Instagram's adult advertising audience aged 18+ by age group and gender</a:t>
            </a:r>
            <a:endParaRPr b="0" lang="en-US" sz="900" strike="noStrike" u="none">
              <a:solidFill>
                <a:srgbClr val="000000"/>
              </a:solidFill>
              <a:effectLst/>
              <a:uFillTx/>
              <a:latin typeface="Arial"/>
            </a:endParaRPr>
          </a:p>
        </p:txBody>
      </p:sp>
      <p:sp>
        <p:nvSpPr>
          <p:cNvPr id="652" name="Shape 3"/>
          <p:cNvSpPr/>
          <p:nvPr/>
        </p:nvSpPr>
        <p:spPr>
          <a:xfrm>
            <a:off x="1140120" y="2400480"/>
            <a:ext cx="365040" cy="125676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53" name="Shape 4"/>
          <p:cNvSpPr/>
          <p:nvPr/>
        </p:nvSpPr>
        <p:spPr>
          <a:xfrm>
            <a:off x="1542240" y="2663280"/>
            <a:ext cx="365040" cy="99360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54" name="Text 5"/>
          <p:cNvSpPr/>
          <p:nvPr/>
        </p:nvSpPr>
        <p:spPr>
          <a:xfrm>
            <a:off x="1094400" y="219924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11%</a:t>
            </a:r>
            <a:endParaRPr b="0" lang="en-US" sz="700" strike="noStrike" u="none">
              <a:solidFill>
                <a:srgbClr val="000000"/>
              </a:solidFill>
              <a:effectLst/>
              <a:uFillTx/>
              <a:latin typeface="Arial"/>
            </a:endParaRPr>
          </a:p>
        </p:txBody>
      </p:sp>
      <p:sp>
        <p:nvSpPr>
          <p:cNvPr id="655" name="Text 6"/>
          <p:cNvSpPr/>
          <p:nvPr/>
        </p:nvSpPr>
        <p:spPr>
          <a:xfrm>
            <a:off x="1496520" y="246204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8.7%</a:t>
            </a:r>
            <a:endParaRPr b="0" lang="en-US" sz="700" strike="noStrike" u="none">
              <a:solidFill>
                <a:srgbClr val="000000"/>
              </a:solidFill>
              <a:effectLst/>
              <a:uFillTx/>
              <a:latin typeface="Arial"/>
            </a:endParaRPr>
          </a:p>
        </p:txBody>
      </p:sp>
      <p:sp>
        <p:nvSpPr>
          <p:cNvPr id="656" name="Text 7"/>
          <p:cNvSpPr/>
          <p:nvPr/>
        </p:nvSpPr>
        <p:spPr>
          <a:xfrm>
            <a:off x="106668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18-24</a:t>
            </a:r>
            <a:endParaRPr b="0" lang="en-US" sz="800" strike="noStrike" u="none">
              <a:solidFill>
                <a:srgbClr val="000000"/>
              </a:solidFill>
              <a:effectLst/>
              <a:uFillTx/>
              <a:latin typeface="Arial"/>
            </a:endParaRPr>
          </a:p>
        </p:txBody>
      </p:sp>
      <p:sp>
        <p:nvSpPr>
          <p:cNvPr id="657" name="Shape 8"/>
          <p:cNvSpPr/>
          <p:nvPr/>
        </p:nvSpPr>
        <p:spPr>
          <a:xfrm>
            <a:off x="2240280" y="1234440"/>
            <a:ext cx="1096560" cy="2925360"/>
          </a:xfrm>
          <a:prstGeom prst="rect">
            <a:avLst/>
          </a:prstGeom>
          <a:solidFill>
            <a:srgbClr val="0d3b4f"/>
          </a:solidFill>
          <a:ln w="25400">
            <a:solidFill>
              <a:srgbClr val="0f9b8e"/>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58" name="Shape 9"/>
          <p:cNvSpPr/>
          <p:nvPr/>
        </p:nvSpPr>
        <p:spPr>
          <a:xfrm>
            <a:off x="2359080" y="1703160"/>
            <a:ext cx="365040" cy="195372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59" name="Shape 10"/>
          <p:cNvSpPr/>
          <p:nvPr/>
        </p:nvSpPr>
        <p:spPr>
          <a:xfrm>
            <a:off x="2761560" y="1714680"/>
            <a:ext cx="365040" cy="19425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60" name="Text 11"/>
          <p:cNvSpPr/>
          <p:nvPr/>
        </p:nvSpPr>
        <p:spPr>
          <a:xfrm>
            <a:off x="2313360" y="150192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17.1%</a:t>
            </a:r>
            <a:endParaRPr b="0" lang="en-US" sz="700" strike="noStrike" u="none">
              <a:solidFill>
                <a:srgbClr val="000000"/>
              </a:solidFill>
              <a:effectLst/>
              <a:uFillTx/>
              <a:latin typeface="Arial"/>
            </a:endParaRPr>
          </a:p>
        </p:txBody>
      </p:sp>
      <p:sp>
        <p:nvSpPr>
          <p:cNvPr id="661" name="Text 12"/>
          <p:cNvSpPr/>
          <p:nvPr/>
        </p:nvSpPr>
        <p:spPr>
          <a:xfrm>
            <a:off x="2715840" y="151344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17%</a:t>
            </a:r>
            <a:endParaRPr b="0" lang="en-US" sz="700" strike="noStrike" u="none">
              <a:solidFill>
                <a:srgbClr val="000000"/>
              </a:solidFill>
              <a:effectLst/>
              <a:uFillTx/>
              <a:latin typeface="Arial"/>
            </a:endParaRPr>
          </a:p>
        </p:txBody>
      </p:sp>
      <p:sp>
        <p:nvSpPr>
          <p:cNvPr id="662" name="Text 13"/>
          <p:cNvSpPr/>
          <p:nvPr/>
        </p:nvSpPr>
        <p:spPr>
          <a:xfrm>
            <a:off x="228600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25-34</a:t>
            </a:r>
            <a:endParaRPr b="0" lang="en-US" sz="800" strike="noStrike" u="none">
              <a:solidFill>
                <a:srgbClr val="000000"/>
              </a:solidFill>
              <a:effectLst/>
              <a:uFillTx/>
              <a:latin typeface="Arial"/>
            </a:endParaRPr>
          </a:p>
        </p:txBody>
      </p:sp>
      <p:sp>
        <p:nvSpPr>
          <p:cNvPr id="663" name="Shape 14"/>
          <p:cNvSpPr/>
          <p:nvPr/>
        </p:nvSpPr>
        <p:spPr>
          <a:xfrm>
            <a:off x="3578400" y="2297520"/>
            <a:ext cx="365040" cy="135936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64" name="Shape 15"/>
          <p:cNvSpPr/>
          <p:nvPr/>
        </p:nvSpPr>
        <p:spPr>
          <a:xfrm>
            <a:off x="3980520" y="2457360"/>
            <a:ext cx="365040" cy="119952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65" name="Text 16"/>
          <p:cNvSpPr/>
          <p:nvPr/>
        </p:nvSpPr>
        <p:spPr>
          <a:xfrm>
            <a:off x="3532680" y="209628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11.9%</a:t>
            </a:r>
            <a:endParaRPr b="0" lang="en-US" sz="700" strike="noStrike" u="none">
              <a:solidFill>
                <a:srgbClr val="000000"/>
              </a:solidFill>
              <a:effectLst/>
              <a:uFillTx/>
              <a:latin typeface="Arial"/>
            </a:endParaRPr>
          </a:p>
        </p:txBody>
      </p:sp>
      <p:sp>
        <p:nvSpPr>
          <p:cNvPr id="666" name="Text 17"/>
          <p:cNvSpPr/>
          <p:nvPr/>
        </p:nvSpPr>
        <p:spPr>
          <a:xfrm>
            <a:off x="3934800" y="225612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10.5%</a:t>
            </a:r>
            <a:endParaRPr b="0" lang="en-US" sz="700" strike="noStrike" u="none">
              <a:solidFill>
                <a:srgbClr val="000000"/>
              </a:solidFill>
              <a:effectLst/>
              <a:uFillTx/>
              <a:latin typeface="Arial"/>
            </a:endParaRPr>
          </a:p>
        </p:txBody>
      </p:sp>
      <p:sp>
        <p:nvSpPr>
          <p:cNvPr id="667" name="Text 18"/>
          <p:cNvSpPr/>
          <p:nvPr/>
        </p:nvSpPr>
        <p:spPr>
          <a:xfrm>
            <a:off x="350532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35-44</a:t>
            </a:r>
            <a:endParaRPr b="0" lang="en-US" sz="800" strike="noStrike" u="none">
              <a:solidFill>
                <a:srgbClr val="000000"/>
              </a:solidFill>
              <a:effectLst/>
              <a:uFillTx/>
              <a:latin typeface="Arial"/>
            </a:endParaRPr>
          </a:p>
        </p:txBody>
      </p:sp>
      <p:sp>
        <p:nvSpPr>
          <p:cNvPr id="668" name="Shape 19"/>
          <p:cNvSpPr/>
          <p:nvPr/>
        </p:nvSpPr>
        <p:spPr>
          <a:xfrm>
            <a:off x="4797720" y="2846160"/>
            <a:ext cx="365040" cy="81072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69" name="Shape 20"/>
          <p:cNvSpPr/>
          <p:nvPr/>
        </p:nvSpPr>
        <p:spPr>
          <a:xfrm>
            <a:off x="5199840" y="3029040"/>
            <a:ext cx="365040" cy="62784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70" name="Text 21"/>
          <p:cNvSpPr/>
          <p:nvPr/>
        </p:nvSpPr>
        <p:spPr>
          <a:xfrm>
            <a:off x="4752000" y="264492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7.1%</a:t>
            </a:r>
            <a:endParaRPr b="0" lang="en-US" sz="700" strike="noStrike" u="none">
              <a:solidFill>
                <a:srgbClr val="000000"/>
              </a:solidFill>
              <a:effectLst/>
              <a:uFillTx/>
              <a:latin typeface="Arial"/>
            </a:endParaRPr>
          </a:p>
        </p:txBody>
      </p:sp>
      <p:sp>
        <p:nvSpPr>
          <p:cNvPr id="671" name="Text 22"/>
          <p:cNvSpPr/>
          <p:nvPr/>
        </p:nvSpPr>
        <p:spPr>
          <a:xfrm>
            <a:off x="5154120" y="282780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5.5%</a:t>
            </a:r>
            <a:endParaRPr b="0" lang="en-US" sz="700" strike="noStrike" u="none">
              <a:solidFill>
                <a:srgbClr val="000000"/>
              </a:solidFill>
              <a:effectLst/>
              <a:uFillTx/>
              <a:latin typeface="Arial"/>
            </a:endParaRPr>
          </a:p>
        </p:txBody>
      </p:sp>
      <p:sp>
        <p:nvSpPr>
          <p:cNvPr id="672" name="Text 23"/>
          <p:cNvSpPr/>
          <p:nvPr/>
        </p:nvSpPr>
        <p:spPr>
          <a:xfrm>
            <a:off x="472428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45-54</a:t>
            </a:r>
            <a:endParaRPr b="0" lang="en-US" sz="800" strike="noStrike" u="none">
              <a:solidFill>
                <a:srgbClr val="000000"/>
              </a:solidFill>
              <a:effectLst/>
              <a:uFillTx/>
              <a:latin typeface="Arial"/>
            </a:endParaRPr>
          </a:p>
        </p:txBody>
      </p:sp>
      <p:sp>
        <p:nvSpPr>
          <p:cNvPr id="673" name="Shape 24"/>
          <p:cNvSpPr/>
          <p:nvPr/>
        </p:nvSpPr>
        <p:spPr>
          <a:xfrm>
            <a:off x="6016680" y="3200400"/>
            <a:ext cx="365040" cy="45648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74" name="Shape 25"/>
          <p:cNvSpPr/>
          <p:nvPr/>
        </p:nvSpPr>
        <p:spPr>
          <a:xfrm>
            <a:off x="6419160" y="3326040"/>
            <a:ext cx="365040" cy="33084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75" name="Text 26"/>
          <p:cNvSpPr/>
          <p:nvPr/>
        </p:nvSpPr>
        <p:spPr>
          <a:xfrm>
            <a:off x="5970960" y="299916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4%</a:t>
            </a:r>
            <a:endParaRPr b="0" lang="en-US" sz="700" strike="noStrike" u="none">
              <a:solidFill>
                <a:srgbClr val="000000"/>
              </a:solidFill>
              <a:effectLst/>
              <a:uFillTx/>
              <a:latin typeface="Arial"/>
            </a:endParaRPr>
          </a:p>
        </p:txBody>
      </p:sp>
      <p:sp>
        <p:nvSpPr>
          <p:cNvPr id="676" name="Text 27"/>
          <p:cNvSpPr/>
          <p:nvPr/>
        </p:nvSpPr>
        <p:spPr>
          <a:xfrm>
            <a:off x="6373440" y="312480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2.9%</a:t>
            </a:r>
            <a:endParaRPr b="0" lang="en-US" sz="700" strike="noStrike" u="none">
              <a:solidFill>
                <a:srgbClr val="000000"/>
              </a:solidFill>
              <a:effectLst/>
              <a:uFillTx/>
              <a:latin typeface="Arial"/>
            </a:endParaRPr>
          </a:p>
        </p:txBody>
      </p:sp>
      <p:sp>
        <p:nvSpPr>
          <p:cNvPr id="677" name="Text 28"/>
          <p:cNvSpPr/>
          <p:nvPr/>
        </p:nvSpPr>
        <p:spPr>
          <a:xfrm>
            <a:off x="594360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55-64</a:t>
            </a:r>
            <a:endParaRPr b="0" lang="en-US" sz="800" strike="noStrike" u="none">
              <a:solidFill>
                <a:srgbClr val="000000"/>
              </a:solidFill>
              <a:effectLst/>
              <a:uFillTx/>
              <a:latin typeface="Arial"/>
            </a:endParaRPr>
          </a:p>
        </p:txBody>
      </p:sp>
      <p:sp>
        <p:nvSpPr>
          <p:cNvPr id="678" name="Shape 29"/>
          <p:cNvSpPr/>
          <p:nvPr/>
        </p:nvSpPr>
        <p:spPr>
          <a:xfrm>
            <a:off x="7236000" y="3394800"/>
            <a:ext cx="365040" cy="26208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79" name="Shape 30"/>
          <p:cNvSpPr/>
          <p:nvPr/>
        </p:nvSpPr>
        <p:spPr>
          <a:xfrm>
            <a:off x="7638120" y="3440520"/>
            <a:ext cx="365040" cy="2163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80" name="Text 31"/>
          <p:cNvSpPr/>
          <p:nvPr/>
        </p:nvSpPr>
        <p:spPr>
          <a:xfrm>
            <a:off x="7190280" y="319356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2.3%</a:t>
            </a:r>
            <a:endParaRPr b="0" lang="en-US" sz="700" strike="noStrike" u="none">
              <a:solidFill>
                <a:srgbClr val="000000"/>
              </a:solidFill>
              <a:effectLst/>
              <a:uFillTx/>
              <a:latin typeface="Arial"/>
            </a:endParaRPr>
          </a:p>
        </p:txBody>
      </p:sp>
      <p:sp>
        <p:nvSpPr>
          <p:cNvPr id="681" name="Text 32"/>
          <p:cNvSpPr/>
          <p:nvPr/>
        </p:nvSpPr>
        <p:spPr>
          <a:xfrm>
            <a:off x="7592400" y="323928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1.9%</a:t>
            </a:r>
            <a:endParaRPr b="0" lang="en-US" sz="700" strike="noStrike" u="none">
              <a:solidFill>
                <a:srgbClr val="000000"/>
              </a:solidFill>
              <a:effectLst/>
              <a:uFillTx/>
              <a:latin typeface="Arial"/>
            </a:endParaRPr>
          </a:p>
        </p:txBody>
      </p:sp>
      <p:sp>
        <p:nvSpPr>
          <p:cNvPr id="682" name="Text 33"/>
          <p:cNvSpPr/>
          <p:nvPr/>
        </p:nvSpPr>
        <p:spPr>
          <a:xfrm>
            <a:off x="716292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65+</a:t>
            </a:r>
            <a:endParaRPr b="0" lang="en-US" sz="800" strike="noStrike" u="none">
              <a:solidFill>
                <a:srgbClr val="000000"/>
              </a:solidFill>
              <a:effectLst/>
              <a:uFillTx/>
              <a:latin typeface="Arial"/>
            </a:endParaRPr>
          </a:p>
        </p:txBody>
      </p:sp>
      <p:sp>
        <p:nvSpPr>
          <p:cNvPr id="683" name="Shape 34"/>
          <p:cNvSpPr/>
          <p:nvPr/>
        </p:nvSpPr>
        <p:spPr>
          <a:xfrm>
            <a:off x="6858000" y="4023360"/>
            <a:ext cx="182160" cy="18216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84" name="Text 35"/>
          <p:cNvSpPr/>
          <p:nvPr/>
        </p:nvSpPr>
        <p:spPr>
          <a:xfrm>
            <a:off x="7086600" y="4023360"/>
            <a:ext cx="639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1a1a2e"/>
                </a:solidFill>
                <a:effectLst/>
                <a:uFillTx/>
                <a:latin typeface="Calibri"/>
                <a:ea typeface="Calibri"/>
              </a:rPr>
              <a:t>Female</a:t>
            </a:r>
            <a:endParaRPr b="0" lang="en-US" sz="800" strike="noStrike" u="none">
              <a:solidFill>
                <a:srgbClr val="000000"/>
              </a:solidFill>
              <a:effectLst/>
              <a:uFillTx/>
              <a:latin typeface="Arial"/>
            </a:endParaRPr>
          </a:p>
        </p:txBody>
      </p:sp>
      <p:sp>
        <p:nvSpPr>
          <p:cNvPr id="685" name="Shape 36"/>
          <p:cNvSpPr/>
          <p:nvPr/>
        </p:nvSpPr>
        <p:spPr>
          <a:xfrm>
            <a:off x="7772400" y="4023360"/>
            <a:ext cx="182160" cy="1821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86" name="Text 37"/>
          <p:cNvSpPr/>
          <p:nvPr/>
        </p:nvSpPr>
        <p:spPr>
          <a:xfrm>
            <a:off x="8001000" y="4023360"/>
            <a:ext cx="45648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1a1a2e"/>
                </a:solidFill>
                <a:effectLst/>
                <a:uFillTx/>
                <a:latin typeface="Calibri"/>
                <a:ea typeface="Calibri"/>
              </a:rPr>
              <a:t>Male</a:t>
            </a:r>
            <a:endParaRPr b="0" lang="en-US" sz="800" strike="noStrike" u="none">
              <a:solidFill>
                <a:srgbClr val="000000"/>
              </a:solidFill>
              <a:effectLst/>
              <a:uFillTx/>
              <a:latin typeface="Arial"/>
            </a:endParaRPr>
          </a:p>
        </p:txBody>
      </p:sp>
      <p:sp>
        <p:nvSpPr>
          <p:cNvPr id="687" name="Shape 38"/>
          <p:cNvSpPr/>
          <p:nvPr/>
        </p:nvSpPr>
        <p:spPr>
          <a:xfrm>
            <a:off x="548640" y="4389120"/>
            <a:ext cx="8046000" cy="4107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88" name="Shape 39"/>
          <p:cNvSpPr/>
          <p:nvPr/>
        </p:nvSpPr>
        <p:spPr>
          <a:xfrm>
            <a:off x="548640" y="4389120"/>
            <a:ext cx="54000" cy="41076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89" name="Text 40"/>
          <p:cNvSpPr/>
          <p:nvPr/>
        </p:nvSpPr>
        <p:spPr>
          <a:xfrm>
            <a:off x="777240" y="4389120"/>
            <a:ext cx="763452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1a1a2e"/>
                </a:solidFill>
                <a:effectLst/>
                <a:uFillTx/>
                <a:latin typeface="Calibri"/>
                <a:ea typeface="Calibri"/>
              </a:rPr>
              <a:t>Insight: Peak audience: 25-34 year olds (34.1% combined). Nearly equal gender split at peak.</a:t>
            </a:r>
            <a:endParaRPr b="0" lang="en-US" sz="1000" strike="noStrike" u="none">
              <a:solidFill>
                <a:srgbClr val="000000"/>
              </a:solidFill>
              <a:effectLst/>
              <a:uFillTx/>
              <a:latin typeface="Arial"/>
            </a:endParaRPr>
          </a:p>
        </p:txBody>
      </p:sp>
      <p:sp>
        <p:nvSpPr>
          <p:cNvPr id="690" name="Text 41"/>
          <p:cNvSpPr/>
          <p:nvPr/>
        </p:nvSpPr>
        <p:spPr>
          <a:xfrm>
            <a:off x="548640" y="4846320"/>
            <a:ext cx="7314480" cy="182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trike="noStrike" u="none">
                <a:solidFill>
                  <a:srgbClr val="8e8e8e"/>
                </a:solidFill>
                <a:effectLst/>
                <a:uFillTx/>
                <a:latin typeface="Calibri"/>
                <a:ea typeface="Calibri"/>
              </a:rPr>
              <a:t>Source: Instagram Advertising Resources, Kepios Analysis via We Are Social / Meltwater</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1" name="Shape 0"/>
          <p:cNvSpPr/>
          <p:nvPr/>
        </p:nvSpPr>
        <p:spPr>
          <a:xfrm>
            <a:off x="0" y="0"/>
            <a:ext cx="9143280" cy="822240"/>
          </a:xfrm>
          <a:prstGeom prst="rect">
            <a:avLst/>
          </a:prstGeom>
          <a:solidFill>
            <a:srgbClr val="0077b5"/>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92" name="Text 1"/>
          <p:cNvSpPr/>
          <p:nvPr/>
        </p:nvSpPr>
        <p:spPr>
          <a:xfrm>
            <a:off x="548640" y="0"/>
            <a:ext cx="731448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600" strike="noStrike" u="none">
                <a:solidFill>
                  <a:srgbClr val="1a1a2e"/>
                </a:solidFill>
                <a:effectLst/>
                <a:uFillTx/>
                <a:latin typeface="Trebuchet MS"/>
                <a:ea typeface="Trebuchet MS"/>
              </a:rPr>
              <a:t>LinkedIn: Advertising Audience Profile</a:t>
            </a:r>
            <a:endParaRPr b="0" lang="en-US" sz="2600" strike="noStrike" u="none">
              <a:solidFill>
                <a:srgbClr val="000000"/>
              </a:solidFill>
              <a:effectLst/>
              <a:uFillTx/>
              <a:latin typeface="Arial"/>
            </a:endParaRPr>
          </a:p>
        </p:txBody>
      </p:sp>
      <p:sp>
        <p:nvSpPr>
          <p:cNvPr id="693" name="Text 2"/>
          <p:cNvSpPr/>
          <p:nvPr/>
        </p:nvSpPr>
        <p:spPr>
          <a:xfrm>
            <a:off x="548640" y="868680"/>
            <a:ext cx="73144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trike="noStrike" u="none">
                <a:solidFill>
                  <a:srgbClr val="8e8e8e"/>
                </a:solidFill>
                <a:effectLst/>
                <a:uFillTx/>
                <a:latin typeface="Calibri"/>
                <a:ea typeface="Calibri"/>
              </a:rPr>
              <a:t>Share of LinkedIn's advertising audience by age group and gender</a:t>
            </a:r>
            <a:endParaRPr b="0" lang="en-US" sz="900" strike="noStrike" u="none">
              <a:solidFill>
                <a:srgbClr val="000000"/>
              </a:solidFill>
              <a:effectLst/>
              <a:uFillTx/>
              <a:latin typeface="Arial"/>
            </a:endParaRPr>
          </a:p>
        </p:txBody>
      </p:sp>
      <p:sp>
        <p:nvSpPr>
          <p:cNvPr id="694" name="Shape 3"/>
          <p:cNvSpPr/>
          <p:nvPr/>
        </p:nvSpPr>
        <p:spPr>
          <a:xfrm>
            <a:off x="1353240" y="2751840"/>
            <a:ext cx="456480" cy="90504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95" name="Shape 4"/>
          <p:cNvSpPr/>
          <p:nvPr/>
        </p:nvSpPr>
        <p:spPr>
          <a:xfrm>
            <a:off x="1847160" y="2584800"/>
            <a:ext cx="456480" cy="107208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696" name="Text 5"/>
          <p:cNvSpPr/>
          <p:nvPr/>
        </p:nvSpPr>
        <p:spPr>
          <a:xfrm>
            <a:off x="1307520" y="2550960"/>
            <a:ext cx="54792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10.3%</a:t>
            </a:r>
            <a:endParaRPr b="0" lang="en-US" sz="700" strike="noStrike" u="none">
              <a:solidFill>
                <a:srgbClr val="000000"/>
              </a:solidFill>
              <a:effectLst/>
              <a:uFillTx/>
              <a:latin typeface="Arial"/>
            </a:endParaRPr>
          </a:p>
        </p:txBody>
      </p:sp>
      <p:sp>
        <p:nvSpPr>
          <p:cNvPr id="697" name="Text 6"/>
          <p:cNvSpPr/>
          <p:nvPr/>
        </p:nvSpPr>
        <p:spPr>
          <a:xfrm>
            <a:off x="1801440" y="2383920"/>
            <a:ext cx="54792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12.2%</a:t>
            </a:r>
            <a:endParaRPr b="0" lang="en-US" sz="700" strike="noStrike" u="none">
              <a:solidFill>
                <a:srgbClr val="000000"/>
              </a:solidFill>
              <a:effectLst/>
              <a:uFillTx/>
              <a:latin typeface="Arial"/>
            </a:endParaRPr>
          </a:p>
        </p:txBody>
      </p:sp>
      <p:sp>
        <p:nvSpPr>
          <p:cNvPr id="698" name="Text 7"/>
          <p:cNvSpPr/>
          <p:nvPr/>
        </p:nvSpPr>
        <p:spPr>
          <a:xfrm>
            <a:off x="137160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18-24</a:t>
            </a:r>
            <a:endParaRPr b="0" lang="en-US" sz="800" strike="noStrike" u="none">
              <a:solidFill>
                <a:srgbClr val="000000"/>
              </a:solidFill>
              <a:effectLst/>
              <a:uFillTx/>
              <a:latin typeface="Arial"/>
            </a:endParaRPr>
          </a:p>
        </p:txBody>
      </p:sp>
      <p:sp>
        <p:nvSpPr>
          <p:cNvPr id="699" name="Shape 8"/>
          <p:cNvSpPr/>
          <p:nvPr/>
        </p:nvSpPr>
        <p:spPr>
          <a:xfrm>
            <a:off x="3063240" y="1234440"/>
            <a:ext cx="1279440" cy="2925360"/>
          </a:xfrm>
          <a:prstGeom prst="rect">
            <a:avLst/>
          </a:prstGeom>
          <a:solidFill>
            <a:srgbClr val="0d3b4f"/>
          </a:solidFill>
          <a:ln w="25400">
            <a:solidFill>
              <a:srgbClr val="0f9b8e"/>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00" name="Shape 9"/>
          <p:cNvSpPr/>
          <p:nvPr/>
        </p:nvSpPr>
        <p:spPr>
          <a:xfrm>
            <a:off x="3182040" y="1653120"/>
            <a:ext cx="456480" cy="200376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01" name="Shape 10"/>
          <p:cNvSpPr/>
          <p:nvPr/>
        </p:nvSpPr>
        <p:spPr>
          <a:xfrm>
            <a:off x="3675960" y="1512360"/>
            <a:ext cx="456480" cy="214452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02" name="Text 11"/>
          <p:cNvSpPr/>
          <p:nvPr/>
        </p:nvSpPr>
        <p:spPr>
          <a:xfrm>
            <a:off x="3136320" y="1451880"/>
            <a:ext cx="54792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22.8%</a:t>
            </a:r>
            <a:endParaRPr b="0" lang="en-US" sz="700" strike="noStrike" u="none">
              <a:solidFill>
                <a:srgbClr val="000000"/>
              </a:solidFill>
              <a:effectLst/>
              <a:uFillTx/>
              <a:latin typeface="Arial"/>
            </a:endParaRPr>
          </a:p>
        </p:txBody>
      </p:sp>
      <p:sp>
        <p:nvSpPr>
          <p:cNvPr id="703" name="Text 12"/>
          <p:cNvSpPr/>
          <p:nvPr/>
        </p:nvSpPr>
        <p:spPr>
          <a:xfrm>
            <a:off x="3630240" y="1311120"/>
            <a:ext cx="54792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24.4%</a:t>
            </a:r>
            <a:endParaRPr b="0" lang="en-US" sz="700" strike="noStrike" u="none">
              <a:solidFill>
                <a:srgbClr val="000000"/>
              </a:solidFill>
              <a:effectLst/>
              <a:uFillTx/>
              <a:latin typeface="Arial"/>
            </a:endParaRPr>
          </a:p>
        </p:txBody>
      </p:sp>
      <p:sp>
        <p:nvSpPr>
          <p:cNvPr id="704" name="Text 13"/>
          <p:cNvSpPr/>
          <p:nvPr/>
        </p:nvSpPr>
        <p:spPr>
          <a:xfrm>
            <a:off x="320040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25-34</a:t>
            </a:r>
            <a:endParaRPr b="0" lang="en-US" sz="800" strike="noStrike" u="none">
              <a:solidFill>
                <a:srgbClr val="000000"/>
              </a:solidFill>
              <a:effectLst/>
              <a:uFillTx/>
              <a:latin typeface="Arial"/>
            </a:endParaRPr>
          </a:p>
        </p:txBody>
      </p:sp>
      <p:sp>
        <p:nvSpPr>
          <p:cNvPr id="705" name="Shape 14"/>
          <p:cNvSpPr/>
          <p:nvPr/>
        </p:nvSpPr>
        <p:spPr>
          <a:xfrm>
            <a:off x="5010840" y="2488320"/>
            <a:ext cx="456480" cy="116856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06" name="Shape 15"/>
          <p:cNvSpPr/>
          <p:nvPr/>
        </p:nvSpPr>
        <p:spPr>
          <a:xfrm>
            <a:off x="5504760" y="2365200"/>
            <a:ext cx="456480" cy="129168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07" name="Text 16"/>
          <p:cNvSpPr/>
          <p:nvPr/>
        </p:nvSpPr>
        <p:spPr>
          <a:xfrm>
            <a:off x="4965120" y="2287080"/>
            <a:ext cx="54792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13.3%</a:t>
            </a:r>
            <a:endParaRPr b="0" lang="en-US" sz="700" strike="noStrike" u="none">
              <a:solidFill>
                <a:srgbClr val="000000"/>
              </a:solidFill>
              <a:effectLst/>
              <a:uFillTx/>
              <a:latin typeface="Arial"/>
            </a:endParaRPr>
          </a:p>
        </p:txBody>
      </p:sp>
      <p:sp>
        <p:nvSpPr>
          <p:cNvPr id="708" name="Text 17"/>
          <p:cNvSpPr/>
          <p:nvPr/>
        </p:nvSpPr>
        <p:spPr>
          <a:xfrm>
            <a:off x="5459040" y="2163960"/>
            <a:ext cx="54792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14.7%</a:t>
            </a:r>
            <a:endParaRPr b="0" lang="en-US" sz="700" strike="noStrike" u="none">
              <a:solidFill>
                <a:srgbClr val="000000"/>
              </a:solidFill>
              <a:effectLst/>
              <a:uFillTx/>
              <a:latin typeface="Arial"/>
            </a:endParaRPr>
          </a:p>
        </p:txBody>
      </p:sp>
      <p:sp>
        <p:nvSpPr>
          <p:cNvPr id="709" name="Text 18"/>
          <p:cNvSpPr/>
          <p:nvPr/>
        </p:nvSpPr>
        <p:spPr>
          <a:xfrm>
            <a:off x="502920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35-54</a:t>
            </a:r>
            <a:endParaRPr b="0" lang="en-US" sz="800" strike="noStrike" u="none">
              <a:solidFill>
                <a:srgbClr val="000000"/>
              </a:solidFill>
              <a:effectLst/>
              <a:uFillTx/>
              <a:latin typeface="Arial"/>
            </a:endParaRPr>
          </a:p>
        </p:txBody>
      </p:sp>
      <p:sp>
        <p:nvSpPr>
          <p:cNvPr id="710" name="Shape 19"/>
          <p:cNvSpPr/>
          <p:nvPr/>
        </p:nvSpPr>
        <p:spPr>
          <a:xfrm>
            <a:off x="6839640" y="3584520"/>
            <a:ext cx="456480" cy="72360"/>
          </a:xfrm>
          <a:prstGeom prst="rect">
            <a:avLst/>
          </a:prstGeom>
          <a:solidFill>
            <a:srgbClr val="f5a623"/>
          </a:solidFill>
          <a:ln w="0">
            <a:noFill/>
          </a:ln>
        </p:spPr>
        <p:style>
          <a:lnRef idx="0"/>
          <a:fillRef idx="0"/>
          <a:effectRef idx="0"/>
          <a:fontRef idx="minor"/>
        </p:style>
        <p:txBody>
          <a:bodyPr lIns="90000" rIns="90000" tIns="28080" bIns="2808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11" name="Shape 20"/>
          <p:cNvSpPr/>
          <p:nvPr/>
        </p:nvSpPr>
        <p:spPr>
          <a:xfrm>
            <a:off x="7333560" y="3525840"/>
            <a:ext cx="456480" cy="13104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12" name="Text 21"/>
          <p:cNvSpPr/>
          <p:nvPr/>
        </p:nvSpPr>
        <p:spPr>
          <a:xfrm>
            <a:off x="6793920" y="3383280"/>
            <a:ext cx="54792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0.8%</a:t>
            </a:r>
            <a:endParaRPr b="0" lang="en-US" sz="700" strike="noStrike" u="none">
              <a:solidFill>
                <a:srgbClr val="000000"/>
              </a:solidFill>
              <a:effectLst/>
              <a:uFillTx/>
              <a:latin typeface="Arial"/>
            </a:endParaRPr>
          </a:p>
        </p:txBody>
      </p:sp>
      <p:sp>
        <p:nvSpPr>
          <p:cNvPr id="713" name="Text 22"/>
          <p:cNvSpPr/>
          <p:nvPr/>
        </p:nvSpPr>
        <p:spPr>
          <a:xfrm>
            <a:off x="7287840" y="3324600"/>
            <a:ext cx="54792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1.5%</a:t>
            </a:r>
            <a:endParaRPr b="0" lang="en-US" sz="700" strike="noStrike" u="none">
              <a:solidFill>
                <a:srgbClr val="000000"/>
              </a:solidFill>
              <a:effectLst/>
              <a:uFillTx/>
              <a:latin typeface="Arial"/>
            </a:endParaRPr>
          </a:p>
        </p:txBody>
      </p:sp>
      <p:sp>
        <p:nvSpPr>
          <p:cNvPr id="714" name="Text 23"/>
          <p:cNvSpPr/>
          <p:nvPr/>
        </p:nvSpPr>
        <p:spPr>
          <a:xfrm>
            <a:off x="685800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55+</a:t>
            </a:r>
            <a:endParaRPr b="0" lang="en-US" sz="800" strike="noStrike" u="none">
              <a:solidFill>
                <a:srgbClr val="000000"/>
              </a:solidFill>
              <a:effectLst/>
              <a:uFillTx/>
              <a:latin typeface="Arial"/>
            </a:endParaRPr>
          </a:p>
        </p:txBody>
      </p:sp>
      <p:sp>
        <p:nvSpPr>
          <p:cNvPr id="715" name="Shape 24"/>
          <p:cNvSpPr/>
          <p:nvPr/>
        </p:nvSpPr>
        <p:spPr>
          <a:xfrm>
            <a:off x="6858000" y="4023360"/>
            <a:ext cx="182160" cy="18216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16" name="Text 25"/>
          <p:cNvSpPr/>
          <p:nvPr/>
        </p:nvSpPr>
        <p:spPr>
          <a:xfrm>
            <a:off x="7086600" y="4023360"/>
            <a:ext cx="639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1a1a2e"/>
                </a:solidFill>
                <a:effectLst/>
                <a:uFillTx/>
                <a:latin typeface="Calibri"/>
                <a:ea typeface="Calibri"/>
              </a:rPr>
              <a:t>Female</a:t>
            </a:r>
            <a:endParaRPr b="0" lang="en-US" sz="800" strike="noStrike" u="none">
              <a:solidFill>
                <a:srgbClr val="000000"/>
              </a:solidFill>
              <a:effectLst/>
              <a:uFillTx/>
              <a:latin typeface="Arial"/>
            </a:endParaRPr>
          </a:p>
        </p:txBody>
      </p:sp>
      <p:sp>
        <p:nvSpPr>
          <p:cNvPr id="717" name="Shape 26"/>
          <p:cNvSpPr/>
          <p:nvPr/>
        </p:nvSpPr>
        <p:spPr>
          <a:xfrm>
            <a:off x="7772400" y="4023360"/>
            <a:ext cx="182160" cy="1821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18" name="Text 27"/>
          <p:cNvSpPr/>
          <p:nvPr/>
        </p:nvSpPr>
        <p:spPr>
          <a:xfrm>
            <a:off x="8001000" y="4023360"/>
            <a:ext cx="45648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1a1a2e"/>
                </a:solidFill>
                <a:effectLst/>
                <a:uFillTx/>
                <a:latin typeface="Calibri"/>
                <a:ea typeface="Calibri"/>
              </a:rPr>
              <a:t>Male</a:t>
            </a:r>
            <a:endParaRPr b="0" lang="en-US" sz="800" strike="noStrike" u="none">
              <a:solidFill>
                <a:srgbClr val="000000"/>
              </a:solidFill>
              <a:effectLst/>
              <a:uFillTx/>
              <a:latin typeface="Arial"/>
            </a:endParaRPr>
          </a:p>
        </p:txBody>
      </p:sp>
      <p:sp>
        <p:nvSpPr>
          <p:cNvPr id="719" name="Shape 28"/>
          <p:cNvSpPr/>
          <p:nvPr/>
        </p:nvSpPr>
        <p:spPr>
          <a:xfrm>
            <a:off x="548640" y="4389120"/>
            <a:ext cx="8046000" cy="4107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20" name="Shape 29"/>
          <p:cNvSpPr/>
          <p:nvPr/>
        </p:nvSpPr>
        <p:spPr>
          <a:xfrm>
            <a:off x="548640" y="4389120"/>
            <a:ext cx="54000" cy="41076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21" name="Text 30"/>
          <p:cNvSpPr/>
          <p:nvPr/>
        </p:nvSpPr>
        <p:spPr>
          <a:xfrm>
            <a:off x="777240" y="4389120"/>
            <a:ext cx="763452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1a1a2e"/>
                </a:solidFill>
                <a:effectLst/>
                <a:uFillTx/>
                <a:latin typeface="Calibri"/>
                <a:ea typeface="Calibri"/>
              </a:rPr>
              <a:t>Insight: Massive 25-34 concentration (47.2% combined). Male-skewed. B2B goldmine.</a:t>
            </a:r>
            <a:endParaRPr b="0" lang="en-US" sz="1000" strike="noStrike" u="none">
              <a:solidFill>
                <a:srgbClr val="000000"/>
              </a:solidFill>
              <a:effectLst/>
              <a:uFillTx/>
              <a:latin typeface="Arial"/>
            </a:endParaRPr>
          </a:p>
        </p:txBody>
      </p:sp>
      <p:sp>
        <p:nvSpPr>
          <p:cNvPr id="722" name="Text 31"/>
          <p:cNvSpPr/>
          <p:nvPr/>
        </p:nvSpPr>
        <p:spPr>
          <a:xfrm>
            <a:off x="548640" y="4846320"/>
            <a:ext cx="7314480" cy="182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trike="noStrike" u="none">
                <a:solidFill>
                  <a:srgbClr val="8e8e8e"/>
                </a:solidFill>
                <a:effectLst/>
                <a:uFillTx/>
                <a:latin typeface="Calibri"/>
                <a:ea typeface="Calibri"/>
              </a:rPr>
              <a:t>Source: LinkedIn Advertising Resources, Kepios Analysis via We Are Social / Meltwater</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3" name="Shape 0"/>
          <p:cNvSpPr/>
          <p:nvPr/>
        </p:nvSpPr>
        <p:spPr>
          <a:xfrm>
            <a:off x="0" y="0"/>
            <a:ext cx="9143280" cy="822240"/>
          </a:xfrm>
          <a:prstGeom prst="rect">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24" name="Text 1"/>
          <p:cNvSpPr/>
          <p:nvPr/>
        </p:nvSpPr>
        <p:spPr>
          <a:xfrm>
            <a:off x="548640" y="0"/>
            <a:ext cx="731448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600" strike="noStrike" u="none">
                <a:solidFill>
                  <a:srgbClr val="1a1a2e"/>
                </a:solidFill>
                <a:effectLst/>
                <a:uFillTx/>
                <a:latin typeface="Trebuchet MS"/>
                <a:ea typeface="Trebuchet MS"/>
              </a:rPr>
              <a:t>TikTok: Advertising Audience Profile</a:t>
            </a:r>
            <a:endParaRPr b="0" lang="en-US" sz="2600" strike="noStrike" u="none">
              <a:solidFill>
                <a:srgbClr val="000000"/>
              </a:solidFill>
              <a:effectLst/>
              <a:uFillTx/>
              <a:latin typeface="Arial"/>
            </a:endParaRPr>
          </a:p>
        </p:txBody>
      </p:sp>
      <p:sp>
        <p:nvSpPr>
          <p:cNvPr id="725" name="Text 2"/>
          <p:cNvSpPr/>
          <p:nvPr/>
        </p:nvSpPr>
        <p:spPr>
          <a:xfrm>
            <a:off x="548640" y="868680"/>
            <a:ext cx="73144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trike="noStrike" u="none">
                <a:solidFill>
                  <a:srgbClr val="8e8e8e"/>
                </a:solidFill>
                <a:effectLst/>
                <a:uFillTx/>
                <a:latin typeface="Calibri"/>
                <a:ea typeface="Calibri"/>
              </a:rPr>
              <a:t>Share of TikTok's adult advertising audience aged 18+ by age group and gender</a:t>
            </a:r>
            <a:endParaRPr b="0" lang="en-US" sz="900" strike="noStrike" u="none">
              <a:solidFill>
                <a:srgbClr val="000000"/>
              </a:solidFill>
              <a:effectLst/>
              <a:uFillTx/>
              <a:latin typeface="Arial"/>
            </a:endParaRPr>
          </a:p>
        </p:txBody>
      </p:sp>
      <p:sp>
        <p:nvSpPr>
          <p:cNvPr id="726" name="Shape 3"/>
          <p:cNvSpPr/>
          <p:nvPr/>
        </p:nvSpPr>
        <p:spPr>
          <a:xfrm>
            <a:off x="1188720" y="2617560"/>
            <a:ext cx="438120" cy="103932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27" name="Shape 4"/>
          <p:cNvSpPr/>
          <p:nvPr/>
        </p:nvSpPr>
        <p:spPr>
          <a:xfrm>
            <a:off x="1664280" y="2651760"/>
            <a:ext cx="438120" cy="100512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28" name="Text 5"/>
          <p:cNvSpPr/>
          <p:nvPr/>
        </p:nvSpPr>
        <p:spPr>
          <a:xfrm>
            <a:off x="1143000" y="241632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9.1%</a:t>
            </a:r>
            <a:endParaRPr b="0" lang="en-US" sz="700" strike="noStrike" u="none">
              <a:solidFill>
                <a:srgbClr val="000000"/>
              </a:solidFill>
              <a:effectLst/>
              <a:uFillTx/>
              <a:latin typeface="Arial"/>
            </a:endParaRPr>
          </a:p>
        </p:txBody>
      </p:sp>
      <p:sp>
        <p:nvSpPr>
          <p:cNvPr id="729" name="Text 6"/>
          <p:cNvSpPr/>
          <p:nvPr/>
        </p:nvSpPr>
        <p:spPr>
          <a:xfrm>
            <a:off x="1618560" y="245052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8.8%</a:t>
            </a:r>
            <a:endParaRPr b="0" lang="en-US" sz="700" strike="noStrike" u="none">
              <a:solidFill>
                <a:srgbClr val="000000"/>
              </a:solidFill>
              <a:effectLst/>
              <a:uFillTx/>
              <a:latin typeface="Arial"/>
            </a:endParaRPr>
          </a:p>
        </p:txBody>
      </p:sp>
      <p:sp>
        <p:nvSpPr>
          <p:cNvPr id="730" name="Text 7"/>
          <p:cNvSpPr/>
          <p:nvPr/>
        </p:nvSpPr>
        <p:spPr>
          <a:xfrm>
            <a:off x="118872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18-24</a:t>
            </a:r>
            <a:endParaRPr b="0" lang="en-US" sz="800" strike="noStrike" u="none">
              <a:solidFill>
                <a:srgbClr val="000000"/>
              </a:solidFill>
              <a:effectLst/>
              <a:uFillTx/>
              <a:latin typeface="Arial"/>
            </a:endParaRPr>
          </a:p>
        </p:txBody>
      </p:sp>
      <p:sp>
        <p:nvSpPr>
          <p:cNvPr id="731" name="Shape 8"/>
          <p:cNvSpPr/>
          <p:nvPr/>
        </p:nvSpPr>
        <p:spPr>
          <a:xfrm>
            <a:off x="2532960" y="1234440"/>
            <a:ext cx="1242720" cy="2925360"/>
          </a:xfrm>
          <a:prstGeom prst="rect">
            <a:avLst/>
          </a:prstGeom>
          <a:solidFill>
            <a:srgbClr val="0d3b4f"/>
          </a:solidFill>
          <a:ln w="25400">
            <a:solidFill>
              <a:srgbClr val="0f9b8e"/>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32" name="Shape 9"/>
          <p:cNvSpPr/>
          <p:nvPr/>
        </p:nvSpPr>
        <p:spPr>
          <a:xfrm>
            <a:off x="2651760" y="1508760"/>
            <a:ext cx="438120" cy="214812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33" name="Shape 10"/>
          <p:cNvSpPr/>
          <p:nvPr/>
        </p:nvSpPr>
        <p:spPr>
          <a:xfrm>
            <a:off x="3127320" y="1405800"/>
            <a:ext cx="438120" cy="225108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34" name="Text 11"/>
          <p:cNvSpPr/>
          <p:nvPr/>
        </p:nvSpPr>
        <p:spPr>
          <a:xfrm>
            <a:off x="2606040" y="130752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18.8%</a:t>
            </a:r>
            <a:endParaRPr b="0" lang="en-US" sz="700" strike="noStrike" u="none">
              <a:solidFill>
                <a:srgbClr val="000000"/>
              </a:solidFill>
              <a:effectLst/>
              <a:uFillTx/>
              <a:latin typeface="Arial"/>
            </a:endParaRPr>
          </a:p>
        </p:txBody>
      </p:sp>
      <p:sp>
        <p:nvSpPr>
          <p:cNvPr id="735" name="Text 12"/>
          <p:cNvSpPr/>
          <p:nvPr/>
        </p:nvSpPr>
        <p:spPr>
          <a:xfrm>
            <a:off x="3081600" y="120456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19.7%</a:t>
            </a:r>
            <a:endParaRPr b="0" lang="en-US" sz="700" strike="noStrike" u="none">
              <a:solidFill>
                <a:srgbClr val="000000"/>
              </a:solidFill>
              <a:effectLst/>
              <a:uFillTx/>
              <a:latin typeface="Arial"/>
            </a:endParaRPr>
          </a:p>
        </p:txBody>
      </p:sp>
      <p:sp>
        <p:nvSpPr>
          <p:cNvPr id="736" name="Text 13"/>
          <p:cNvSpPr/>
          <p:nvPr/>
        </p:nvSpPr>
        <p:spPr>
          <a:xfrm>
            <a:off x="265176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25-34</a:t>
            </a:r>
            <a:endParaRPr b="0" lang="en-US" sz="800" strike="noStrike" u="none">
              <a:solidFill>
                <a:srgbClr val="000000"/>
              </a:solidFill>
              <a:effectLst/>
              <a:uFillTx/>
              <a:latin typeface="Arial"/>
            </a:endParaRPr>
          </a:p>
        </p:txBody>
      </p:sp>
      <p:sp>
        <p:nvSpPr>
          <p:cNvPr id="737" name="Shape 14"/>
          <p:cNvSpPr/>
          <p:nvPr/>
        </p:nvSpPr>
        <p:spPr>
          <a:xfrm>
            <a:off x="4114800" y="2491920"/>
            <a:ext cx="438120" cy="116532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38" name="Shape 15"/>
          <p:cNvSpPr/>
          <p:nvPr/>
        </p:nvSpPr>
        <p:spPr>
          <a:xfrm>
            <a:off x="4590360" y="2320200"/>
            <a:ext cx="438120" cy="133668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39" name="Text 16"/>
          <p:cNvSpPr/>
          <p:nvPr/>
        </p:nvSpPr>
        <p:spPr>
          <a:xfrm>
            <a:off x="4069080" y="229068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10.2%</a:t>
            </a:r>
            <a:endParaRPr b="0" lang="en-US" sz="700" strike="noStrike" u="none">
              <a:solidFill>
                <a:srgbClr val="000000"/>
              </a:solidFill>
              <a:effectLst/>
              <a:uFillTx/>
              <a:latin typeface="Arial"/>
            </a:endParaRPr>
          </a:p>
        </p:txBody>
      </p:sp>
      <p:sp>
        <p:nvSpPr>
          <p:cNvPr id="740" name="Text 17"/>
          <p:cNvSpPr/>
          <p:nvPr/>
        </p:nvSpPr>
        <p:spPr>
          <a:xfrm>
            <a:off x="4544640" y="211896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11.7%</a:t>
            </a:r>
            <a:endParaRPr b="0" lang="en-US" sz="700" strike="noStrike" u="none">
              <a:solidFill>
                <a:srgbClr val="000000"/>
              </a:solidFill>
              <a:effectLst/>
              <a:uFillTx/>
              <a:latin typeface="Arial"/>
            </a:endParaRPr>
          </a:p>
        </p:txBody>
      </p:sp>
      <p:sp>
        <p:nvSpPr>
          <p:cNvPr id="741" name="Text 18"/>
          <p:cNvSpPr/>
          <p:nvPr/>
        </p:nvSpPr>
        <p:spPr>
          <a:xfrm>
            <a:off x="411480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35-44</a:t>
            </a:r>
            <a:endParaRPr b="0" lang="en-US" sz="800" strike="noStrike" u="none">
              <a:solidFill>
                <a:srgbClr val="000000"/>
              </a:solidFill>
              <a:effectLst/>
              <a:uFillTx/>
              <a:latin typeface="Arial"/>
            </a:endParaRPr>
          </a:p>
        </p:txBody>
      </p:sp>
      <p:sp>
        <p:nvSpPr>
          <p:cNvPr id="742" name="Shape 19"/>
          <p:cNvSpPr/>
          <p:nvPr/>
        </p:nvSpPr>
        <p:spPr>
          <a:xfrm>
            <a:off x="5577840" y="2994840"/>
            <a:ext cx="438120" cy="66240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43" name="Shape 20"/>
          <p:cNvSpPr/>
          <p:nvPr/>
        </p:nvSpPr>
        <p:spPr>
          <a:xfrm>
            <a:off x="6053400" y="2994840"/>
            <a:ext cx="438120" cy="66240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44" name="Text 21"/>
          <p:cNvSpPr/>
          <p:nvPr/>
        </p:nvSpPr>
        <p:spPr>
          <a:xfrm>
            <a:off x="5532120" y="279360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5.8%</a:t>
            </a:r>
            <a:endParaRPr b="0" lang="en-US" sz="700" strike="noStrike" u="none">
              <a:solidFill>
                <a:srgbClr val="000000"/>
              </a:solidFill>
              <a:effectLst/>
              <a:uFillTx/>
              <a:latin typeface="Arial"/>
            </a:endParaRPr>
          </a:p>
        </p:txBody>
      </p:sp>
      <p:sp>
        <p:nvSpPr>
          <p:cNvPr id="745" name="Text 22"/>
          <p:cNvSpPr/>
          <p:nvPr/>
        </p:nvSpPr>
        <p:spPr>
          <a:xfrm>
            <a:off x="6007680" y="279360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5.8%</a:t>
            </a:r>
            <a:endParaRPr b="0" lang="en-US" sz="700" strike="noStrike" u="none">
              <a:solidFill>
                <a:srgbClr val="000000"/>
              </a:solidFill>
              <a:effectLst/>
              <a:uFillTx/>
              <a:latin typeface="Arial"/>
            </a:endParaRPr>
          </a:p>
        </p:txBody>
      </p:sp>
      <p:sp>
        <p:nvSpPr>
          <p:cNvPr id="746" name="Text 23"/>
          <p:cNvSpPr/>
          <p:nvPr/>
        </p:nvSpPr>
        <p:spPr>
          <a:xfrm>
            <a:off x="557784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45-54</a:t>
            </a:r>
            <a:endParaRPr b="0" lang="en-US" sz="800" strike="noStrike" u="none">
              <a:solidFill>
                <a:srgbClr val="000000"/>
              </a:solidFill>
              <a:effectLst/>
              <a:uFillTx/>
              <a:latin typeface="Arial"/>
            </a:endParaRPr>
          </a:p>
        </p:txBody>
      </p:sp>
      <p:sp>
        <p:nvSpPr>
          <p:cNvPr id="747" name="Shape 24"/>
          <p:cNvSpPr/>
          <p:nvPr/>
        </p:nvSpPr>
        <p:spPr>
          <a:xfrm>
            <a:off x="7040880" y="3006000"/>
            <a:ext cx="438120" cy="65088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48" name="Shape 25"/>
          <p:cNvSpPr/>
          <p:nvPr/>
        </p:nvSpPr>
        <p:spPr>
          <a:xfrm>
            <a:off x="7516440" y="3177720"/>
            <a:ext cx="438120" cy="47952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49" name="Text 26"/>
          <p:cNvSpPr/>
          <p:nvPr/>
        </p:nvSpPr>
        <p:spPr>
          <a:xfrm>
            <a:off x="6995160" y="280476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5.7%</a:t>
            </a:r>
            <a:endParaRPr b="0" lang="en-US" sz="700" strike="noStrike" u="none">
              <a:solidFill>
                <a:srgbClr val="000000"/>
              </a:solidFill>
              <a:effectLst/>
              <a:uFillTx/>
              <a:latin typeface="Arial"/>
            </a:endParaRPr>
          </a:p>
        </p:txBody>
      </p:sp>
      <p:sp>
        <p:nvSpPr>
          <p:cNvPr id="750" name="Text 27"/>
          <p:cNvSpPr/>
          <p:nvPr/>
        </p:nvSpPr>
        <p:spPr>
          <a:xfrm>
            <a:off x="7470720" y="2976480"/>
            <a:ext cx="52956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4.2%</a:t>
            </a:r>
            <a:endParaRPr b="0" lang="en-US" sz="700" strike="noStrike" u="none">
              <a:solidFill>
                <a:srgbClr val="000000"/>
              </a:solidFill>
              <a:effectLst/>
              <a:uFillTx/>
              <a:latin typeface="Arial"/>
            </a:endParaRPr>
          </a:p>
        </p:txBody>
      </p:sp>
      <p:sp>
        <p:nvSpPr>
          <p:cNvPr id="751" name="Text 28"/>
          <p:cNvSpPr/>
          <p:nvPr/>
        </p:nvSpPr>
        <p:spPr>
          <a:xfrm>
            <a:off x="704088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55+</a:t>
            </a:r>
            <a:endParaRPr b="0" lang="en-US" sz="800" strike="noStrike" u="none">
              <a:solidFill>
                <a:srgbClr val="000000"/>
              </a:solidFill>
              <a:effectLst/>
              <a:uFillTx/>
              <a:latin typeface="Arial"/>
            </a:endParaRPr>
          </a:p>
        </p:txBody>
      </p:sp>
      <p:sp>
        <p:nvSpPr>
          <p:cNvPr id="752" name="Shape 29"/>
          <p:cNvSpPr/>
          <p:nvPr/>
        </p:nvSpPr>
        <p:spPr>
          <a:xfrm>
            <a:off x="6858000" y="4023360"/>
            <a:ext cx="182160" cy="18216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53" name="Text 30"/>
          <p:cNvSpPr/>
          <p:nvPr/>
        </p:nvSpPr>
        <p:spPr>
          <a:xfrm>
            <a:off x="7086600" y="4023360"/>
            <a:ext cx="639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1a1a2e"/>
                </a:solidFill>
                <a:effectLst/>
                <a:uFillTx/>
                <a:latin typeface="Calibri"/>
                <a:ea typeface="Calibri"/>
              </a:rPr>
              <a:t>Female</a:t>
            </a:r>
            <a:endParaRPr b="0" lang="en-US" sz="800" strike="noStrike" u="none">
              <a:solidFill>
                <a:srgbClr val="000000"/>
              </a:solidFill>
              <a:effectLst/>
              <a:uFillTx/>
              <a:latin typeface="Arial"/>
            </a:endParaRPr>
          </a:p>
        </p:txBody>
      </p:sp>
      <p:sp>
        <p:nvSpPr>
          <p:cNvPr id="754" name="Shape 31"/>
          <p:cNvSpPr/>
          <p:nvPr/>
        </p:nvSpPr>
        <p:spPr>
          <a:xfrm>
            <a:off x="7772400" y="4023360"/>
            <a:ext cx="182160" cy="1821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55" name="Text 32"/>
          <p:cNvSpPr/>
          <p:nvPr/>
        </p:nvSpPr>
        <p:spPr>
          <a:xfrm>
            <a:off x="8001000" y="4023360"/>
            <a:ext cx="45648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1a1a2e"/>
                </a:solidFill>
                <a:effectLst/>
                <a:uFillTx/>
                <a:latin typeface="Calibri"/>
                <a:ea typeface="Calibri"/>
              </a:rPr>
              <a:t>Male</a:t>
            </a:r>
            <a:endParaRPr b="0" lang="en-US" sz="800" strike="noStrike" u="none">
              <a:solidFill>
                <a:srgbClr val="000000"/>
              </a:solidFill>
              <a:effectLst/>
              <a:uFillTx/>
              <a:latin typeface="Arial"/>
            </a:endParaRPr>
          </a:p>
        </p:txBody>
      </p:sp>
      <p:sp>
        <p:nvSpPr>
          <p:cNvPr id="756" name="Shape 33"/>
          <p:cNvSpPr/>
          <p:nvPr/>
        </p:nvSpPr>
        <p:spPr>
          <a:xfrm>
            <a:off x="548640" y="4389120"/>
            <a:ext cx="8046000" cy="4107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57" name="Shape 34"/>
          <p:cNvSpPr/>
          <p:nvPr/>
        </p:nvSpPr>
        <p:spPr>
          <a:xfrm>
            <a:off x="548640" y="4389120"/>
            <a:ext cx="54000" cy="41076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58" name="Text 35"/>
          <p:cNvSpPr/>
          <p:nvPr/>
        </p:nvSpPr>
        <p:spPr>
          <a:xfrm>
            <a:off x="777240" y="4389120"/>
            <a:ext cx="763452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1a1a2e"/>
                </a:solidFill>
                <a:effectLst/>
                <a:uFillTx/>
                <a:latin typeface="Calibri"/>
                <a:ea typeface="Calibri"/>
              </a:rPr>
              <a:t>Insight: Peak at 25-34 (38.5% combined). Slightly male-skewed. Older audience growing.</a:t>
            </a:r>
            <a:endParaRPr b="0" lang="en-US" sz="1000" strike="noStrike" u="none">
              <a:solidFill>
                <a:srgbClr val="000000"/>
              </a:solidFill>
              <a:effectLst/>
              <a:uFillTx/>
              <a:latin typeface="Arial"/>
            </a:endParaRPr>
          </a:p>
        </p:txBody>
      </p:sp>
      <p:sp>
        <p:nvSpPr>
          <p:cNvPr id="759" name="Text 36"/>
          <p:cNvSpPr/>
          <p:nvPr/>
        </p:nvSpPr>
        <p:spPr>
          <a:xfrm>
            <a:off x="548640" y="4846320"/>
            <a:ext cx="7314480" cy="182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trike="noStrike" u="none">
                <a:solidFill>
                  <a:srgbClr val="8e8e8e"/>
                </a:solidFill>
                <a:effectLst/>
                <a:uFillTx/>
                <a:latin typeface="Calibri"/>
                <a:ea typeface="Calibri"/>
              </a:rPr>
              <a:t>Source: TikTok Advertising Resources, Kepios Analysis via We Are Social / Meltwater</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60" name="Shape 0"/>
          <p:cNvSpPr/>
          <p:nvPr/>
        </p:nvSpPr>
        <p:spPr>
          <a:xfrm>
            <a:off x="0" y="0"/>
            <a:ext cx="9143280" cy="822240"/>
          </a:xfrm>
          <a:prstGeom prst="rect">
            <a:avLst/>
          </a:prstGeom>
          <a:solidFill>
            <a:srgbClr val="ff000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61" name="Text 1"/>
          <p:cNvSpPr/>
          <p:nvPr/>
        </p:nvSpPr>
        <p:spPr>
          <a:xfrm>
            <a:off x="548640" y="0"/>
            <a:ext cx="731448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600" strike="noStrike" u="none">
                <a:solidFill>
                  <a:srgbClr val="1a1a2e"/>
                </a:solidFill>
                <a:effectLst/>
                <a:uFillTx/>
                <a:latin typeface="Trebuchet MS"/>
                <a:ea typeface="Trebuchet MS"/>
              </a:rPr>
              <a:t>YouTube: Advertising Audience Profile</a:t>
            </a:r>
            <a:endParaRPr b="0" lang="en-US" sz="2600" strike="noStrike" u="none">
              <a:solidFill>
                <a:srgbClr val="000000"/>
              </a:solidFill>
              <a:effectLst/>
              <a:uFillTx/>
              <a:latin typeface="Arial"/>
            </a:endParaRPr>
          </a:p>
        </p:txBody>
      </p:sp>
      <p:sp>
        <p:nvSpPr>
          <p:cNvPr id="762" name="Text 2"/>
          <p:cNvSpPr/>
          <p:nvPr/>
        </p:nvSpPr>
        <p:spPr>
          <a:xfrm>
            <a:off x="548640" y="868680"/>
            <a:ext cx="73144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trike="noStrike" u="none">
                <a:solidFill>
                  <a:srgbClr val="8e8e8e"/>
                </a:solidFill>
                <a:effectLst/>
                <a:uFillTx/>
                <a:latin typeface="Calibri"/>
                <a:ea typeface="Calibri"/>
              </a:rPr>
              <a:t>Share of YouTube's advertising audience by age group and gender</a:t>
            </a:r>
            <a:endParaRPr b="0" lang="en-US" sz="900" strike="noStrike" u="none">
              <a:solidFill>
                <a:srgbClr val="000000"/>
              </a:solidFill>
              <a:effectLst/>
              <a:uFillTx/>
              <a:latin typeface="Arial"/>
            </a:endParaRPr>
          </a:p>
        </p:txBody>
      </p:sp>
      <p:sp>
        <p:nvSpPr>
          <p:cNvPr id="763" name="Shape 3"/>
          <p:cNvSpPr/>
          <p:nvPr/>
        </p:nvSpPr>
        <p:spPr>
          <a:xfrm>
            <a:off x="1140120" y="2811960"/>
            <a:ext cx="365040" cy="84528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64" name="Shape 4"/>
          <p:cNvSpPr/>
          <p:nvPr/>
        </p:nvSpPr>
        <p:spPr>
          <a:xfrm>
            <a:off x="1542240" y="2720520"/>
            <a:ext cx="365040" cy="93672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65" name="Text 5"/>
          <p:cNvSpPr/>
          <p:nvPr/>
        </p:nvSpPr>
        <p:spPr>
          <a:xfrm>
            <a:off x="1094400" y="261072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3.7%</a:t>
            </a:r>
            <a:endParaRPr b="0" lang="en-US" sz="700" strike="noStrike" u="none">
              <a:solidFill>
                <a:srgbClr val="000000"/>
              </a:solidFill>
              <a:effectLst/>
              <a:uFillTx/>
              <a:latin typeface="Arial"/>
            </a:endParaRPr>
          </a:p>
        </p:txBody>
      </p:sp>
      <p:sp>
        <p:nvSpPr>
          <p:cNvPr id="766" name="Text 6"/>
          <p:cNvSpPr/>
          <p:nvPr/>
        </p:nvSpPr>
        <p:spPr>
          <a:xfrm>
            <a:off x="1496520" y="251928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4.1%</a:t>
            </a:r>
            <a:endParaRPr b="0" lang="en-US" sz="700" strike="noStrike" u="none">
              <a:solidFill>
                <a:srgbClr val="000000"/>
              </a:solidFill>
              <a:effectLst/>
              <a:uFillTx/>
              <a:latin typeface="Arial"/>
            </a:endParaRPr>
          </a:p>
        </p:txBody>
      </p:sp>
      <p:sp>
        <p:nvSpPr>
          <p:cNvPr id="767" name="Text 7"/>
          <p:cNvSpPr/>
          <p:nvPr/>
        </p:nvSpPr>
        <p:spPr>
          <a:xfrm>
            <a:off x="106668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18-24</a:t>
            </a:r>
            <a:endParaRPr b="0" lang="en-US" sz="800" strike="noStrike" u="none">
              <a:solidFill>
                <a:srgbClr val="000000"/>
              </a:solidFill>
              <a:effectLst/>
              <a:uFillTx/>
              <a:latin typeface="Arial"/>
            </a:endParaRPr>
          </a:p>
        </p:txBody>
      </p:sp>
      <p:sp>
        <p:nvSpPr>
          <p:cNvPr id="768" name="Shape 8"/>
          <p:cNvSpPr/>
          <p:nvPr/>
        </p:nvSpPr>
        <p:spPr>
          <a:xfrm>
            <a:off x="2240280" y="1234440"/>
            <a:ext cx="1096560" cy="2925360"/>
          </a:xfrm>
          <a:prstGeom prst="rect">
            <a:avLst/>
          </a:prstGeom>
          <a:solidFill>
            <a:srgbClr val="0d3b4f"/>
          </a:solidFill>
          <a:ln w="25400">
            <a:solidFill>
              <a:srgbClr val="0f9b8e"/>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69" name="Shape 9"/>
          <p:cNvSpPr/>
          <p:nvPr/>
        </p:nvSpPr>
        <p:spPr>
          <a:xfrm>
            <a:off x="2359080" y="1989000"/>
            <a:ext cx="365040" cy="166824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70" name="Shape 10"/>
          <p:cNvSpPr/>
          <p:nvPr/>
        </p:nvSpPr>
        <p:spPr>
          <a:xfrm>
            <a:off x="2761560" y="1623240"/>
            <a:ext cx="365040" cy="203400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71" name="Text 11"/>
          <p:cNvSpPr/>
          <p:nvPr/>
        </p:nvSpPr>
        <p:spPr>
          <a:xfrm>
            <a:off x="2313360" y="178776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7.3%</a:t>
            </a:r>
            <a:endParaRPr b="0" lang="en-US" sz="700" strike="noStrike" u="none">
              <a:solidFill>
                <a:srgbClr val="000000"/>
              </a:solidFill>
              <a:effectLst/>
              <a:uFillTx/>
              <a:latin typeface="Arial"/>
            </a:endParaRPr>
          </a:p>
        </p:txBody>
      </p:sp>
      <p:sp>
        <p:nvSpPr>
          <p:cNvPr id="772" name="Text 12"/>
          <p:cNvSpPr/>
          <p:nvPr/>
        </p:nvSpPr>
        <p:spPr>
          <a:xfrm>
            <a:off x="2715840" y="142200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8.9%</a:t>
            </a:r>
            <a:endParaRPr b="0" lang="en-US" sz="700" strike="noStrike" u="none">
              <a:solidFill>
                <a:srgbClr val="000000"/>
              </a:solidFill>
              <a:effectLst/>
              <a:uFillTx/>
              <a:latin typeface="Arial"/>
            </a:endParaRPr>
          </a:p>
        </p:txBody>
      </p:sp>
      <p:sp>
        <p:nvSpPr>
          <p:cNvPr id="773" name="Text 13"/>
          <p:cNvSpPr/>
          <p:nvPr/>
        </p:nvSpPr>
        <p:spPr>
          <a:xfrm>
            <a:off x="228600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25-34</a:t>
            </a:r>
            <a:endParaRPr b="0" lang="en-US" sz="800" strike="noStrike" u="none">
              <a:solidFill>
                <a:srgbClr val="000000"/>
              </a:solidFill>
              <a:effectLst/>
              <a:uFillTx/>
              <a:latin typeface="Arial"/>
            </a:endParaRPr>
          </a:p>
        </p:txBody>
      </p:sp>
      <p:sp>
        <p:nvSpPr>
          <p:cNvPr id="774" name="Shape 14"/>
          <p:cNvSpPr/>
          <p:nvPr/>
        </p:nvSpPr>
        <p:spPr>
          <a:xfrm>
            <a:off x="3578400" y="1828800"/>
            <a:ext cx="365040" cy="182808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75" name="Shape 15"/>
          <p:cNvSpPr/>
          <p:nvPr/>
        </p:nvSpPr>
        <p:spPr>
          <a:xfrm>
            <a:off x="3980520" y="1668960"/>
            <a:ext cx="365040" cy="198828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76" name="Text 16"/>
          <p:cNvSpPr/>
          <p:nvPr/>
        </p:nvSpPr>
        <p:spPr>
          <a:xfrm>
            <a:off x="3532680" y="162756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8%</a:t>
            </a:r>
            <a:endParaRPr b="0" lang="en-US" sz="700" strike="noStrike" u="none">
              <a:solidFill>
                <a:srgbClr val="000000"/>
              </a:solidFill>
              <a:effectLst/>
              <a:uFillTx/>
              <a:latin typeface="Arial"/>
            </a:endParaRPr>
          </a:p>
        </p:txBody>
      </p:sp>
      <p:sp>
        <p:nvSpPr>
          <p:cNvPr id="777" name="Text 17"/>
          <p:cNvSpPr/>
          <p:nvPr/>
        </p:nvSpPr>
        <p:spPr>
          <a:xfrm>
            <a:off x="3934800" y="146772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8.7%</a:t>
            </a:r>
            <a:endParaRPr b="0" lang="en-US" sz="700" strike="noStrike" u="none">
              <a:solidFill>
                <a:srgbClr val="000000"/>
              </a:solidFill>
              <a:effectLst/>
              <a:uFillTx/>
              <a:latin typeface="Arial"/>
            </a:endParaRPr>
          </a:p>
        </p:txBody>
      </p:sp>
      <p:sp>
        <p:nvSpPr>
          <p:cNvPr id="778" name="Text 18"/>
          <p:cNvSpPr/>
          <p:nvPr/>
        </p:nvSpPr>
        <p:spPr>
          <a:xfrm>
            <a:off x="350532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35-44</a:t>
            </a:r>
            <a:endParaRPr b="0" lang="en-US" sz="800" strike="noStrike" u="none">
              <a:solidFill>
                <a:srgbClr val="000000"/>
              </a:solidFill>
              <a:effectLst/>
              <a:uFillTx/>
              <a:latin typeface="Arial"/>
            </a:endParaRPr>
          </a:p>
        </p:txBody>
      </p:sp>
      <p:sp>
        <p:nvSpPr>
          <p:cNvPr id="779" name="Shape 19"/>
          <p:cNvSpPr/>
          <p:nvPr/>
        </p:nvSpPr>
        <p:spPr>
          <a:xfrm>
            <a:off x="4678560" y="1234440"/>
            <a:ext cx="1096560" cy="2925360"/>
          </a:xfrm>
          <a:prstGeom prst="rect">
            <a:avLst/>
          </a:prstGeom>
          <a:solidFill>
            <a:srgbClr val="0d3b4f"/>
          </a:solidFill>
          <a:ln w="25400">
            <a:solidFill>
              <a:srgbClr val="0f9b8e"/>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80" name="Shape 20"/>
          <p:cNvSpPr/>
          <p:nvPr/>
        </p:nvSpPr>
        <p:spPr>
          <a:xfrm>
            <a:off x="4797720" y="1806120"/>
            <a:ext cx="365040" cy="185112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81" name="Shape 21"/>
          <p:cNvSpPr/>
          <p:nvPr/>
        </p:nvSpPr>
        <p:spPr>
          <a:xfrm>
            <a:off x="5199840" y="1577520"/>
            <a:ext cx="365040" cy="207972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82" name="Text 22"/>
          <p:cNvSpPr/>
          <p:nvPr/>
        </p:nvSpPr>
        <p:spPr>
          <a:xfrm>
            <a:off x="4752000" y="160488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8.1%</a:t>
            </a:r>
            <a:endParaRPr b="0" lang="en-US" sz="700" strike="noStrike" u="none">
              <a:solidFill>
                <a:srgbClr val="000000"/>
              </a:solidFill>
              <a:effectLst/>
              <a:uFillTx/>
              <a:latin typeface="Arial"/>
            </a:endParaRPr>
          </a:p>
        </p:txBody>
      </p:sp>
      <p:sp>
        <p:nvSpPr>
          <p:cNvPr id="783" name="Text 23"/>
          <p:cNvSpPr/>
          <p:nvPr/>
        </p:nvSpPr>
        <p:spPr>
          <a:xfrm>
            <a:off x="5154120" y="137628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9.1%</a:t>
            </a:r>
            <a:endParaRPr b="0" lang="en-US" sz="700" strike="noStrike" u="none">
              <a:solidFill>
                <a:srgbClr val="000000"/>
              </a:solidFill>
              <a:effectLst/>
              <a:uFillTx/>
              <a:latin typeface="Arial"/>
            </a:endParaRPr>
          </a:p>
        </p:txBody>
      </p:sp>
      <p:sp>
        <p:nvSpPr>
          <p:cNvPr id="784" name="Text 24"/>
          <p:cNvSpPr/>
          <p:nvPr/>
        </p:nvSpPr>
        <p:spPr>
          <a:xfrm>
            <a:off x="472428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45-54</a:t>
            </a:r>
            <a:endParaRPr b="0" lang="en-US" sz="800" strike="noStrike" u="none">
              <a:solidFill>
                <a:srgbClr val="000000"/>
              </a:solidFill>
              <a:effectLst/>
              <a:uFillTx/>
              <a:latin typeface="Arial"/>
            </a:endParaRPr>
          </a:p>
        </p:txBody>
      </p:sp>
      <p:sp>
        <p:nvSpPr>
          <p:cNvPr id="785" name="Shape 25"/>
          <p:cNvSpPr/>
          <p:nvPr/>
        </p:nvSpPr>
        <p:spPr>
          <a:xfrm>
            <a:off x="6016680" y="1943280"/>
            <a:ext cx="365040" cy="171396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86" name="Shape 26"/>
          <p:cNvSpPr/>
          <p:nvPr/>
        </p:nvSpPr>
        <p:spPr>
          <a:xfrm>
            <a:off x="6419160" y="1760400"/>
            <a:ext cx="365040" cy="189684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87" name="Text 27"/>
          <p:cNvSpPr/>
          <p:nvPr/>
        </p:nvSpPr>
        <p:spPr>
          <a:xfrm>
            <a:off x="5970960" y="174204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7.5%</a:t>
            </a:r>
            <a:endParaRPr b="0" lang="en-US" sz="700" strike="noStrike" u="none">
              <a:solidFill>
                <a:srgbClr val="000000"/>
              </a:solidFill>
              <a:effectLst/>
              <a:uFillTx/>
              <a:latin typeface="Arial"/>
            </a:endParaRPr>
          </a:p>
        </p:txBody>
      </p:sp>
      <p:sp>
        <p:nvSpPr>
          <p:cNvPr id="788" name="Text 28"/>
          <p:cNvSpPr/>
          <p:nvPr/>
        </p:nvSpPr>
        <p:spPr>
          <a:xfrm>
            <a:off x="6373440" y="155916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8.3%</a:t>
            </a:r>
            <a:endParaRPr b="0" lang="en-US" sz="700" strike="noStrike" u="none">
              <a:solidFill>
                <a:srgbClr val="000000"/>
              </a:solidFill>
              <a:effectLst/>
              <a:uFillTx/>
              <a:latin typeface="Arial"/>
            </a:endParaRPr>
          </a:p>
        </p:txBody>
      </p:sp>
      <p:sp>
        <p:nvSpPr>
          <p:cNvPr id="789" name="Text 29"/>
          <p:cNvSpPr/>
          <p:nvPr/>
        </p:nvSpPr>
        <p:spPr>
          <a:xfrm>
            <a:off x="594360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55-64</a:t>
            </a:r>
            <a:endParaRPr b="0" lang="en-US" sz="800" strike="noStrike" u="none">
              <a:solidFill>
                <a:srgbClr val="000000"/>
              </a:solidFill>
              <a:effectLst/>
              <a:uFillTx/>
              <a:latin typeface="Arial"/>
            </a:endParaRPr>
          </a:p>
        </p:txBody>
      </p:sp>
      <p:sp>
        <p:nvSpPr>
          <p:cNvPr id="790" name="Shape 30"/>
          <p:cNvSpPr/>
          <p:nvPr/>
        </p:nvSpPr>
        <p:spPr>
          <a:xfrm>
            <a:off x="7236000" y="1897560"/>
            <a:ext cx="365040" cy="175968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91" name="Shape 31"/>
          <p:cNvSpPr/>
          <p:nvPr/>
        </p:nvSpPr>
        <p:spPr>
          <a:xfrm>
            <a:off x="7638120" y="1897560"/>
            <a:ext cx="365040" cy="175968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92" name="Text 32"/>
          <p:cNvSpPr/>
          <p:nvPr/>
        </p:nvSpPr>
        <p:spPr>
          <a:xfrm>
            <a:off x="7190280" y="169632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7.7%</a:t>
            </a:r>
            <a:endParaRPr b="0" lang="en-US" sz="700" strike="noStrike" u="none">
              <a:solidFill>
                <a:srgbClr val="000000"/>
              </a:solidFill>
              <a:effectLst/>
              <a:uFillTx/>
              <a:latin typeface="Arial"/>
            </a:endParaRPr>
          </a:p>
        </p:txBody>
      </p:sp>
      <p:sp>
        <p:nvSpPr>
          <p:cNvPr id="793" name="Text 33"/>
          <p:cNvSpPr/>
          <p:nvPr/>
        </p:nvSpPr>
        <p:spPr>
          <a:xfrm>
            <a:off x="7592400" y="169632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7.7%</a:t>
            </a:r>
            <a:endParaRPr b="0" lang="en-US" sz="700" strike="noStrike" u="none">
              <a:solidFill>
                <a:srgbClr val="000000"/>
              </a:solidFill>
              <a:effectLst/>
              <a:uFillTx/>
              <a:latin typeface="Arial"/>
            </a:endParaRPr>
          </a:p>
        </p:txBody>
      </p:sp>
      <p:sp>
        <p:nvSpPr>
          <p:cNvPr id="794" name="Text 34"/>
          <p:cNvSpPr/>
          <p:nvPr/>
        </p:nvSpPr>
        <p:spPr>
          <a:xfrm>
            <a:off x="716292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65+</a:t>
            </a:r>
            <a:endParaRPr b="0" lang="en-US" sz="800" strike="noStrike" u="none">
              <a:solidFill>
                <a:srgbClr val="000000"/>
              </a:solidFill>
              <a:effectLst/>
              <a:uFillTx/>
              <a:latin typeface="Arial"/>
            </a:endParaRPr>
          </a:p>
        </p:txBody>
      </p:sp>
      <p:sp>
        <p:nvSpPr>
          <p:cNvPr id="795" name="Shape 35"/>
          <p:cNvSpPr/>
          <p:nvPr/>
        </p:nvSpPr>
        <p:spPr>
          <a:xfrm>
            <a:off x="6858000" y="4023360"/>
            <a:ext cx="182160" cy="18216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96" name="Text 36"/>
          <p:cNvSpPr/>
          <p:nvPr/>
        </p:nvSpPr>
        <p:spPr>
          <a:xfrm>
            <a:off x="7086600" y="4023360"/>
            <a:ext cx="639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1a1a2e"/>
                </a:solidFill>
                <a:effectLst/>
                <a:uFillTx/>
                <a:latin typeface="Calibri"/>
                <a:ea typeface="Calibri"/>
              </a:rPr>
              <a:t>Female</a:t>
            </a:r>
            <a:endParaRPr b="0" lang="en-US" sz="800" strike="noStrike" u="none">
              <a:solidFill>
                <a:srgbClr val="000000"/>
              </a:solidFill>
              <a:effectLst/>
              <a:uFillTx/>
              <a:latin typeface="Arial"/>
            </a:endParaRPr>
          </a:p>
        </p:txBody>
      </p:sp>
      <p:sp>
        <p:nvSpPr>
          <p:cNvPr id="797" name="Shape 37"/>
          <p:cNvSpPr/>
          <p:nvPr/>
        </p:nvSpPr>
        <p:spPr>
          <a:xfrm>
            <a:off x="7772400" y="4023360"/>
            <a:ext cx="182160" cy="1821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798" name="Text 38"/>
          <p:cNvSpPr/>
          <p:nvPr/>
        </p:nvSpPr>
        <p:spPr>
          <a:xfrm>
            <a:off x="8001000" y="4023360"/>
            <a:ext cx="45648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1a1a2e"/>
                </a:solidFill>
                <a:effectLst/>
                <a:uFillTx/>
                <a:latin typeface="Calibri"/>
                <a:ea typeface="Calibri"/>
              </a:rPr>
              <a:t>Male</a:t>
            </a:r>
            <a:endParaRPr b="0" lang="en-US" sz="800" strike="noStrike" u="none">
              <a:solidFill>
                <a:srgbClr val="000000"/>
              </a:solidFill>
              <a:effectLst/>
              <a:uFillTx/>
              <a:latin typeface="Arial"/>
            </a:endParaRPr>
          </a:p>
        </p:txBody>
      </p:sp>
      <p:sp>
        <p:nvSpPr>
          <p:cNvPr id="799" name="Shape 39"/>
          <p:cNvSpPr/>
          <p:nvPr/>
        </p:nvSpPr>
        <p:spPr>
          <a:xfrm>
            <a:off x="548640" y="4389120"/>
            <a:ext cx="8046000" cy="4107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00" name="Shape 40"/>
          <p:cNvSpPr/>
          <p:nvPr/>
        </p:nvSpPr>
        <p:spPr>
          <a:xfrm>
            <a:off x="548640" y="4389120"/>
            <a:ext cx="54000" cy="41076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01" name="Text 41"/>
          <p:cNvSpPr/>
          <p:nvPr/>
        </p:nvSpPr>
        <p:spPr>
          <a:xfrm>
            <a:off x="777240" y="4389120"/>
            <a:ext cx="763452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1a1a2e"/>
                </a:solidFill>
                <a:effectLst/>
                <a:uFillTx/>
                <a:latin typeface="Calibri"/>
                <a:ea typeface="Calibri"/>
              </a:rPr>
              <a:t>Insight: Most evenly distributed across all age groups. True mass-market reach.</a:t>
            </a:r>
            <a:endParaRPr b="0" lang="en-US" sz="1000" strike="noStrike" u="none">
              <a:solidFill>
                <a:srgbClr val="000000"/>
              </a:solidFill>
              <a:effectLst/>
              <a:uFillTx/>
              <a:latin typeface="Arial"/>
            </a:endParaRPr>
          </a:p>
        </p:txBody>
      </p:sp>
      <p:sp>
        <p:nvSpPr>
          <p:cNvPr id="802" name="Text 42"/>
          <p:cNvSpPr/>
          <p:nvPr/>
        </p:nvSpPr>
        <p:spPr>
          <a:xfrm>
            <a:off x="548640" y="4846320"/>
            <a:ext cx="7314480" cy="182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trike="noStrike" u="none">
                <a:solidFill>
                  <a:srgbClr val="8e8e8e"/>
                </a:solidFill>
                <a:effectLst/>
                <a:uFillTx/>
                <a:latin typeface="Calibri"/>
                <a:ea typeface="Calibri"/>
              </a:rPr>
              <a:t>Source: YouTube Advertising Resources, Kepios Analysis via We Are Social / Meltwater</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3" name="Shape 0"/>
          <p:cNvSpPr/>
          <p:nvPr/>
        </p:nvSpPr>
        <p:spPr>
          <a:xfrm>
            <a:off x="0" y="0"/>
            <a:ext cx="9143280" cy="822240"/>
          </a:xfrm>
          <a:prstGeom prst="rect">
            <a:avLst/>
          </a:prstGeom>
          <a:solidFill>
            <a:srgbClr val="1877f2"/>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04" name="Text 1"/>
          <p:cNvSpPr/>
          <p:nvPr/>
        </p:nvSpPr>
        <p:spPr>
          <a:xfrm>
            <a:off x="548640" y="0"/>
            <a:ext cx="731448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600" strike="noStrike" u="none">
                <a:solidFill>
                  <a:srgbClr val="1a1a2e"/>
                </a:solidFill>
                <a:effectLst/>
                <a:uFillTx/>
                <a:latin typeface="Trebuchet MS"/>
                <a:ea typeface="Trebuchet MS"/>
              </a:rPr>
              <a:t>Facebook: Advertising Audience Profile</a:t>
            </a:r>
            <a:endParaRPr b="0" lang="en-US" sz="2600" strike="noStrike" u="none">
              <a:solidFill>
                <a:srgbClr val="000000"/>
              </a:solidFill>
              <a:effectLst/>
              <a:uFillTx/>
              <a:latin typeface="Arial"/>
            </a:endParaRPr>
          </a:p>
        </p:txBody>
      </p:sp>
      <p:sp>
        <p:nvSpPr>
          <p:cNvPr id="805" name="Text 2"/>
          <p:cNvSpPr/>
          <p:nvPr/>
        </p:nvSpPr>
        <p:spPr>
          <a:xfrm>
            <a:off x="548640" y="868680"/>
            <a:ext cx="73144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trike="noStrike" u="none">
                <a:solidFill>
                  <a:srgbClr val="8e8e8e"/>
                </a:solidFill>
                <a:effectLst/>
                <a:uFillTx/>
                <a:latin typeface="Calibri"/>
                <a:ea typeface="Calibri"/>
              </a:rPr>
              <a:t>Share of Facebook's adult advertising audience aged 18+ by age group and gender</a:t>
            </a:r>
            <a:endParaRPr b="0" lang="en-US" sz="900" strike="noStrike" u="none">
              <a:solidFill>
                <a:srgbClr val="000000"/>
              </a:solidFill>
              <a:effectLst/>
              <a:uFillTx/>
              <a:latin typeface="Arial"/>
            </a:endParaRPr>
          </a:p>
        </p:txBody>
      </p:sp>
      <p:sp>
        <p:nvSpPr>
          <p:cNvPr id="806" name="Shape 3"/>
          <p:cNvSpPr/>
          <p:nvPr/>
        </p:nvSpPr>
        <p:spPr>
          <a:xfrm>
            <a:off x="1140120" y="3291840"/>
            <a:ext cx="365040" cy="36504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07" name="Shape 4"/>
          <p:cNvSpPr/>
          <p:nvPr/>
        </p:nvSpPr>
        <p:spPr>
          <a:xfrm>
            <a:off x="1542240" y="3223440"/>
            <a:ext cx="365040" cy="43380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08" name="Text 5"/>
          <p:cNvSpPr/>
          <p:nvPr/>
        </p:nvSpPr>
        <p:spPr>
          <a:xfrm>
            <a:off x="1094400" y="309060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3.2%</a:t>
            </a:r>
            <a:endParaRPr b="0" lang="en-US" sz="700" strike="noStrike" u="none">
              <a:solidFill>
                <a:srgbClr val="000000"/>
              </a:solidFill>
              <a:effectLst/>
              <a:uFillTx/>
              <a:latin typeface="Arial"/>
            </a:endParaRPr>
          </a:p>
        </p:txBody>
      </p:sp>
      <p:sp>
        <p:nvSpPr>
          <p:cNvPr id="809" name="Text 6"/>
          <p:cNvSpPr/>
          <p:nvPr/>
        </p:nvSpPr>
        <p:spPr>
          <a:xfrm>
            <a:off x="1496520" y="302220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3.8%</a:t>
            </a:r>
            <a:endParaRPr b="0" lang="en-US" sz="700" strike="noStrike" u="none">
              <a:solidFill>
                <a:srgbClr val="000000"/>
              </a:solidFill>
              <a:effectLst/>
              <a:uFillTx/>
              <a:latin typeface="Arial"/>
            </a:endParaRPr>
          </a:p>
        </p:txBody>
      </p:sp>
      <p:sp>
        <p:nvSpPr>
          <p:cNvPr id="810" name="Text 7"/>
          <p:cNvSpPr/>
          <p:nvPr/>
        </p:nvSpPr>
        <p:spPr>
          <a:xfrm>
            <a:off x="106668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18-24</a:t>
            </a:r>
            <a:endParaRPr b="0" lang="en-US" sz="800" strike="noStrike" u="none">
              <a:solidFill>
                <a:srgbClr val="000000"/>
              </a:solidFill>
              <a:effectLst/>
              <a:uFillTx/>
              <a:latin typeface="Arial"/>
            </a:endParaRPr>
          </a:p>
        </p:txBody>
      </p:sp>
      <p:sp>
        <p:nvSpPr>
          <p:cNvPr id="811" name="Shape 8"/>
          <p:cNvSpPr/>
          <p:nvPr/>
        </p:nvSpPr>
        <p:spPr>
          <a:xfrm>
            <a:off x="2240280" y="1234440"/>
            <a:ext cx="1096560" cy="2925360"/>
          </a:xfrm>
          <a:prstGeom prst="rect">
            <a:avLst/>
          </a:prstGeom>
          <a:solidFill>
            <a:srgbClr val="0d3b4f"/>
          </a:solidFill>
          <a:ln w="25400">
            <a:solidFill>
              <a:srgbClr val="0f9b8e"/>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12" name="Shape 9"/>
          <p:cNvSpPr/>
          <p:nvPr/>
        </p:nvSpPr>
        <p:spPr>
          <a:xfrm>
            <a:off x="2359080" y="2080440"/>
            <a:ext cx="365040" cy="157680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13" name="Shape 10"/>
          <p:cNvSpPr/>
          <p:nvPr/>
        </p:nvSpPr>
        <p:spPr>
          <a:xfrm>
            <a:off x="2761560" y="1897560"/>
            <a:ext cx="365040" cy="175968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14" name="Text 11"/>
          <p:cNvSpPr/>
          <p:nvPr/>
        </p:nvSpPr>
        <p:spPr>
          <a:xfrm>
            <a:off x="2313360" y="187920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13.8%</a:t>
            </a:r>
            <a:endParaRPr b="0" lang="en-US" sz="700" strike="noStrike" u="none">
              <a:solidFill>
                <a:srgbClr val="000000"/>
              </a:solidFill>
              <a:effectLst/>
              <a:uFillTx/>
              <a:latin typeface="Arial"/>
            </a:endParaRPr>
          </a:p>
        </p:txBody>
      </p:sp>
      <p:sp>
        <p:nvSpPr>
          <p:cNvPr id="815" name="Text 12"/>
          <p:cNvSpPr/>
          <p:nvPr/>
        </p:nvSpPr>
        <p:spPr>
          <a:xfrm>
            <a:off x="2715840" y="169632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15.4%</a:t>
            </a:r>
            <a:endParaRPr b="0" lang="en-US" sz="700" strike="noStrike" u="none">
              <a:solidFill>
                <a:srgbClr val="000000"/>
              </a:solidFill>
              <a:effectLst/>
              <a:uFillTx/>
              <a:latin typeface="Arial"/>
            </a:endParaRPr>
          </a:p>
        </p:txBody>
      </p:sp>
      <p:sp>
        <p:nvSpPr>
          <p:cNvPr id="816" name="Text 13"/>
          <p:cNvSpPr/>
          <p:nvPr/>
        </p:nvSpPr>
        <p:spPr>
          <a:xfrm>
            <a:off x="228600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25-34</a:t>
            </a:r>
            <a:endParaRPr b="0" lang="en-US" sz="800" strike="noStrike" u="none">
              <a:solidFill>
                <a:srgbClr val="000000"/>
              </a:solidFill>
              <a:effectLst/>
              <a:uFillTx/>
              <a:latin typeface="Arial"/>
            </a:endParaRPr>
          </a:p>
        </p:txBody>
      </p:sp>
      <p:sp>
        <p:nvSpPr>
          <p:cNvPr id="817" name="Shape 14"/>
          <p:cNvSpPr/>
          <p:nvPr/>
        </p:nvSpPr>
        <p:spPr>
          <a:xfrm>
            <a:off x="3578400" y="2160360"/>
            <a:ext cx="365040" cy="149652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18" name="Shape 15"/>
          <p:cNvSpPr/>
          <p:nvPr/>
        </p:nvSpPr>
        <p:spPr>
          <a:xfrm>
            <a:off x="3980520" y="2148840"/>
            <a:ext cx="365040" cy="150804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19" name="Text 16"/>
          <p:cNvSpPr/>
          <p:nvPr/>
        </p:nvSpPr>
        <p:spPr>
          <a:xfrm>
            <a:off x="3532680" y="195912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13.1%</a:t>
            </a:r>
            <a:endParaRPr b="0" lang="en-US" sz="700" strike="noStrike" u="none">
              <a:solidFill>
                <a:srgbClr val="000000"/>
              </a:solidFill>
              <a:effectLst/>
              <a:uFillTx/>
              <a:latin typeface="Arial"/>
            </a:endParaRPr>
          </a:p>
        </p:txBody>
      </p:sp>
      <p:sp>
        <p:nvSpPr>
          <p:cNvPr id="820" name="Text 17"/>
          <p:cNvSpPr/>
          <p:nvPr/>
        </p:nvSpPr>
        <p:spPr>
          <a:xfrm>
            <a:off x="3934800" y="194760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13.2%</a:t>
            </a:r>
            <a:endParaRPr b="0" lang="en-US" sz="700" strike="noStrike" u="none">
              <a:solidFill>
                <a:srgbClr val="000000"/>
              </a:solidFill>
              <a:effectLst/>
              <a:uFillTx/>
              <a:latin typeface="Arial"/>
            </a:endParaRPr>
          </a:p>
        </p:txBody>
      </p:sp>
      <p:sp>
        <p:nvSpPr>
          <p:cNvPr id="821" name="Text 18"/>
          <p:cNvSpPr/>
          <p:nvPr/>
        </p:nvSpPr>
        <p:spPr>
          <a:xfrm>
            <a:off x="350532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35-44</a:t>
            </a:r>
            <a:endParaRPr b="0" lang="en-US" sz="800" strike="noStrike" u="none">
              <a:solidFill>
                <a:srgbClr val="000000"/>
              </a:solidFill>
              <a:effectLst/>
              <a:uFillTx/>
              <a:latin typeface="Arial"/>
            </a:endParaRPr>
          </a:p>
        </p:txBody>
      </p:sp>
      <p:sp>
        <p:nvSpPr>
          <p:cNvPr id="822" name="Shape 19"/>
          <p:cNvSpPr/>
          <p:nvPr/>
        </p:nvSpPr>
        <p:spPr>
          <a:xfrm>
            <a:off x="4797720" y="2685960"/>
            <a:ext cx="365040" cy="97092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23" name="Shape 20"/>
          <p:cNvSpPr/>
          <p:nvPr/>
        </p:nvSpPr>
        <p:spPr>
          <a:xfrm>
            <a:off x="5199840" y="2709000"/>
            <a:ext cx="365040" cy="94788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24" name="Text 21"/>
          <p:cNvSpPr/>
          <p:nvPr/>
        </p:nvSpPr>
        <p:spPr>
          <a:xfrm>
            <a:off x="4752000" y="248472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8.5%</a:t>
            </a:r>
            <a:endParaRPr b="0" lang="en-US" sz="700" strike="noStrike" u="none">
              <a:solidFill>
                <a:srgbClr val="000000"/>
              </a:solidFill>
              <a:effectLst/>
              <a:uFillTx/>
              <a:latin typeface="Arial"/>
            </a:endParaRPr>
          </a:p>
        </p:txBody>
      </p:sp>
      <p:sp>
        <p:nvSpPr>
          <p:cNvPr id="825" name="Text 22"/>
          <p:cNvSpPr/>
          <p:nvPr/>
        </p:nvSpPr>
        <p:spPr>
          <a:xfrm>
            <a:off x="5154120" y="250776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8.3%</a:t>
            </a:r>
            <a:endParaRPr b="0" lang="en-US" sz="700" strike="noStrike" u="none">
              <a:solidFill>
                <a:srgbClr val="000000"/>
              </a:solidFill>
              <a:effectLst/>
              <a:uFillTx/>
              <a:latin typeface="Arial"/>
            </a:endParaRPr>
          </a:p>
        </p:txBody>
      </p:sp>
      <p:sp>
        <p:nvSpPr>
          <p:cNvPr id="826" name="Text 23"/>
          <p:cNvSpPr/>
          <p:nvPr/>
        </p:nvSpPr>
        <p:spPr>
          <a:xfrm>
            <a:off x="472428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45-54</a:t>
            </a:r>
            <a:endParaRPr b="0" lang="en-US" sz="800" strike="noStrike" u="none">
              <a:solidFill>
                <a:srgbClr val="000000"/>
              </a:solidFill>
              <a:effectLst/>
              <a:uFillTx/>
              <a:latin typeface="Arial"/>
            </a:endParaRPr>
          </a:p>
        </p:txBody>
      </p:sp>
      <p:sp>
        <p:nvSpPr>
          <p:cNvPr id="827" name="Shape 24"/>
          <p:cNvSpPr/>
          <p:nvPr/>
        </p:nvSpPr>
        <p:spPr>
          <a:xfrm>
            <a:off x="6016680" y="3029040"/>
            <a:ext cx="365040" cy="62784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28" name="Shape 25"/>
          <p:cNvSpPr/>
          <p:nvPr/>
        </p:nvSpPr>
        <p:spPr>
          <a:xfrm>
            <a:off x="6419160" y="3040560"/>
            <a:ext cx="365040" cy="61668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29" name="Text 26"/>
          <p:cNvSpPr/>
          <p:nvPr/>
        </p:nvSpPr>
        <p:spPr>
          <a:xfrm>
            <a:off x="5970960" y="282780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5.5%</a:t>
            </a:r>
            <a:endParaRPr b="0" lang="en-US" sz="700" strike="noStrike" u="none">
              <a:solidFill>
                <a:srgbClr val="000000"/>
              </a:solidFill>
              <a:effectLst/>
              <a:uFillTx/>
              <a:latin typeface="Arial"/>
            </a:endParaRPr>
          </a:p>
        </p:txBody>
      </p:sp>
      <p:sp>
        <p:nvSpPr>
          <p:cNvPr id="830" name="Text 27"/>
          <p:cNvSpPr/>
          <p:nvPr/>
        </p:nvSpPr>
        <p:spPr>
          <a:xfrm>
            <a:off x="6373440" y="283932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5.4%</a:t>
            </a:r>
            <a:endParaRPr b="0" lang="en-US" sz="700" strike="noStrike" u="none">
              <a:solidFill>
                <a:srgbClr val="000000"/>
              </a:solidFill>
              <a:effectLst/>
              <a:uFillTx/>
              <a:latin typeface="Arial"/>
            </a:endParaRPr>
          </a:p>
        </p:txBody>
      </p:sp>
      <p:sp>
        <p:nvSpPr>
          <p:cNvPr id="831" name="Text 28"/>
          <p:cNvSpPr/>
          <p:nvPr/>
        </p:nvSpPr>
        <p:spPr>
          <a:xfrm>
            <a:off x="594360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55-64</a:t>
            </a:r>
            <a:endParaRPr b="0" lang="en-US" sz="800" strike="noStrike" u="none">
              <a:solidFill>
                <a:srgbClr val="000000"/>
              </a:solidFill>
              <a:effectLst/>
              <a:uFillTx/>
              <a:latin typeface="Arial"/>
            </a:endParaRPr>
          </a:p>
        </p:txBody>
      </p:sp>
      <p:sp>
        <p:nvSpPr>
          <p:cNvPr id="832" name="Shape 29"/>
          <p:cNvSpPr/>
          <p:nvPr/>
        </p:nvSpPr>
        <p:spPr>
          <a:xfrm>
            <a:off x="7236000" y="3108960"/>
            <a:ext cx="365040" cy="54792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33" name="Shape 30"/>
          <p:cNvSpPr/>
          <p:nvPr/>
        </p:nvSpPr>
        <p:spPr>
          <a:xfrm>
            <a:off x="7638120" y="3097440"/>
            <a:ext cx="365040" cy="55944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34" name="Text 31"/>
          <p:cNvSpPr/>
          <p:nvPr/>
        </p:nvSpPr>
        <p:spPr>
          <a:xfrm>
            <a:off x="7190280" y="290772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f5a623"/>
                </a:solidFill>
                <a:effectLst/>
                <a:uFillTx/>
                <a:latin typeface="Calibri"/>
                <a:ea typeface="Calibri"/>
              </a:rPr>
              <a:t>4.8%</a:t>
            </a:r>
            <a:endParaRPr b="0" lang="en-US" sz="700" strike="noStrike" u="none">
              <a:solidFill>
                <a:srgbClr val="000000"/>
              </a:solidFill>
              <a:effectLst/>
              <a:uFillTx/>
              <a:latin typeface="Arial"/>
            </a:endParaRPr>
          </a:p>
        </p:txBody>
      </p:sp>
      <p:sp>
        <p:nvSpPr>
          <p:cNvPr id="835" name="Text 32"/>
          <p:cNvSpPr/>
          <p:nvPr/>
        </p:nvSpPr>
        <p:spPr>
          <a:xfrm>
            <a:off x="7592400" y="2896200"/>
            <a:ext cx="45648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e94560"/>
                </a:solidFill>
                <a:effectLst/>
                <a:uFillTx/>
                <a:latin typeface="Calibri"/>
                <a:ea typeface="Calibri"/>
              </a:rPr>
              <a:t>4.9%</a:t>
            </a:r>
            <a:endParaRPr b="0" lang="en-US" sz="700" strike="noStrike" u="none">
              <a:solidFill>
                <a:srgbClr val="000000"/>
              </a:solidFill>
              <a:effectLst/>
              <a:uFillTx/>
              <a:latin typeface="Arial"/>
            </a:endParaRPr>
          </a:p>
        </p:txBody>
      </p:sp>
      <p:sp>
        <p:nvSpPr>
          <p:cNvPr id="836" name="Text 33"/>
          <p:cNvSpPr/>
          <p:nvPr/>
        </p:nvSpPr>
        <p:spPr>
          <a:xfrm>
            <a:off x="7162920" y="3730680"/>
            <a:ext cx="9136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800" strike="noStrike" u="none">
                <a:solidFill>
                  <a:srgbClr val="8e8e8e"/>
                </a:solidFill>
                <a:effectLst/>
                <a:uFillTx/>
                <a:latin typeface="Calibri"/>
                <a:ea typeface="Calibri"/>
              </a:rPr>
              <a:t>65+</a:t>
            </a:r>
            <a:endParaRPr b="0" lang="en-US" sz="800" strike="noStrike" u="none">
              <a:solidFill>
                <a:srgbClr val="000000"/>
              </a:solidFill>
              <a:effectLst/>
              <a:uFillTx/>
              <a:latin typeface="Arial"/>
            </a:endParaRPr>
          </a:p>
        </p:txBody>
      </p:sp>
      <p:sp>
        <p:nvSpPr>
          <p:cNvPr id="837" name="Shape 34"/>
          <p:cNvSpPr/>
          <p:nvPr/>
        </p:nvSpPr>
        <p:spPr>
          <a:xfrm>
            <a:off x="6858000" y="4023360"/>
            <a:ext cx="182160" cy="182160"/>
          </a:xfrm>
          <a:prstGeom prst="rect">
            <a:avLst/>
          </a:prstGeom>
          <a:solidFill>
            <a:srgbClr val="f5a623"/>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38" name="Text 35"/>
          <p:cNvSpPr/>
          <p:nvPr/>
        </p:nvSpPr>
        <p:spPr>
          <a:xfrm>
            <a:off x="7086600" y="4023360"/>
            <a:ext cx="63936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1a1a2e"/>
                </a:solidFill>
                <a:effectLst/>
                <a:uFillTx/>
                <a:latin typeface="Calibri"/>
                <a:ea typeface="Calibri"/>
              </a:rPr>
              <a:t>Female</a:t>
            </a:r>
            <a:endParaRPr b="0" lang="en-US" sz="800" strike="noStrike" u="none">
              <a:solidFill>
                <a:srgbClr val="000000"/>
              </a:solidFill>
              <a:effectLst/>
              <a:uFillTx/>
              <a:latin typeface="Arial"/>
            </a:endParaRPr>
          </a:p>
        </p:txBody>
      </p:sp>
      <p:sp>
        <p:nvSpPr>
          <p:cNvPr id="839" name="Shape 36"/>
          <p:cNvSpPr/>
          <p:nvPr/>
        </p:nvSpPr>
        <p:spPr>
          <a:xfrm>
            <a:off x="7772400" y="4023360"/>
            <a:ext cx="182160" cy="1821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40" name="Text 37"/>
          <p:cNvSpPr/>
          <p:nvPr/>
        </p:nvSpPr>
        <p:spPr>
          <a:xfrm>
            <a:off x="8001000" y="4023360"/>
            <a:ext cx="456480" cy="182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00" strike="noStrike" u="none">
                <a:solidFill>
                  <a:srgbClr val="1a1a2e"/>
                </a:solidFill>
                <a:effectLst/>
                <a:uFillTx/>
                <a:latin typeface="Calibri"/>
                <a:ea typeface="Calibri"/>
              </a:rPr>
              <a:t>Male</a:t>
            </a:r>
            <a:endParaRPr b="0" lang="en-US" sz="800" strike="noStrike" u="none">
              <a:solidFill>
                <a:srgbClr val="000000"/>
              </a:solidFill>
              <a:effectLst/>
              <a:uFillTx/>
              <a:latin typeface="Arial"/>
            </a:endParaRPr>
          </a:p>
        </p:txBody>
      </p:sp>
      <p:sp>
        <p:nvSpPr>
          <p:cNvPr id="841" name="Shape 38"/>
          <p:cNvSpPr/>
          <p:nvPr/>
        </p:nvSpPr>
        <p:spPr>
          <a:xfrm>
            <a:off x="548640" y="4389120"/>
            <a:ext cx="8046000" cy="4107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42" name="Shape 39"/>
          <p:cNvSpPr/>
          <p:nvPr/>
        </p:nvSpPr>
        <p:spPr>
          <a:xfrm>
            <a:off x="548640" y="4389120"/>
            <a:ext cx="54000" cy="41076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43" name="Text 40"/>
          <p:cNvSpPr/>
          <p:nvPr/>
        </p:nvSpPr>
        <p:spPr>
          <a:xfrm>
            <a:off x="777240" y="4389120"/>
            <a:ext cx="763452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1a1a2e"/>
                </a:solidFill>
                <a:effectLst/>
                <a:uFillTx/>
                <a:latin typeface="Calibri"/>
                <a:ea typeface="Calibri"/>
              </a:rPr>
              <a:t>Insight: Peak at 25-34 (29.2%). Strong 35-44 presence. Aging audience vs TikTok/Instagram.</a:t>
            </a:r>
            <a:endParaRPr b="0" lang="en-US" sz="1000" strike="noStrike" u="none">
              <a:solidFill>
                <a:srgbClr val="000000"/>
              </a:solidFill>
              <a:effectLst/>
              <a:uFillTx/>
              <a:latin typeface="Arial"/>
            </a:endParaRPr>
          </a:p>
        </p:txBody>
      </p:sp>
      <p:sp>
        <p:nvSpPr>
          <p:cNvPr id="844" name="Text 41"/>
          <p:cNvSpPr/>
          <p:nvPr/>
        </p:nvSpPr>
        <p:spPr>
          <a:xfrm>
            <a:off x="548640" y="4846320"/>
            <a:ext cx="7314480" cy="182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trike="noStrike" u="none">
                <a:solidFill>
                  <a:srgbClr val="8e8e8e"/>
                </a:solidFill>
                <a:effectLst/>
                <a:uFillTx/>
                <a:latin typeface="Calibri"/>
                <a:ea typeface="Calibri"/>
              </a:rPr>
              <a:t>Source: Facebook Advertising Resources, Kepios Analysis via We Are Social / Meltwater</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45" name="Text 0"/>
          <p:cNvSpPr/>
          <p:nvPr/>
        </p:nvSpPr>
        <p:spPr>
          <a:xfrm>
            <a:off x="548640" y="182880"/>
            <a:ext cx="6400080" cy="502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trike="noStrike" u="none">
                <a:solidFill>
                  <a:srgbClr val="1a1a2e"/>
                </a:solidFill>
                <a:effectLst/>
                <a:uFillTx/>
                <a:latin typeface="Trebuchet MS"/>
                <a:ea typeface="Trebuchet MS"/>
              </a:rPr>
              <a:t>Accessing Online Information</a:t>
            </a:r>
            <a:endParaRPr b="0" lang="en-US" sz="2800" strike="noStrike" u="none">
              <a:solidFill>
                <a:srgbClr val="000000"/>
              </a:solidFill>
              <a:effectLst/>
              <a:uFillTx/>
              <a:latin typeface="Arial"/>
            </a:endParaRPr>
          </a:p>
        </p:txBody>
      </p:sp>
      <p:sp>
        <p:nvSpPr>
          <p:cNvPr id="846" name="Text 1"/>
          <p:cNvSpPr/>
          <p:nvPr/>
        </p:nvSpPr>
        <p:spPr>
          <a:xfrm>
            <a:off x="548640" y="640080"/>
            <a:ext cx="64000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trike="noStrike" u="none">
                <a:solidFill>
                  <a:srgbClr val="8e8e8e"/>
                </a:solidFill>
                <a:effectLst/>
                <a:uFillTx/>
                <a:latin typeface="Calibri"/>
                <a:ea typeface="Calibri"/>
              </a:rPr>
              <a:t>% of internet users aged 16+ who engage in each activity</a:t>
            </a:r>
            <a:endParaRPr b="0" lang="en-US" sz="1000" strike="noStrike" u="none">
              <a:solidFill>
                <a:srgbClr val="000000"/>
              </a:solidFill>
              <a:effectLst/>
              <a:uFillTx/>
              <a:latin typeface="Arial"/>
            </a:endParaRPr>
          </a:p>
        </p:txBody>
      </p:sp>
      <p:sp>
        <p:nvSpPr>
          <p:cNvPr id="847" name="Shape 2"/>
          <p:cNvSpPr/>
          <p:nvPr/>
        </p:nvSpPr>
        <p:spPr>
          <a:xfrm>
            <a:off x="457200" y="1097280"/>
            <a:ext cx="2651040" cy="1599480"/>
          </a:xfrm>
          <a:prstGeom prst="rect">
            <a:avLst/>
          </a:prstGeom>
          <a:solidFill>
            <a:srgbClr val="0d3b4f"/>
          </a:solidFill>
          <a:ln w="25400">
            <a:solidFill>
              <a:srgbClr val="0f9b8e"/>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48" name="Text 3"/>
          <p:cNvSpPr/>
          <p:nvPr/>
        </p:nvSpPr>
        <p:spPr>
          <a:xfrm>
            <a:off x="457200" y="1188720"/>
            <a:ext cx="265104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00" strike="noStrike" u="none">
                <a:solidFill>
                  <a:srgbClr val="1a1a2e"/>
                </a:solidFill>
                <a:effectLst/>
                <a:uFillTx/>
                <a:latin typeface="Calibri"/>
                <a:ea typeface="Calibri"/>
              </a:rPr>
              <a:t>Search Engine</a:t>
            </a:r>
            <a:endParaRPr b="0" lang="en-US" sz="1000" strike="noStrike" u="none">
              <a:solidFill>
                <a:srgbClr val="000000"/>
              </a:solidFill>
              <a:effectLst/>
              <a:uFillTx/>
              <a:latin typeface="Arial"/>
            </a:endParaRPr>
          </a:p>
          <a:p>
            <a:pPr algn="ctr" defTabSz="914400">
              <a:lnSpc>
                <a:spcPct val="100000"/>
              </a:lnSpc>
              <a:tabLst>
                <a:tab algn="l" pos="0"/>
              </a:tabLst>
            </a:pPr>
            <a:r>
              <a:rPr b="0" lang="en-US" sz="1000" strike="noStrike" u="none">
                <a:solidFill>
                  <a:srgbClr val="1a1a2e"/>
                </a:solidFill>
                <a:effectLst/>
                <a:uFillTx/>
                <a:latin typeface="Calibri"/>
                <a:ea typeface="Calibri"/>
              </a:rPr>
              <a:t>(Google, Bing, etc.)</a:t>
            </a:r>
            <a:endParaRPr b="0" lang="en-US" sz="1000" strike="noStrike" u="none">
              <a:solidFill>
                <a:srgbClr val="000000"/>
              </a:solidFill>
              <a:effectLst/>
              <a:uFillTx/>
              <a:latin typeface="Arial"/>
            </a:endParaRPr>
          </a:p>
        </p:txBody>
      </p:sp>
      <p:sp>
        <p:nvSpPr>
          <p:cNvPr id="849" name="Text 4"/>
          <p:cNvSpPr/>
          <p:nvPr/>
        </p:nvSpPr>
        <p:spPr>
          <a:xfrm>
            <a:off x="457200" y="1737360"/>
            <a:ext cx="265104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800" strike="noStrike" u="none">
                <a:solidFill>
                  <a:srgbClr val="0f9b8e"/>
                </a:solidFill>
                <a:effectLst/>
                <a:uFillTx/>
                <a:latin typeface="Trebuchet MS"/>
                <a:ea typeface="Trebuchet MS"/>
              </a:rPr>
              <a:t>87.1%</a:t>
            </a:r>
            <a:endParaRPr b="0" lang="en-US" sz="2800" strike="noStrike" u="none">
              <a:solidFill>
                <a:srgbClr val="000000"/>
              </a:solidFill>
              <a:effectLst/>
              <a:uFillTx/>
              <a:latin typeface="Arial"/>
            </a:endParaRPr>
          </a:p>
        </p:txBody>
      </p:sp>
      <p:sp>
        <p:nvSpPr>
          <p:cNvPr id="850" name="Text 5"/>
          <p:cNvSpPr/>
          <p:nvPr/>
        </p:nvSpPr>
        <p:spPr>
          <a:xfrm>
            <a:off x="457200" y="2286000"/>
            <a:ext cx="265104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trike="noStrike" u="none">
                <a:solidFill>
                  <a:srgbClr val="0f9b8e"/>
                </a:solidFill>
                <a:effectLst/>
                <a:uFillTx/>
                <a:latin typeface="Calibri"/>
                <a:ea typeface="Calibri"/>
              </a:rPr>
              <a:t>Each Month</a:t>
            </a:r>
            <a:endParaRPr b="0" lang="en-US" sz="900" strike="noStrike" u="none">
              <a:solidFill>
                <a:srgbClr val="000000"/>
              </a:solidFill>
              <a:effectLst/>
              <a:uFillTx/>
              <a:latin typeface="Arial"/>
            </a:endParaRPr>
          </a:p>
        </p:txBody>
      </p:sp>
      <p:sp>
        <p:nvSpPr>
          <p:cNvPr id="851" name="Shape 6"/>
          <p:cNvSpPr/>
          <p:nvPr/>
        </p:nvSpPr>
        <p:spPr>
          <a:xfrm>
            <a:off x="3337560" y="1097280"/>
            <a:ext cx="2651040" cy="159948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52" name="Text 7"/>
          <p:cNvSpPr/>
          <p:nvPr/>
        </p:nvSpPr>
        <p:spPr>
          <a:xfrm>
            <a:off x="3337560" y="1188720"/>
            <a:ext cx="265104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00" strike="noStrike" u="none">
                <a:solidFill>
                  <a:srgbClr val="1a1a2e"/>
                </a:solidFill>
                <a:effectLst/>
                <a:uFillTx/>
                <a:latin typeface="Calibri"/>
                <a:ea typeface="Calibri"/>
              </a:rPr>
              <a:t>Voice Assistants</a:t>
            </a:r>
            <a:endParaRPr b="0" lang="en-US" sz="1000" strike="noStrike" u="none">
              <a:solidFill>
                <a:srgbClr val="000000"/>
              </a:solidFill>
              <a:effectLst/>
              <a:uFillTx/>
              <a:latin typeface="Arial"/>
            </a:endParaRPr>
          </a:p>
          <a:p>
            <a:pPr algn="ctr" defTabSz="914400">
              <a:lnSpc>
                <a:spcPct val="100000"/>
              </a:lnSpc>
              <a:tabLst>
                <a:tab algn="l" pos="0"/>
              </a:tabLst>
            </a:pPr>
            <a:r>
              <a:rPr b="0" lang="en-US" sz="1000" strike="noStrike" u="none">
                <a:solidFill>
                  <a:srgbClr val="1a1a2e"/>
                </a:solidFill>
                <a:effectLst/>
                <a:uFillTx/>
                <a:latin typeface="Calibri"/>
                <a:ea typeface="Calibri"/>
              </a:rPr>
              <a:t>(Siri, Google Asst)</a:t>
            </a:r>
            <a:endParaRPr b="0" lang="en-US" sz="1000" strike="noStrike" u="none">
              <a:solidFill>
                <a:srgbClr val="000000"/>
              </a:solidFill>
              <a:effectLst/>
              <a:uFillTx/>
              <a:latin typeface="Arial"/>
            </a:endParaRPr>
          </a:p>
        </p:txBody>
      </p:sp>
      <p:sp>
        <p:nvSpPr>
          <p:cNvPr id="853" name="Text 8"/>
          <p:cNvSpPr/>
          <p:nvPr/>
        </p:nvSpPr>
        <p:spPr>
          <a:xfrm>
            <a:off x="3337560" y="1737360"/>
            <a:ext cx="265104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800" strike="noStrike" u="none">
                <a:solidFill>
                  <a:srgbClr val="e94560"/>
                </a:solidFill>
                <a:effectLst/>
                <a:uFillTx/>
                <a:latin typeface="Trebuchet MS"/>
                <a:ea typeface="Trebuchet MS"/>
              </a:rPr>
              <a:t>11.2%</a:t>
            </a:r>
            <a:endParaRPr b="0" lang="en-US" sz="2800" strike="noStrike" u="none">
              <a:solidFill>
                <a:srgbClr val="000000"/>
              </a:solidFill>
              <a:effectLst/>
              <a:uFillTx/>
              <a:latin typeface="Arial"/>
            </a:endParaRPr>
          </a:p>
        </p:txBody>
      </p:sp>
      <p:sp>
        <p:nvSpPr>
          <p:cNvPr id="854" name="Text 9"/>
          <p:cNvSpPr/>
          <p:nvPr/>
        </p:nvSpPr>
        <p:spPr>
          <a:xfrm>
            <a:off x="3337560" y="2286000"/>
            <a:ext cx="265104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trike="noStrike" u="none">
                <a:solidFill>
                  <a:srgbClr val="0f9b8e"/>
                </a:solidFill>
                <a:effectLst/>
                <a:uFillTx/>
                <a:latin typeface="Calibri"/>
                <a:ea typeface="Calibri"/>
              </a:rPr>
              <a:t>Each Week</a:t>
            </a:r>
            <a:endParaRPr b="0" lang="en-US" sz="900" strike="noStrike" u="none">
              <a:solidFill>
                <a:srgbClr val="000000"/>
              </a:solidFill>
              <a:effectLst/>
              <a:uFillTx/>
              <a:latin typeface="Arial"/>
            </a:endParaRPr>
          </a:p>
        </p:txBody>
      </p:sp>
      <p:sp>
        <p:nvSpPr>
          <p:cNvPr id="855" name="Shape 10"/>
          <p:cNvSpPr/>
          <p:nvPr/>
        </p:nvSpPr>
        <p:spPr>
          <a:xfrm>
            <a:off x="6217920" y="1097280"/>
            <a:ext cx="2651040" cy="159948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56" name="Text 11"/>
          <p:cNvSpPr/>
          <p:nvPr/>
        </p:nvSpPr>
        <p:spPr>
          <a:xfrm>
            <a:off x="6217920" y="1188720"/>
            <a:ext cx="265104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00" strike="noStrike" u="none">
                <a:solidFill>
                  <a:srgbClr val="1a1a2e"/>
                </a:solidFill>
                <a:effectLst/>
                <a:uFillTx/>
                <a:latin typeface="Calibri"/>
                <a:ea typeface="Calibri"/>
              </a:rPr>
              <a:t>Visit Social Networks</a:t>
            </a:r>
            <a:endParaRPr b="0" lang="en-US" sz="1000" strike="noStrike" u="none">
              <a:solidFill>
                <a:srgbClr val="000000"/>
              </a:solidFill>
              <a:effectLst/>
              <a:uFillTx/>
              <a:latin typeface="Arial"/>
            </a:endParaRPr>
          </a:p>
          <a:p>
            <a:pPr algn="ctr" defTabSz="914400">
              <a:lnSpc>
                <a:spcPct val="100000"/>
              </a:lnSpc>
              <a:tabLst>
                <a:tab algn="l" pos="0"/>
              </a:tabLst>
            </a:pPr>
            <a:r>
              <a:rPr b="0" lang="en-US" sz="1000" strike="noStrike" u="none">
                <a:solidFill>
                  <a:srgbClr val="1a1a2e"/>
                </a:solidFill>
                <a:effectLst/>
                <a:uFillTx/>
                <a:latin typeface="Calibri"/>
                <a:ea typeface="Calibri"/>
              </a:rPr>
              <a:t>for Brand Info</a:t>
            </a:r>
            <a:endParaRPr b="0" lang="en-US" sz="1000" strike="noStrike" u="none">
              <a:solidFill>
                <a:srgbClr val="000000"/>
              </a:solidFill>
              <a:effectLst/>
              <a:uFillTx/>
              <a:latin typeface="Arial"/>
            </a:endParaRPr>
          </a:p>
        </p:txBody>
      </p:sp>
      <p:sp>
        <p:nvSpPr>
          <p:cNvPr id="857" name="Text 12"/>
          <p:cNvSpPr/>
          <p:nvPr/>
        </p:nvSpPr>
        <p:spPr>
          <a:xfrm>
            <a:off x="6217920" y="1737360"/>
            <a:ext cx="265104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800" strike="noStrike" u="none">
                <a:solidFill>
                  <a:srgbClr val="e94560"/>
                </a:solidFill>
                <a:effectLst/>
                <a:uFillTx/>
                <a:latin typeface="Trebuchet MS"/>
                <a:ea typeface="Trebuchet MS"/>
              </a:rPr>
              <a:t>34.5%</a:t>
            </a:r>
            <a:endParaRPr b="0" lang="en-US" sz="2800" strike="noStrike" u="none">
              <a:solidFill>
                <a:srgbClr val="000000"/>
              </a:solidFill>
              <a:effectLst/>
              <a:uFillTx/>
              <a:latin typeface="Arial"/>
            </a:endParaRPr>
          </a:p>
        </p:txBody>
      </p:sp>
      <p:sp>
        <p:nvSpPr>
          <p:cNvPr id="858" name="Shape 13"/>
          <p:cNvSpPr/>
          <p:nvPr/>
        </p:nvSpPr>
        <p:spPr>
          <a:xfrm>
            <a:off x="457200" y="2926080"/>
            <a:ext cx="2651040" cy="159948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59" name="Text 14"/>
          <p:cNvSpPr/>
          <p:nvPr/>
        </p:nvSpPr>
        <p:spPr>
          <a:xfrm>
            <a:off x="457200" y="3017520"/>
            <a:ext cx="265104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00" strike="noStrike" u="none">
                <a:solidFill>
                  <a:srgbClr val="1a1a2e"/>
                </a:solidFill>
                <a:effectLst/>
                <a:uFillTx/>
                <a:latin typeface="Calibri"/>
                <a:ea typeface="Calibri"/>
              </a:rPr>
              <a:t>Image Search Tools</a:t>
            </a:r>
            <a:endParaRPr b="0" lang="en-US" sz="1000" strike="noStrike" u="none">
              <a:solidFill>
                <a:srgbClr val="000000"/>
              </a:solidFill>
              <a:effectLst/>
              <a:uFillTx/>
              <a:latin typeface="Arial"/>
            </a:endParaRPr>
          </a:p>
          <a:p>
            <a:pPr algn="ctr" defTabSz="914400">
              <a:lnSpc>
                <a:spcPct val="100000"/>
              </a:lnSpc>
              <a:tabLst>
                <a:tab algn="l" pos="0"/>
              </a:tabLst>
            </a:pPr>
            <a:r>
              <a:rPr b="0" lang="en-US" sz="1000" strike="noStrike" u="none">
                <a:solidFill>
                  <a:srgbClr val="1a1a2e"/>
                </a:solidFill>
                <a:effectLst/>
                <a:uFillTx/>
                <a:latin typeface="Calibri"/>
                <a:ea typeface="Calibri"/>
              </a:rPr>
              <a:t>(Google Lens, etc.)</a:t>
            </a:r>
            <a:endParaRPr b="0" lang="en-US" sz="1000" strike="noStrike" u="none">
              <a:solidFill>
                <a:srgbClr val="000000"/>
              </a:solidFill>
              <a:effectLst/>
              <a:uFillTx/>
              <a:latin typeface="Arial"/>
            </a:endParaRPr>
          </a:p>
        </p:txBody>
      </p:sp>
      <p:sp>
        <p:nvSpPr>
          <p:cNvPr id="860" name="Text 15"/>
          <p:cNvSpPr/>
          <p:nvPr/>
        </p:nvSpPr>
        <p:spPr>
          <a:xfrm>
            <a:off x="457200" y="3566160"/>
            <a:ext cx="265104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800" strike="noStrike" u="none">
                <a:solidFill>
                  <a:srgbClr val="e94560"/>
                </a:solidFill>
                <a:effectLst/>
                <a:uFillTx/>
                <a:latin typeface="Trebuchet MS"/>
                <a:ea typeface="Trebuchet MS"/>
              </a:rPr>
              <a:t>20.5%</a:t>
            </a:r>
            <a:endParaRPr b="0" lang="en-US" sz="2800" strike="noStrike" u="none">
              <a:solidFill>
                <a:srgbClr val="000000"/>
              </a:solidFill>
              <a:effectLst/>
              <a:uFillTx/>
              <a:latin typeface="Arial"/>
            </a:endParaRPr>
          </a:p>
        </p:txBody>
      </p:sp>
      <p:sp>
        <p:nvSpPr>
          <p:cNvPr id="861" name="Text 16"/>
          <p:cNvSpPr/>
          <p:nvPr/>
        </p:nvSpPr>
        <p:spPr>
          <a:xfrm>
            <a:off x="457200" y="4114800"/>
            <a:ext cx="265104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trike="noStrike" u="none">
                <a:solidFill>
                  <a:srgbClr val="0f9b8e"/>
                </a:solidFill>
                <a:effectLst/>
                <a:uFillTx/>
                <a:latin typeface="Calibri"/>
                <a:ea typeface="Calibri"/>
              </a:rPr>
              <a:t>On Mobile Monthly</a:t>
            </a:r>
            <a:endParaRPr b="0" lang="en-US" sz="900" strike="noStrike" u="none">
              <a:solidFill>
                <a:srgbClr val="000000"/>
              </a:solidFill>
              <a:effectLst/>
              <a:uFillTx/>
              <a:latin typeface="Arial"/>
            </a:endParaRPr>
          </a:p>
        </p:txBody>
      </p:sp>
      <p:sp>
        <p:nvSpPr>
          <p:cNvPr id="862" name="Shape 17"/>
          <p:cNvSpPr/>
          <p:nvPr/>
        </p:nvSpPr>
        <p:spPr>
          <a:xfrm>
            <a:off x="3337560" y="2926080"/>
            <a:ext cx="2651040" cy="1599480"/>
          </a:xfrm>
          <a:prstGeom prst="rect">
            <a:avLst/>
          </a:prstGeom>
          <a:solidFill>
            <a:srgbClr val="0d3b4f"/>
          </a:solidFill>
          <a:ln w="25400">
            <a:solidFill>
              <a:srgbClr val="0f9b8e"/>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63" name="Text 18"/>
          <p:cNvSpPr/>
          <p:nvPr/>
        </p:nvSpPr>
        <p:spPr>
          <a:xfrm>
            <a:off x="3337560" y="3017520"/>
            <a:ext cx="265104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00" strike="noStrike" u="none">
                <a:solidFill>
                  <a:srgbClr val="1a1a2e"/>
                </a:solidFill>
                <a:effectLst/>
                <a:uFillTx/>
                <a:latin typeface="Calibri"/>
                <a:ea typeface="Calibri"/>
              </a:rPr>
              <a:t>Scan QR Codes</a:t>
            </a:r>
            <a:endParaRPr b="0" lang="en-US" sz="1000" strike="noStrike" u="none">
              <a:solidFill>
                <a:srgbClr val="000000"/>
              </a:solidFill>
              <a:effectLst/>
              <a:uFillTx/>
              <a:latin typeface="Arial"/>
            </a:endParaRPr>
          </a:p>
          <a:p>
            <a:pPr algn="ctr" defTabSz="914400">
              <a:lnSpc>
                <a:spcPct val="100000"/>
              </a:lnSpc>
              <a:tabLst>
                <a:tab algn="l" pos="0"/>
              </a:tabLst>
            </a:pPr>
            <a:r>
              <a:rPr b="0" lang="en-US" sz="1000" strike="noStrike" u="none">
                <a:solidFill>
                  <a:srgbClr val="1a1a2e"/>
                </a:solidFill>
                <a:effectLst/>
                <a:uFillTx/>
                <a:latin typeface="Calibri"/>
                <a:ea typeface="Calibri"/>
              </a:rPr>
              <a:t>on Mobile</a:t>
            </a:r>
            <a:endParaRPr b="0" lang="en-US" sz="1000" strike="noStrike" u="none">
              <a:solidFill>
                <a:srgbClr val="000000"/>
              </a:solidFill>
              <a:effectLst/>
              <a:uFillTx/>
              <a:latin typeface="Arial"/>
            </a:endParaRPr>
          </a:p>
        </p:txBody>
      </p:sp>
      <p:sp>
        <p:nvSpPr>
          <p:cNvPr id="864" name="Text 19"/>
          <p:cNvSpPr/>
          <p:nvPr/>
        </p:nvSpPr>
        <p:spPr>
          <a:xfrm>
            <a:off x="3337560" y="3566160"/>
            <a:ext cx="265104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800" strike="noStrike" u="none">
                <a:solidFill>
                  <a:srgbClr val="0f9b8e"/>
                </a:solidFill>
                <a:effectLst/>
                <a:uFillTx/>
                <a:latin typeface="Trebuchet MS"/>
                <a:ea typeface="Trebuchet MS"/>
              </a:rPr>
              <a:t>54.5%</a:t>
            </a:r>
            <a:endParaRPr b="0" lang="en-US" sz="2800" strike="noStrike" u="none">
              <a:solidFill>
                <a:srgbClr val="000000"/>
              </a:solidFill>
              <a:effectLst/>
              <a:uFillTx/>
              <a:latin typeface="Arial"/>
            </a:endParaRPr>
          </a:p>
        </p:txBody>
      </p:sp>
      <p:sp>
        <p:nvSpPr>
          <p:cNvPr id="865" name="Text 20"/>
          <p:cNvSpPr/>
          <p:nvPr/>
        </p:nvSpPr>
        <p:spPr>
          <a:xfrm>
            <a:off x="3337560" y="4114800"/>
            <a:ext cx="265104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trike="noStrike" u="none">
                <a:solidFill>
                  <a:srgbClr val="0f9b8e"/>
                </a:solidFill>
                <a:effectLst/>
                <a:uFillTx/>
                <a:latin typeface="Calibri"/>
                <a:ea typeface="Calibri"/>
              </a:rPr>
              <a:t>Each Month</a:t>
            </a:r>
            <a:endParaRPr b="0" lang="en-US" sz="900" strike="noStrike" u="none">
              <a:solidFill>
                <a:srgbClr val="000000"/>
              </a:solidFill>
              <a:effectLst/>
              <a:uFillTx/>
              <a:latin typeface="Arial"/>
            </a:endParaRPr>
          </a:p>
        </p:txBody>
      </p:sp>
      <p:sp>
        <p:nvSpPr>
          <p:cNvPr id="866" name="Shape 21"/>
          <p:cNvSpPr/>
          <p:nvPr/>
        </p:nvSpPr>
        <p:spPr>
          <a:xfrm>
            <a:off x="6217920" y="2926080"/>
            <a:ext cx="2651040" cy="159948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67" name="Text 22"/>
          <p:cNvSpPr/>
          <p:nvPr/>
        </p:nvSpPr>
        <p:spPr>
          <a:xfrm>
            <a:off x="6217920" y="3017520"/>
            <a:ext cx="265104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1000" strike="noStrike" u="none">
                <a:solidFill>
                  <a:srgbClr val="1a1a2e"/>
                </a:solidFill>
                <a:effectLst/>
                <a:uFillTx/>
                <a:latin typeface="Calibri"/>
                <a:ea typeface="Calibri"/>
              </a:rPr>
              <a:t>Translate Text</a:t>
            </a:r>
            <a:endParaRPr b="0" lang="en-US" sz="1000" strike="noStrike" u="none">
              <a:solidFill>
                <a:srgbClr val="000000"/>
              </a:solidFill>
              <a:effectLst/>
              <a:uFillTx/>
              <a:latin typeface="Arial"/>
            </a:endParaRPr>
          </a:p>
          <a:p>
            <a:pPr algn="ctr" defTabSz="914400">
              <a:lnSpc>
                <a:spcPct val="100000"/>
              </a:lnSpc>
              <a:tabLst>
                <a:tab algn="l" pos="0"/>
              </a:tabLst>
            </a:pPr>
            <a:r>
              <a:rPr b="0" lang="en-US" sz="1000" strike="noStrike" u="none">
                <a:solidFill>
                  <a:srgbClr val="1a1a2e"/>
                </a:solidFill>
                <a:effectLst/>
                <a:uFillTx/>
                <a:latin typeface="Calibri"/>
                <a:ea typeface="Calibri"/>
              </a:rPr>
              <a:t>Online</a:t>
            </a:r>
            <a:endParaRPr b="0" lang="en-US" sz="1000" strike="noStrike" u="none">
              <a:solidFill>
                <a:srgbClr val="000000"/>
              </a:solidFill>
              <a:effectLst/>
              <a:uFillTx/>
              <a:latin typeface="Arial"/>
            </a:endParaRPr>
          </a:p>
        </p:txBody>
      </p:sp>
      <p:sp>
        <p:nvSpPr>
          <p:cNvPr id="868" name="Text 23"/>
          <p:cNvSpPr/>
          <p:nvPr/>
        </p:nvSpPr>
        <p:spPr>
          <a:xfrm>
            <a:off x="6217920" y="3566160"/>
            <a:ext cx="2651040" cy="502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800" strike="noStrike" u="none">
                <a:solidFill>
                  <a:srgbClr val="e94560"/>
                </a:solidFill>
                <a:effectLst/>
                <a:uFillTx/>
                <a:latin typeface="Trebuchet MS"/>
                <a:ea typeface="Trebuchet MS"/>
              </a:rPr>
              <a:t>28.6%</a:t>
            </a:r>
            <a:endParaRPr b="0" lang="en-US" sz="2800" strike="noStrike" u="none">
              <a:solidFill>
                <a:srgbClr val="000000"/>
              </a:solidFill>
              <a:effectLst/>
              <a:uFillTx/>
              <a:latin typeface="Arial"/>
            </a:endParaRPr>
          </a:p>
        </p:txBody>
      </p:sp>
      <p:sp>
        <p:nvSpPr>
          <p:cNvPr id="869" name="Text 24"/>
          <p:cNvSpPr/>
          <p:nvPr/>
        </p:nvSpPr>
        <p:spPr>
          <a:xfrm>
            <a:off x="6217920" y="4114800"/>
            <a:ext cx="265104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00" strike="noStrike" u="none">
                <a:solidFill>
                  <a:srgbClr val="0f9b8e"/>
                </a:solidFill>
                <a:effectLst/>
                <a:uFillTx/>
                <a:latin typeface="Calibri"/>
                <a:ea typeface="Calibri"/>
              </a:rPr>
              <a:t>Each Week</a:t>
            </a:r>
            <a:endParaRPr b="0" lang="en-US" sz="900" strike="noStrike" u="none">
              <a:solidFill>
                <a:srgbClr val="000000"/>
              </a:solidFill>
              <a:effectLst/>
              <a:uFillTx/>
              <a:latin typeface="Arial"/>
            </a:endParaRPr>
          </a:p>
        </p:txBody>
      </p:sp>
      <p:sp>
        <p:nvSpPr>
          <p:cNvPr id="870" name="Text 25"/>
          <p:cNvSpPr/>
          <p:nvPr/>
        </p:nvSpPr>
        <p:spPr>
          <a:xfrm>
            <a:off x="548640" y="4709160"/>
            <a:ext cx="54856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trike="noStrike" u="none">
                <a:solidFill>
                  <a:srgbClr val="8e8e8e"/>
                </a:solidFill>
                <a:effectLst/>
                <a:uFillTx/>
                <a:latin typeface="Calibri"/>
                <a:ea typeface="Calibri"/>
              </a:rPr>
              <a:t>Source: GWI (Q3 2024) via We Are Social / Meltwater</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71" name="Text 0"/>
          <p:cNvSpPr/>
          <p:nvPr/>
        </p:nvSpPr>
        <p:spPr>
          <a:xfrm>
            <a:off x="548640" y="137160"/>
            <a:ext cx="6400080" cy="456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400" strike="noStrike" u="none">
                <a:solidFill>
                  <a:srgbClr val="1a1a2e"/>
                </a:solidFill>
                <a:effectLst/>
                <a:uFillTx/>
                <a:latin typeface="Trebuchet MS"/>
                <a:ea typeface="Trebuchet MS"/>
              </a:rPr>
              <a:t>Top 20 Websites: SimilarWeb Ranking</a:t>
            </a:r>
            <a:endParaRPr b="0" lang="en-US" sz="2400" strike="noStrike" u="none">
              <a:solidFill>
                <a:srgbClr val="000000"/>
              </a:solidFill>
              <a:effectLst/>
              <a:uFillTx/>
              <a:latin typeface="Arial"/>
            </a:endParaRPr>
          </a:p>
        </p:txBody>
      </p:sp>
      <p:sp>
        <p:nvSpPr>
          <p:cNvPr id="872" name="Text 1"/>
          <p:cNvSpPr/>
          <p:nvPr/>
        </p:nvSpPr>
        <p:spPr>
          <a:xfrm>
            <a:off x="548640" y="548640"/>
            <a:ext cx="4571280" cy="227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trike="noStrike" u="none">
                <a:solidFill>
                  <a:srgbClr val="8e8e8e"/>
                </a:solidFill>
                <a:effectLst/>
                <a:uFillTx/>
                <a:latin typeface="Calibri"/>
                <a:ea typeface="Calibri"/>
              </a:rPr>
              <a:t>Most visited websites, Sep-Nov 2024</a:t>
            </a:r>
            <a:endParaRPr b="0" lang="en-US" sz="900" strike="noStrike" u="none">
              <a:solidFill>
                <a:srgbClr val="000000"/>
              </a:solidFill>
              <a:effectLst/>
              <a:uFillTx/>
              <a:latin typeface="Arial"/>
            </a:endParaRPr>
          </a:p>
        </p:txBody>
      </p:sp>
      <p:graphicFrame>
        <p:nvGraphicFramePr>
          <p:cNvPr id="873" name="Table 0"/>
          <p:cNvGraphicFramePr/>
          <p:nvPr/>
        </p:nvGraphicFramePr>
        <p:xfrm>
          <a:off x="274320" y="868680"/>
          <a:ext cx="3931560" cy="2134440"/>
        </p:xfrm>
        <a:graphic>
          <a:graphicData uri="http://schemas.openxmlformats.org/drawingml/2006/table">
            <a:tbl>
              <a:tblPr/>
              <a:tblGrid>
                <a:gridCol w="320040"/>
                <a:gridCol w="1188720"/>
                <a:gridCol w="822960"/>
                <a:gridCol w="822960"/>
                <a:gridCol w="777240"/>
              </a:tblGrid>
              <a:tr h="0">
                <a:tc>
                  <a:txBody>
                    <a:bodyPr anchor="t">
                      <a:noAutofit/>
                    </a:bodyPr>
                    <a:p>
                      <a:pPr defTabSz="914400">
                        <a:lnSpc>
                          <a:spcPct val="100000"/>
                        </a:lnSpc>
                        <a:tabLst>
                          <a:tab algn="l" pos="0"/>
                        </a:tabLst>
                      </a:pPr>
                      <a:r>
                        <a:rPr b="1" lang="en-US" sz="800" strike="noStrike" u="none">
                          <a:solidFill>
                            <a:srgbClr val="0f9b8e"/>
                          </a:solidFill>
                          <a:effectLst/>
                          <a:uFillTx/>
                          <a:latin typeface="Calibri"/>
                          <a:ea typeface="Calibri"/>
                        </a:rPr>
                        <a:t>#</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6213e"/>
                    </a:solidFill>
                  </a:tcPr>
                </a:tc>
                <a:tc>
                  <a:txBody>
                    <a:bodyPr anchor="t">
                      <a:noAutofit/>
                    </a:bodyPr>
                    <a:p>
                      <a:pPr defTabSz="914400">
                        <a:lnSpc>
                          <a:spcPct val="100000"/>
                        </a:lnSpc>
                        <a:tabLst>
                          <a:tab algn="l" pos="0"/>
                        </a:tabLst>
                      </a:pPr>
                      <a:r>
                        <a:rPr b="1" lang="en-US" sz="800" strike="noStrike" u="none">
                          <a:solidFill>
                            <a:srgbClr val="0f9b8e"/>
                          </a:solidFill>
                          <a:effectLst/>
                          <a:uFillTx/>
                          <a:latin typeface="Calibri"/>
                          <a:ea typeface="Calibri"/>
                        </a:rPr>
                        <a:t>Website</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6213e"/>
                    </a:solidFill>
                  </a:tcPr>
                </a:tc>
                <a:tc>
                  <a:txBody>
                    <a:bodyPr anchor="t">
                      <a:noAutofit/>
                    </a:bodyPr>
                    <a:p>
                      <a:pPr defTabSz="914400">
                        <a:lnSpc>
                          <a:spcPct val="100000"/>
                        </a:lnSpc>
                        <a:tabLst>
                          <a:tab algn="l" pos="0"/>
                        </a:tabLst>
                      </a:pPr>
                      <a:r>
                        <a:rPr b="1" lang="en-US" sz="800" strike="noStrike" u="none">
                          <a:solidFill>
                            <a:srgbClr val="0f9b8e"/>
                          </a:solidFill>
                          <a:effectLst/>
                          <a:uFillTx/>
                          <a:latin typeface="Calibri"/>
                          <a:ea typeface="Calibri"/>
                        </a:rPr>
                        <a:t>Total Visits</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6213e"/>
                    </a:solidFill>
                  </a:tcPr>
                </a:tc>
                <a:tc>
                  <a:txBody>
                    <a:bodyPr anchor="t">
                      <a:noAutofit/>
                    </a:bodyPr>
                    <a:p>
                      <a:pPr defTabSz="914400">
                        <a:lnSpc>
                          <a:spcPct val="100000"/>
                        </a:lnSpc>
                        <a:tabLst>
                          <a:tab algn="l" pos="0"/>
                        </a:tabLst>
                      </a:pPr>
                      <a:r>
                        <a:rPr b="1" lang="en-US" sz="800" strike="noStrike" u="none">
                          <a:solidFill>
                            <a:srgbClr val="0f9b8e"/>
                          </a:solidFill>
                          <a:effectLst/>
                          <a:uFillTx/>
                          <a:latin typeface="Calibri"/>
                          <a:ea typeface="Calibri"/>
                        </a:rPr>
                        <a:t>Unique</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6213e"/>
                    </a:solidFill>
                  </a:tcPr>
                </a:tc>
                <a:tc>
                  <a:txBody>
                    <a:bodyPr anchor="t">
                      <a:noAutofit/>
                    </a:bodyPr>
                    <a:p>
                      <a:pPr defTabSz="914400">
                        <a:lnSpc>
                          <a:spcPct val="100000"/>
                        </a:lnSpc>
                        <a:tabLst>
                          <a:tab algn="l" pos="0"/>
                        </a:tabLst>
                      </a:pPr>
                      <a:r>
                        <a:rPr b="1" lang="en-US" sz="800" strike="noStrike" u="none">
                          <a:solidFill>
                            <a:srgbClr val="0f9b8e"/>
                          </a:solidFill>
                          <a:effectLst/>
                          <a:uFillTx/>
                          <a:latin typeface="Calibri"/>
                          <a:ea typeface="Calibri"/>
                        </a:rPr>
                        <a:t>Avg Time</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6213e"/>
                    </a:solid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01</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google.com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377M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9.22M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11M 20S</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02</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youtube.com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124M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6.02M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18M 23S</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03</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instagram.com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28.0M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4.77M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8M 01S</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04</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facebook.com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27.9M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2.39M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9M 39S</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05</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reddit.com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27.3M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4.91M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6M 14S</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06</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chatgpt.com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21.3M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1.61M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6M 29S</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07</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x.com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19.6M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1.86M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14M 09S</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08</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whatsapp.com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18.7M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3.23M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5M 08S</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09</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wikipedia.org</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15.1M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3.26M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3M 34S</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10</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shopee.sg</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13.4M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3.57M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5M 33S</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r>
            </a:tbl>
          </a:graphicData>
        </a:graphic>
      </p:graphicFrame>
      <p:graphicFrame>
        <p:nvGraphicFramePr>
          <p:cNvPr id="874" name="Table 1"/>
          <p:cNvGraphicFramePr/>
          <p:nvPr/>
        </p:nvGraphicFramePr>
        <p:xfrm>
          <a:off x="4663440" y="868680"/>
          <a:ext cx="3931560" cy="2134440"/>
        </p:xfrm>
        <a:graphic>
          <a:graphicData uri="http://schemas.openxmlformats.org/drawingml/2006/table">
            <a:tbl>
              <a:tblPr/>
              <a:tblGrid>
                <a:gridCol w="320040"/>
                <a:gridCol w="1417320"/>
                <a:gridCol w="777240"/>
                <a:gridCol w="640080"/>
                <a:gridCol w="777240"/>
              </a:tblGrid>
              <a:tr h="0">
                <a:tc>
                  <a:txBody>
                    <a:bodyPr anchor="t">
                      <a:noAutofit/>
                    </a:bodyPr>
                    <a:p>
                      <a:pPr defTabSz="914400">
                        <a:lnSpc>
                          <a:spcPct val="100000"/>
                        </a:lnSpc>
                        <a:tabLst>
                          <a:tab algn="l" pos="0"/>
                        </a:tabLst>
                      </a:pPr>
                      <a:r>
                        <a:rPr b="1" lang="en-US" sz="800" strike="noStrike" u="none">
                          <a:solidFill>
                            <a:srgbClr val="0f9b8e"/>
                          </a:solidFill>
                          <a:effectLst/>
                          <a:uFillTx/>
                          <a:latin typeface="Calibri"/>
                          <a:ea typeface="Calibri"/>
                        </a:rPr>
                        <a:t>#</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6213e"/>
                    </a:solidFill>
                  </a:tcPr>
                </a:tc>
                <a:tc>
                  <a:txBody>
                    <a:bodyPr anchor="t">
                      <a:noAutofit/>
                    </a:bodyPr>
                    <a:p>
                      <a:pPr defTabSz="914400">
                        <a:lnSpc>
                          <a:spcPct val="100000"/>
                        </a:lnSpc>
                        <a:tabLst>
                          <a:tab algn="l" pos="0"/>
                        </a:tabLst>
                      </a:pPr>
                      <a:r>
                        <a:rPr b="1" lang="en-US" sz="800" strike="noStrike" u="none">
                          <a:solidFill>
                            <a:srgbClr val="0f9b8e"/>
                          </a:solidFill>
                          <a:effectLst/>
                          <a:uFillTx/>
                          <a:latin typeface="Calibri"/>
                          <a:ea typeface="Calibri"/>
                        </a:rPr>
                        <a:t>Website</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6213e"/>
                    </a:solidFill>
                  </a:tcPr>
                </a:tc>
                <a:tc>
                  <a:txBody>
                    <a:bodyPr anchor="t">
                      <a:noAutofit/>
                    </a:bodyPr>
                    <a:p>
                      <a:pPr defTabSz="914400">
                        <a:lnSpc>
                          <a:spcPct val="100000"/>
                        </a:lnSpc>
                        <a:tabLst>
                          <a:tab algn="l" pos="0"/>
                        </a:tabLst>
                      </a:pPr>
                      <a:r>
                        <a:rPr b="1" lang="en-US" sz="800" strike="noStrike" u="none">
                          <a:solidFill>
                            <a:srgbClr val="0f9b8e"/>
                          </a:solidFill>
                          <a:effectLst/>
                          <a:uFillTx/>
                          <a:latin typeface="Calibri"/>
                          <a:ea typeface="Calibri"/>
                        </a:rPr>
                        <a:t>Total Visits</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6213e"/>
                    </a:solidFill>
                  </a:tcPr>
                </a:tc>
                <a:tc>
                  <a:txBody>
                    <a:bodyPr anchor="t">
                      <a:noAutofit/>
                    </a:bodyPr>
                    <a:p>
                      <a:pPr defTabSz="914400">
                        <a:lnSpc>
                          <a:spcPct val="100000"/>
                        </a:lnSpc>
                        <a:tabLst>
                          <a:tab algn="l" pos="0"/>
                        </a:tabLst>
                      </a:pPr>
                      <a:r>
                        <a:rPr b="1" lang="en-US" sz="800" strike="noStrike" u="none">
                          <a:solidFill>
                            <a:srgbClr val="0f9b8e"/>
                          </a:solidFill>
                          <a:effectLst/>
                          <a:uFillTx/>
                          <a:latin typeface="Calibri"/>
                          <a:ea typeface="Calibri"/>
                        </a:rPr>
                        <a:t>Unique</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6213e"/>
                    </a:solidFill>
                  </a:tcPr>
                </a:tc>
                <a:tc>
                  <a:txBody>
                    <a:bodyPr anchor="t">
                      <a:noAutofit/>
                    </a:bodyPr>
                    <a:p>
                      <a:pPr defTabSz="914400">
                        <a:lnSpc>
                          <a:spcPct val="100000"/>
                        </a:lnSpc>
                        <a:tabLst>
                          <a:tab algn="l" pos="0"/>
                        </a:tabLst>
                      </a:pPr>
                      <a:r>
                        <a:rPr b="1" lang="en-US" sz="800" strike="noStrike" u="none">
                          <a:solidFill>
                            <a:srgbClr val="0f9b8e"/>
                          </a:solidFill>
                          <a:effectLst/>
                          <a:uFillTx/>
                          <a:latin typeface="Calibri"/>
                          <a:ea typeface="Calibri"/>
                        </a:rPr>
                        <a:t>Avg Time</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6213e"/>
                    </a:solid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11</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linkedin.com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12.8M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2.46M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8M 25S</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12</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yahoo.com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12.1M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1.61M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6M 41S</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13</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straitstimes.com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11.9M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1.88M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2M 29S</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14</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microsoftonline.com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11.8M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1.71M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2M 33S</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15</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netflix.com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11.5M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1.20M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7M 40S</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16</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channelnewsasia.com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10.2M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1.55M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3M 01S</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17</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singpass.gov.sg</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9.80M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3.31M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1M 53S</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18</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office.com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9.15M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852K</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9M 54S</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19</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telegram.org</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8.84M</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860K</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12M 29S</a:t>
                      </a:r>
                      <a:endParaRPr b="0" lang="en-US" sz="800" strike="noStrike" u="none">
                        <a:solidFill>
                          <a:srgbClr val="000000"/>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noFill/>
                  </a:tcPr>
                </a:tc>
              </a:tr>
              <a:tr h="0">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20</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baidu.com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8.45M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1.19M</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c>
                  <a:txBody>
                    <a:bodyPr anchor="t">
                      <a:noAutofit/>
                    </a:bodyPr>
                    <a:p>
                      <a:pPr defTabSz="914400">
                        <a:lnSpc>
                          <a:spcPct val="100000"/>
                        </a:lnSpc>
                        <a:tabLst>
                          <a:tab algn="l" pos="0"/>
                        </a:tabLst>
                      </a:pPr>
                      <a:r>
                        <a:rPr b="0" lang="en-US" sz="800" strike="noStrike" u="none">
                          <a:solidFill>
                            <a:srgbClr val="1a1a2e"/>
                          </a:solidFill>
                          <a:effectLst/>
                          <a:uFillTx/>
                          <a:latin typeface="Calibri"/>
                          <a:ea typeface="Calibri"/>
                        </a:rPr>
                        <a:t>6M 39S</a:t>
                      </a:r>
                      <a:endParaRPr b="0" lang="en-US" sz="800" strike="noStrike" u="none">
                        <a:solidFill>
                          <a:srgbClr val="ffffff"/>
                        </a:solidFill>
                        <a:effectLst/>
                        <a:uFillTx/>
                        <a:latin typeface="Arial"/>
                      </a:endParaRPr>
                    </a:p>
                  </a:txBody>
                  <a:tcPr anchor="t" marL="91440" marR="91440">
                    <a:lnL w="6480">
                      <a:solidFill>
                        <a:srgbClr val="333355"/>
                      </a:solidFill>
                      <a:prstDash val="solid"/>
                    </a:lnL>
                    <a:lnR w="6480">
                      <a:solidFill>
                        <a:srgbClr val="333355"/>
                      </a:solidFill>
                      <a:prstDash val="solid"/>
                    </a:lnR>
                    <a:lnT w="6480">
                      <a:solidFill>
                        <a:srgbClr val="333355"/>
                      </a:solidFill>
                      <a:prstDash val="solid"/>
                    </a:lnT>
                    <a:lnB w="6480">
                      <a:solidFill>
                        <a:srgbClr val="333355"/>
                      </a:solidFill>
                      <a:prstDash val="solid"/>
                    </a:lnB>
                    <a:solidFill>
                      <a:srgbClr val="1f1f3a"/>
                    </a:solidFill>
                  </a:tcPr>
                </a:tc>
              </a:tr>
            </a:tbl>
          </a:graphicData>
        </a:graphic>
      </p:graphicFrame>
      <p:sp>
        <p:nvSpPr>
          <p:cNvPr id="875" name="Shape 2"/>
          <p:cNvSpPr/>
          <p:nvPr/>
        </p:nvSpPr>
        <p:spPr>
          <a:xfrm>
            <a:off x="274320" y="4251960"/>
            <a:ext cx="4205520" cy="365040"/>
          </a:xfrm>
          <a:prstGeom prst="rect">
            <a:avLst/>
          </a:prstGeom>
          <a:solidFill>
            <a:srgbClr val="0d3b4f"/>
          </a:solidFill>
          <a:ln w="19050">
            <a:solidFill>
              <a:srgbClr val="0f9b8e"/>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876" name="Text 3"/>
          <p:cNvSpPr/>
          <p:nvPr/>
        </p:nvSpPr>
        <p:spPr>
          <a:xfrm>
            <a:off x="457200" y="4251960"/>
            <a:ext cx="393120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900" strike="noStrike" u="none">
                <a:solidFill>
                  <a:srgbClr val="0f9b8e"/>
                </a:solidFill>
                <a:effectLst/>
                <a:uFillTx/>
                <a:latin typeface="Calibri"/>
                <a:ea typeface="Calibri"/>
              </a:rPr>
              <a:t>ChatGPT.com (#6) - 21.3M visits/month. AI is mainstream.</a:t>
            </a:r>
            <a:endParaRPr b="0" lang="en-US" sz="900" strike="noStrike" u="none">
              <a:solidFill>
                <a:srgbClr val="000000"/>
              </a:solidFill>
              <a:effectLst/>
              <a:uFillTx/>
              <a:latin typeface="Arial"/>
            </a:endParaRPr>
          </a:p>
        </p:txBody>
      </p:sp>
      <p:sp>
        <p:nvSpPr>
          <p:cNvPr id="877" name="Text 4"/>
          <p:cNvSpPr/>
          <p:nvPr/>
        </p:nvSpPr>
        <p:spPr>
          <a:xfrm>
            <a:off x="548640" y="4754880"/>
            <a:ext cx="6400080" cy="227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700" strike="noStrike" u="none">
                <a:solidFill>
                  <a:srgbClr val="8e8e8e"/>
                </a:solidFill>
                <a:effectLst/>
                <a:uFillTx/>
                <a:latin typeface="Calibri"/>
                <a:ea typeface="Calibri"/>
              </a:rPr>
              <a:t>Source: SimilarWeb via We Are Social / Meltwater, Digital 2025 Singapore</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9b8e"/>
        </a:solidFill>
      </p:bgPr>
    </p:bg>
    <p:spTree>
      <p:nvGrpSpPr>
        <p:cNvPr id="1" name=""/>
        <p:cNvGrpSpPr/>
        <p:nvPr/>
      </p:nvGrpSpPr>
      <p:grpSpPr>
        <a:xfrm>
          <a:off x="0" y="0"/>
          <a:ext cx="0" cy="0"/>
          <a:chOff x="0" y="0"/>
          <a:chExt cx="0" cy="0"/>
        </a:xfrm>
      </p:grpSpPr>
      <p:sp>
        <p:nvSpPr>
          <p:cNvPr id="878" name="Text 0"/>
          <p:cNvSpPr/>
          <p:nvPr/>
        </p:nvSpPr>
        <p:spPr>
          <a:xfrm>
            <a:off x="548640" y="365760"/>
            <a:ext cx="73144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800" strike="noStrike" u="none">
                <a:solidFill>
                  <a:srgbClr val="0f9b8e"/>
                </a:solidFill>
                <a:effectLst/>
                <a:uFillTx/>
                <a:latin typeface="Calibri"/>
                <a:ea typeface="Calibri"/>
              </a:rPr>
              <a:t>Quick Question</a:t>
            </a:r>
            <a:endParaRPr b="0" lang="en-US" sz="1800" strike="noStrike" u="none">
              <a:solidFill>
                <a:srgbClr val="ffffff"/>
              </a:solidFill>
              <a:effectLst/>
              <a:uFillTx/>
              <a:latin typeface="Arial"/>
            </a:endParaRPr>
          </a:p>
        </p:txBody>
      </p:sp>
      <p:sp>
        <p:nvSpPr>
          <p:cNvPr id="879" name="Text 1"/>
          <p:cNvSpPr/>
          <p:nvPr/>
        </p:nvSpPr>
        <p:spPr>
          <a:xfrm>
            <a:off x="548640" y="1097280"/>
            <a:ext cx="7314480" cy="1828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4400" strike="noStrike" u="none">
                <a:solidFill>
                  <a:srgbClr val="ffffff"/>
                </a:solidFill>
                <a:effectLst/>
                <a:uFillTx/>
                <a:latin typeface="Trebuchet MS"/>
                <a:ea typeface="Trebuchet MS"/>
              </a:rPr>
              <a:t>Which platform fits</a:t>
            </a:r>
            <a:endParaRPr b="0" lang="en-US" sz="4400" strike="noStrike" u="none">
              <a:solidFill>
                <a:srgbClr val="ffffff"/>
              </a:solidFill>
              <a:effectLst/>
              <a:uFillTx/>
              <a:latin typeface="Arial"/>
            </a:endParaRPr>
          </a:p>
          <a:p>
            <a:pPr defTabSz="914400">
              <a:lnSpc>
                <a:spcPct val="100000"/>
              </a:lnSpc>
              <a:tabLst>
                <a:tab algn="l" pos="0"/>
              </a:tabLst>
            </a:pPr>
            <a:r>
              <a:rPr b="1" lang="en-US" sz="4400" strike="noStrike" u="none">
                <a:solidFill>
                  <a:srgbClr val="ffffff"/>
                </a:solidFill>
                <a:effectLst/>
                <a:uFillTx/>
                <a:latin typeface="Trebuchet MS"/>
                <a:ea typeface="Trebuchet MS"/>
              </a:rPr>
              <a:t>your business best?</a:t>
            </a:r>
            <a:endParaRPr b="0" lang="en-US" sz="4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0" name="Text 0"/>
          <p:cNvSpPr/>
          <p:nvPr/>
        </p:nvSpPr>
        <p:spPr>
          <a:xfrm>
            <a:off x="731520" y="548640"/>
            <a:ext cx="1828080" cy="1828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8000" strike="noStrike" u="none">
                <a:solidFill>
                  <a:srgbClr val="e94560"/>
                </a:solidFill>
                <a:effectLst/>
                <a:uFillTx/>
                <a:latin typeface="Trebuchet MS"/>
                <a:ea typeface="Trebuchet MS"/>
              </a:rPr>
              <a:t>04</a:t>
            </a:r>
            <a:endParaRPr b="0" lang="en-US" sz="8000" strike="noStrike" u="none">
              <a:solidFill>
                <a:srgbClr val="000000"/>
              </a:solidFill>
              <a:effectLst/>
              <a:uFillTx/>
              <a:latin typeface="Arial"/>
            </a:endParaRPr>
          </a:p>
        </p:txBody>
      </p:sp>
      <p:sp>
        <p:nvSpPr>
          <p:cNvPr id="881" name="Text 1"/>
          <p:cNvSpPr/>
          <p:nvPr/>
        </p:nvSpPr>
        <p:spPr>
          <a:xfrm>
            <a:off x="731520" y="2286000"/>
            <a:ext cx="7314480" cy="913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4000" strike="noStrike" u="none">
                <a:solidFill>
                  <a:srgbClr val="1a1a2e"/>
                </a:solidFill>
                <a:effectLst/>
                <a:uFillTx/>
                <a:latin typeface="Trebuchet MS"/>
                <a:ea typeface="Trebuchet MS"/>
              </a:rPr>
              <a:t>AI-Driven Marketing</a:t>
            </a:r>
            <a:endParaRPr b="0" lang="en-US" sz="4000" strike="noStrike" u="none">
              <a:solidFill>
                <a:srgbClr val="000000"/>
              </a:solidFill>
              <a:effectLst/>
              <a:uFillTx/>
              <a:latin typeface="Arial"/>
            </a:endParaRPr>
          </a:p>
          <a:p>
            <a:pPr defTabSz="914400">
              <a:lnSpc>
                <a:spcPct val="100000"/>
              </a:lnSpc>
              <a:tabLst>
                <a:tab algn="l" pos="0"/>
              </a:tabLst>
            </a:pPr>
            <a:r>
              <a:rPr b="1" lang="en-US" sz="4000" strike="noStrike" u="none">
                <a:solidFill>
                  <a:srgbClr val="1a1a2e"/>
                </a:solidFill>
                <a:effectLst/>
                <a:uFillTx/>
                <a:latin typeface="Trebuchet MS"/>
                <a:ea typeface="Trebuchet MS"/>
              </a:rPr>
              <a:t>Tools</a:t>
            </a:r>
            <a:endParaRPr b="0" lang="en-US" sz="4000" strike="noStrike" u="none">
              <a:solidFill>
                <a:srgbClr val="000000"/>
              </a:solidFill>
              <a:effectLst/>
              <a:uFillTx/>
              <a:latin typeface="Arial"/>
            </a:endParaRPr>
          </a:p>
        </p:txBody>
      </p:sp>
      <p:sp>
        <p:nvSpPr>
          <p:cNvPr id="882" name="Text 2"/>
          <p:cNvSpPr/>
          <p:nvPr/>
        </p:nvSpPr>
        <p:spPr>
          <a:xfrm>
            <a:off x="731520" y="3200400"/>
            <a:ext cx="64000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600" strike="noStrike" u="none">
                <a:solidFill>
                  <a:srgbClr val="0f9b8e"/>
                </a:solidFill>
                <a:effectLst/>
                <a:uFillTx/>
                <a:latin typeface="Calibri"/>
                <a:ea typeface="Calibri"/>
              </a:rPr>
              <a:t>Your new marketing team (that never sleeps)</a:t>
            </a:r>
            <a:endParaRPr b="0" lang="en-US" sz="1600" strike="noStrike" u="none">
              <a:solidFill>
                <a:srgbClr val="000000"/>
              </a:solidFill>
              <a:effectLst/>
              <a:uFillTx/>
              <a:latin typeface="Arial"/>
            </a:endParaRPr>
          </a:p>
        </p:txBody>
      </p:sp>
      <p:sp>
        <p:nvSpPr>
          <p:cNvPr id="883" name="Shape 3"/>
          <p:cNvSpPr/>
          <p:nvPr/>
        </p:nvSpPr>
        <p:spPr>
          <a:xfrm>
            <a:off x="731520" y="4206240"/>
            <a:ext cx="1828080" cy="54000"/>
          </a:xfrm>
          <a:prstGeom prst="rect">
            <a:avLst/>
          </a:prstGeom>
          <a:solidFill>
            <a:srgbClr val="e94560"/>
          </a:solidFill>
          <a:ln w="0">
            <a:noFill/>
          </a:ln>
        </p:spPr>
        <p:style>
          <a:lnRef idx="0"/>
          <a:fillRef idx="0"/>
          <a:effectRef idx="0"/>
          <a:fontRef idx="minor"/>
        </p:style>
        <p:txBody>
          <a:bodyPr lIns="90000" rIns="90000" tIns="9720" bIns="9720" anchor="t">
            <a:noAutofit/>
          </a:bodyPr>
          <a:p>
            <a:pPr defTabSz="914400">
              <a:lnSpc>
                <a:spcPct val="100000"/>
              </a:lnSpc>
            </a:pPr>
            <a:endParaRPr b="0" lang="en-US" sz="1800" strike="noStrike" u="non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df6f0"/>
        </a:solidFill>
      </p:bgPr>
    </p:bg>
    <p:spTree>
      <p:nvGrpSpPr>
        <p:cNvPr id="1" name=""/>
        <p:cNvGrpSpPr/>
        <p:nvPr/>
      </p:nvGrpSpPr>
      <p:grpSpPr>
        <a:xfrm>
          <a:off x="0" y="0"/>
          <a:ext cx="0" cy="0"/>
          <a:chOff x="0" y="0"/>
          <a:chExt cx="0" cy="0"/>
        </a:xfrm>
      </p:grpSpPr>
      <p:sp>
        <p:nvSpPr>
          <p:cNvPr id="884" name="Text 0"/>
          <p:cNvSpPr/>
          <p:nvPr/>
        </p:nvSpPr>
        <p:spPr>
          <a:xfrm>
            <a:off x="548640" y="274320"/>
            <a:ext cx="73144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trike="noStrike" u="none">
                <a:solidFill>
                  <a:srgbClr val="1a1a2e"/>
                </a:solidFill>
                <a:effectLst/>
                <a:uFillTx/>
                <a:latin typeface="Trebuchet MS"/>
                <a:ea typeface="Trebuchet MS"/>
              </a:rPr>
              <a:t>My Favourite AI Marketing Stack</a:t>
            </a:r>
            <a:endParaRPr b="0" lang="en-US" sz="3200" strike="noStrike" u="none">
              <a:solidFill>
                <a:srgbClr val="000000"/>
              </a:solidFill>
              <a:effectLst/>
              <a:uFillTx/>
              <a:latin typeface="Arial"/>
            </a:endParaRPr>
          </a:p>
        </p:txBody>
      </p:sp>
      <p:sp>
        <p:nvSpPr>
          <p:cNvPr id="885" name="Shape 1"/>
          <p:cNvSpPr/>
          <p:nvPr/>
        </p:nvSpPr>
        <p:spPr>
          <a:xfrm>
            <a:off x="548640" y="1097280"/>
            <a:ext cx="3931200" cy="173664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886" name="Shape 2"/>
          <p:cNvSpPr/>
          <p:nvPr/>
        </p:nvSpPr>
        <p:spPr>
          <a:xfrm>
            <a:off x="548640" y="1097280"/>
            <a:ext cx="3931200" cy="31932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887" name="Text 3"/>
          <p:cNvSpPr/>
          <p:nvPr/>
        </p:nvSpPr>
        <p:spPr>
          <a:xfrm>
            <a:off x="685800" y="1097280"/>
            <a:ext cx="36568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trike="noStrike" u="none">
                <a:solidFill>
                  <a:srgbClr val="ffffff"/>
                </a:solidFill>
                <a:effectLst/>
                <a:uFillTx/>
                <a:latin typeface="Trebuchet MS"/>
                <a:ea typeface="Trebuchet MS"/>
              </a:rPr>
              <a:t>WRITING</a:t>
            </a:r>
            <a:endParaRPr b="0" lang="en-US" sz="1000" strike="noStrike" u="none">
              <a:solidFill>
                <a:srgbClr val="000000"/>
              </a:solidFill>
              <a:effectLst/>
              <a:uFillTx/>
              <a:latin typeface="Arial"/>
            </a:endParaRPr>
          </a:p>
        </p:txBody>
      </p:sp>
      <p:sp>
        <p:nvSpPr>
          <p:cNvPr id="888" name="Text 4"/>
          <p:cNvSpPr/>
          <p:nvPr/>
        </p:nvSpPr>
        <p:spPr>
          <a:xfrm>
            <a:off x="731520" y="1554480"/>
            <a:ext cx="356544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a1a2e"/>
                </a:solidFill>
                <a:effectLst/>
                <a:uFillTx/>
                <a:latin typeface="Trebuchet MS"/>
                <a:ea typeface="Trebuchet MS"/>
              </a:rPr>
              <a:t>ChatGPT + Claude</a:t>
            </a:r>
            <a:endParaRPr b="0" lang="en-US" sz="1800" strike="noStrike" u="none">
              <a:solidFill>
                <a:srgbClr val="000000"/>
              </a:solidFill>
              <a:effectLst/>
              <a:uFillTx/>
              <a:latin typeface="Arial"/>
            </a:endParaRPr>
          </a:p>
        </p:txBody>
      </p:sp>
      <p:sp>
        <p:nvSpPr>
          <p:cNvPr id="889" name="Text 5"/>
          <p:cNvSpPr/>
          <p:nvPr/>
        </p:nvSpPr>
        <p:spPr>
          <a:xfrm>
            <a:off x="731520" y="2103120"/>
            <a:ext cx="356544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Writing, ideation, content creation</a:t>
            </a:r>
            <a:endParaRPr b="0" lang="en-US" sz="1300" strike="noStrike" u="none">
              <a:solidFill>
                <a:srgbClr val="000000"/>
              </a:solidFill>
              <a:effectLst/>
              <a:uFillTx/>
              <a:latin typeface="Arial"/>
            </a:endParaRPr>
          </a:p>
        </p:txBody>
      </p:sp>
      <p:sp>
        <p:nvSpPr>
          <p:cNvPr id="890" name="Shape 6"/>
          <p:cNvSpPr/>
          <p:nvPr/>
        </p:nvSpPr>
        <p:spPr>
          <a:xfrm>
            <a:off x="4754880" y="1097280"/>
            <a:ext cx="3931200" cy="173664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891" name="Shape 7"/>
          <p:cNvSpPr/>
          <p:nvPr/>
        </p:nvSpPr>
        <p:spPr>
          <a:xfrm>
            <a:off x="4754880" y="1097280"/>
            <a:ext cx="3931200" cy="31932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892" name="Text 8"/>
          <p:cNvSpPr/>
          <p:nvPr/>
        </p:nvSpPr>
        <p:spPr>
          <a:xfrm>
            <a:off x="4892040" y="1097280"/>
            <a:ext cx="36568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trike="noStrike" u="none">
                <a:solidFill>
                  <a:srgbClr val="ffffff"/>
                </a:solidFill>
                <a:effectLst/>
                <a:uFillTx/>
                <a:latin typeface="Trebuchet MS"/>
                <a:ea typeface="Trebuchet MS"/>
              </a:rPr>
              <a:t>RESEARCH</a:t>
            </a:r>
            <a:endParaRPr b="0" lang="en-US" sz="1000" strike="noStrike" u="none">
              <a:solidFill>
                <a:srgbClr val="000000"/>
              </a:solidFill>
              <a:effectLst/>
              <a:uFillTx/>
              <a:latin typeface="Arial"/>
            </a:endParaRPr>
          </a:p>
        </p:txBody>
      </p:sp>
      <p:sp>
        <p:nvSpPr>
          <p:cNvPr id="893" name="Text 9"/>
          <p:cNvSpPr/>
          <p:nvPr/>
        </p:nvSpPr>
        <p:spPr>
          <a:xfrm>
            <a:off x="4937760" y="1554480"/>
            <a:ext cx="356544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a1a2e"/>
                </a:solidFill>
                <a:effectLst/>
                <a:uFillTx/>
                <a:latin typeface="Trebuchet MS"/>
                <a:ea typeface="Trebuchet MS"/>
              </a:rPr>
              <a:t>Perplexity AI</a:t>
            </a:r>
            <a:endParaRPr b="0" lang="en-US" sz="1800" strike="noStrike" u="none">
              <a:solidFill>
                <a:srgbClr val="000000"/>
              </a:solidFill>
              <a:effectLst/>
              <a:uFillTx/>
              <a:latin typeface="Arial"/>
            </a:endParaRPr>
          </a:p>
        </p:txBody>
      </p:sp>
      <p:sp>
        <p:nvSpPr>
          <p:cNvPr id="894" name="Text 10"/>
          <p:cNvSpPr/>
          <p:nvPr/>
        </p:nvSpPr>
        <p:spPr>
          <a:xfrm>
            <a:off x="4937760" y="2103120"/>
            <a:ext cx="356544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Research with cited sources</a:t>
            </a:r>
            <a:endParaRPr b="0" lang="en-US" sz="1300" strike="noStrike" u="none">
              <a:solidFill>
                <a:srgbClr val="000000"/>
              </a:solidFill>
              <a:effectLst/>
              <a:uFillTx/>
              <a:latin typeface="Arial"/>
            </a:endParaRPr>
          </a:p>
        </p:txBody>
      </p:sp>
      <p:sp>
        <p:nvSpPr>
          <p:cNvPr id="895" name="Shape 11"/>
          <p:cNvSpPr/>
          <p:nvPr/>
        </p:nvSpPr>
        <p:spPr>
          <a:xfrm>
            <a:off x="548640" y="3017520"/>
            <a:ext cx="3931200" cy="173664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896" name="Shape 12"/>
          <p:cNvSpPr/>
          <p:nvPr/>
        </p:nvSpPr>
        <p:spPr>
          <a:xfrm>
            <a:off x="548640" y="3017520"/>
            <a:ext cx="3931200" cy="31932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897" name="Text 13"/>
          <p:cNvSpPr/>
          <p:nvPr/>
        </p:nvSpPr>
        <p:spPr>
          <a:xfrm>
            <a:off x="685800" y="3017520"/>
            <a:ext cx="36568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trike="noStrike" u="none">
                <a:solidFill>
                  <a:srgbClr val="ffffff"/>
                </a:solidFill>
                <a:effectLst/>
                <a:uFillTx/>
                <a:latin typeface="Trebuchet MS"/>
                <a:ea typeface="Trebuchet MS"/>
              </a:rPr>
              <a:t>IMAGES</a:t>
            </a:r>
            <a:endParaRPr b="0" lang="en-US" sz="1000" strike="noStrike" u="none">
              <a:solidFill>
                <a:srgbClr val="000000"/>
              </a:solidFill>
              <a:effectLst/>
              <a:uFillTx/>
              <a:latin typeface="Arial"/>
            </a:endParaRPr>
          </a:p>
        </p:txBody>
      </p:sp>
      <p:sp>
        <p:nvSpPr>
          <p:cNvPr id="898" name="Text 14"/>
          <p:cNvSpPr/>
          <p:nvPr/>
        </p:nvSpPr>
        <p:spPr>
          <a:xfrm>
            <a:off x="731520" y="3474720"/>
            <a:ext cx="356544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a1a2e"/>
                </a:solidFill>
                <a:effectLst/>
                <a:uFillTx/>
                <a:latin typeface="Trebuchet MS"/>
                <a:ea typeface="Trebuchet MS"/>
              </a:rPr>
              <a:t>Ideogram + DALL-E</a:t>
            </a:r>
            <a:endParaRPr b="0" lang="en-US" sz="1800" strike="noStrike" u="none">
              <a:solidFill>
                <a:srgbClr val="000000"/>
              </a:solidFill>
              <a:effectLst/>
              <a:uFillTx/>
              <a:latin typeface="Arial"/>
            </a:endParaRPr>
          </a:p>
        </p:txBody>
      </p:sp>
      <p:sp>
        <p:nvSpPr>
          <p:cNvPr id="899" name="Text 15"/>
          <p:cNvSpPr/>
          <p:nvPr/>
        </p:nvSpPr>
        <p:spPr>
          <a:xfrm>
            <a:off x="731520" y="4023360"/>
            <a:ext cx="356544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Image creation with text</a:t>
            </a:r>
            <a:endParaRPr b="0" lang="en-US" sz="1300" strike="noStrike" u="none">
              <a:solidFill>
                <a:srgbClr val="000000"/>
              </a:solidFill>
              <a:effectLst/>
              <a:uFillTx/>
              <a:latin typeface="Arial"/>
            </a:endParaRPr>
          </a:p>
        </p:txBody>
      </p:sp>
      <p:sp>
        <p:nvSpPr>
          <p:cNvPr id="900" name="Shape 16"/>
          <p:cNvSpPr/>
          <p:nvPr/>
        </p:nvSpPr>
        <p:spPr>
          <a:xfrm>
            <a:off x="4754880" y="3017520"/>
            <a:ext cx="3931200" cy="173664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01" name="Shape 17"/>
          <p:cNvSpPr/>
          <p:nvPr/>
        </p:nvSpPr>
        <p:spPr>
          <a:xfrm>
            <a:off x="4754880" y="3017520"/>
            <a:ext cx="3931200" cy="31932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02" name="Text 18"/>
          <p:cNvSpPr/>
          <p:nvPr/>
        </p:nvSpPr>
        <p:spPr>
          <a:xfrm>
            <a:off x="4892040" y="3017520"/>
            <a:ext cx="36568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trike="noStrike" u="none">
                <a:solidFill>
                  <a:srgbClr val="ffffff"/>
                </a:solidFill>
                <a:effectLst/>
                <a:uFillTx/>
                <a:latin typeface="Trebuchet MS"/>
                <a:ea typeface="Trebuchet MS"/>
              </a:rPr>
              <a:t>DESIGN</a:t>
            </a:r>
            <a:endParaRPr b="0" lang="en-US" sz="1000" strike="noStrike" u="none">
              <a:solidFill>
                <a:srgbClr val="000000"/>
              </a:solidFill>
              <a:effectLst/>
              <a:uFillTx/>
              <a:latin typeface="Arial"/>
            </a:endParaRPr>
          </a:p>
        </p:txBody>
      </p:sp>
      <p:sp>
        <p:nvSpPr>
          <p:cNvPr id="903" name="Text 19"/>
          <p:cNvSpPr/>
          <p:nvPr/>
        </p:nvSpPr>
        <p:spPr>
          <a:xfrm>
            <a:off x="4937760" y="3474720"/>
            <a:ext cx="356544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a1a2e"/>
                </a:solidFill>
                <a:effectLst/>
                <a:uFillTx/>
                <a:latin typeface="Trebuchet MS"/>
                <a:ea typeface="Trebuchet MS"/>
              </a:rPr>
              <a:t>Canva</a:t>
            </a:r>
            <a:endParaRPr b="0" lang="en-US" sz="1800" strike="noStrike" u="none">
              <a:solidFill>
                <a:srgbClr val="000000"/>
              </a:solidFill>
              <a:effectLst/>
              <a:uFillTx/>
              <a:latin typeface="Arial"/>
            </a:endParaRPr>
          </a:p>
        </p:txBody>
      </p:sp>
      <p:sp>
        <p:nvSpPr>
          <p:cNvPr id="904" name="Text 20"/>
          <p:cNvSpPr/>
          <p:nvPr/>
        </p:nvSpPr>
        <p:spPr>
          <a:xfrm>
            <a:off x="4937760" y="4023360"/>
            <a:ext cx="356544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Design, templates, brand kit</a:t>
            </a:r>
            <a:endParaRPr b="0" lang="en-US"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5" name="Text 0"/>
          <p:cNvSpPr/>
          <p:nvPr/>
        </p:nvSpPr>
        <p:spPr>
          <a:xfrm>
            <a:off x="548640" y="274320"/>
            <a:ext cx="73144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trike="noStrike" u="none">
                <a:solidFill>
                  <a:srgbClr val="1a1a2e"/>
                </a:solidFill>
                <a:effectLst/>
                <a:uFillTx/>
                <a:latin typeface="Trebuchet MS"/>
                <a:ea typeface="Trebuchet MS"/>
              </a:rPr>
              <a:t>Great Prompts = Great AI Outputs</a:t>
            </a:r>
            <a:endParaRPr b="0" lang="en-US" sz="3200" strike="noStrike" u="none">
              <a:solidFill>
                <a:srgbClr val="000000"/>
              </a:solidFill>
              <a:effectLst/>
              <a:uFillTx/>
              <a:latin typeface="Arial"/>
            </a:endParaRPr>
          </a:p>
        </p:txBody>
      </p:sp>
      <p:sp>
        <p:nvSpPr>
          <p:cNvPr id="906" name="Shape 1"/>
          <p:cNvSpPr/>
          <p:nvPr/>
        </p:nvSpPr>
        <p:spPr>
          <a:xfrm>
            <a:off x="548640" y="1097280"/>
            <a:ext cx="3931200" cy="82224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07" name="Shape 2"/>
          <p:cNvSpPr/>
          <p:nvPr/>
        </p:nvSpPr>
        <p:spPr>
          <a:xfrm>
            <a:off x="548640" y="1097280"/>
            <a:ext cx="54000" cy="82224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08" name="Text 3"/>
          <p:cNvSpPr/>
          <p:nvPr/>
        </p:nvSpPr>
        <p:spPr>
          <a:xfrm>
            <a:off x="731520" y="1097280"/>
            <a:ext cx="137088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e94560"/>
                </a:solidFill>
                <a:effectLst/>
                <a:uFillTx/>
                <a:latin typeface="Trebuchet MS"/>
                <a:ea typeface="Trebuchet MS"/>
              </a:rPr>
              <a:t>Clear Objective</a:t>
            </a:r>
            <a:endParaRPr b="0" lang="en-US" sz="1200" strike="noStrike" u="none">
              <a:solidFill>
                <a:srgbClr val="000000"/>
              </a:solidFill>
              <a:effectLst/>
              <a:uFillTx/>
              <a:latin typeface="Arial"/>
            </a:endParaRPr>
          </a:p>
        </p:txBody>
      </p:sp>
      <p:sp>
        <p:nvSpPr>
          <p:cNvPr id="909" name="Text 4"/>
          <p:cNvSpPr/>
          <p:nvPr/>
        </p:nvSpPr>
        <p:spPr>
          <a:xfrm>
            <a:off x="2103120" y="1097280"/>
            <a:ext cx="219384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1a1a2e"/>
                </a:solidFill>
                <a:effectLst/>
                <a:uFillTx/>
                <a:latin typeface="Calibri"/>
                <a:ea typeface="Calibri"/>
              </a:rPr>
              <a:t>Define exactly what you want the AI to deliver</a:t>
            </a:r>
            <a:endParaRPr b="0" lang="en-US" sz="1000" strike="noStrike" u="none">
              <a:solidFill>
                <a:srgbClr val="000000"/>
              </a:solidFill>
              <a:effectLst/>
              <a:uFillTx/>
              <a:latin typeface="Arial"/>
            </a:endParaRPr>
          </a:p>
        </p:txBody>
      </p:sp>
      <p:sp>
        <p:nvSpPr>
          <p:cNvPr id="910" name="Shape 5"/>
          <p:cNvSpPr/>
          <p:nvPr/>
        </p:nvSpPr>
        <p:spPr>
          <a:xfrm>
            <a:off x="4754880" y="1097280"/>
            <a:ext cx="3931200" cy="82224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11" name="Shape 6"/>
          <p:cNvSpPr/>
          <p:nvPr/>
        </p:nvSpPr>
        <p:spPr>
          <a:xfrm>
            <a:off x="4754880" y="1097280"/>
            <a:ext cx="54000" cy="82224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12" name="Text 7"/>
          <p:cNvSpPr/>
          <p:nvPr/>
        </p:nvSpPr>
        <p:spPr>
          <a:xfrm>
            <a:off x="4937760" y="1097280"/>
            <a:ext cx="137088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e94560"/>
                </a:solidFill>
                <a:effectLst/>
                <a:uFillTx/>
                <a:latin typeface="Trebuchet MS"/>
                <a:ea typeface="Trebuchet MS"/>
              </a:rPr>
              <a:t>Context is Key</a:t>
            </a:r>
            <a:endParaRPr b="0" lang="en-US" sz="1200" strike="noStrike" u="none">
              <a:solidFill>
                <a:srgbClr val="000000"/>
              </a:solidFill>
              <a:effectLst/>
              <a:uFillTx/>
              <a:latin typeface="Arial"/>
            </a:endParaRPr>
          </a:p>
        </p:txBody>
      </p:sp>
      <p:sp>
        <p:nvSpPr>
          <p:cNvPr id="913" name="Text 8"/>
          <p:cNvSpPr/>
          <p:nvPr/>
        </p:nvSpPr>
        <p:spPr>
          <a:xfrm>
            <a:off x="6309360" y="1097280"/>
            <a:ext cx="219384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1a1a2e"/>
                </a:solidFill>
                <a:effectLst/>
                <a:uFillTx/>
                <a:latin typeface="Calibri"/>
                <a:ea typeface="Calibri"/>
              </a:rPr>
              <a:t>Provide relevant background info concisely</a:t>
            </a:r>
            <a:endParaRPr b="0" lang="en-US" sz="1000" strike="noStrike" u="none">
              <a:solidFill>
                <a:srgbClr val="000000"/>
              </a:solidFill>
              <a:effectLst/>
              <a:uFillTx/>
              <a:latin typeface="Arial"/>
            </a:endParaRPr>
          </a:p>
        </p:txBody>
      </p:sp>
      <p:sp>
        <p:nvSpPr>
          <p:cNvPr id="914" name="Shape 9"/>
          <p:cNvSpPr/>
          <p:nvPr/>
        </p:nvSpPr>
        <p:spPr>
          <a:xfrm>
            <a:off x="548640" y="2057400"/>
            <a:ext cx="3931200" cy="82224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15" name="Shape 10"/>
          <p:cNvSpPr/>
          <p:nvPr/>
        </p:nvSpPr>
        <p:spPr>
          <a:xfrm>
            <a:off x="548640" y="2057400"/>
            <a:ext cx="54000" cy="82224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16" name="Text 11"/>
          <p:cNvSpPr/>
          <p:nvPr/>
        </p:nvSpPr>
        <p:spPr>
          <a:xfrm>
            <a:off x="731520" y="2057400"/>
            <a:ext cx="137088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e94560"/>
                </a:solidFill>
                <a:effectLst/>
                <a:uFillTx/>
                <a:latin typeface="Trebuchet MS"/>
                <a:ea typeface="Trebuchet MS"/>
              </a:rPr>
              <a:t>Be Specific</a:t>
            </a:r>
            <a:endParaRPr b="0" lang="en-US" sz="1200" strike="noStrike" u="none">
              <a:solidFill>
                <a:srgbClr val="000000"/>
              </a:solidFill>
              <a:effectLst/>
              <a:uFillTx/>
              <a:latin typeface="Arial"/>
            </a:endParaRPr>
          </a:p>
        </p:txBody>
      </p:sp>
      <p:sp>
        <p:nvSpPr>
          <p:cNvPr id="917" name="Text 12"/>
          <p:cNvSpPr/>
          <p:nvPr/>
        </p:nvSpPr>
        <p:spPr>
          <a:xfrm>
            <a:off x="2103120" y="2057400"/>
            <a:ext cx="219384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1a1a2e"/>
                </a:solidFill>
                <a:effectLst/>
                <a:uFillTx/>
                <a:latin typeface="Calibri"/>
                <a:ea typeface="Calibri"/>
              </a:rPr>
              <a:t>Location, product, timeframe, audience - spell it out</a:t>
            </a:r>
            <a:endParaRPr b="0" lang="en-US" sz="1000" strike="noStrike" u="none">
              <a:solidFill>
                <a:srgbClr val="000000"/>
              </a:solidFill>
              <a:effectLst/>
              <a:uFillTx/>
              <a:latin typeface="Arial"/>
            </a:endParaRPr>
          </a:p>
        </p:txBody>
      </p:sp>
      <p:sp>
        <p:nvSpPr>
          <p:cNvPr id="918" name="Shape 13"/>
          <p:cNvSpPr/>
          <p:nvPr/>
        </p:nvSpPr>
        <p:spPr>
          <a:xfrm>
            <a:off x="4754880" y="2057400"/>
            <a:ext cx="3931200" cy="82224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19" name="Shape 14"/>
          <p:cNvSpPr/>
          <p:nvPr/>
        </p:nvSpPr>
        <p:spPr>
          <a:xfrm>
            <a:off x="4754880" y="2057400"/>
            <a:ext cx="54000" cy="82224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20" name="Text 15"/>
          <p:cNvSpPr/>
          <p:nvPr/>
        </p:nvSpPr>
        <p:spPr>
          <a:xfrm>
            <a:off x="4937760" y="2057400"/>
            <a:ext cx="137088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e94560"/>
                </a:solidFill>
                <a:effectLst/>
                <a:uFillTx/>
                <a:latin typeface="Trebuchet MS"/>
                <a:ea typeface="Trebuchet MS"/>
              </a:rPr>
              <a:t>Action Language</a:t>
            </a:r>
            <a:endParaRPr b="0" lang="en-US" sz="1200" strike="noStrike" u="none">
              <a:solidFill>
                <a:srgbClr val="000000"/>
              </a:solidFill>
              <a:effectLst/>
              <a:uFillTx/>
              <a:latin typeface="Arial"/>
            </a:endParaRPr>
          </a:p>
        </p:txBody>
      </p:sp>
      <p:sp>
        <p:nvSpPr>
          <p:cNvPr id="921" name="Text 16"/>
          <p:cNvSpPr/>
          <p:nvPr/>
        </p:nvSpPr>
        <p:spPr>
          <a:xfrm>
            <a:off x="6309360" y="2057400"/>
            <a:ext cx="219384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1a1a2e"/>
                </a:solidFill>
                <a:effectLst/>
                <a:uFillTx/>
                <a:latin typeface="Calibri"/>
                <a:ea typeface="Calibri"/>
              </a:rPr>
              <a:t>Use verbs: "identify", "generate", "summarise", "recommend"</a:t>
            </a:r>
            <a:endParaRPr b="0" lang="en-US" sz="1000" strike="noStrike" u="none">
              <a:solidFill>
                <a:srgbClr val="000000"/>
              </a:solidFill>
              <a:effectLst/>
              <a:uFillTx/>
              <a:latin typeface="Arial"/>
            </a:endParaRPr>
          </a:p>
        </p:txBody>
      </p:sp>
      <p:sp>
        <p:nvSpPr>
          <p:cNvPr id="922" name="Shape 17"/>
          <p:cNvSpPr/>
          <p:nvPr/>
        </p:nvSpPr>
        <p:spPr>
          <a:xfrm>
            <a:off x="548640" y="3017520"/>
            <a:ext cx="3931200" cy="82224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23" name="Shape 18"/>
          <p:cNvSpPr/>
          <p:nvPr/>
        </p:nvSpPr>
        <p:spPr>
          <a:xfrm>
            <a:off x="548640" y="3017520"/>
            <a:ext cx="54000" cy="82224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24" name="Text 19"/>
          <p:cNvSpPr/>
          <p:nvPr/>
        </p:nvSpPr>
        <p:spPr>
          <a:xfrm>
            <a:off x="731520" y="3017520"/>
            <a:ext cx="137088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e94560"/>
                </a:solidFill>
                <a:effectLst/>
                <a:uFillTx/>
                <a:latin typeface="Trebuchet MS"/>
                <a:ea typeface="Trebuchet MS"/>
              </a:rPr>
              <a:t>Format Instructions</a:t>
            </a:r>
            <a:endParaRPr b="0" lang="en-US" sz="1200" strike="noStrike" u="none">
              <a:solidFill>
                <a:srgbClr val="000000"/>
              </a:solidFill>
              <a:effectLst/>
              <a:uFillTx/>
              <a:latin typeface="Arial"/>
            </a:endParaRPr>
          </a:p>
        </p:txBody>
      </p:sp>
      <p:sp>
        <p:nvSpPr>
          <p:cNvPr id="925" name="Text 20"/>
          <p:cNvSpPr/>
          <p:nvPr/>
        </p:nvSpPr>
        <p:spPr>
          <a:xfrm>
            <a:off x="2103120" y="3017520"/>
            <a:ext cx="219384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1a1a2e"/>
                </a:solidFill>
                <a:effectLst/>
                <a:uFillTx/>
                <a:latin typeface="Calibri"/>
                <a:ea typeface="Calibri"/>
              </a:rPr>
              <a:t>Specify output format: bullets, table, paragraph, etc.</a:t>
            </a:r>
            <a:endParaRPr b="0" lang="en-US" sz="1000" strike="noStrike" u="none">
              <a:solidFill>
                <a:srgbClr val="000000"/>
              </a:solidFill>
              <a:effectLst/>
              <a:uFillTx/>
              <a:latin typeface="Arial"/>
            </a:endParaRPr>
          </a:p>
        </p:txBody>
      </p:sp>
      <p:sp>
        <p:nvSpPr>
          <p:cNvPr id="926" name="Shape 21"/>
          <p:cNvSpPr/>
          <p:nvPr/>
        </p:nvSpPr>
        <p:spPr>
          <a:xfrm>
            <a:off x="4754880" y="3017520"/>
            <a:ext cx="3931200" cy="82224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27" name="Shape 22"/>
          <p:cNvSpPr/>
          <p:nvPr/>
        </p:nvSpPr>
        <p:spPr>
          <a:xfrm>
            <a:off x="4754880" y="3017520"/>
            <a:ext cx="54000" cy="82224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28" name="Text 23"/>
          <p:cNvSpPr/>
          <p:nvPr/>
        </p:nvSpPr>
        <p:spPr>
          <a:xfrm>
            <a:off x="4937760" y="3017520"/>
            <a:ext cx="137088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e94560"/>
                </a:solidFill>
                <a:effectLst/>
                <a:uFillTx/>
                <a:latin typeface="Trebuchet MS"/>
                <a:ea typeface="Trebuchet MS"/>
              </a:rPr>
              <a:t>Set Constraints</a:t>
            </a:r>
            <a:endParaRPr b="0" lang="en-US" sz="1200" strike="noStrike" u="none">
              <a:solidFill>
                <a:srgbClr val="000000"/>
              </a:solidFill>
              <a:effectLst/>
              <a:uFillTx/>
              <a:latin typeface="Arial"/>
            </a:endParaRPr>
          </a:p>
        </p:txBody>
      </p:sp>
      <p:sp>
        <p:nvSpPr>
          <p:cNvPr id="929" name="Text 24"/>
          <p:cNvSpPr/>
          <p:nvPr/>
        </p:nvSpPr>
        <p:spPr>
          <a:xfrm>
            <a:off x="6309360" y="3017520"/>
            <a:ext cx="219384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1a1a2e"/>
                </a:solidFill>
                <a:effectLst/>
                <a:uFillTx/>
                <a:latin typeface="Calibri"/>
                <a:ea typeface="Calibri"/>
              </a:rPr>
              <a:t>Word count, date ranges, target audience, tone of voice</a:t>
            </a:r>
            <a:endParaRPr b="0" lang="en-US" sz="1000" strike="noStrike" u="none">
              <a:solidFill>
                <a:srgbClr val="000000"/>
              </a:solidFill>
              <a:effectLst/>
              <a:uFillTx/>
              <a:latin typeface="Arial"/>
            </a:endParaRPr>
          </a:p>
        </p:txBody>
      </p:sp>
      <p:sp>
        <p:nvSpPr>
          <p:cNvPr id="930" name="Shape 25"/>
          <p:cNvSpPr/>
          <p:nvPr/>
        </p:nvSpPr>
        <p:spPr>
          <a:xfrm>
            <a:off x="548640" y="3977640"/>
            <a:ext cx="3931200" cy="82224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31" name="Shape 26"/>
          <p:cNvSpPr/>
          <p:nvPr/>
        </p:nvSpPr>
        <p:spPr>
          <a:xfrm>
            <a:off x="548640" y="3977640"/>
            <a:ext cx="54000" cy="82224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32" name="Text 27"/>
          <p:cNvSpPr/>
          <p:nvPr/>
        </p:nvSpPr>
        <p:spPr>
          <a:xfrm>
            <a:off x="731520" y="3977640"/>
            <a:ext cx="137088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e94560"/>
                </a:solidFill>
                <a:effectLst/>
                <a:uFillTx/>
                <a:latin typeface="Trebuchet MS"/>
                <a:ea typeface="Trebuchet MS"/>
              </a:rPr>
              <a:t>Ask for Sources</a:t>
            </a:r>
            <a:endParaRPr b="0" lang="en-US" sz="1200" strike="noStrike" u="none">
              <a:solidFill>
                <a:srgbClr val="000000"/>
              </a:solidFill>
              <a:effectLst/>
              <a:uFillTx/>
              <a:latin typeface="Arial"/>
            </a:endParaRPr>
          </a:p>
        </p:txBody>
      </p:sp>
      <p:sp>
        <p:nvSpPr>
          <p:cNvPr id="933" name="Text 28"/>
          <p:cNvSpPr/>
          <p:nvPr/>
        </p:nvSpPr>
        <p:spPr>
          <a:xfrm>
            <a:off x="2103120" y="3977640"/>
            <a:ext cx="219384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1a1a2e"/>
                </a:solidFill>
                <a:effectLst/>
                <a:uFillTx/>
                <a:latin typeface="Calibri"/>
                <a:ea typeface="Calibri"/>
              </a:rPr>
              <a:t>Request citations or references for credibility</a:t>
            </a:r>
            <a:endParaRPr b="0" lang="en-US" sz="1000" strike="noStrike" u="none">
              <a:solidFill>
                <a:srgbClr val="000000"/>
              </a:solidFill>
              <a:effectLst/>
              <a:uFillTx/>
              <a:latin typeface="Arial"/>
            </a:endParaRPr>
          </a:p>
        </p:txBody>
      </p:sp>
      <p:sp>
        <p:nvSpPr>
          <p:cNvPr id="934" name="Shape 29"/>
          <p:cNvSpPr/>
          <p:nvPr/>
        </p:nvSpPr>
        <p:spPr>
          <a:xfrm>
            <a:off x="4754880" y="3977640"/>
            <a:ext cx="3931200" cy="82224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35" name="Shape 30"/>
          <p:cNvSpPr/>
          <p:nvPr/>
        </p:nvSpPr>
        <p:spPr>
          <a:xfrm>
            <a:off x="4754880" y="3977640"/>
            <a:ext cx="54000" cy="82224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36" name="Text 31"/>
          <p:cNvSpPr/>
          <p:nvPr/>
        </p:nvSpPr>
        <p:spPr>
          <a:xfrm>
            <a:off x="4937760" y="3977640"/>
            <a:ext cx="137088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e94560"/>
                </a:solidFill>
                <a:effectLst/>
                <a:uFillTx/>
                <a:latin typeface="Trebuchet MS"/>
                <a:ea typeface="Trebuchet MS"/>
              </a:rPr>
              <a:t>Iterate!</a:t>
            </a:r>
            <a:endParaRPr b="0" lang="en-US" sz="1200" strike="noStrike" u="none">
              <a:solidFill>
                <a:srgbClr val="000000"/>
              </a:solidFill>
              <a:effectLst/>
              <a:uFillTx/>
              <a:latin typeface="Arial"/>
            </a:endParaRPr>
          </a:p>
        </p:txBody>
      </p:sp>
      <p:sp>
        <p:nvSpPr>
          <p:cNvPr id="937" name="Text 32"/>
          <p:cNvSpPr/>
          <p:nvPr/>
        </p:nvSpPr>
        <p:spPr>
          <a:xfrm>
            <a:off x="6309360" y="3977640"/>
            <a:ext cx="2193840" cy="822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1a1a2e"/>
                </a:solidFill>
                <a:effectLst/>
                <a:uFillTx/>
                <a:latin typeface="Calibri"/>
                <a:ea typeface="Calibri"/>
              </a:rPr>
              <a:t>Frame prompts for easy refinement and follow-ups</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8" name="Shape 0"/>
          <p:cNvSpPr/>
          <p:nvPr/>
        </p:nvSpPr>
        <p:spPr>
          <a:xfrm>
            <a:off x="0" y="0"/>
            <a:ext cx="9143280" cy="82224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39" name="Text 1"/>
          <p:cNvSpPr/>
          <p:nvPr/>
        </p:nvSpPr>
        <p:spPr>
          <a:xfrm>
            <a:off x="548640" y="0"/>
            <a:ext cx="457128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trike="noStrike" u="none">
                <a:solidFill>
                  <a:srgbClr val="ffffff"/>
                </a:solidFill>
                <a:effectLst/>
                <a:uFillTx/>
                <a:latin typeface="Trebuchet MS"/>
                <a:ea typeface="Trebuchet MS"/>
              </a:rPr>
              <a:t>ChatGPT + Claude</a:t>
            </a:r>
            <a:endParaRPr b="0" lang="en-US" sz="2800" strike="noStrike" u="none">
              <a:solidFill>
                <a:srgbClr val="000000"/>
              </a:solidFill>
              <a:effectLst/>
              <a:uFillTx/>
              <a:latin typeface="Arial"/>
            </a:endParaRPr>
          </a:p>
        </p:txBody>
      </p:sp>
      <p:sp>
        <p:nvSpPr>
          <p:cNvPr id="940" name="Text 2"/>
          <p:cNvSpPr/>
          <p:nvPr/>
        </p:nvSpPr>
        <p:spPr>
          <a:xfrm>
            <a:off x="5029200" y="0"/>
            <a:ext cx="3656880" cy="82224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400" strike="noStrike" u="none">
                <a:solidFill>
                  <a:srgbClr val="ffffff"/>
                </a:solidFill>
                <a:effectLst/>
                <a:uFillTx/>
                <a:latin typeface="Calibri"/>
                <a:ea typeface="Calibri"/>
              </a:rPr>
              <a:t>Writing and Ideation</a:t>
            </a:r>
            <a:endParaRPr b="0" lang="en-US" sz="1400" strike="noStrike" u="none">
              <a:solidFill>
                <a:srgbClr val="000000"/>
              </a:solidFill>
              <a:effectLst/>
              <a:uFillTx/>
              <a:latin typeface="Arial"/>
            </a:endParaRPr>
          </a:p>
        </p:txBody>
      </p:sp>
      <p:sp>
        <p:nvSpPr>
          <p:cNvPr id="941" name="Shape 3"/>
          <p:cNvSpPr/>
          <p:nvPr/>
        </p:nvSpPr>
        <p:spPr>
          <a:xfrm>
            <a:off x="548640" y="1005840"/>
            <a:ext cx="8046000" cy="6393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42" name="Shape 4"/>
          <p:cNvSpPr/>
          <p:nvPr/>
        </p:nvSpPr>
        <p:spPr>
          <a:xfrm>
            <a:off x="548640" y="1005840"/>
            <a:ext cx="54000" cy="6393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943" name="Image 0" descr="preencoded.png"/>
          <p:cNvPicPr/>
          <p:nvPr/>
        </p:nvPicPr>
        <p:blipFill>
          <a:blip r:embed="rId1"/>
          <a:stretch/>
        </p:blipFill>
        <p:spPr>
          <a:xfrm>
            <a:off x="777240" y="1161360"/>
            <a:ext cx="291960" cy="291960"/>
          </a:xfrm>
          <a:prstGeom prst="rect">
            <a:avLst/>
          </a:prstGeom>
          <a:noFill/>
          <a:ln w="0">
            <a:noFill/>
          </a:ln>
        </p:spPr>
      </p:pic>
      <p:sp>
        <p:nvSpPr>
          <p:cNvPr id="944" name="Text 5"/>
          <p:cNvSpPr/>
          <p:nvPr/>
        </p:nvSpPr>
        <p:spPr>
          <a:xfrm>
            <a:off x="1188720" y="100584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Versatile Writing Styles: quickly adapts to tone, style, and audience</a:t>
            </a:r>
            <a:endParaRPr b="0" lang="en-US" sz="1300" strike="noStrike" u="none">
              <a:solidFill>
                <a:srgbClr val="000000"/>
              </a:solidFill>
              <a:effectLst/>
              <a:uFillTx/>
              <a:latin typeface="Arial"/>
            </a:endParaRPr>
          </a:p>
        </p:txBody>
      </p:sp>
      <p:sp>
        <p:nvSpPr>
          <p:cNvPr id="945" name="Shape 6"/>
          <p:cNvSpPr/>
          <p:nvPr/>
        </p:nvSpPr>
        <p:spPr>
          <a:xfrm>
            <a:off x="548640" y="1719000"/>
            <a:ext cx="8046000" cy="639360"/>
          </a:xfrm>
          <a:prstGeom prst="rect">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46" name="Shape 7"/>
          <p:cNvSpPr/>
          <p:nvPr/>
        </p:nvSpPr>
        <p:spPr>
          <a:xfrm>
            <a:off x="548640" y="1719000"/>
            <a:ext cx="54000" cy="6393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947" name="Image 1" descr="preencoded.png"/>
          <p:cNvPicPr/>
          <p:nvPr/>
        </p:nvPicPr>
        <p:blipFill>
          <a:blip r:embed="rId2"/>
          <a:stretch/>
        </p:blipFill>
        <p:spPr>
          <a:xfrm>
            <a:off x="777240" y="1874520"/>
            <a:ext cx="291960" cy="291960"/>
          </a:xfrm>
          <a:prstGeom prst="rect">
            <a:avLst/>
          </a:prstGeom>
          <a:noFill/>
          <a:ln w="0">
            <a:noFill/>
          </a:ln>
        </p:spPr>
      </p:pic>
      <p:sp>
        <p:nvSpPr>
          <p:cNvPr id="948" name="Text 8"/>
          <p:cNvSpPr/>
          <p:nvPr/>
        </p:nvSpPr>
        <p:spPr>
          <a:xfrm>
            <a:off x="1188720" y="171900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Creative Ideation: from headlines and concepts to full campaigns</a:t>
            </a:r>
            <a:endParaRPr b="0" lang="en-US" sz="1300" strike="noStrike" u="none">
              <a:solidFill>
                <a:srgbClr val="000000"/>
              </a:solidFill>
              <a:effectLst/>
              <a:uFillTx/>
              <a:latin typeface="Arial"/>
            </a:endParaRPr>
          </a:p>
        </p:txBody>
      </p:sp>
      <p:sp>
        <p:nvSpPr>
          <p:cNvPr id="949" name="Shape 9"/>
          <p:cNvSpPr/>
          <p:nvPr/>
        </p:nvSpPr>
        <p:spPr>
          <a:xfrm>
            <a:off x="548640" y="2432160"/>
            <a:ext cx="8046000" cy="6393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50" name="Shape 10"/>
          <p:cNvSpPr/>
          <p:nvPr/>
        </p:nvSpPr>
        <p:spPr>
          <a:xfrm>
            <a:off x="548640" y="2432160"/>
            <a:ext cx="54000" cy="6393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951" name="Image 2" descr="preencoded.png"/>
          <p:cNvPicPr/>
          <p:nvPr/>
        </p:nvPicPr>
        <p:blipFill>
          <a:blip r:embed="rId3"/>
          <a:stretch/>
        </p:blipFill>
        <p:spPr>
          <a:xfrm>
            <a:off x="777240" y="2587680"/>
            <a:ext cx="291960" cy="291960"/>
          </a:xfrm>
          <a:prstGeom prst="rect">
            <a:avLst/>
          </a:prstGeom>
          <a:noFill/>
          <a:ln w="0">
            <a:noFill/>
          </a:ln>
        </p:spPr>
      </p:pic>
      <p:sp>
        <p:nvSpPr>
          <p:cNvPr id="952" name="Text 11"/>
          <p:cNvSpPr/>
          <p:nvPr/>
        </p:nvSpPr>
        <p:spPr>
          <a:xfrm>
            <a:off x="1188720" y="243216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Personalisation at Scale: customise messages for diverse segments</a:t>
            </a:r>
            <a:endParaRPr b="0" lang="en-US" sz="1300" strike="noStrike" u="none">
              <a:solidFill>
                <a:srgbClr val="000000"/>
              </a:solidFill>
              <a:effectLst/>
              <a:uFillTx/>
              <a:latin typeface="Arial"/>
            </a:endParaRPr>
          </a:p>
        </p:txBody>
      </p:sp>
      <p:sp>
        <p:nvSpPr>
          <p:cNvPr id="953" name="Shape 12"/>
          <p:cNvSpPr/>
          <p:nvPr/>
        </p:nvSpPr>
        <p:spPr>
          <a:xfrm>
            <a:off x="548640" y="3145680"/>
            <a:ext cx="8046000" cy="639360"/>
          </a:xfrm>
          <a:prstGeom prst="rect">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54" name="Shape 13"/>
          <p:cNvSpPr/>
          <p:nvPr/>
        </p:nvSpPr>
        <p:spPr>
          <a:xfrm>
            <a:off x="548640" y="3145680"/>
            <a:ext cx="54000" cy="6393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955" name="Image 3" descr="preencoded.png"/>
          <p:cNvPicPr/>
          <p:nvPr/>
        </p:nvPicPr>
        <p:blipFill>
          <a:blip r:embed="rId4"/>
          <a:stretch/>
        </p:blipFill>
        <p:spPr>
          <a:xfrm>
            <a:off x="777240" y="3300840"/>
            <a:ext cx="291960" cy="291960"/>
          </a:xfrm>
          <a:prstGeom prst="rect">
            <a:avLst/>
          </a:prstGeom>
          <a:noFill/>
          <a:ln w="0">
            <a:noFill/>
          </a:ln>
        </p:spPr>
      </p:pic>
      <p:sp>
        <p:nvSpPr>
          <p:cNvPr id="956" name="Text 14"/>
          <p:cNvSpPr/>
          <p:nvPr/>
        </p:nvSpPr>
        <p:spPr>
          <a:xfrm>
            <a:off x="1188720" y="314568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Content Optimisation: craft clear, SEO-friendly content</a:t>
            </a:r>
            <a:endParaRPr b="0" lang="en-US" sz="1300" strike="noStrike" u="none">
              <a:solidFill>
                <a:srgbClr val="000000"/>
              </a:solidFill>
              <a:effectLst/>
              <a:uFillTx/>
              <a:latin typeface="Arial"/>
            </a:endParaRPr>
          </a:p>
        </p:txBody>
      </p:sp>
      <p:sp>
        <p:nvSpPr>
          <p:cNvPr id="957" name="Shape 15"/>
          <p:cNvSpPr/>
          <p:nvPr/>
        </p:nvSpPr>
        <p:spPr>
          <a:xfrm>
            <a:off x="548640" y="3858840"/>
            <a:ext cx="8046000" cy="6393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58" name="Shape 16"/>
          <p:cNvSpPr/>
          <p:nvPr/>
        </p:nvSpPr>
        <p:spPr>
          <a:xfrm>
            <a:off x="548640" y="3858840"/>
            <a:ext cx="54000" cy="6393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959" name="Image 4" descr="preencoded.png"/>
          <p:cNvPicPr/>
          <p:nvPr/>
        </p:nvPicPr>
        <p:blipFill>
          <a:blip r:embed="rId5"/>
          <a:stretch/>
        </p:blipFill>
        <p:spPr>
          <a:xfrm>
            <a:off x="777240" y="4014360"/>
            <a:ext cx="291960" cy="291960"/>
          </a:xfrm>
          <a:prstGeom prst="rect">
            <a:avLst/>
          </a:prstGeom>
          <a:noFill/>
          <a:ln w="0">
            <a:noFill/>
          </a:ln>
        </p:spPr>
      </p:pic>
      <p:sp>
        <p:nvSpPr>
          <p:cNvPr id="960" name="Text 17"/>
          <p:cNvSpPr/>
          <p:nvPr/>
        </p:nvSpPr>
        <p:spPr>
          <a:xfrm>
            <a:off x="1188720" y="385884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Memory (Paid): train it in your brand guidelines, voice, tone, and projects</a:t>
            </a:r>
            <a:endParaRPr b="0" lang="en-US" sz="1300" strike="noStrike" u="none">
              <a:solidFill>
                <a:srgbClr val="000000"/>
              </a:solidFill>
              <a:effectLst/>
              <a:uFillTx/>
              <a:latin typeface="Arial"/>
            </a:endParaRPr>
          </a:p>
        </p:txBody>
      </p:sp>
      <p:pic>
        <p:nvPicPr>
          <p:cNvPr id="961" name="Picture 960" descr="chatgpt.png"/>
          <p:cNvPicPr/>
          <p:nvPr/>
        </p:nvPicPr>
        <p:blipFill>
          <a:blip r:embed="rId6"/>
          <a:stretch/>
        </p:blipFill>
        <p:spPr>
          <a:xfrm>
            <a:off x="7498080" y="137160"/>
            <a:ext cx="548280" cy="548280"/>
          </a:xfrm>
          <a:prstGeom prst="rect">
            <a:avLst/>
          </a:prstGeom>
          <a:noFill/>
          <a:ln w="0">
            <a:noFill/>
          </a:ln>
        </p:spPr>
      </p:pic>
      <p:pic>
        <p:nvPicPr>
          <p:cNvPr id="962" name="Picture 961" descr="claude.png"/>
          <p:cNvPicPr/>
          <p:nvPr/>
        </p:nvPicPr>
        <p:blipFill>
          <a:blip r:embed="rId7"/>
          <a:stretch/>
        </p:blipFill>
        <p:spPr>
          <a:xfrm>
            <a:off x="8138160" y="137160"/>
            <a:ext cx="548280" cy="548280"/>
          </a:xfrm>
          <a:prstGeom prst="rect">
            <a:avLst/>
          </a:prstGeom>
          <a:noFill/>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63" name="Shape 0"/>
          <p:cNvSpPr/>
          <p:nvPr/>
        </p:nvSpPr>
        <p:spPr>
          <a:xfrm>
            <a:off x="0" y="0"/>
            <a:ext cx="9143280" cy="82224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64" name="Text 1"/>
          <p:cNvSpPr/>
          <p:nvPr/>
        </p:nvSpPr>
        <p:spPr>
          <a:xfrm>
            <a:off x="548640" y="0"/>
            <a:ext cx="457128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trike="noStrike" u="none">
                <a:solidFill>
                  <a:srgbClr val="ffffff"/>
                </a:solidFill>
                <a:effectLst/>
                <a:uFillTx/>
                <a:latin typeface="Trebuchet MS"/>
                <a:ea typeface="Trebuchet MS"/>
              </a:rPr>
              <a:t>Perplexity AI</a:t>
            </a:r>
            <a:endParaRPr b="0" lang="en-US" sz="2800" strike="noStrike" u="none">
              <a:solidFill>
                <a:srgbClr val="000000"/>
              </a:solidFill>
              <a:effectLst/>
              <a:uFillTx/>
              <a:latin typeface="Arial"/>
            </a:endParaRPr>
          </a:p>
        </p:txBody>
      </p:sp>
      <p:sp>
        <p:nvSpPr>
          <p:cNvPr id="965" name="Text 2"/>
          <p:cNvSpPr/>
          <p:nvPr/>
        </p:nvSpPr>
        <p:spPr>
          <a:xfrm>
            <a:off x="5029200" y="0"/>
            <a:ext cx="3656880" cy="82224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400" strike="noStrike" u="none">
                <a:solidFill>
                  <a:srgbClr val="ffffff"/>
                </a:solidFill>
                <a:effectLst/>
                <a:uFillTx/>
                <a:latin typeface="Calibri"/>
                <a:ea typeface="Calibri"/>
              </a:rPr>
              <a:t>Research with Cited Sources</a:t>
            </a:r>
            <a:endParaRPr b="0" lang="en-US" sz="1400" strike="noStrike" u="none">
              <a:solidFill>
                <a:srgbClr val="000000"/>
              </a:solidFill>
              <a:effectLst/>
              <a:uFillTx/>
              <a:latin typeface="Arial"/>
            </a:endParaRPr>
          </a:p>
        </p:txBody>
      </p:sp>
      <p:sp>
        <p:nvSpPr>
          <p:cNvPr id="966" name="Shape 3"/>
          <p:cNvSpPr/>
          <p:nvPr/>
        </p:nvSpPr>
        <p:spPr>
          <a:xfrm>
            <a:off x="548640" y="1005840"/>
            <a:ext cx="8046000" cy="6393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67" name="Shape 4"/>
          <p:cNvSpPr/>
          <p:nvPr/>
        </p:nvSpPr>
        <p:spPr>
          <a:xfrm>
            <a:off x="548640" y="1005840"/>
            <a:ext cx="54000" cy="63936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968" name="Image 0" descr="preencoded.png"/>
          <p:cNvPicPr/>
          <p:nvPr/>
        </p:nvPicPr>
        <p:blipFill>
          <a:blip r:embed="rId1"/>
          <a:stretch/>
        </p:blipFill>
        <p:spPr>
          <a:xfrm>
            <a:off x="777240" y="1161360"/>
            <a:ext cx="291960" cy="291960"/>
          </a:xfrm>
          <a:prstGeom prst="rect">
            <a:avLst/>
          </a:prstGeom>
          <a:noFill/>
          <a:ln w="0">
            <a:noFill/>
          </a:ln>
        </p:spPr>
      </p:pic>
      <p:sp>
        <p:nvSpPr>
          <p:cNvPr id="969" name="Text 5"/>
          <p:cNvSpPr/>
          <p:nvPr/>
        </p:nvSpPr>
        <p:spPr>
          <a:xfrm>
            <a:off x="1188720" y="100584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Cited Sources: every answer backed by verifiable references</a:t>
            </a:r>
            <a:endParaRPr b="0" lang="en-US" sz="1300" strike="noStrike" u="none">
              <a:solidFill>
                <a:srgbClr val="000000"/>
              </a:solidFill>
              <a:effectLst/>
              <a:uFillTx/>
              <a:latin typeface="Arial"/>
            </a:endParaRPr>
          </a:p>
        </p:txBody>
      </p:sp>
      <p:sp>
        <p:nvSpPr>
          <p:cNvPr id="970" name="Shape 6"/>
          <p:cNvSpPr/>
          <p:nvPr/>
        </p:nvSpPr>
        <p:spPr>
          <a:xfrm>
            <a:off x="548640" y="1719000"/>
            <a:ext cx="8046000" cy="639360"/>
          </a:xfrm>
          <a:prstGeom prst="rect">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71" name="Shape 7"/>
          <p:cNvSpPr/>
          <p:nvPr/>
        </p:nvSpPr>
        <p:spPr>
          <a:xfrm>
            <a:off x="548640" y="1719000"/>
            <a:ext cx="54000" cy="63936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972" name="Image 1" descr="preencoded.png"/>
          <p:cNvPicPr/>
          <p:nvPr/>
        </p:nvPicPr>
        <p:blipFill>
          <a:blip r:embed="rId2"/>
          <a:stretch/>
        </p:blipFill>
        <p:spPr>
          <a:xfrm>
            <a:off x="777240" y="1874520"/>
            <a:ext cx="291960" cy="291960"/>
          </a:xfrm>
          <a:prstGeom prst="rect">
            <a:avLst/>
          </a:prstGeom>
          <a:noFill/>
          <a:ln w="0">
            <a:noFill/>
          </a:ln>
        </p:spPr>
      </p:pic>
      <p:sp>
        <p:nvSpPr>
          <p:cNvPr id="973" name="Text 8"/>
          <p:cNvSpPr/>
          <p:nvPr/>
        </p:nvSpPr>
        <p:spPr>
          <a:xfrm>
            <a:off x="1188720" y="171900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Real-Time Data: accesses up-to-date 2025 insights for current market conditions</a:t>
            </a:r>
            <a:endParaRPr b="0" lang="en-US" sz="1300" strike="noStrike" u="none">
              <a:solidFill>
                <a:srgbClr val="000000"/>
              </a:solidFill>
              <a:effectLst/>
              <a:uFillTx/>
              <a:latin typeface="Arial"/>
            </a:endParaRPr>
          </a:p>
        </p:txBody>
      </p:sp>
      <p:sp>
        <p:nvSpPr>
          <p:cNvPr id="974" name="Shape 9"/>
          <p:cNvSpPr/>
          <p:nvPr/>
        </p:nvSpPr>
        <p:spPr>
          <a:xfrm>
            <a:off x="548640" y="2432160"/>
            <a:ext cx="8046000" cy="6393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75" name="Shape 10"/>
          <p:cNvSpPr/>
          <p:nvPr/>
        </p:nvSpPr>
        <p:spPr>
          <a:xfrm>
            <a:off x="548640" y="2432160"/>
            <a:ext cx="54000" cy="63936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976" name="Image 2" descr="preencoded.png"/>
          <p:cNvPicPr/>
          <p:nvPr/>
        </p:nvPicPr>
        <p:blipFill>
          <a:blip r:embed="rId3"/>
          <a:stretch/>
        </p:blipFill>
        <p:spPr>
          <a:xfrm>
            <a:off x="777240" y="2587680"/>
            <a:ext cx="291960" cy="291960"/>
          </a:xfrm>
          <a:prstGeom prst="rect">
            <a:avLst/>
          </a:prstGeom>
          <a:noFill/>
          <a:ln w="0">
            <a:noFill/>
          </a:ln>
        </p:spPr>
      </p:pic>
      <p:sp>
        <p:nvSpPr>
          <p:cNvPr id="977" name="Text 11"/>
          <p:cNvSpPr/>
          <p:nvPr/>
        </p:nvSpPr>
        <p:spPr>
          <a:xfrm>
            <a:off x="1188720" y="243216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Deep Research Mode: multi-step research with comprehensive analysis</a:t>
            </a:r>
            <a:endParaRPr b="0" lang="en-US" sz="1300" strike="noStrike" u="none">
              <a:solidFill>
                <a:srgbClr val="000000"/>
              </a:solidFill>
              <a:effectLst/>
              <a:uFillTx/>
              <a:latin typeface="Arial"/>
            </a:endParaRPr>
          </a:p>
        </p:txBody>
      </p:sp>
      <p:sp>
        <p:nvSpPr>
          <p:cNvPr id="978" name="Shape 12"/>
          <p:cNvSpPr/>
          <p:nvPr/>
        </p:nvSpPr>
        <p:spPr>
          <a:xfrm>
            <a:off x="548640" y="3145680"/>
            <a:ext cx="8046000" cy="639360"/>
          </a:xfrm>
          <a:prstGeom prst="rect">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79" name="Shape 13"/>
          <p:cNvSpPr/>
          <p:nvPr/>
        </p:nvSpPr>
        <p:spPr>
          <a:xfrm>
            <a:off x="548640" y="3145680"/>
            <a:ext cx="54000" cy="63936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980" name="Image 3" descr="preencoded.png"/>
          <p:cNvPicPr/>
          <p:nvPr/>
        </p:nvPicPr>
        <p:blipFill>
          <a:blip r:embed="rId4"/>
          <a:stretch/>
        </p:blipFill>
        <p:spPr>
          <a:xfrm>
            <a:off x="777240" y="3300840"/>
            <a:ext cx="291960" cy="291960"/>
          </a:xfrm>
          <a:prstGeom prst="rect">
            <a:avLst/>
          </a:prstGeom>
          <a:noFill/>
          <a:ln w="0">
            <a:noFill/>
          </a:ln>
        </p:spPr>
      </p:pic>
      <p:sp>
        <p:nvSpPr>
          <p:cNvPr id="981" name="Text 14"/>
          <p:cNvSpPr/>
          <p:nvPr/>
        </p:nvSpPr>
        <p:spPr>
          <a:xfrm>
            <a:off x="1188720" y="314568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Free Tier: generous free plan, perfect for startup budgets</a:t>
            </a:r>
            <a:endParaRPr b="0" lang="en-US" sz="1300" strike="noStrike" u="none">
              <a:solidFill>
                <a:srgbClr val="000000"/>
              </a:solidFill>
              <a:effectLst/>
              <a:uFillTx/>
              <a:latin typeface="Arial"/>
            </a:endParaRPr>
          </a:p>
        </p:txBody>
      </p:sp>
      <p:sp>
        <p:nvSpPr>
          <p:cNvPr id="982" name="Shape 15"/>
          <p:cNvSpPr/>
          <p:nvPr/>
        </p:nvSpPr>
        <p:spPr>
          <a:xfrm>
            <a:off x="548640" y="3858840"/>
            <a:ext cx="8046000" cy="6393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83" name="Shape 16"/>
          <p:cNvSpPr/>
          <p:nvPr/>
        </p:nvSpPr>
        <p:spPr>
          <a:xfrm>
            <a:off x="548640" y="3858840"/>
            <a:ext cx="54000" cy="63936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984" name="Image 4" descr="preencoded.png"/>
          <p:cNvPicPr/>
          <p:nvPr/>
        </p:nvPicPr>
        <p:blipFill>
          <a:blip r:embed="rId5"/>
          <a:stretch/>
        </p:blipFill>
        <p:spPr>
          <a:xfrm>
            <a:off x="777240" y="4014360"/>
            <a:ext cx="291960" cy="291960"/>
          </a:xfrm>
          <a:prstGeom prst="rect">
            <a:avLst/>
          </a:prstGeom>
          <a:noFill/>
          <a:ln w="0">
            <a:noFill/>
          </a:ln>
        </p:spPr>
      </p:pic>
      <p:sp>
        <p:nvSpPr>
          <p:cNvPr id="985" name="Text 17"/>
          <p:cNvSpPr/>
          <p:nvPr/>
        </p:nvSpPr>
        <p:spPr>
          <a:xfrm>
            <a:off x="1188720" y="385884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Collections: save and organise your research for easy reference</a:t>
            </a:r>
            <a:endParaRPr b="0" lang="en-US" sz="1300" strike="noStrike" u="none">
              <a:solidFill>
                <a:srgbClr val="000000"/>
              </a:solidFill>
              <a:effectLst/>
              <a:uFillTx/>
              <a:latin typeface="Arial"/>
            </a:endParaRPr>
          </a:p>
        </p:txBody>
      </p:sp>
      <p:pic>
        <p:nvPicPr>
          <p:cNvPr id="986" name="Picture 983" descr="perplexity.png"/>
          <p:cNvPicPr/>
          <p:nvPr/>
        </p:nvPicPr>
        <p:blipFill>
          <a:blip r:embed="rId6"/>
          <a:stretch/>
        </p:blipFill>
        <p:spPr>
          <a:xfrm>
            <a:off x="8138160" y="137160"/>
            <a:ext cx="548280" cy="548280"/>
          </a:xfrm>
          <a:prstGeom prst="rect">
            <a:avLst/>
          </a:prstGeom>
          <a:noFill/>
          <a:ln w="0">
            <a:noFill/>
          </a:ln>
        </p:spPr>
      </p:pic>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87" name="Shape 0"/>
          <p:cNvSpPr/>
          <p:nvPr/>
        </p:nvSpPr>
        <p:spPr>
          <a:xfrm>
            <a:off x="0" y="0"/>
            <a:ext cx="9143280" cy="82224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88" name="Text 1"/>
          <p:cNvSpPr/>
          <p:nvPr/>
        </p:nvSpPr>
        <p:spPr>
          <a:xfrm>
            <a:off x="548640" y="0"/>
            <a:ext cx="457128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trike="noStrike" u="none">
                <a:solidFill>
                  <a:srgbClr val="ffffff"/>
                </a:solidFill>
                <a:effectLst/>
                <a:uFillTx/>
                <a:latin typeface="Trebuchet MS"/>
                <a:ea typeface="Trebuchet MS"/>
              </a:rPr>
              <a:t>Ideogram + DALL-E</a:t>
            </a:r>
            <a:endParaRPr b="0" lang="en-US" sz="2800" strike="noStrike" u="none">
              <a:solidFill>
                <a:srgbClr val="000000"/>
              </a:solidFill>
              <a:effectLst/>
              <a:uFillTx/>
              <a:latin typeface="Arial"/>
            </a:endParaRPr>
          </a:p>
        </p:txBody>
      </p:sp>
      <p:sp>
        <p:nvSpPr>
          <p:cNvPr id="989" name="Text 2"/>
          <p:cNvSpPr/>
          <p:nvPr/>
        </p:nvSpPr>
        <p:spPr>
          <a:xfrm>
            <a:off x="5029200" y="0"/>
            <a:ext cx="3656880" cy="82224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400" strike="noStrike" u="none">
                <a:solidFill>
                  <a:srgbClr val="ffffff"/>
                </a:solidFill>
                <a:effectLst/>
                <a:uFillTx/>
                <a:latin typeface="Calibri"/>
                <a:ea typeface="Calibri"/>
              </a:rPr>
              <a:t>Image Creation</a:t>
            </a:r>
            <a:endParaRPr b="0" lang="en-US" sz="1400" strike="noStrike" u="none">
              <a:solidFill>
                <a:srgbClr val="000000"/>
              </a:solidFill>
              <a:effectLst/>
              <a:uFillTx/>
              <a:latin typeface="Arial"/>
            </a:endParaRPr>
          </a:p>
        </p:txBody>
      </p:sp>
      <p:sp>
        <p:nvSpPr>
          <p:cNvPr id="990" name="Shape 3"/>
          <p:cNvSpPr/>
          <p:nvPr/>
        </p:nvSpPr>
        <p:spPr>
          <a:xfrm>
            <a:off x="548640" y="1005840"/>
            <a:ext cx="8046000" cy="6393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91" name="Shape 4"/>
          <p:cNvSpPr/>
          <p:nvPr/>
        </p:nvSpPr>
        <p:spPr>
          <a:xfrm>
            <a:off x="548640" y="1005840"/>
            <a:ext cx="54000" cy="63936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992" name="Image 0" descr="preencoded.png"/>
          <p:cNvPicPr/>
          <p:nvPr/>
        </p:nvPicPr>
        <p:blipFill>
          <a:blip r:embed="rId1"/>
          <a:stretch/>
        </p:blipFill>
        <p:spPr>
          <a:xfrm>
            <a:off x="777240" y="1161360"/>
            <a:ext cx="291960" cy="291960"/>
          </a:xfrm>
          <a:prstGeom prst="rect">
            <a:avLst/>
          </a:prstGeom>
          <a:noFill/>
          <a:ln w="0">
            <a:noFill/>
          </a:ln>
        </p:spPr>
      </p:pic>
      <p:sp>
        <p:nvSpPr>
          <p:cNvPr id="993" name="Text 5"/>
          <p:cNvSpPr/>
          <p:nvPr/>
        </p:nvSpPr>
        <p:spPr>
          <a:xfrm>
            <a:off x="1188720" y="100584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Text in Images: Ideogram excels at rendering text accurately within visuals</a:t>
            </a:r>
            <a:endParaRPr b="0" lang="en-US" sz="1300" strike="noStrike" u="none">
              <a:solidFill>
                <a:srgbClr val="000000"/>
              </a:solidFill>
              <a:effectLst/>
              <a:uFillTx/>
              <a:latin typeface="Arial"/>
            </a:endParaRPr>
          </a:p>
        </p:txBody>
      </p:sp>
      <p:sp>
        <p:nvSpPr>
          <p:cNvPr id="994" name="Shape 6"/>
          <p:cNvSpPr/>
          <p:nvPr/>
        </p:nvSpPr>
        <p:spPr>
          <a:xfrm>
            <a:off x="548640" y="1719000"/>
            <a:ext cx="8046000" cy="639360"/>
          </a:xfrm>
          <a:prstGeom prst="rect">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95" name="Shape 7"/>
          <p:cNvSpPr/>
          <p:nvPr/>
        </p:nvSpPr>
        <p:spPr>
          <a:xfrm>
            <a:off x="548640" y="1719000"/>
            <a:ext cx="54000" cy="63936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996" name="Image 1" descr="preencoded.png"/>
          <p:cNvPicPr/>
          <p:nvPr/>
        </p:nvPicPr>
        <p:blipFill>
          <a:blip r:embed="rId2"/>
          <a:stretch/>
        </p:blipFill>
        <p:spPr>
          <a:xfrm>
            <a:off x="777240" y="1874520"/>
            <a:ext cx="291960" cy="291960"/>
          </a:xfrm>
          <a:prstGeom prst="rect">
            <a:avLst/>
          </a:prstGeom>
          <a:noFill/>
          <a:ln w="0">
            <a:noFill/>
          </a:ln>
        </p:spPr>
      </p:pic>
      <p:sp>
        <p:nvSpPr>
          <p:cNvPr id="997" name="Text 8"/>
          <p:cNvSpPr/>
          <p:nvPr/>
        </p:nvSpPr>
        <p:spPr>
          <a:xfrm>
            <a:off x="1188720" y="171900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ChatGPT DALL-E: generates creative images directly inside your conversation</a:t>
            </a:r>
            <a:endParaRPr b="0" lang="en-US" sz="1300" strike="noStrike" u="none">
              <a:solidFill>
                <a:srgbClr val="000000"/>
              </a:solidFill>
              <a:effectLst/>
              <a:uFillTx/>
              <a:latin typeface="Arial"/>
            </a:endParaRPr>
          </a:p>
        </p:txBody>
      </p:sp>
      <p:sp>
        <p:nvSpPr>
          <p:cNvPr id="998" name="Shape 9"/>
          <p:cNvSpPr/>
          <p:nvPr/>
        </p:nvSpPr>
        <p:spPr>
          <a:xfrm>
            <a:off x="548640" y="2432160"/>
            <a:ext cx="8046000" cy="6393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999" name="Shape 10"/>
          <p:cNvSpPr/>
          <p:nvPr/>
        </p:nvSpPr>
        <p:spPr>
          <a:xfrm>
            <a:off x="548640" y="2432160"/>
            <a:ext cx="54000" cy="63936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1000" name="Image 2" descr="preencoded.png"/>
          <p:cNvPicPr/>
          <p:nvPr/>
        </p:nvPicPr>
        <p:blipFill>
          <a:blip r:embed="rId3"/>
          <a:stretch/>
        </p:blipFill>
        <p:spPr>
          <a:xfrm>
            <a:off x="777240" y="2587680"/>
            <a:ext cx="291960" cy="291960"/>
          </a:xfrm>
          <a:prstGeom prst="rect">
            <a:avLst/>
          </a:prstGeom>
          <a:noFill/>
          <a:ln w="0">
            <a:noFill/>
          </a:ln>
        </p:spPr>
      </p:pic>
      <p:sp>
        <p:nvSpPr>
          <p:cNvPr id="1001" name="Text 11"/>
          <p:cNvSpPr/>
          <p:nvPr/>
        </p:nvSpPr>
        <p:spPr>
          <a:xfrm>
            <a:off x="1188720" y="243216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Midjourney + Flux: higher-end options for photorealistic and artistic styles</a:t>
            </a:r>
            <a:endParaRPr b="0" lang="en-US" sz="1300" strike="noStrike" u="none">
              <a:solidFill>
                <a:srgbClr val="000000"/>
              </a:solidFill>
              <a:effectLst/>
              <a:uFillTx/>
              <a:latin typeface="Arial"/>
            </a:endParaRPr>
          </a:p>
        </p:txBody>
      </p:sp>
      <p:sp>
        <p:nvSpPr>
          <p:cNvPr id="1002" name="Shape 12"/>
          <p:cNvSpPr/>
          <p:nvPr/>
        </p:nvSpPr>
        <p:spPr>
          <a:xfrm>
            <a:off x="548640" y="3145680"/>
            <a:ext cx="8046000" cy="639360"/>
          </a:xfrm>
          <a:prstGeom prst="rect">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03" name="Shape 13"/>
          <p:cNvSpPr/>
          <p:nvPr/>
        </p:nvSpPr>
        <p:spPr>
          <a:xfrm>
            <a:off x="548640" y="3145680"/>
            <a:ext cx="54000" cy="63936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1004" name="Image 3" descr="preencoded.png"/>
          <p:cNvPicPr/>
          <p:nvPr/>
        </p:nvPicPr>
        <p:blipFill>
          <a:blip r:embed="rId4"/>
          <a:stretch/>
        </p:blipFill>
        <p:spPr>
          <a:xfrm>
            <a:off x="777240" y="3300840"/>
            <a:ext cx="291960" cy="291960"/>
          </a:xfrm>
          <a:prstGeom prst="rect">
            <a:avLst/>
          </a:prstGeom>
          <a:noFill/>
          <a:ln w="0">
            <a:noFill/>
          </a:ln>
        </p:spPr>
      </p:pic>
      <p:sp>
        <p:nvSpPr>
          <p:cNvPr id="1005" name="Text 14"/>
          <p:cNvSpPr/>
          <p:nvPr/>
        </p:nvSpPr>
        <p:spPr>
          <a:xfrm>
            <a:off x="1188720" y="314568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Rapid Experimentation: test visual concepts before committing to production</a:t>
            </a:r>
            <a:endParaRPr b="0" lang="en-US" sz="1300" strike="noStrike" u="none">
              <a:solidFill>
                <a:srgbClr val="000000"/>
              </a:solidFill>
              <a:effectLst/>
              <a:uFillTx/>
              <a:latin typeface="Arial"/>
            </a:endParaRPr>
          </a:p>
        </p:txBody>
      </p:sp>
      <p:sp>
        <p:nvSpPr>
          <p:cNvPr id="1006" name="Shape 15"/>
          <p:cNvSpPr/>
          <p:nvPr/>
        </p:nvSpPr>
        <p:spPr>
          <a:xfrm>
            <a:off x="548640" y="3858840"/>
            <a:ext cx="8046000" cy="6393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07" name="Shape 16"/>
          <p:cNvSpPr/>
          <p:nvPr/>
        </p:nvSpPr>
        <p:spPr>
          <a:xfrm>
            <a:off x="548640" y="3858840"/>
            <a:ext cx="54000" cy="63936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1008" name="Image 4" descr="preencoded.png"/>
          <p:cNvPicPr/>
          <p:nvPr/>
        </p:nvPicPr>
        <p:blipFill>
          <a:blip r:embed="rId5"/>
          <a:stretch/>
        </p:blipFill>
        <p:spPr>
          <a:xfrm>
            <a:off x="777240" y="4014360"/>
            <a:ext cx="291960" cy="291960"/>
          </a:xfrm>
          <a:prstGeom prst="rect">
            <a:avLst/>
          </a:prstGeom>
          <a:noFill/>
          <a:ln w="0">
            <a:noFill/>
          </a:ln>
        </p:spPr>
      </p:pic>
      <p:sp>
        <p:nvSpPr>
          <p:cNvPr id="1009" name="Text 17"/>
          <p:cNvSpPr/>
          <p:nvPr/>
        </p:nvSpPr>
        <p:spPr>
          <a:xfrm>
            <a:off x="1188720" y="385884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Prompt Tips: be specific about style, colours, composition, and mood</a:t>
            </a:r>
            <a:endParaRPr b="0" lang="en-US" sz="1300" strike="noStrike" u="none">
              <a:solidFill>
                <a:srgbClr val="000000"/>
              </a:solidFill>
              <a:effectLst/>
              <a:uFillTx/>
              <a:latin typeface="Arial"/>
            </a:endParaRPr>
          </a:p>
        </p:txBody>
      </p:sp>
      <p:pic>
        <p:nvPicPr>
          <p:cNvPr id="1010" name="Picture 1006" descr="ideogram.png"/>
          <p:cNvPicPr/>
          <p:nvPr/>
        </p:nvPicPr>
        <p:blipFill>
          <a:blip r:embed="rId6"/>
          <a:stretch/>
        </p:blipFill>
        <p:spPr>
          <a:xfrm>
            <a:off x="7498080" y="137160"/>
            <a:ext cx="548280" cy="548280"/>
          </a:xfrm>
          <a:prstGeom prst="rect">
            <a:avLst/>
          </a:prstGeom>
          <a:noFill/>
          <a:ln w="0">
            <a:noFill/>
          </a:ln>
        </p:spPr>
      </p:pic>
      <p:pic>
        <p:nvPicPr>
          <p:cNvPr id="1011" name="Picture 1007" descr="dalle.png"/>
          <p:cNvPicPr/>
          <p:nvPr/>
        </p:nvPicPr>
        <p:blipFill>
          <a:blip r:embed="rId7"/>
          <a:stretch/>
        </p:blipFill>
        <p:spPr>
          <a:xfrm>
            <a:off x="8138160" y="137160"/>
            <a:ext cx="548280" cy="548280"/>
          </a:xfrm>
          <a:prstGeom prst="rect">
            <a:avLst/>
          </a:prstGeom>
          <a:noFill/>
          <a:ln w="0">
            <a:no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12" name="Shape 0"/>
          <p:cNvSpPr/>
          <p:nvPr/>
        </p:nvSpPr>
        <p:spPr>
          <a:xfrm>
            <a:off x="0" y="0"/>
            <a:ext cx="9143280" cy="82224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13" name="Text 1"/>
          <p:cNvSpPr/>
          <p:nvPr/>
        </p:nvSpPr>
        <p:spPr>
          <a:xfrm>
            <a:off x="548640" y="0"/>
            <a:ext cx="4571280" cy="822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trike="noStrike" u="none">
                <a:solidFill>
                  <a:srgbClr val="ffffff"/>
                </a:solidFill>
                <a:effectLst/>
                <a:uFillTx/>
                <a:latin typeface="Trebuchet MS"/>
                <a:ea typeface="Trebuchet MS"/>
              </a:rPr>
              <a:t>Canva</a:t>
            </a:r>
            <a:endParaRPr b="0" lang="en-US" sz="2800" strike="noStrike" u="none">
              <a:solidFill>
                <a:srgbClr val="000000"/>
              </a:solidFill>
              <a:effectLst/>
              <a:uFillTx/>
              <a:latin typeface="Arial"/>
            </a:endParaRPr>
          </a:p>
        </p:txBody>
      </p:sp>
      <p:sp>
        <p:nvSpPr>
          <p:cNvPr id="1014" name="Text 2"/>
          <p:cNvSpPr/>
          <p:nvPr/>
        </p:nvSpPr>
        <p:spPr>
          <a:xfrm>
            <a:off x="5029200" y="0"/>
            <a:ext cx="3656880" cy="82224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0" lang="en-US" sz="1400" strike="noStrike" u="none">
                <a:solidFill>
                  <a:srgbClr val="ffffff"/>
                </a:solidFill>
                <a:effectLst/>
                <a:uFillTx/>
                <a:latin typeface="Calibri"/>
                <a:ea typeface="Calibri"/>
              </a:rPr>
              <a:t>The Swiss Army Knife for Marketers</a:t>
            </a:r>
            <a:endParaRPr b="0" lang="en-US" sz="1400" strike="noStrike" u="none">
              <a:solidFill>
                <a:srgbClr val="000000"/>
              </a:solidFill>
              <a:effectLst/>
              <a:uFillTx/>
              <a:latin typeface="Arial"/>
            </a:endParaRPr>
          </a:p>
        </p:txBody>
      </p:sp>
      <p:sp>
        <p:nvSpPr>
          <p:cNvPr id="1015" name="Shape 3"/>
          <p:cNvSpPr/>
          <p:nvPr/>
        </p:nvSpPr>
        <p:spPr>
          <a:xfrm>
            <a:off x="548640" y="1005840"/>
            <a:ext cx="8046000" cy="6393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16" name="Shape 4"/>
          <p:cNvSpPr/>
          <p:nvPr/>
        </p:nvSpPr>
        <p:spPr>
          <a:xfrm>
            <a:off x="548640" y="1005840"/>
            <a:ext cx="54000" cy="6393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1017" name="Image 0" descr="preencoded.png"/>
          <p:cNvPicPr/>
          <p:nvPr/>
        </p:nvPicPr>
        <p:blipFill>
          <a:blip r:embed="rId1"/>
          <a:stretch/>
        </p:blipFill>
        <p:spPr>
          <a:xfrm>
            <a:off x="777240" y="1161360"/>
            <a:ext cx="291960" cy="291960"/>
          </a:xfrm>
          <a:prstGeom prst="rect">
            <a:avLst/>
          </a:prstGeom>
          <a:noFill/>
          <a:ln w="0">
            <a:noFill/>
          </a:ln>
        </p:spPr>
      </p:pic>
      <p:sp>
        <p:nvSpPr>
          <p:cNvPr id="1018" name="Text 5"/>
          <p:cNvSpPr/>
          <p:nvPr/>
        </p:nvSpPr>
        <p:spPr>
          <a:xfrm>
            <a:off x="1188720" y="100584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Templates for Everything: social posts, presentations, flyers, business cards</a:t>
            </a:r>
            <a:endParaRPr b="0" lang="en-US" sz="1300" strike="noStrike" u="none">
              <a:solidFill>
                <a:srgbClr val="000000"/>
              </a:solidFill>
              <a:effectLst/>
              <a:uFillTx/>
              <a:latin typeface="Arial"/>
            </a:endParaRPr>
          </a:p>
        </p:txBody>
      </p:sp>
      <p:sp>
        <p:nvSpPr>
          <p:cNvPr id="1019" name="Shape 6"/>
          <p:cNvSpPr/>
          <p:nvPr/>
        </p:nvSpPr>
        <p:spPr>
          <a:xfrm>
            <a:off x="548640" y="1719000"/>
            <a:ext cx="8046000" cy="639360"/>
          </a:xfrm>
          <a:prstGeom prst="rect">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20" name="Shape 7"/>
          <p:cNvSpPr/>
          <p:nvPr/>
        </p:nvSpPr>
        <p:spPr>
          <a:xfrm>
            <a:off x="548640" y="1719000"/>
            <a:ext cx="54000" cy="6393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1021" name="Image 1" descr="preencoded.png"/>
          <p:cNvPicPr/>
          <p:nvPr/>
        </p:nvPicPr>
        <p:blipFill>
          <a:blip r:embed="rId2"/>
          <a:stretch/>
        </p:blipFill>
        <p:spPr>
          <a:xfrm>
            <a:off x="777240" y="1874520"/>
            <a:ext cx="291960" cy="291960"/>
          </a:xfrm>
          <a:prstGeom prst="rect">
            <a:avLst/>
          </a:prstGeom>
          <a:noFill/>
          <a:ln w="0">
            <a:noFill/>
          </a:ln>
        </p:spPr>
      </p:pic>
      <p:sp>
        <p:nvSpPr>
          <p:cNvPr id="1022" name="Text 8"/>
          <p:cNvSpPr/>
          <p:nvPr/>
        </p:nvSpPr>
        <p:spPr>
          <a:xfrm>
            <a:off x="1188720" y="171900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Brand Kit: upload your logo, fonts, and colours for consistent branding</a:t>
            </a:r>
            <a:endParaRPr b="0" lang="en-US" sz="1300" strike="noStrike" u="none">
              <a:solidFill>
                <a:srgbClr val="000000"/>
              </a:solidFill>
              <a:effectLst/>
              <a:uFillTx/>
              <a:latin typeface="Arial"/>
            </a:endParaRPr>
          </a:p>
        </p:txBody>
      </p:sp>
      <p:sp>
        <p:nvSpPr>
          <p:cNvPr id="1023" name="Shape 9"/>
          <p:cNvSpPr/>
          <p:nvPr/>
        </p:nvSpPr>
        <p:spPr>
          <a:xfrm>
            <a:off x="548640" y="2432160"/>
            <a:ext cx="8046000" cy="6393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24" name="Shape 10"/>
          <p:cNvSpPr/>
          <p:nvPr/>
        </p:nvSpPr>
        <p:spPr>
          <a:xfrm>
            <a:off x="548640" y="2432160"/>
            <a:ext cx="54000" cy="6393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1025" name="Image 2" descr="preencoded.png"/>
          <p:cNvPicPr/>
          <p:nvPr/>
        </p:nvPicPr>
        <p:blipFill>
          <a:blip r:embed="rId3"/>
          <a:stretch/>
        </p:blipFill>
        <p:spPr>
          <a:xfrm>
            <a:off x="777240" y="2587680"/>
            <a:ext cx="291960" cy="291960"/>
          </a:xfrm>
          <a:prstGeom prst="rect">
            <a:avLst/>
          </a:prstGeom>
          <a:noFill/>
          <a:ln w="0">
            <a:noFill/>
          </a:ln>
        </p:spPr>
      </p:pic>
      <p:sp>
        <p:nvSpPr>
          <p:cNvPr id="1026" name="Text 11"/>
          <p:cNvSpPr/>
          <p:nvPr/>
        </p:nvSpPr>
        <p:spPr>
          <a:xfrm>
            <a:off x="1188720" y="243216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AI Features (Magic Studio): auto-generate designs, remove backgrounds, resize</a:t>
            </a:r>
            <a:endParaRPr b="0" lang="en-US" sz="1300" strike="noStrike" u="none">
              <a:solidFill>
                <a:srgbClr val="000000"/>
              </a:solidFill>
              <a:effectLst/>
              <a:uFillTx/>
              <a:latin typeface="Arial"/>
            </a:endParaRPr>
          </a:p>
        </p:txBody>
      </p:sp>
      <p:sp>
        <p:nvSpPr>
          <p:cNvPr id="1027" name="Shape 12"/>
          <p:cNvSpPr/>
          <p:nvPr/>
        </p:nvSpPr>
        <p:spPr>
          <a:xfrm>
            <a:off x="548640" y="3145680"/>
            <a:ext cx="8046000" cy="639360"/>
          </a:xfrm>
          <a:prstGeom prst="rect">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28" name="Shape 13"/>
          <p:cNvSpPr/>
          <p:nvPr/>
        </p:nvSpPr>
        <p:spPr>
          <a:xfrm>
            <a:off x="548640" y="3145680"/>
            <a:ext cx="54000" cy="6393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1029" name="Image 3" descr="preencoded.png"/>
          <p:cNvPicPr/>
          <p:nvPr/>
        </p:nvPicPr>
        <p:blipFill>
          <a:blip r:embed="rId4"/>
          <a:stretch/>
        </p:blipFill>
        <p:spPr>
          <a:xfrm>
            <a:off x="777240" y="3300840"/>
            <a:ext cx="291960" cy="291960"/>
          </a:xfrm>
          <a:prstGeom prst="rect">
            <a:avLst/>
          </a:prstGeom>
          <a:noFill/>
          <a:ln w="0">
            <a:noFill/>
          </a:ln>
        </p:spPr>
      </p:pic>
      <p:sp>
        <p:nvSpPr>
          <p:cNvPr id="1030" name="Text 14"/>
          <p:cNvSpPr/>
          <p:nvPr/>
        </p:nvSpPr>
        <p:spPr>
          <a:xfrm>
            <a:off x="1188720" y="314568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Collaboration: share designs with your team for real-time editing</a:t>
            </a:r>
            <a:endParaRPr b="0" lang="en-US" sz="1300" strike="noStrike" u="none">
              <a:solidFill>
                <a:srgbClr val="000000"/>
              </a:solidFill>
              <a:effectLst/>
              <a:uFillTx/>
              <a:latin typeface="Arial"/>
            </a:endParaRPr>
          </a:p>
        </p:txBody>
      </p:sp>
      <p:sp>
        <p:nvSpPr>
          <p:cNvPr id="1031" name="Shape 15"/>
          <p:cNvSpPr/>
          <p:nvPr/>
        </p:nvSpPr>
        <p:spPr>
          <a:xfrm>
            <a:off x="548640" y="3858840"/>
            <a:ext cx="8046000" cy="6393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32" name="Shape 16"/>
          <p:cNvSpPr/>
          <p:nvPr/>
        </p:nvSpPr>
        <p:spPr>
          <a:xfrm>
            <a:off x="548640" y="3858840"/>
            <a:ext cx="54000" cy="6393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1033" name="Image 4" descr="preencoded.png"/>
          <p:cNvPicPr/>
          <p:nvPr/>
        </p:nvPicPr>
        <p:blipFill>
          <a:blip r:embed="rId5"/>
          <a:stretch/>
        </p:blipFill>
        <p:spPr>
          <a:xfrm>
            <a:off x="777240" y="4014360"/>
            <a:ext cx="291960" cy="291960"/>
          </a:xfrm>
          <a:prstGeom prst="rect">
            <a:avLst/>
          </a:prstGeom>
          <a:noFill/>
          <a:ln w="0">
            <a:noFill/>
          </a:ln>
        </p:spPr>
      </p:pic>
      <p:sp>
        <p:nvSpPr>
          <p:cNvPr id="1034" name="Text 17"/>
          <p:cNvSpPr/>
          <p:nvPr/>
        </p:nvSpPr>
        <p:spPr>
          <a:xfrm>
            <a:off x="1188720" y="3858840"/>
            <a:ext cx="722304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2d2d2d"/>
                </a:solidFill>
                <a:effectLst/>
                <a:uFillTx/>
                <a:latin typeface="Calibri"/>
                <a:ea typeface="Calibri"/>
              </a:rPr>
              <a:t>Short Learning Curve: worth the effort - professional results from day one</a:t>
            </a:r>
            <a:endParaRPr b="0" lang="en-US" sz="1300" strike="noStrike" u="none">
              <a:solidFill>
                <a:srgbClr val="000000"/>
              </a:solidFill>
              <a:effectLst/>
              <a:uFillTx/>
              <a:latin typeface="Arial"/>
            </a:endParaRPr>
          </a:p>
        </p:txBody>
      </p:sp>
      <p:pic>
        <p:nvPicPr>
          <p:cNvPr id="1035" name="Picture 1029" descr="canva.png"/>
          <p:cNvPicPr/>
          <p:nvPr/>
        </p:nvPicPr>
        <p:blipFill>
          <a:blip r:embed="rId6"/>
          <a:stretch/>
        </p:blipFill>
        <p:spPr>
          <a:xfrm>
            <a:off x="8138160" y="137160"/>
            <a:ext cx="548280" cy="548280"/>
          </a:xfrm>
          <a:prstGeom prst="rect">
            <a:avLst/>
          </a:prstGeom>
          <a:noFill/>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df6f0"/>
        </a:solidFill>
      </p:bgPr>
    </p:bg>
    <p:spTree>
      <p:nvGrpSpPr>
        <p:cNvPr id="1" name=""/>
        <p:cNvGrpSpPr/>
        <p:nvPr/>
      </p:nvGrpSpPr>
      <p:grpSpPr>
        <a:xfrm>
          <a:off x="0" y="0"/>
          <a:ext cx="0" cy="0"/>
          <a:chOff x="0" y="0"/>
          <a:chExt cx="0" cy="0"/>
        </a:xfrm>
      </p:grpSpPr>
      <p:sp>
        <p:nvSpPr>
          <p:cNvPr id="1036" name="Text 0"/>
          <p:cNvSpPr/>
          <p:nvPr/>
        </p:nvSpPr>
        <p:spPr>
          <a:xfrm>
            <a:off x="548640" y="274320"/>
            <a:ext cx="73144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trike="noStrike" u="none">
                <a:solidFill>
                  <a:srgbClr val="1a1a2e"/>
                </a:solidFill>
                <a:effectLst/>
                <a:uFillTx/>
                <a:latin typeface="Trebuchet MS"/>
                <a:ea typeface="Trebuchet MS"/>
              </a:rPr>
              <a:t>Other Tools Worth Knowing</a:t>
            </a:r>
            <a:endParaRPr b="0" lang="en-US" sz="3200" strike="noStrike" u="none">
              <a:solidFill>
                <a:srgbClr val="000000"/>
              </a:solidFill>
              <a:effectLst/>
              <a:uFillTx/>
              <a:latin typeface="Arial"/>
            </a:endParaRPr>
          </a:p>
        </p:txBody>
      </p:sp>
      <p:sp>
        <p:nvSpPr>
          <p:cNvPr id="1037" name="Shape 1"/>
          <p:cNvSpPr/>
          <p:nvPr/>
        </p:nvSpPr>
        <p:spPr>
          <a:xfrm>
            <a:off x="548640" y="1097280"/>
            <a:ext cx="3931200" cy="77652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38" name="Shape 2"/>
          <p:cNvSpPr/>
          <p:nvPr/>
        </p:nvSpPr>
        <p:spPr>
          <a:xfrm>
            <a:off x="548640" y="1097280"/>
            <a:ext cx="54000" cy="77652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39" name="Text 3"/>
          <p:cNvSpPr/>
          <p:nvPr/>
        </p:nvSpPr>
        <p:spPr>
          <a:xfrm>
            <a:off x="731520" y="1097280"/>
            <a:ext cx="36568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1a1a2e"/>
                </a:solidFill>
                <a:effectLst/>
                <a:uFillTx/>
                <a:latin typeface="Trebuchet MS"/>
                <a:ea typeface="Trebuchet MS"/>
              </a:rPr>
              <a:t>Social Media Management</a:t>
            </a:r>
            <a:endParaRPr b="0" lang="en-US" sz="1200" strike="noStrike" u="none">
              <a:solidFill>
                <a:srgbClr val="000000"/>
              </a:solidFill>
              <a:effectLst/>
              <a:uFillTx/>
              <a:latin typeface="Arial"/>
            </a:endParaRPr>
          </a:p>
        </p:txBody>
      </p:sp>
      <p:sp>
        <p:nvSpPr>
          <p:cNvPr id="1040" name="Text 4"/>
          <p:cNvSpPr/>
          <p:nvPr/>
        </p:nvSpPr>
        <p:spPr>
          <a:xfrm>
            <a:off x="731520" y="1463040"/>
            <a:ext cx="36568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8e8e8e"/>
                </a:solidFill>
                <a:effectLst/>
                <a:uFillTx/>
                <a:latin typeface="Calibri"/>
                <a:ea typeface="Calibri"/>
              </a:rPr>
              <a:t>Zoho Social, Hootsuite, Buffer</a:t>
            </a:r>
            <a:endParaRPr b="0" lang="en-US" sz="1000" strike="noStrike" u="none">
              <a:solidFill>
                <a:srgbClr val="000000"/>
              </a:solidFill>
              <a:effectLst/>
              <a:uFillTx/>
              <a:latin typeface="Arial"/>
            </a:endParaRPr>
          </a:p>
        </p:txBody>
      </p:sp>
      <p:sp>
        <p:nvSpPr>
          <p:cNvPr id="1041" name="Shape 5"/>
          <p:cNvSpPr/>
          <p:nvPr/>
        </p:nvSpPr>
        <p:spPr>
          <a:xfrm>
            <a:off x="4754880" y="1097280"/>
            <a:ext cx="3931200" cy="77652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42" name="Shape 6"/>
          <p:cNvSpPr/>
          <p:nvPr/>
        </p:nvSpPr>
        <p:spPr>
          <a:xfrm>
            <a:off x="4754880" y="1097280"/>
            <a:ext cx="54000" cy="77652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43" name="Text 7"/>
          <p:cNvSpPr/>
          <p:nvPr/>
        </p:nvSpPr>
        <p:spPr>
          <a:xfrm>
            <a:off x="4937760" y="1097280"/>
            <a:ext cx="36568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1a1a2e"/>
                </a:solidFill>
                <a:effectLst/>
                <a:uFillTx/>
                <a:latin typeface="Trebuchet MS"/>
                <a:ea typeface="Trebuchet MS"/>
              </a:rPr>
              <a:t>Social Listening</a:t>
            </a:r>
            <a:endParaRPr b="0" lang="en-US" sz="1200" strike="noStrike" u="none">
              <a:solidFill>
                <a:srgbClr val="000000"/>
              </a:solidFill>
              <a:effectLst/>
              <a:uFillTx/>
              <a:latin typeface="Arial"/>
            </a:endParaRPr>
          </a:p>
        </p:txBody>
      </p:sp>
      <p:sp>
        <p:nvSpPr>
          <p:cNvPr id="1044" name="Text 8"/>
          <p:cNvSpPr/>
          <p:nvPr/>
        </p:nvSpPr>
        <p:spPr>
          <a:xfrm>
            <a:off x="4937760" y="1463040"/>
            <a:ext cx="36568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8e8e8e"/>
                </a:solidFill>
                <a:effectLst/>
                <a:uFillTx/>
                <a:latin typeface="Calibri"/>
                <a:ea typeface="Calibri"/>
              </a:rPr>
              <a:t>Google Alerts, Mention, BuzzSumo</a:t>
            </a:r>
            <a:endParaRPr b="0" lang="en-US" sz="1000" strike="noStrike" u="none">
              <a:solidFill>
                <a:srgbClr val="000000"/>
              </a:solidFill>
              <a:effectLst/>
              <a:uFillTx/>
              <a:latin typeface="Arial"/>
            </a:endParaRPr>
          </a:p>
        </p:txBody>
      </p:sp>
      <p:sp>
        <p:nvSpPr>
          <p:cNvPr id="1045" name="Shape 9"/>
          <p:cNvSpPr/>
          <p:nvPr/>
        </p:nvSpPr>
        <p:spPr>
          <a:xfrm>
            <a:off x="548640" y="2011680"/>
            <a:ext cx="3931200" cy="77652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46" name="Shape 10"/>
          <p:cNvSpPr/>
          <p:nvPr/>
        </p:nvSpPr>
        <p:spPr>
          <a:xfrm>
            <a:off x="548640" y="2011680"/>
            <a:ext cx="54000" cy="77652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47" name="Text 11"/>
          <p:cNvSpPr/>
          <p:nvPr/>
        </p:nvSpPr>
        <p:spPr>
          <a:xfrm>
            <a:off x="731520" y="2011680"/>
            <a:ext cx="36568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1a1a2e"/>
                </a:solidFill>
                <a:effectLst/>
                <a:uFillTx/>
                <a:latin typeface="Trebuchet MS"/>
                <a:ea typeface="Trebuchet MS"/>
              </a:rPr>
              <a:t>Video Marketing</a:t>
            </a:r>
            <a:endParaRPr b="0" lang="en-US" sz="1200" strike="noStrike" u="none">
              <a:solidFill>
                <a:srgbClr val="000000"/>
              </a:solidFill>
              <a:effectLst/>
              <a:uFillTx/>
              <a:latin typeface="Arial"/>
            </a:endParaRPr>
          </a:p>
        </p:txBody>
      </p:sp>
      <p:sp>
        <p:nvSpPr>
          <p:cNvPr id="1048" name="Text 12"/>
          <p:cNvSpPr/>
          <p:nvPr/>
        </p:nvSpPr>
        <p:spPr>
          <a:xfrm>
            <a:off x="731520" y="2377440"/>
            <a:ext cx="36568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8e8e8e"/>
                </a:solidFill>
                <a:effectLst/>
                <a:uFillTx/>
                <a:latin typeface="Calibri"/>
                <a:ea typeface="Calibri"/>
              </a:rPr>
              <a:t>CapCut, Hailuo, HeyGen</a:t>
            </a:r>
            <a:endParaRPr b="0" lang="en-US" sz="1000" strike="noStrike" u="none">
              <a:solidFill>
                <a:srgbClr val="000000"/>
              </a:solidFill>
              <a:effectLst/>
              <a:uFillTx/>
              <a:latin typeface="Arial"/>
            </a:endParaRPr>
          </a:p>
        </p:txBody>
      </p:sp>
      <p:sp>
        <p:nvSpPr>
          <p:cNvPr id="1049" name="Shape 13"/>
          <p:cNvSpPr/>
          <p:nvPr/>
        </p:nvSpPr>
        <p:spPr>
          <a:xfrm>
            <a:off x="4754880" y="2011680"/>
            <a:ext cx="3931200" cy="77652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50" name="Shape 14"/>
          <p:cNvSpPr/>
          <p:nvPr/>
        </p:nvSpPr>
        <p:spPr>
          <a:xfrm>
            <a:off x="4754880" y="2011680"/>
            <a:ext cx="54000" cy="77652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51" name="Text 15"/>
          <p:cNvSpPr/>
          <p:nvPr/>
        </p:nvSpPr>
        <p:spPr>
          <a:xfrm>
            <a:off x="4937760" y="2011680"/>
            <a:ext cx="36568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1a1a2e"/>
                </a:solidFill>
                <a:effectLst/>
                <a:uFillTx/>
                <a:latin typeface="Trebuchet MS"/>
                <a:ea typeface="Trebuchet MS"/>
              </a:rPr>
              <a:t>Influencer Marketing</a:t>
            </a:r>
            <a:endParaRPr b="0" lang="en-US" sz="1200" strike="noStrike" u="none">
              <a:solidFill>
                <a:srgbClr val="000000"/>
              </a:solidFill>
              <a:effectLst/>
              <a:uFillTx/>
              <a:latin typeface="Arial"/>
            </a:endParaRPr>
          </a:p>
        </p:txBody>
      </p:sp>
      <p:sp>
        <p:nvSpPr>
          <p:cNvPr id="1052" name="Text 16"/>
          <p:cNvSpPr/>
          <p:nvPr/>
        </p:nvSpPr>
        <p:spPr>
          <a:xfrm>
            <a:off x="4937760" y="2377440"/>
            <a:ext cx="36568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8e8e8e"/>
                </a:solidFill>
                <a:effectLst/>
                <a:uFillTx/>
                <a:latin typeface="Calibri"/>
                <a:ea typeface="Calibri"/>
              </a:rPr>
              <a:t>Heepsy, Upfluence</a:t>
            </a:r>
            <a:endParaRPr b="0" lang="en-US" sz="1000" strike="noStrike" u="none">
              <a:solidFill>
                <a:srgbClr val="000000"/>
              </a:solidFill>
              <a:effectLst/>
              <a:uFillTx/>
              <a:latin typeface="Arial"/>
            </a:endParaRPr>
          </a:p>
        </p:txBody>
      </p:sp>
      <p:sp>
        <p:nvSpPr>
          <p:cNvPr id="1053" name="Shape 17"/>
          <p:cNvSpPr/>
          <p:nvPr/>
        </p:nvSpPr>
        <p:spPr>
          <a:xfrm>
            <a:off x="548640" y="2926080"/>
            <a:ext cx="3931200" cy="77652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54" name="Shape 18"/>
          <p:cNvSpPr/>
          <p:nvPr/>
        </p:nvSpPr>
        <p:spPr>
          <a:xfrm>
            <a:off x="548640" y="2926080"/>
            <a:ext cx="54000" cy="77652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55" name="Text 19"/>
          <p:cNvSpPr/>
          <p:nvPr/>
        </p:nvSpPr>
        <p:spPr>
          <a:xfrm>
            <a:off x="731520" y="2926080"/>
            <a:ext cx="36568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1a1a2e"/>
                </a:solidFill>
                <a:effectLst/>
                <a:uFillTx/>
                <a:latin typeface="Trebuchet MS"/>
                <a:ea typeface="Trebuchet MS"/>
              </a:rPr>
              <a:t>Chatbots &amp; Engagement</a:t>
            </a:r>
            <a:endParaRPr b="0" lang="en-US" sz="1200" strike="noStrike" u="none">
              <a:solidFill>
                <a:srgbClr val="000000"/>
              </a:solidFill>
              <a:effectLst/>
              <a:uFillTx/>
              <a:latin typeface="Arial"/>
            </a:endParaRPr>
          </a:p>
        </p:txBody>
      </p:sp>
      <p:sp>
        <p:nvSpPr>
          <p:cNvPr id="1056" name="Text 20"/>
          <p:cNvSpPr/>
          <p:nvPr/>
        </p:nvSpPr>
        <p:spPr>
          <a:xfrm>
            <a:off x="731520" y="3291840"/>
            <a:ext cx="36568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8e8e8e"/>
                </a:solidFill>
                <a:effectLst/>
                <a:uFillTx/>
                <a:latin typeface="Calibri"/>
                <a:ea typeface="Calibri"/>
              </a:rPr>
              <a:t>ManyChat, Route Mobile</a:t>
            </a:r>
            <a:endParaRPr b="0" lang="en-US" sz="1000" strike="noStrike" u="none">
              <a:solidFill>
                <a:srgbClr val="000000"/>
              </a:solidFill>
              <a:effectLst/>
              <a:uFillTx/>
              <a:latin typeface="Arial"/>
            </a:endParaRPr>
          </a:p>
        </p:txBody>
      </p:sp>
      <p:sp>
        <p:nvSpPr>
          <p:cNvPr id="1057" name="Shape 21"/>
          <p:cNvSpPr/>
          <p:nvPr/>
        </p:nvSpPr>
        <p:spPr>
          <a:xfrm>
            <a:off x="4754880" y="2926080"/>
            <a:ext cx="3931200" cy="77652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58" name="Shape 22"/>
          <p:cNvSpPr/>
          <p:nvPr/>
        </p:nvSpPr>
        <p:spPr>
          <a:xfrm>
            <a:off x="4754880" y="2926080"/>
            <a:ext cx="54000" cy="77652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59" name="Text 23"/>
          <p:cNvSpPr/>
          <p:nvPr/>
        </p:nvSpPr>
        <p:spPr>
          <a:xfrm>
            <a:off x="4937760" y="2926080"/>
            <a:ext cx="36568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1a1a2e"/>
                </a:solidFill>
                <a:effectLst/>
                <a:uFillTx/>
                <a:latin typeface="Trebuchet MS"/>
                <a:ea typeface="Trebuchet MS"/>
              </a:rPr>
              <a:t>SEO &amp; Hashtags</a:t>
            </a:r>
            <a:endParaRPr b="0" lang="en-US" sz="1200" strike="noStrike" u="none">
              <a:solidFill>
                <a:srgbClr val="000000"/>
              </a:solidFill>
              <a:effectLst/>
              <a:uFillTx/>
              <a:latin typeface="Arial"/>
            </a:endParaRPr>
          </a:p>
        </p:txBody>
      </p:sp>
      <p:sp>
        <p:nvSpPr>
          <p:cNvPr id="1060" name="Text 24"/>
          <p:cNvSpPr/>
          <p:nvPr/>
        </p:nvSpPr>
        <p:spPr>
          <a:xfrm>
            <a:off x="4937760" y="3291840"/>
            <a:ext cx="36568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8e8e8e"/>
                </a:solidFill>
                <a:effectLst/>
                <a:uFillTx/>
                <a:latin typeface="Calibri"/>
                <a:ea typeface="Calibri"/>
              </a:rPr>
              <a:t>SEMrush, Ahrefs, Hashtagify</a:t>
            </a:r>
            <a:endParaRPr b="0" lang="en-US" sz="1000" strike="noStrike" u="none">
              <a:solidFill>
                <a:srgbClr val="000000"/>
              </a:solidFill>
              <a:effectLst/>
              <a:uFillTx/>
              <a:latin typeface="Arial"/>
            </a:endParaRPr>
          </a:p>
        </p:txBody>
      </p:sp>
      <p:sp>
        <p:nvSpPr>
          <p:cNvPr id="1061" name="Shape 25"/>
          <p:cNvSpPr/>
          <p:nvPr/>
        </p:nvSpPr>
        <p:spPr>
          <a:xfrm>
            <a:off x="548640" y="3840480"/>
            <a:ext cx="3931200" cy="77652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62" name="Shape 26"/>
          <p:cNvSpPr/>
          <p:nvPr/>
        </p:nvSpPr>
        <p:spPr>
          <a:xfrm>
            <a:off x="548640" y="3840480"/>
            <a:ext cx="54000" cy="77652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63" name="Text 27"/>
          <p:cNvSpPr/>
          <p:nvPr/>
        </p:nvSpPr>
        <p:spPr>
          <a:xfrm>
            <a:off x="731520" y="3840480"/>
            <a:ext cx="36568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1a1a2e"/>
                </a:solidFill>
                <a:effectLst/>
                <a:uFillTx/>
                <a:latin typeface="Trebuchet MS"/>
                <a:ea typeface="Trebuchet MS"/>
              </a:rPr>
              <a:t>Paid Ads</a:t>
            </a:r>
            <a:endParaRPr b="0" lang="en-US" sz="1200" strike="noStrike" u="none">
              <a:solidFill>
                <a:srgbClr val="000000"/>
              </a:solidFill>
              <a:effectLst/>
              <a:uFillTx/>
              <a:latin typeface="Arial"/>
            </a:endParaRPr>
          </a:p>
        </p:txBody>
      </p:sp>
      <p:sp>
        <p:nvSpPr>
          <p:cNvPr id="1064" name="Text 28"/>
          <p:cNvSpPr/>
          <p:nvPr/>
        </p:nvSpPr>
        <p:spPr>
          <a:xfrm>
            <a:off x="731520" y="4206240"/>
            <a:ext cx="36568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8e8e8e"/>
                </a:solidFill>
                <a:effectLst/>
                <a:uFillTx/>
                <a:latin typeface="Calibri"/>
                <a:ea typeface="Calibri"/>
              </a:rPr>
              <a:t>AdEspresso by Hootsuite</a:t>
            </a:r>
            <a:endParaRPr b="0" lang="en-US" sz="1000" strike="noStrike" u="none">
              <a:solidFill>
                <a:srgbClr val="000000"/>
              </a:solidFill>
              <a:effectLst/>
              <a:uFillTx/>
              <a:latin typeface="Arial"/>
            </a:endParaRPr>
          </a:p>
        </p:txBody>
      </p:sp>
      <p:sp>
        <p:nvSpPr>
          <p:cNvPr id="1065" name="Shape 29"/>
          <p:cNvSpPr/>
          <p:nvPr/>
        </p:nvSpPr>
        <p:spPr>
          <a:xfrm>
            <a:off x="4754880" y="3840480"/>
            <a:ext cx="3931200" cy="77652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66" name="Shape 30"/>
          <p:cNvSpPr/>
          <p:nvPr/>
        </p:nvSpPr>
        <p:spPr>
          <a:xfrm>
            <a:off x="4754880" y="3840480"/>
            <a:ext cx="54000" cy="77652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67" name="Text 31"/>
          <p:cNvSpPr/>
          <p:nvPr/>
        </p:nvSpPr>
        <p:spPr>
          <a:xfrm>
            <a:off x="4937760" y="3840480"/>
            <a:ext cx="36568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1a1a2e"/>
                </a:solidFill>
                <a:effectLst/>
                <a:uFillTx/>
                <a:latin typeface="Trebuchet MS"/>
                <a:ea typeface="Trebuchet MS"/>
              </a:rPr>
              <a:t>Viral Content</a:t>
            </a:r>
            <a:endParaRPr b="0" lang="en-US" sz="1200" strike="noStrike" u="none">
              <a:solidFill>
                <a:srgbClr val="000000"/>
              </a:solidFill>
              <a:effectLst/>
              <a:uFillTx/>
              <a:latin typeface="Arial"/>
            </a:endParaRPr>
          </a:p>
        </p:txBody>
      </p:sp>
      <p:sp>
        <p:nvSpPr>
          <p:cNvPr id="1068" name="Text 32"/>
          <p:cNvSpPr/>
          <p:nvPr/>
        </p:nvSpPr>
        <p:spPr>
          <a:xfrm>
            <a:off x="4937760" y="4206240"/>
            <a:ext cx="36568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000" strike="noStrike" u="none">
                <a:solidFill>
                  <a:srgbClr val="8e8e8e"/>
                </a:solidFill>
                <a:effectLst/>
                <a:uFillTx/>
                <a:latin typeface="Calibri"/>
                <a:ea typeface="Calibri"/>
              </a:rPr>
              <a:t>Canva, Crello, Lumen5</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69" name="Text 0"/>
          <p:cNvSpPr/>
          <p:nvPr/>
        </p:nvSpPr>
        <p:spPr>
          <a:xfrm>
            <a:off x="548640" y="731520"/>
            <a:ext cx="7314480" cy="1096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5600" strike="noStrike" u="none">
                <a:solidFill>
                  <a:srgbClr val="e94560"/>
                </a:solidFill>
                <a:effectLst/>
                <a:uFillTx/>
                <a:latin typeface="Trebuchet MS"/>
                <a:ea typeface="Trebuchet MS"/>
              </a:rPr>
              <a:t>LIVE DEMO</a:t>
            </a:r>
            <a:endParaRPr b="0" lang="en-US" sz="5600" strike="noStrike" u="none">
              <a:solidFill>
                <a:srgbClr val="000000"/>
              </a:solidFill>
              <a:effectLst/>
              <a:uFillTx/>
              <a:latin typeface="Arial"/>
            </a:endParaRPr>
          </a:p>
        </p:txBody>
      </p:sp>
      <p:sp>
        <p:nvSpPr>
          <p:cNvPr id="1070" name="Text 1"/>
          <p:cNvSpPr/>
          <p:nvPr/>
        </p:nvSpPr>
        <p:spPr>
          <a:xfrm>
            <a:off x="548640" y="2011680"/>
            <a:ext cx="73144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800" strike="noStrike" u="none">
                <a:solidFill>
                  <a:srgbClr val="1a1a2e"/>
                </a:solidFill>
                <a:effectLst/>
                <a:uFillTx/>
                <a:latin typeface="Calibri"/>
                <a:ea typeface="Calibri"/>
              </a:rPr>
              <a:t>Watch how these tools work together to create</a:t>
            </a:r>
            <a:endParaRPr b="0" lang="en-US" sz="1800" strike="noStrike" u="none">
              <a:solidFill>
                <a:srgbClr val="000000"/>
              </a:solidFill>
              <a:effectLst/>
              <a:uFillTx/>
              <a:latin typeface="Arial"/>
            </a:endParaRPr>
          </a:p>
          <a:p>
            <a:pPr defTabSz="914400">
              <a:lnSpc>
                <a:spcPct val="100000"/>
              </a:lnSpc>
              <a:tabLst>
                <a:tab algn="l" pos="0"/>
              </a:tabLst>
            </a:pPr>
            <a:r>
              <a:rPr b="0" lang="en-US" sz="1800" strike="noStrike" u="none">
                <a:solidFill>
                  <a:srgbClr val="1a1a2e"/>
                </a:solidFill>
                <a:effectLst/>
                <a:uFillTx/>
                <a:latin typeface="Calibri"/>
                <a:ea typeface="Calibri"/>
              </a:rPr>
              <a:t>a marketing campaign from scratch in minutes</a:t>
            </a:r>
            <a:endParaRPr b="0" lang="en-US" sz="1800" strike="noStrike" u="none">
              <a:solidFill>
                <a:srgbClr val="000000"/>
              </a:solidFill>
              <a:effectLst/>
              <a:uFillTx/>
              <a:latin typeface="Arial"/>
            </a:endParaRPr>
          </a:p>
        </p:txBody>
      </p:sp>
      <p:sp>
        <p:nvSpPr>
          <p:cNvPr id="1071" name="Shape 2"/>
          <p:cNvSpPr/>
          <p:nvPr/>
        </p:nvSpPr>
        <p:spPr>
          <a:xfrm>
            <a:off x="548640" y="3108960"/>
            <a:ext cx="8046000" cy="45000"/>
          </a:xfrm>
          <a:prstGeom prst="rect">
            <a:avLst/>
          </a:prstGeom>
          <a:solidFill>
            <a:srgbClr val="f9e795"/>
          </a:solidFill>
          <a:ln w="0">
            <a:noFill/>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alibri"/>
            </a:endParaRPr>
          </a:p>
        </p:txBody>
      </p:sp>
      <p:sp>
        <p:nvSpPr>
          <p:cNvPr id="1072" name="Shape 3"/>
          <p:cNvSpPr/>
          <p:nvPr/>
        </p:nvSpPr>
        <p:spPr>
          <a:xfrm>
            <a:off x="548640" y="3474720"/>
            <a:ext cx="1965240" cy="54792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73" name="Text 4"/>
          <p:cNvSpPr/>
          <p:nvPr/>
        </p:nvSpPr>
        <p:spPr>
          <a:xfrm>
            <a:off x="548640" y="3474720"/>
            <a:ext cx="1965240" cy="547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trike="noStrike" u="none">
                <a:solidFill>
                  <a:srgbClr val="1a1a2e"/>
                </a:solidFill>
                <a:effectLst/>
                <a:uFillTx/>
                <a:latin typeface="Trebuchet MS"/>
                <a:ea typeface="Trebuchet MS"/>
              </a:rPr>
              <a:t>ChatGPT</a:t>
            </a:r>
            <a:endParaRPr b="0" lang="en-US" sz="1400" strike="noStrike" u="none">
              <a:solidFill>
                <a:srgbClr val="000000"/>
              </a:solidFill>
              <a:effectLst/>
              <a:uFillTx/>
              <a:latin typeface="Arial"/>
            </a:endParaRPr>
          </a:p>
        </p:txBody>
      </p:sp>
      <p:sp>
        <p:nvSpPr>
          <p:cNvPr id="1074" name="Shape 5"/>
          <p:cNvSpPr/>
          <p:nvPr/>
        </p:nvSpPr>
        <p:spPr>
          <a:xfrm>
            <a:off x="2697480" y="3474720"/>
            <a:ext cx="1965240" cy="54792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75" name="Text 6"/>
          <p:cNvSpPr/>
          <p:nvPr/>
        </p:nvSpPr>
        <p:spPr>
          <a:xfrm>
            <a:off x="2697480" y="3474720"/>
            <a:ext cx="1965240" cy="547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trike="noStrike" u="none">
                <a:solidFill>
                  <a:srgbClr val="1a1a2e"/>
                </a:solidFill>
                <a:effectLst/>
                <a:uFillTx/>
                <a:latin typeface="Trebuchet MS"/>
                <a:ea typeface="Trebuchet MS"/>
              </a:rPr>
              <a:t>Perplexity</a:t>
            </a:r>
            <a:endParaRPr b="0" lang="en-US" sz="1400" strike="noStrike" u="none">
              <a:solidFill>
                <a:srgbClr val="000000"/>
              </a:solidFill>
              <a:effectLst/>
              <a:uFillTx/>
              <a:latin typeface="Arial"/>
            </a:endParaRPr>
          </a:p>
        </p:txBody>
      </p:sp>
      <p:sp>
        <p:nvSpPr>
          <p:cNvPr id="1076" name="Shape 7"/>
          <p:cNvSpPr/>
          <p:nvPr/>
        </p:nvSpPr>
        <p:spPr>
          <a:xfrm>
            <a:off x="4846320" y="3474720"/>
            <a:ext cx="1965240" cy="54792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77" name="Text 8"/>
          <p:cNvSpPr/>
          <p:nvPr/>
        </p:nvSpPr>
        <p:spPr>
          <a:xfrm>
            <a:off x="4846320" y="3474720"/>
            <a:ext cx="1965240" cy="547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trike="noStrike" u="none">
                <a:solidFill>
                  <a:srgbClr val="1a1a2e"/>
                </a:solidFill>
                <a:effectLst/>
                <a:uFillTx/>
                <a:latin typeface="Trebuchet MS"/>
                <a:ea typeface="Trebuchet MS"/>
              </a:rPr>
              <a:t>Ideogram</a:t>
            </a:r>
            <a:endParaRPr b="0" lang="en-US" sz="1400" strike="noStrike" u="none">
              <a:solidFill>
                <a:srgbClr val="000000"/>
              </a:solidFill>
              <a:effectLst/>
              <a:uFillTx/>
              <a:latin typeface="Arial"/>
            </a:endParaRPr>
          </a:p>
        </p:txBody>
      </p:sp>
      <p:sp>
        <p:nvSpPr>
          <p:cNvPr id="1078" name="Shape 9"/>
          <p:cNvSpPr/>
          <p:nvPr/>
        </p:nvSpPr>
        <p:spPr>
          <a:xfrm>
            <a:off x="6995160" y="3474720"/>
            <a:ext cx="1965240" cy="54792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79" name="Text 10"/>
          <p:cNvSpPr/>
          <p:nvPr/>
        </p:nvSpPr>
        <p:spPr>
          <a:xfrm>
            <a:off x="6995160" y="3474720"/>
            <a:ext cx="1965240" cy="547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trike="noStrike" u="none">
                <a:solidFill>
                  <a:srgbClr val="1a1a2e"/>
                </a:solidFill>
                <a:effectLst/>
                <a:uFillTx/>
                <a:latin typeface="Trebuchet MS"/>
                <a:ea typeface="Trebuchet MS"/>
              </a:rPr>
              <a:t>Canva</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80" name="Shape 0"/>
          <p:cNvSpPr/>
          <p:nvPr/>
        </p:nvSpPr>
        <p:spPr>
          <a:xfrm>
            <a:off x="0" y="0"/>
            <a:ext cx="9143280" cy="73080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81" name="Text 1"/>
          <p:cNvSpPr/>
          <p:nvPr/>
        </p:nvSpPr>
        <p:spPr>
          <a:xfrm>
            <a:off x="548640" y="0"/>
            <a:ext cx="8228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ffffff"/>
                </a:solidFill>
                <a:effectLst/>
                <a:uFillTx/>
                <a:latin typeface="Trebuchet MS"/>
                <a:ea typeface="Trebuchet MS"/>
              </a:rPr>
              <a:t>Cheat Sheet: Top 10 Hooks for Social Media Posts (1/2)</a:t>
            </a:r>
            <a:endParaRPr b="0" lang="en-US" sz="2200" strike="noStrike" u="none">
              <a:solidFill>
                <a:srgbClr val="000000"/>
              </a:solidFill>
              <a:effectLst/>
              <a:uFillTx/>
              <a:latin typeface="Arial"/>
            </a:endParaRPr>
          </a:p>
        </p:txBody>
      </p:sp>
      <p:sp>
        <p:nvSpPr>
          <p:cNvPr id="1082" name="Shape 2"/>
          <p:cNvSpPr/>
          <p:nvPr/>
        </p:nvSpPr>
        <p:spPr>
          <a:xfrm>
            <a:off x="548640" y="914400"/>
            <a:ext cx="8046000" cy="71244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83" name="Text 3"/>
          <p:cNvSpPr/>
          <p:nvPr/>
        </p:nvSpPr>
        <p:spPr>
          <a:xfrm>
            <a:off x="640080" y="914400"/>
            <a:ext cx="456480" cy="712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e94560"/>
                </a:solidFill>
                <a:effectLst/>
                <a:uFillTx/>
                <a:latin typeface="Trebuchet MS"/>
                <a:ea typeface="Trebuchet MS"/>
              </a:rPr>
              <a:t>1</a:t>
            </a:r>
            <a:endParaRPr b="0" lang="en-US" sz="2200" strike="noStrike" u="none">
              <a:solidFill>
                <a:srgbClr val="000000"/>
              </a:solidFill>
              <a:effectLst/>
              <a:uFillTx/>
              <a:latin typeface="Arial"/>
            </a:endParaRPr>
          </a:p>
        </p:txBody>
      </p:sp>
      <p:sp>
        <p:nvSpPr>
          <p:cNvPr id="1084" name="Text 4"/>
          <p:cNvSpPr/>
          <p:nvPr/>
        </p:nvSpPr>
        <p:spPr>
          <a:xfrm>
            <a:off x="1188720" y="914400"/>
            <a:ext cx="27424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The 'Did You Know?' Hook</a:t>
            </a:r>
            <a:endParaRPr b="0" lang="en-US" sz="1300" strike="noStrike" u="none">
              <a:solidFill>
                <a:srgbClr val="000000"/>
              </a:solidFill>
              <a:effectLst/>
              <a:uFillTx/>
              <a:latin typeface="Arial"/>
            </a:endParaRPr>
          </a:p>
        </p:txBody>
      </p:sp>
      <p:sp>
        <p:nvSpPr>
          <p:cNvPr id="1085" name="Text 5"/>
          <p:cNvSpPr/>
          <p:nvPr/>
        </p:nvSpPr>
        <p:spPr>
          <a:xfrm>
            <a:off x="1188720" y="1261800"/>
            <a:ext cx="722304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trike="noStrike" u="none">
                <a:solidFill>
                  <a:srgbClr val="8e8e8e"/>
                </a:solidFill>
                <a:effectLst/>
                <a:uFillTx/>
                <a:latin typeface="Calibri"/>
                <a:ea typeface="Calibri"/>
              </a:rPr>
              <a:t>Did you know 90% of data breaches happen because of weak passwords?</a:t>
            </a:r>
            <a:endParaRPr b="0" lang="en-US" sz="1000" strike="noStrike" u="none">
              <a:solidFill>
                <a:srgbClr val="000000"/>
              </a:solidFill>
              <a:effectLst/>
              <a:uFillTx/>
              <a:latin typeface="Arial"/>
            </a:endParaRPr>
          </a:p>
        </p:txBody>
      </p:sp>
      <p:sp>
        <p:nvSpPr>
          <p:cNvPr id="1086" name="Shape 6"/>
          <p:cNvSpPr/>
          <p:nvPr/>
        </p:nvSpPr>
        <p:spPr>
          <a:xfrm>
            <a:off x="548640" y="1737360"/>
            <a:ext cx="8046000" cy="712440"/>
          </a:xfrm>
          <a:prstGeom prst="rect">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87" name="Text 7"/>
          <p:cNvSpPr/>
          <p:nvPr/>
        </p:nvSpPr>
        <p:spPr>
          <a:xfrm>
            <a:off x="640080" y="1737360"/>
            <a:ext cx="456480" cy="712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e94560"/>
                </a:solidFill>
                <a:effectLst/>
                <a:uFillTx/>
                <a:latin typeface="Trebuchet MS"/>
                <a:ea typeface="Trebuchet MS"/>
              </a:rPr>
              <a:t>2</a:t>
            </a:r>
            <a:endParaRPr b="0" lang="en-US" sz="2200" strike="noStrike" u="none">
              <a:solidFill>
                <a:srgbClr val="000000"/>
              </a:solidFill>
              <a:effectLst/>
              <a:uFillTx/>
              <a:latin typeface="Arial"/>
            </a:endParaRPr>
          </a:p>
        </p:txBody>
      </p:sp>
      <p:sp>
        <p:nvSpPr>
          <p:cNvPr id="1088" name="Text 8"/>
          <p:cNvSpPr/>
          <p:nvPr/>
        </p:nvSpPr>
        <p:spPr>
          <a:xfrm>
            <a:off x="1188720" y="1737360"/>
            <a:ext cx="27424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The 'Mistake' Hook</a:t>
            </a:r>
            <a:endParaRPr b="0" lang="en-US" sz="1300" strike="noStrike" u="none">
              <a:solidFill>
                <a:srgbClr val="000000"/>
              </a:solidFill>
              <a:effectLst/>
              <a:uFillTx/>
              <a:latin typeface="Arial"/>
            </a:endParaRPr>
          </a:p>
        </p:txBody>
      </p:sp>
      <p:sp>
        <p:nvSpPr>
          <p:cNvPr id="1089" name="Text 9"/>
          <p:cNvSpPr/>
          <p:nvPr/>
        </p:nvSpPr>
        <p:spPr>
          <a:xfrm>
            <a:off x="1188720" y="2084760"/>
            <a:ext cx="722304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trike="noStrike" u="none">
                <a:solidFill>
                  <a:srgbClr val="8e8e8e"/>
                </a:solidFill>
                <a:effectLst/>
                <a:uFillTx/>
                <a:latin typeface="Calibri"/>
                <a:ea typeface="Calibri"/>
              </a:rPr>
              <a:t>Are you making these 3 fashion mistakes? Here's how to fix them.</a:t>
            </a:r>
            <a:endParaRPr b="0" lang="en-US" sz="1000" strike="noStrike" u="none">
              <a:solidFill>
                <a:srgbClr val="000000"/>
              </a:solidFill>
              <a:effectLst/>
              <a:uFillTx/>
              <a:latin typeface="Arial"/>
            </a:endParaRPr>
          </a:p>
        </p:txBody>
      </p:sp>
      <p:sp>
        <p:nvSpPr>
          <p:cNvPr id="1090" name="Shape 10"/>
          <p:cNvSpPr/>
          <p:nvPr/>
        </p:nvSpPr>
        <p:spPr>
          <a:xfrm>
            <a:off x="548640" y="2560320"/>
            <a:ext cx="8046000" cy="71244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91" name="Text 11"/>
          <p:cNvSpPr/>
          <p:nvPr/>
        </p:nvSpPr>
        <p:spPr>
          <a:xfrm>
            <a:off x="640080" y="2560320"/>
            <a:ext cx="456480" cy="712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e94560"/>
                </a:solidFill>
                <a:effectLst/>
                <a:uFillTx/>
                <a:latin typeface="Trebuchet MS"/>
                <a:ea typeface="Trebuchet MS"/>
              </a:rPr>
              <a:t>3</a:t>
            </a:r>
            <a:endParaRPr b="0" lang="en-US" sz="2200" strike="noStrike" u="none">
              <a:solidFill>
                <a:srgbClr val="000000"/>
              </a:solidFill>
              <a:effectLst/>
              <a:uFillTx/>
              <a:latin typeface="Arial"/>
            </a:endParaRPr>
          </a:p>
        </p:txBody>
      </p:sp>
      <p:sp>
        <p:nvSpPr>
          <p:cNvPr id="1092" name="Text 12"/>
          <p:cNvSpPr/>
          <p:nvPr/>
        </p:nvSpPr>
        <p:spPr>
          <a:xfrm>
            <a:off x="1188720" y="2560320"/>
            <a:ext cx="27424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The 'Numbered List' Hook</a:t>
            </a:r>
            <a:endParaRPr b="0" lang="en-US" sz="1300" strike="noStrike" u="none">
              <a:solidFill>
                <a:srgbClr val="000000"/>
              </a:solidFill>
              <a:effectLst/>
              <a:uFillTx/>
              <a:latin typeface="Arial"/>
            </a:endParaRPr>
          </a:p>
        </p:txBody>
      </p:sp>
      <p:sp>
        <p:nvSpPr>
          <p:cNvPr id="1093" name="Text 13"/>
          <p:cNvSpPr/>
          <p:nvPr/>
        </p:nvSpPr>
        <p:spPr>
          <a:xfrm>
            <a:off x="1188720" y="2907720"/>
            <a:ext cx="722304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trike="noStrike" u="none">
                <a:solidFill>
                  <a:srgbClr val="8e8e8e"/>
                </a:solidFill>
                <a:effectLst/>
                <a:uFillTx/>
                <a:latin typeface="Calibri"/>
                <a:ea typeface="Calibri"/>
              </a:rPr>
              <a:t>5 AI-powered tools that save your team 10+ hours every week.</a:t>
            </a:r>
            <a:endParaRPr b="0" lang="en-US" sz="1000" strike="noStrike" u="none">
              <a:solidFill>
                <a:srgbClr val="000000"/>
              </a:solidFill>
              <a:effectLst/>
              <a:uFillTx/>
              <a:latin typeface="Arial"/>
            </a:endParaRPr>
          </a:p>
        </p:txBody>
      </p:sp>
      <p:sp>
        <p:nvSpPr>
          <p:cNvPr id="1094" name="Shape 14"/>
          <p:cNvSpPr/>
          <p:nvPr/>
        </p:nvSpPr>
        <p:spPr>
          <a:xfrm>
            <a:off x="548640" y="3383280"/>
            <a:ext cx="8046000" cy="712440"/>
          </a:xfrm>
          <a:prstGeom prst="rect">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95" name="Text 15"/>
          <p:cNvSpPr/>
          <p:nvPr/>
        </p:nvSpPr>
        <p:spPr>
          <a:xfrm>
            <a:off x="640080" y="3383280"/>
            <a:ext cx="456480" cy="712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e94560"/>
                </a:solidFill>
                <a:effectLst/>
                <a:uFillTx/>
                <a:latin typeface="Trebuchet MS"/>
                <a:ea typeface="Trebuchet MS"/>
              </a:rPr>
              <a:t>4</a:t>
            </a:r>
            <a:endParaRPr b="0" lang="en-US" sz="2200" strike="noStrike" u="none">
              <a:solidFill>
                <a:srgbClr val="000000"/>
              </a:solidFill>
              <a:effectLst/>
              <a:uFillTx/>
              <a:latin typeface="Arial"/>
            </a:endParaRPr>
          </a:p>
        </p:txBody>
      </p:sp>
      <p:sp>
        <p:nvSpPr>
          <p:cNvPr id="1096" name="Text 16"/>
          <p:cNvSpPr/>
          <p:nvPr/>
        </p:nvSpPr>
        <p:spPr>
          <a:xfrm>
            <a:off x="1188720" y="3383280"/>
            <a:ext cx="27424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The 'How-To' Hook</a:t>
            </a:r>
            <a:endParaRPr b="0" lang="en-US" sz="1300" strike="noStrike" u="none">
              <a:solidFill>
                <a:srgbClr val="000000"/>
              </a:solidFill>
              <a:effectLst/>
              <a:uFillTx/>
              <a:latin typeface="Arial"/>
            </a:endParaRPr>
          </a:p>
        </p:txBody>
      </p:sp>
      <p:sp>
        <p:nvSpPr>
          <p:cNvPr id="1097" name="Text 17"/>
          <p:cNvSpPr/>
          <p:nvPr/>
        </p:nvSpPr>
        <p:spPr>
          <a:xfrm>
            <a:off x="1188720" y="3730680"/>
            <a:ext cx="722304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trike="noStrike" u="none">
                <a:solidFill>
                  <a:srgbClr val="8e8e8e"/>
                </a:solidFill>
                <a:effectLst/>
                <a:uFillTx/>
                <a:latin typeface="Calibri"/>
                <a:ea typeface="Calibri"/>
              </a:rPr>
              <a:t>How to save $500/month using AI-driven budgeting tools.</a:t>
            </a:r>
            <a:endParaRPr b="0" lang="en-US" sz="1000" strike="noStrike" u="none">
              <a:solidFill>
                <a:srgbClr val="000000"/>
              </a:solidFill>
              <a:effectLst/>
              <a:uFillTx/>
              <a:latin typeface="Arial"/>
            </a:endParaRPr>
          </a:p>
        </p:txBody>
      </p:sp>
      <p:sp>
        <p:nvSpPr>
          <p:cNvPr id="1098" name="Shape 18"/>
          <p:cNvSpPr/>
          <p:nvPr/>
        </p:nvSpPr>
        <p:spPr>
          <a:xfrm>
            <a:off x="548640" y="4206240"/>
            <a:ext cx="8046000" cy="71244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099" name="Text 19"/>
          <p:cNvSpPr/>
          <p:nvPr/>
        </p:nvSpPr>
        <p:spPr>
          <a:xfrm>
            <a:off x="640080" y="4206240"/>
            <a:ext cx="456480" cy="712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e94560"/>
                </a:solidFill>
                <a:effectLst/>
                <a:uFillTx/>
                <a:latin typeface="Trebuchet MS"/>
                <a:ea typeface="Trebuchet MS"/>
              </a:rPr>
              <a:t>5</a:t>
            </a:r>
            <a:endParaRPr b="0" lang="en-US" sz="2200" strike="noStrike" u="none">
              <a:solidFill>
                <a:srgbClr val="000000"/>
              </a:solidFill>
              <a:effectLst/>
              <a:uFillTx/>
              <a:latin typeface="Arial"/>
            </a:endParaRPr>
          </a:p>
        </p:txBody>
      </p:sp>
      <p:sp>
        <p:nvSpPr>
          <p:cNvPr id="1100" name="Text 20"/>
          <p:cNvSpPr/>
          <p:nvPr/>
        </p:nvSpPr>
        <p:spPr>
          <a:xfrm>
            <a:off x="1188720" y="4206240"/>
            <a:ext cx="27424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The 'Curiosity Gap' Hook</a:t>
            </a:r>
            <a:endParaRPr b="0" lang="en-US" sz="1300" strike="noStrike" u="none">
              <a:solidFill>
                <a:srgbClr val="000000"/>
              </a:solidFill>
              <a:effectLst/>
              <a:uFillTx/>
              <a:latin typeface="Arial"/>
            </a:endParaRPr>
          </a:p>
        </p:txBody>
      </p:sp>
      <p:sp>
        <p:nvSpPr>
          <p:cNvPr id="1101" name="Text 21"/>
          <p:cNvSpPr/>
          <p:nvPr/>
        </p:nvSpPr>
        <p:spPr>
          <a:xfrm>
            <a:off x="1188720" y="4553640"/>
            <a:ext cx="722304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trike="noStrike" u="none">
                <a:solidFill>
                  <a:srgbClr val="8e8e8e"/>
                </a:solidFill>
                <a:effectLst/>
                <a:uFillTx/>
                <a:latin typeface="Calibri"/>
                <a:ea typeface="Calibri"/>
              </a:rPr>
              <a:t>You're probably charging your EV wrong... here's how to fix it.</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02" name="Shape 0"/>
          <p:cNvSpPr/>
          <p:nvPr/>
        </p:nvSpPr>
        <p:spPr>
          <a:xfrm>
            <a:off x="0" y="0"/>
            <a:ext cx="9143280" cy="73080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103" name="Text 1"/>
          <p:cNvSpPr/>
          <p:nvPr/>
        </p:nvSpPr>
        <p:spPr>
          <a:xfrm>
            <a:off x="548640" y="0"/>
            <a:ext cx="82288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ffffff"/>
                </a:solidFill>
                <a:effectLst/>
                <a:uFillTx/>
                <a:latin typeface="Trebuchet MS"/>
                <a:ea typeface="Trebuchet MS"/>
              </a:rPr>
              <a:t>Cheat Sheet: Top 10 Hooks for Social Media Posts (2/2)</a:t>
            </a:r>
            <a:endParaRPr b="0" lang="en-US" sz="2200" strike="noStrike" u="none">
              <a:solidFill>
                <a:srgbClr val="000000"/>
              </a:solidFill>
              <a:effectLst/>
              <a:uFillTx/>
              <a:latin typeface="Arial"/>
            </a:endParaRPr>
          </a:p>
        </p:txBody>
      </p:sp>
      <p:sp>
        <p:nvSpPr>
          <p:cNvPr id="1104" name="Shape 2"/>
          <p:cNvSpPr/>
          <p:nvPr/>
        </p:nvSpPr>
        <p:spPr>
          <a:xfrm>
            <a:off x="548640" y="914400"/>
            <a:ext cx="8046000" cy="71244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105" name="Text 3"/>
          <p:cNvSpPr/>
          <p:nvPr/>
        </p:nvSpPr>
        <p:spPr>
          <a:xfrm>
            <a:off x="640080" y="914400"/>
            <a:ext cx="456480" cy="712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e94560"/>
                </a:solidFill>
                <a:effectLst/>
                <a:uFillTx/>
                <a:latin typeface="Trebuchet MS"/>
                <a:ea typeface="Trebuchet MS"/>
              </a:rPr>
              <a:t>6</a:t>
            </a:r>
            <a:endParaRPr b="0" lang="en-US" sz="2200" strike="noStrike" u="none">
              <a:solidFill>
                <a:srgbClr val="000000"/>
              </a:solidFill>
              <a:effectLst/>
              <a:uFillTx/>
              <a:latin typeface="Arial"/>
            </a:endParaRPr>
          </a:p>
        </p:txBody>
      </p:sp>
      <p:sp>
        <p:nvSpPr>
          <p:cNvPr id="1106" name="Text 4"/>
          <p:cNvSpPr/>
          <p:nvPr/>
        </p:nvSpPr>
        <p:spPr>
          <a:xfrm>
            <a:off x="1188720" y="914400"/>
            <a:ext cx="27424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The 'Shock Factor' Hook</a:t>
            </a:r>
            <a:endParaRPr b="0" lang="en-US" sz="1300" strike="noStrike" u="none">
              <a:solidFill>
                <a:srgbClr val="000000"/>
              </a:solidFill>
              <a:effectLst/>
              <a:uFillTx/>
              <a:latin typeface="Arial"/>
            </a:endParaRPr>
          </a:p>
        </p:txBody>
      </p:sp>
      <p:sp>
        <p:nvSpPr>
          <p:cNvPr id="1107" name="Text 5"/>
          <p:cNvSpPr/>
          <p:nvPr/>
        </p:nvSpPr>
        <p:spPr>
          <a:xfrm>
            <a:off x="1188720" y="1261800"/>
            <a:ext cx="722304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trike="noStrike" u="none">
                <a:solidFill>
                  <a:srgbClr val="8e8e8e"/>
                </a:solidFill>
                <a:effectLst/>
                <a:uFillTx/>
                <a:latin typeface="Calibri"/>
                <a:ea typeface="Calibri"/>
              </a:rPr>
              <a:t>99% of pre-workout drinks contain artificial junk - here's what to use instead.</a:t>
            </a:r>
            <a:endParaRPr b="0" lang="en-US" sz="1000" strike="noStrike" u="none">
              <a:solidFill>
                <a:srgbClr val="000000"/>
              </a:solidFill>
              <a:effectLst/>
              <a:uFillTx/>
              <a:latin typeface="Arial"/>
            </a:endParaRPr>
          </a:p>
        </p:txBody>
      </p:sp>
      <p:sp>
        <p:nvSpPr>
          <p:cNvPr id="1108" name="Shape 6"/>
          <p:cNvSpPr/>
          <p:nvPr/>
        </p:nvSpPr>
        <p:spPr>
          <a:xfrm>
            <a:off x="548640" y="1737360"/>
            <a:ext cx="8046000" cy="712440"/>
          </a:xfrm>
          <a:prstGeom prst="rect">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109" name="Text 7"/>
          <p:cNvSpPr/>
          <p:nvPr/>
        </p:nvSpPr>
        <p:spPr>
          <a:xfrm>
            <a:off x="640080" y="1737360"/>
            <a:ext cx="456480" cy="712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e94560"/>
                </a:solidFill>
                <a:effectLst/>
                <a:uFillTx/>
                <a:latin typeface="Trebuchet MS"/>
                <a:ea typeface="Trebuchet MS"/>
              </a:rPr>
              <a:t>7</a:t>
            </a:r>
            <a:endParaRPr b="0" lang="en-US" sz="2200" strike="noStrike" u="none">
              <a:solidFill>
                <a:srgbClr val="000000"/>
              </a:solidFill>
              <a:effectLst/>
              <a:uFillTx/>
              <a:latin typeface="Arial"/>
            </a:endParaRPr>
          </a:p>
        </p:txBody>
      </p:sp>
      <p:sp>
        <p:nvSpPr>
          <p:cNvPr id="1110" name="Text 8"/>
          <p:cNvSpPr/>
          <p:nvPr/>
        </p:nvSpPr>
        <p:spPr>
          <a:xfrm>
            <a:off x="1188720" y="1737360"/>
            <a:ext cx="27424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The 'Challenge the Norm' Hook</a:t>
            </a:r>
            <a:endParaRPr b="0" lang="en-US" sz="1300" strike="noStrike" u="none">
              <a:solidFill>
                <a:srgbClr val="000000"/>
              </a:solidFill>
              <a:effectLst/>
              <a:uFillTx/>
              <a:latin typeface="Arial"/>
            </a:endParaRPr>
          </a:p>
        </p:txBody>
      </p:sp>
      <p:sp>
        <p:nvSpPr>
          <p:cNvPr id="1111" name="Text 9"/>
          <p:cNvSpPr/>
          <p:nvPr/>
        </p:nvSpPr>
        <p:spPr>
          <a:xfrm>
            <a:off x="1188720" y="2084760"/>
            <a:ext cx="722304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trike="noStrike" u="none">
                <a:solidFill>
                  <a:srgbClr val="8e8e8e"/>
                </a:solidFill>
                <a:effectLst/>
                <a:uFillTx/>
                <a:latin typeface="Calibri"/>
                <a:ea typeface="Calibri"/>
              </a:rPr>
              <a:t>Buying a house isn't always a good investment. Here's why renting might be smarter.</a:t>
            </a:r>
            <a:endParaRPr b="0" lang="en-US" sz="1000" strike="noStrike" u="none">
              <a:solidFill>
                <a:srgbClr val="000000"/>
              </a:solidFill>
              <a:effectLst/>
              <a:uFillTx/>
              <a:latin typeface="Arial"/>
            </a:endParaRPr>
          </a:p>
        </p:txBody>
      </p:sp>
      <p:sp>
        <p:nvSpPr>
          <p:cNvPr id="1112" name="Shape 10"/>
          <p:cNvSpPr/>
          <p:nvPr/>
        </p:nvSpPr>
        <p:spPr>
          <a:xfrm>
            <a:off x="548640" y="2560320"/>
            <a:ext cx="8046000" cy="71244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113" name="Text 11"/>
          <p:cNvSpPr/>
          <p:nvPr/>
        </p:nvSpPr>
        <p:spPr>
          <a:xfrm>
            <a:off x="640080" y="2560320"/>
            <a:ext cx="456480" cy="712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e94560"/>
                </a:solidFill>
                <a:effectLst/>
                <a:uFillTx/>
                <a:latin typeface="Trebuchet MS"/>
                <a:ea typeface="Trebuchet MS"/>
              </a:rPr>
              <a:t>8</a:t>
            </a:r>
            <a:endParaRPr b="0" lang="en-US" sz="2200" strike="noStrike" u="none">
              <a:solidFill>
                <a:srgbClr val="000000"/>
              </a:solidFill>
              <a:effectLst/>
              <a:uFillTx/>
              <a:latin typeface="Arial"/>
            </a:endParaRPr>
          </a:p>
        </p:txBody>
      </p:sp>
      <p:sp>
        <p:nvSpPr>
          <p:cNvPr id="1114" name="Text 12"/>
          <p:cNvSpPr/>
          <p:nvPr/>
        </p:nvSpPr>
        <p:spPr>
          <a:xfrm>
            <a:off x="1188720" y="2560320"/>
            <a:ext cx="27424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The 'Storytelling' Hook</a:t>
            </a:r>
            <a:endParaRPr b="0" lang="en-US" sz="1300" strike="noStrike" u="none">
              <a:solidFill>
                <a:srgbClr val="000000"/>
              </a:solidFill>
              <a:effectLst/>
              <a:uFillTx/>
              <a:latin typeface="Arial"/>
            </a:endParaRPr>
          </a:p>
        </p:txBody>
      </p:sp>
      <p:sp>
        <p:nvSpPr>
          <p:cNvPr id="1115" name="Text 13"/>
          <p:cNvSpPr/>
          <p:nvPr/>
        </p:nvSpPr>
        <p:spPr>
          <a:xfrm>
            <a:off x="1188720" y="2907720"/>
            <a:ext cx="722304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trike="noStrike" u="none">
                <a:solidFill>
                  <a:srgbClr val="8e8e8e"/>
                </a:solidFill>
                <a:effectLst/>
                <a:uFillTx/>
                <a:latin typeface="Calibri"/>
                <a:ea typeface="Calibri"/>
              </a:rPr>
              <a:t>Five years ago, I struggled to find funding. Today, we work with Fortune 500s.</a:t>
            </a:r>
            <a:endParaRPr b="0" lang="en-US" sz="1000" strike="noStrike" u="none">
              <a:solidFill>
                <a:srgbClr val="000000"/>
              </a:solidFill>
              <a:effectLst/>
              <a:uFillTx/>
              <a:latin typeface="Arial"/>
            </a:endParaRPr>
          </a:p>
        </p:txBody>
      </p:sp>
      <p:sp>
        <p:nvSpPr>
          <p:cNvPr id="1116" name="Shape 14"/>
          <p:cNvSpPr/>
          <p:nvPr/>
        </p:nvSpPr>
        <p:spPr>
          <a:xfrm>
            <a:off x="548640" y="3383280"/>
            <a:ext cx="8046000" cy="712440"/>
          </a:xfrm>
          <a:prstGeom prst="rect">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117" name="Text 15"/>
          <p:cNvSpPr/>
          <p:nvPr/>
        </p:nvSpPr>
        <p:spPr>
          <a:xfrm>
            <a:off x="640080" y="3383280"/>
            <a:ext cx="456480" cy="712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e94560"/>
                </a:solidFill>
                <a:effectLst/>
                <a:uFillTx/>
                <a:latin typeface="Trebuchet MS"/>
                <a:ea typeface="Trebuchet MS"/>
              </a:rPr>
              <a:t>9</a:t>
            </a:r>
            <a:endParaRPr b="0" lang="en-US" sz="2200" strike="noStrike" u="none">
              <a:solidFill>
                <a:srgbClr val="000000"/>
              </a:solidFill>
              <a:effectLst/>
              <a:uFillTx/>
              <a:latin typeface="Arial"/>
            </a:endParaRPr>
          </a:p>
        </p:txBody>
      </p:sp>
      <p:sp>
        <p:nvSpPr>
          <p:cNvPr id="1118" name="Text 16"/>
          <p:cNvSpPr/>
          <p:nvPr/>
        </p:nvSpPr>
        <p:spPr>
          <a:xfrm>
            <a:off x="1188720" y="3383280"/>
            <a:ext cx="27424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The 'Engagement Question' Hook</a:t>
            </a:r>
            <a:endParaRPr b="0" lang="en-US" sz="1300" strike="noStrike" u="none">
              <a:solidFill>
                <a:srgbClr val="000000"/>
              </a:solidFill>
              <a:effectLst/>
              <a:uFillTx/>
              <a:latin typeface="Arial"/>
            </a:endParaRPr>
          </a:p>
        </p:txBody>
      </p:sp>
      <p:sp>
        <p:nvSpPr>
          <p:cNvPr id="1119" name="Text 17"/>
          <p:cNvSpPr/>
          <p:nvPr/>
        </p:nvSpPr>
        <p:spPr>
          <a:xfrm>
            <a:off x="1188720" y="3730680"/>
            <a:ext cx="722304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trike="noStrike" u="none">
                <a:solidFill>
                  <a:srgbClr val="8e8e8e"/>
                </a:solidFill>
                <a:effectLst/>
                <a:uFillTx/>
                <a:latin typeface="Calibri"/>
                <a:ea typeface="Calibri"/>
              </a:rPr>
              <a:t>If you could teleport to ANY destination right now, where would it be?</a:t>
            </a:r>
            <a:endParaRPr b="0" lang="en-US" sz="1000" strike="noStrike" u="none">
              <a:solidFill>
                <a:srgbClr val="000000"/>
              </a:solidFill>
              <a:effectLst/>
              <a:uFillTx/>
              <a:latin typeface="Arial"/>
            </a:endParaRPr>
          </a:p>
        </p:txBody>
      </p:sp>
      <p:sp>
        <p:nvSpPr>
          <p:cNvPr id="1120" name="Shape 18"/>
          <p:cNvSpPr/>
          <p:nvPr/>
        </p:nvSpPr>
        <p:spPr>
          <a:xfrm>
            <a:off x="548640" y="4206240"/>
            <a:ext cx="8046000" cy="71244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121" name="Text 19"/>
          <p:cNvSpPr/>
          <p:nvPr/>
        </p:nvSpPr>
        <p:spPr>
          <a:xfrm>
            <a:off x="640080" y="4206240"/>
            <a:ext cx="456480" cy="712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trike="noStrike" u="none">
                <a:solidFill>
                  <a:srgbClr val="e94560"/>
                </a:solidFill>
                <a:effectLst/>
                <a:uFillTx/>
                <a:latin typeface="Trebuchet MS"/>
                <a:ea typeface="Trebuchet MS"/>
              </a:rPr>
              <a:t>10</a:t>
            </a:r>
            <a:endParaRPr b="0" lang="en-US" sz="2200" strike="noStrike" u="none">
              <a:solidFill>
                <a:srgbClr val="000000"/>
              </a:solidFill>
              <a:effectLst/>
              <a:uFillTx/>
              <a:latin typeface="Arial"/>
            </a:endParaRPr>
          </a:p>
        </p:txBody>
      </p:sp>
      <p:sp>
        <p:nvSpPr>
          <p:cNvPr id="1122" name="Text 20"/>
          <p:cNvSpPr/>
          <p:nvPr/>
        </p:nvSpPr>
        <p:spPr>
          <a:xfrm>
            <a:off x="1188720" y="4206240"/>
            <a:ext cx="274248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00" strike="noStrike" u="none">
                <a:solidFill>
                  <a:srgbClr val="1a1a2e"/>
                </a:solidFill>
                <a:effectLst/>
                <a:uFillTx/>
                <a:latin typeface="Trebuchet MS"/>
                <a:ea typeface="Trebuchet MS"/>
              </a:rPr>
              <a:t>The 'Proven Formula' Hook</a:t>
            </a:r>
            <a:endParaRPr b="0" lang="en-US" sz="1300" strike="noStrike" u="none">
              <a:solidFill>
                <a:srgbClr val="000000"/>
              </a:solidFill>
              <a:effectLst/>
              <a:uFillTx/>
              <a:latin typeface="Arial"/>
            </a:endParaRPr>
          </a:p>
        </p:txBody>
      </p:sp>
      <p:sp>
        <p:nvSpPr>
          <p:cNvPr id="1123" name="Text 21"/>
          <p:cNvSpPr/>
          <p:nvPr/>
        </p:nvSpPr>
        <p:spPr>
          <a:xfrm>
            <a:off x="1188720" y="4553640"/>
            <a:ext cx="722304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000" strike="noStrike" u="none">
                <a:solidFill>
                  <a:srgbClr val="8e8e8e"/>
                </a:solidFill>
                <a:effectLst/>
                <a:uFillTx/>
                <a:latin typeface="Calibri"/>
                <a:ea typeface="Calibri"/>
              </a:rPr>
              <a:t>The 3-step formula our clients use to 2x their productivity.</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24" name="Rectangle 1"/>
          <p:cNvSpPr/>
          <p:nvPr/>
        </p:nvSpPr>
        <p:spPr>
          <a:xfrm>
            <a:off x="0" y="0"/>
            <a:ext cx="54000" cy="5142960"/>
          </a:xfrm>
          <a:prstGeom prst="rect">
            <a:avLst/>
          </a:prstGeom>
          <a:solidFill>
            <a:srgbClr val="e9456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25" name="TextBox 2"/>
          <p:cNvSpPr/>
          <p:nvPr/>
        </p:nvSpPr>
        <p:spPr>
          <a:xfrm>
            <a:off x="731520" y="731520"/>
            <a:ext cx="2742480" cy="1188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8000" strike="noStrike" u="none">
                <a:solidFill>
                  <a:srgbClr val="e94560"/>
                </a:solidFill>
                <a:effectLst/>
                <a:uFillTx/>
                <a:latin typeface="Trebuchet MS"/>
              </a:rPr>
              <a:t>05</a:t>
            </a:r>
            <a:endParaRPr b="0" lang="en-US" sz="8000" strike="noStrike" u="none">
              <a:solidFill>
                <a:srgbClr val="000000"/>
              </a:solidFill>
              <a:effectLst/>
              <a:uFillTx/>
              <a:latin typeface="Arial"/>
            </a:endParaRPr>
          </a:p>
        </p:txBody>
      </p:sp>
      <p:sp>
        <p:nvSpPr>
          <p:cNvPr id="1126" name="TextBox 3"/>
          <p:cNvSpPr/>
          <p:nvPr/>
        </p:nvSpPr>
        <p:spPr>
          <a:xfrm>
            <a:off x="731520" y="1920240"/>
            <a:ext cx="7314480" cy="913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4200" strike="noStrike" u="none">
                <a:solidFill>
                  <a:srgbClr val="1a1a2e"/>
                </a:solidFill>
                <a:effectLst/>
                <a:uFillTx/>
                <a:latin typeface="Trebuchet MS"/>
              </a:rPr>
              <a:t>The EDGE Framework</a:t>
            </a:r>
            <a:endParaRPr b="0" lang="en-US" sz="4200" strike="noStrike" u="none">
              <a:solidFill>
                <a:srgbClr val="000000"/>
              </a:solidFill>
              <a:effectLst/>
              <a:uFillTx/>
              <a:latin typeface="Arial"/>
            </a:endParaRPr>
          </a:p>
        </p:txBody>
      </p:sp>
      <p:sp>
        <p:nvSpPr>
          <p:cNvPr id="1127" name="TextBox 4"/>
          <p:cNvSpPr/>
          <p:nvPr/>
        </p:nvSpPr>
        <p:spPr>
          <a:xfrm>
            <a:off x="731520" y="2834640"/>
            <a:ext cx="7314480" cy="547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i="1" lang="en-US" sz="2000" strike="noStrike" u="none">
                <a:solidFill>
                  <a:srgbClr val="0f9b8e"/>
                </a:solidFill>
                <a:effectLst/>
                <a:uFillTx/>
                <a:latin typeface="Calibri"/>
              </a:rPr>
              <a:t>Applied Intelligence for Startups</a:t>
            </a:r>
            <a:endParaRPr b="0" lang="en-US" sz="2000" strike="noStrike" u="none">
              <a:solidFill>
                <a:srgbClr val="000000"/>
              </a:solidFill>
              <a:effectLst/>
              <a:uFillTx/>
              <a:latin typeface="Arial"/>
            </a:endParaRPr>
          </a:p>
        </p:txBody>
      </p:sp>
      <p:sp>
        <p:nvSpPr>
          <p:cNvPr id="1128" name="Rectangle 5"/>
          <p:cNvSpPr/>
          <p:nvPr/>
        </p:nvSpPr>
        <p:spPr>
          <a:xfrm>
            <a:off x="731520" y="4206240"/>
            <a:ext cx="2285280" cy="36000"/>
          </a:xfrm>
          <a:prstGeom prst="rect">
            <a:avLst/>
          </a:prstGeom>
          <a:solidFill>
            <a:srgbClr val="e94560"/>
          </a:solidFill>
          <a:ln>
            <a:noFill/>
          </a:ln>
        </p:spPr>
        <p:style>
          <a:lnRef idx="1">
            <a:schemeClr val="accent1"/>
          </a:lnRef>
          <a:fillRef idx="3">
            <a:schemeClr val="accent1"/>
          </a:fillRef>
          <a:effectRef idx="2">
            <a:schemeClr val="accent1"/>
          </a:effectRef>
          <a:fontRef idx="minor"/>
        </p:style>
        <p:txBody>
          <a:bodyPr lIns="90000" rIns="90000" tIns="-8280" bIns="-82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29" name="TextBox 6"/>
          <p:cNvSpPr/>
          <p:nvPr/>
        </p:nvSpPr>
        <p:spPr>
          <a:xfrm>
            <a:off x="731520" y="4343400"/>
            <a:ext cx="4571280" cy="365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100" strike="noStrike" u="none">
                <a:solidFill>
                  <a:srgbClr val="8e8e8e"/>
                </a:solidFill>
                <a:effectLst/>
                <a:uFillTx/>
                <a:latin typeface="Calibri"/>
              </a:rPr>
              <a:t>adrianwatkins.com/edge</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df6f0"/>
        </a:solidFill>
      </p:bgPr>
    </p:bg>
    <p:spTree>
      <p:nvGrpSpPr>
        <p:cNvPr id="1" name=""/>
        <p:cNvGrpSpPr/>
        <p:nvPr/>
      </p:nvGrpSpPr>
      <p:grpSpPr>
        <a:xfrm>
          <a:off x="0" y="0"/>
          <a:ext cx="0" cy="0"/>
          <a:chOff x="0" y="0"/>
          <a:chExt cx="0" cy="0"/>
        </a:xfrm>
      </p:grpSpPr>
      <p:sp>
        <p:nvSpPr>
          <p:cNvPr id="1130" name="TextBox 1"/>
          <p:cNvSpPr/>
          <p:nvPr/>
        </p:nvSpPr>
        <p:spPr>
          <a:xfrm>
            <a:off x="457200" y="228600"/>
            <a:ext cx="8228880" cy="547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3600" strike="noStrike" u="none">
                <a:solidFill>
                  <a:srgbClr val="1a1a2e"/>
                </a:solidFill>
                <a:effectLst/>
                <a:uFillTx/>
                <a:latin typeface="Trebuchet MS"/>
              </a:rPr>
              <a:t>The EDGE Framework</a:t>
            </a:r>
            <a:endParaRPr b="0" lang="en-US" sz="3600" strike="noStrike" u="none">
              <a:solidFill>
                <a:srgbClr val="000000"/>
              </a:solidFill>
              <a:effectLst/>
              <a:uFillTx/>
              <a:latin typeface="Arial"/>
            </a:endParaRPr>
          </a:p>
        </p:txBody>
      </p:sp>
      <p:sp>
        <p:nvSpPr>
          <p:cNvPr id="1131" name="TextBox 2"/>
          <p:cNvSpPr/>
          <p:nvPr/>
        </p:nvSpPr>
        <p:spPr>
          <a:xfrm>
            <a:off x="457200" y="731520"/>
            <a:ext cx="8228880" cy="365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i="1" lang="en-US" sz="1300" strike="noStrike" u="none">
                <a:solidFill>
                  <a:srgbClr val="8e8e8e"/>
                </a:solidFill>
                <a:effectLst/>
                <a:uFillTx/>
                <a:latin typeface="Calibri"/>
              </a:rPr>
              <a:t>Intelligence must be structured before it can be scaled</a:t>
            </a:r>
            <a:endParaRPr b="0" lang="en-US" sz="1300" strike="noStrike" u="none">
              <a:solidFill>
                <a:srgbClr val="000000"/>
              </a:solidFill>
              <a:effectLst/>
              <a:uFillTx/>
              <a:latin typeface="Arial"/>
            </a:endParaRPr>
          </a:p>
        </p:txBody>
      </p:sp>
      <p:sp>
        <p:nvSpPr>
          <p:cNvPr id="1132" name="Rectangle 3"/>
          <p:cNvSpPr/>
          <p:nvPr/>
        </p:nvSpPr>
        <p:spPr>
          <a:xfrm>
            <a:off x="384120" y="1280160"/>
            <a:ext cx="1965240" cy="33368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33" name="Rectangle 4"/>
          <p:cNvSpPr/>
          <p:nvPr/>
        </p:nvSpPr>
        <p:spPr>
          <a:xfrm>
            <a:off x="384120" y="1280160"/>
            <a:ext cx="1965240" cy="63360"/>
          </a:xfrm>
          <a:prstGeom prst="rect">
            <a:avLst/>
          </a:prstGeom>
          <a:solidFill>
            <a:srgbClr val="e94560"/>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34" name="Oval 5"/>
          <p:cNvSpPr/>
          <p:nvPr/>
        </p:nvSpPr>
        <p:spPr>
          <a:xfrm>
            <a:off x="1069920" y="1508760"/>
            <a:ext cx="593640" cy="593640"/>
          </a:xfrm>
          <a:prstGeom prst="ellipse">
            <a:avLst/>
          </a:prstGeom>
          <a:solidFill>
            <a:srgbClr val="e94560"/>
          </a:solidFill>
          <a:ln>
            <a:noFill/>
          </a:ln>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defTabSz="914400">
              <a:lnSpc>
                <a:spcPct val="100000"/>
              </a:lnSpc>
            </a:pPr>
            <a:r>
              <a:rPr b="1" lang="en-US" sz="2600" strike="noStrike" u="none">
                <a:solidFill>
                  <a:srgbClr val="ffffff"/>
                </a:solidFill>
                <a:effectLst/>
                <a:uFillTx/>
                <a:latin typeface="Trebuchet MS"/>
              </a:rPr>
              <a:t>E</a:t>
            </a:r>
            <a:endParaRPr b="0" lang="en-US" sz="2600" strike="noStrike" u="none">
              <a:solidFill>
                <a:srgbClr val="ffffff"/>
              </a:solidFill>
              <a:effectLst/>
              <a:uFillTx/>
              <a:latin typeface="Arial"/>
            </a:endParaRPr>
          </a:p>
        </p:txBody>
      </p:sp>
      <p:sp>
        <p:nvSpPr>
          <p:cNvPr id="1135" name="TextBox 6"/>
          <p:cNvSpPr/>
          <p:nvPr/>
        </p:nvSpPr>
        <p:spPr>
          <a:xfrm>
            <a:off x="457200" y="2240280"/>
            <a:ext cx="1819080" cy="3193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300" strike="noStrike" u="none">
                <a:solidFill>
                  <a:srgbClr val="e94560"/>
                </a:solidFill>
                <a:effectLst/>
                <a:uFillTx/>
                <a:latin typeface="Trebuchet MS"/>
              </a:rPr>
              <a:t>EVALUATE</a:t>
            </a:r>
            <a:endParaRPr b="0" lang="en-US" sz="1300" strike="noStrike" u="none">
              <a:solidFill>
                <a:srgbClr val="000000"/>
              </a:solidFill>
              <a:effectLst/>
              <a:uFillTx/>
              <a:latin typeface="Arial"/>
            </a:endParaRPr>
          </a:p>
        </p:txBody>
      </p:sp>
      <p:sp>
        <p:nvSpPr>
          <p:cNvPr id="1136" name="TextBox 7"/>
          <p:cNvSpPr/>
          <p:nvPr/>
        </p:nvSpPr>
        <p:spPr>
          <a:xfrm>
            <a:off x="475560" y="2606040"/>
            <a:ext cx="1782360" cy="730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i="1" lang="en-US" sz="1000" strike="noStrike" u="none">
                <a:solidFill>
                  <a:srgbClr val="4a4a4a"/>
                </a:solidFill>
                <a:effectLst/>
                <a:uFillTx/>
                <a:latin typeface="Calibri"/>
              </a:rPr>
              <a:t>Diagnose Intelligence</a:t>
            </a:r>
            <a:endParaRPr b="0" lang="en-US" sz="1000" strike="noStrike" u="none">
              <a:solidFill>
                <a:srgbClr val="000000"/>
              </a:solidFill>
              <a:effectLst/>
              <a:uFillTx/>
              <a:latin typeface="Arial"/>
            </a:endParaRPr>
          </a:p>
          <a:p>
            <a:pPr algn="ctr" defTabSz="914400">
              <a:lnSpc>
                <a:spcPct val="100000"/>
              </a:lnSpc>
            </a:pPr>
            <a:r>
              <a:rPr b="0" i="1" lang="en-US" sz="1000" strike="noStrike" u="none">
                <a:solidFill>
                  <a:srgbClr val="4a4a4a"/>
                </a:solidFill>
                <a:effectLst/>
                <a:uFillTx/>
                <a:latin typeface="Calibri"/>
              </a:rPr>
              <a:t>Readiness</a:t>
            </a:r>
            <a:endParaRPr b="0" lang="en-US" sz="1000" strike="noStrike" u="none">
              <a:solidFill>
                <a:srgbClr val="000000"/>
              </a:solidFill>
              <a:effectLst/>
              <a:uFillTx/>
              <a:latin typeface="Arial"/>
            </a:endParaRPr>
          </a:p>
        </p:txBody>
      </p:sp>
      <p:sp>
        <p:nvSpPr>
          <p:cNvPr id="1137" name="TextBox 8"/>
          <p:cNvSpPr/>
          <p:nvPr/>
        </p:nvSpPr>
        <p:spPr>
          <a:xfrm>
            <a:off x="493920" y="3429000"/>
            <a:ext cx="1745640" cy="1096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4a4a4a"/>
                </a:solidFill>
                <a:effectLst/>
                <a:uFillTx/>
                <a:latin typeface="Calibri"/>
              </a:rPr>
              <a:t>Where are we now?</a:t>
            </a:r>
            <a:endParaRPr b="0" lang="en-US" sz="1000" strike="noStrike" u="none">
              <a:solidFill>
                <a:srgbClr val="000000"/>
              </a:solidFill>
              <a:effectLst/>
              <a:uFillTx/>
              <a:latin typeface="Arial"/>
            </a:endParaRPr>
          </a:p>
          <a:p>
            <a:pPr>
              <a:lnSpc>
                <a:spcPct val="100000"/>
              </a:lnSpc>
            </a:pPr>
            <a:r>
              <a:rPr b="0" lang="en-US" sz="1000" strike="noStrike" u="none">
                <a:solidFill>
                  <a:srgbClr val="4a4a4a"/>
                </a:solidFill>
                <a:effectLst/>
                <a:uFillTx/>
                <a:latin typeface="Calibri"/>
              </a:rPr>
              <a:t>Surface gaps between</a:t>
            </a:r>
            <a:endParaRPr b="0" lang="en-US" sz="1000" strike="noStrike" u="none">
              <a:solidFill>
                <a:srgbClr val="000000"/>
              </a:solidFill>
              <a:effectLst/>
              <a:uFillTx/>
              <a:latin typeface="Arial"/>
            </a:endParaRPr>
          </a:p>
          <a:p>
            <a:pPr algn="ctr" defTabSz="914400">
              <a:lnSpc>
                <a:spcPct val="100000"/>
              </a:lnSpc>
            </a:pPr>
            <a:r>
              <a:rPr b="0" lang="en-US" sz="1000" strike="noStrike" u="none">
                <a:solidFill>
                  <a:srgbClr val="4a4a4a"/>
                </a:solidFill>
                <a:effectLst/>
                <a:uFillTx/>
                <a:latin typeface="Calibri"/>
              </a:rPr>
              <a:t>belief and reality.</a:t>
            </a:r>
            <a:endParaRPr b="0" lang="en-US" sz="1000" strike="noStrike" u="none">
              <a:solidFill>
                <a:srgbClr val="000000"/>
              </a:solidFill>
              <a:effectLst/>
              <a:uFillTx/>
              <a:latin typeface="Arial"/>
            </a:endParaRPr>
          </a:p>
        </p:txBody>
      </p:sp>
      <p:sp>
        <p:nvSpPr>
          <p:cNvPr id="1138" name="Rectangle 9"/>
          <p:cNvSpPr/>
          <p:nvPr/>
        </p:nvSpPr>
        <p:spPr>
          <a:xfrm>
            <a:off x="2505600" y="1280160"/>
            <a:ext cx="1965240" cy="33368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39" name="Rectangle 10"/>
          <p:cNvSpPr/>
          <p:nvPr/>
        </p:nvSpPr>
        <p:spPr>
          <a:xfrm>
            <a:off x="2505600" y="1280160"/>
            <a:ext cx="1965240" cy="63360"/>
          </a:xfrm>
          <a:prstGeom prst="rect">
            <a:avLst/>
          </a:prstGeom>
          <a:solidFill>
            <a:srgbClr val="0f9b8e"/>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40" name="Oval 11"/>
          <p:cNvSpPr/>
          <p:nvPr/>
        </p:nvSpPr>
        <p:spPr>
          <a:xfrm>
            <a:off x="3191400" y="1508760"/>
            <a:ext cx="593640" cy="593640"/>
          </a:xfrm>
          <a:prstGeom prst="ellipse">
            <a:avLst/>
          </a:prstGeom>
          <a:solidFill>
            <a:srgbClr val="0f9b8e"/>
          </a:solidFill>
          <a:ln>
            <a:noFill/>
          </a:ln>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defTabSz="914400">
              <a:lnSpc>
                <a:spcPct val="100000"/>
              </a:lnSpc>
            </a:pPr>
            <a:r>
              <a:rPr b="1" lang="en-US" sz="2600" strike="noStrike" u="none">
                <a:solidFill>
                  <a:srgbClr val="ffffff"/>
                </a:solidFill>
                <a:effectLst/>
                <a:uFillTx/>
                <a:latin typeface="Trebuchet MS"/>
              </a:rPr>
              <a:t>D</a:t>
            </a:r>
            <a:endParaRPr b="0" lang="en-US" sz="2600" strike="noStrike" u="none">
              <a:solidFill>
                <a:srgbClr val="ffffff"/>
              </a:solidFill>
              <a:effectLst/>
              <a:uFillTx/>
              <a:latin typeface="Arial"/>
            </a:endParaRPr>
          </a:p>
        </p:txBody>
      </p:sp>
      <p:sp>
        <p:nvSpPr>
          <p:cNvPr id="1141" name="TextBox 12"/>
          <p:cNvSpPr/>
          <p:nvPr/>
        </p:nvSpPr>
        <p:spPr>
          <a:xfrm>
            <a:off x="2578680" y="2240280"/>
            <a:ext cx="1819080" cy="3193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300" strike="noStrike" u="none">
                <a:solidFill>
                  <a:srgbClr val="0f9b8e"/>
                </a:solidFill>
                <a:effectLst/>
                <a:uFillTx/>
                <a:latin typeface="Trebuchet MS"/>
              </a:rPr>
              <a:t>DEFINE</a:t>
            </a:r>
            <a:endParaRPr b="0" lang="en-US" sz="1300" strike="noStrike" u="none">
              <a:solidFill>
                <a:srgbClr val="000000"/>
              </a:solidFill>
              <a:effectLst/>
              <a:uFillTx/>
              <a:latin typeface="Arial"/>
            </a:endParaRPr>
          </a:p>
        </p:txBody>
      </p:sp>
      <p:sp>
        <p:nvSpPr>
          <p:cNvPr id="1142" name="TextBox 13"/>
          <p:cNvSpPr/>
          <p:nvPr/>
        </p:nvSpPr>
        <p:spPr>
          <a:xfrm>
            <a:off x="2597040" y="2606040"/>
            <a:ext cx="1782360" cy="730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i="1" lang="en-US" sz="1000" strike="noStrike" u="none">
                <a:solidFill>
                  <a:srgbClr val="4a4a4a"/>
                </a:solidFill>
                <a:effectLst/>
                <a:uFillTx/>
                <a:latin typeface="Calibri"/>
              </a:rPr>
              <a:t>Establish Strategic</a:t>
            </a:r>
            <a:endParaRPr b="0" lang="en-US" sz="1000" strike="noStrike" u="none">
              <a:solidFill>
                <a:srgbClr val="000000"/>
              </a:solidFill>
              <a:effectLst/>
              <a:uFillTx/>
              <a:latin typeface="Arial"/>
            </a:endParaRPr>
          </a:p>
          <a:p>
            <a:pPr algn="ctr" defTabSz="914400">
              <a:lnSpc>
                <a:spcPct val="100000"/>
              </a:lnSpc>
            </a:pPr>
            <a:r>
              <a:rPr b="0" i="1" lang="en-US" sz="1000" strike="noStrike" u="none">
                <a:solidFill>
                  <a:srgbClr val="4a4a4a"/>
                </a:solidFill>
                <a:effectLst/>
                <a:uFillTx/>
                <a:latin typeface="Calibri"/>
              </a:rPr>
              <a:t>Intent &amp; Architecture</a:t>
            </a:r>
            <a:endParaRPr b="0" lang="en-US" sz="1000" strike="noStrike" u="none">
              <a:solidFill>
                <a:srgbClr val="000000"/>
              </a:solidFill>
              <a:effectLst/>
              <a:uFillTx/>
              <a:latin typeface="Arial"/>
            </a:endParaRPr>
          </a:p>
        </p:txBody>
      </p:sp>
      <p:sp>
        <p:nvSpPr>
          <p:cNvPr id="1143" name="TextBox 14"/>
          <p:cNvSpPr/>
          <p:nvPr/>
        </p:nvSpPr>
        <p:spPr>
          <a:xfrm>
            <a:off x="2615040" y="3429000"/>
            <a:ext cx="1745640" cy="1096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4a4a4a"/>
                </a:solidFill>
                <a:effectLst/>
                <a:uFillTx/>
                <a:latin typeface="Calibri"/>
              </a:rPr>
              <a:t>What are we building?</a:t>
            </a:r>
            <a:endParaRPr b="0" lang="en-US" sz="1000" strike="noStrike" u="none">
              <a:solidFill>
                <a:srgbClr val="000000"/>
              </a:solidFill>
              <a:effectLst/>
              <a:uFillTx/>
              <a:latin typeface="Arial"/>
            </a:endParaRPr>
          </a:p>
          <a:p>
            <a:pPr>
              <a:lnSpc>
                <a:spcPct val="100000"/>
              </a:lnSpc>
            </a:pPr>
            <a:r>
              <a:rPr b="0" lang="en-US" sz="1000" strike="noStrike" u="none">
                <a:solidFill>
                  <a:srgbClr val="4a4a4a"/>
                </a:solidFill>
                <a:effectLst/>
                <a:uFillTx/>
                <a:latin typeface="Calibri"/>
              </a:rPr>
              <a:t>Clarify ownership,</a:t>
            </a:r>
            <a:endParaRPr b="0" lang="en-US" sz="1000" strike="noStrike" u="none">
              <a:solidFill>
                <a:srgbClr val="000000"/>
              </a:solidFill>
              <a:effectLst/>
              <a:uFillTx/>
              <a:latin typeface="Arial"/>
            </a:endParaRPr>
          </a:p>
          <a:p>
            <a:pPr algn="ctr" defTabSz="914400">
              <a:lnSpc>
                <a:spcPct val="100000"/>
              </a:lnSpc>
            </a:pPr>
            <a:r>
              <a:rPr b="0" lang="en-US" sz="1000" strike="noStrike" u="none">
                <a:solidFill>
                  <a:srgbClr val="4a4a4a"/>
                </a:solidFill>
                <a:effectLst/>
                <a:uFillTx/>
                <a:latin typeface="Calibri"/>
              </a:rPr>
              <a:t>boundaries, priorities.</a:t>
            </a:r>
            <a:endParaRPr b="0" lang="en-US" sz="1000" strike="noStrike" u="none">
              <a:solidFill>
                <a:srgbClr val="000000"/>
              </a:solidFill>
              <a:effectLst/>
              <a:uFillTx/>
              <a:latin typeface="Arial"/>
            </a:endParaRPr>
          </a:p>
        </p:txBody>
      </p:sp>
      <p:sp>
        <p:nvSpPr>
          <p:cNvPr id="1144" name="Rectangle 15"/>
          <p:cNvSpPr/>
          <p:nvPr/>
        </p:nvSpPr>
        <p:spPr>
          <a:xfrm>
            <a:off x="4626720" y="1280160"/>
            <a:ext cx="1965240" cy="33368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45" name="Rectangle 16"/>
          <p:cNvSpPr/>
          <p:nvPr/>
        </p:nvSpPr>
        <p:spPr>
          <a:xfrm>
            <a:off x="4626720" y="1280160"/>
            <a:ext cx="1965240" cy="63360"/>
          </a:xfrm>
          <a:prstGeom prst="rect">
            <a:avLst/>
          </a:prstGeom>
          <a:solidFill>
            <a:srgbClr val="d4a517"/>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46" name="Oval 17"/>
          <p:cNvSpPr/>
          <p:nvPr/>
        </p:nvSpPr>
        <p:spPr>
          <a:xfrm>
            <a:off x="5312520" y="1508760"/>
            <a:ext cx="593640" cy="593640"/>
          </a:xfrm>
          <a:prstGeom prst="ellipse">
            <a:avLst/>
          </a:prstGeom>
          <a:solidFill>
            <a:srgbClr val="d4a517"/>
          </a:solidFill>
          <a:ln>
            <a:noFill/>
          </a:ln>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defTabSz="914400">
              <a:lnSpc>
                <a:spcPct val="100000"/>
              </a:lnSpc>
            </a:pPr>
            <a:r>
              <a:rPr b="1" lang="en-US" sz="2600" strike="noStrike" u="none">
                <a:solidFill>
                  <a:srgbClr val="ffffff"/>
                </a:solidFill>
                <a:effectLst/>
                <a:uFillTx/>
                <a:latin typeface="Trebuchet MS"/>
              </a:rPr>
              <a:t>G</a:t>
            </a:r>
            <a:endParaRPr b="0" lang="en-US" sz="2600" strike="noStrike" u="none">
              <a:solidFill>
                <a:srgbClr val="000000"/>
              </a:solidFill>
              <a:effectLst/>
              <a:uFillTx/>
              <a:latin typeface="Arial"/>
            </a:endParaRPr>
          </a:p>
        </p:txBody>
      </p:sp>
      <p:sp>
        <p:nvSpPr>
          <p:cNvPr id="1147" name="TextBox 18"/>
          <p:cNvSpPr/>
          <p:nvPr/>
        </p:nvSpPr>
        <p:spPr>
          <a:xfrm>
            <a:off x="4700160" y="2240280"/>
            <a:ext cx="1819080" cy="3193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300" strike="noStrike" u="none">
                <a:solidFill>
                  <a:srgbClr val="d4a517"/>
                </a:solidFill>
                <a:effectLst/>
                <a:uFillTx/>
                <a:latin typeface="Trebuchet MS"/>
              </a:rPr>
              <a:t>GOVERN</a:t>
            </a:r>
            <a:endParaRPr b="0" lang="en-US" sz="1300" strike="noStrike" u="none">
              <a:solidFill>
                <a:srgbClr val="000000"/>
              </a:solidFill>
              <a:effectLst/>
              <a:uFillTx/>
              <a:latin typeface="Arial"/>
            </a:endParaRPr>
          </a:p>
        </p:txBody>
      </p:sp>
      <p:sp>
        <p:nvSpPr>
          <p:cNvPr id="1148" name="TextBox 19"/>
          <p:cNvSpPr/>
          <p:nvPr/>
        </p:nvSpPr>
        <p:spPr>
          <a:xfrm>
            <a:off x="4718160" y="2606040"/>
            <a:ext cx="1782360" cy="730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i="1" lang="en-US" sz="1000" strike="noStrike" u="none">
                <a:solidFill>
                  <a:srgbClr val="4a4a4a"/>
                </a:solidFill>
                <a:effectLst/>
                <a:uFillTx/>
                <a:latin typeface="Calibri"/>
              </a:rPr>
              <a:t>Embed Discipline</a:t>
            </a:r>
            <a:endParaRPr b="0" lang="en-US" sz="1000" strike="noStrike" u="none">
              <a:solidFill>
                <a:srgbClr val="000000"/>
              </a:solidFill>
              <a:effectLst/>
              <a:uFillTx/>
              <a:latin typeface="Arial"/>
            </a:endParaRPr>
          </a:p>
          <a:p>
            <a:pPr algn="ctr" defTabSz="914400">
              <a:lnSpc>
                <a:spcPct val="100000"/>
              </a:lnSpc>
            </a:pPr>
            <a:r>
              <a:rPr b="0" i="1" lang="en-US" sz="1000" strike="noStrike" u="none">
                <a:solidFill>
                  <a:srgbClr val="4a4a4a"/>
                </a:solidFill>
                <a:effectLst/>
                <a:uFillTx/>
                <a:latin typeface="Calibri"/>
              </a:rPr>
              <a:t>&amp; Trust</a:t>
            </a:r>
            <a:endParaRPr b="0" lang="en-US" sz="1000" strike="noStrike" u="none">
              <a:solidFill>
                <a:srgbClr val="000000"/>
              </a:solidFill>
              <a:effectLst/>
              <a:uFillTx/>
              <a:latin typeface="Arial"/>
            </a:endParaRPr>
          </a:p>
        </p:txBody>
      </p:sp>
      <p:sp>
        <p:nvSpPr>
          <p:cNvPr id="1149" name="TextBox 20"/>
          <p:cNvSpPr/>
          <p:nvPr/>
        </p:nvSpPr>
        <p:spPr>
          <a:xfrm>
            <a:off x="4736520" y="3429000"/>
            <a:ext cx="1745640" cy="1096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4a4a4a"/>
                </a:solidFill>
                <a:effectLst/>
                <a:uFillTx/>
                <a:latin typeface="Calibri"/>
              </a:rPr>
              <a:t>How do we maintain</a:t>
            </a:r>
            <a:endParaRPr b="0" lang="en-US" sz="1000" strike="noStrike" u="none">
              <a:solidFill>
                <a:srgbClr val="000000"/>
              </a:solidFill>
              <a:effectLst/>
              <a:uFillTx/>
              <a:latin typeface="Arial"/>
            </a:endParaRPr>
          </a:p>
          <a:p>
            <a:pPr>
              <a:lnSpc>
                <a:spcPct val="100000"/>
              </a:lnSpc>
            </a:pPr>
            <a:r>
              <a:rPr b="0" lang="en-US" sz="1000" strike="noStrike" u="none">
                <a:solidFill>
                  <a:srgbClr val="4a4a4a"/>
                </a:solidFill>
                <a:effectLst/>
                <a:uFillTx/>
                <a:latin typeface="Calibri"/>
              </a:rPr>
              <a:t>trust? Structure,</a:t>
            </a:r>
            <a:endParaRPr b="0" lang="en-US" sz="1000" strike="noStrike" u="none">
              <a:solidFill>
                <a:srgbClr val="000000"/>
              </a:solidFill>
              <a:effectLst/>
              <a:uFillTx/>
              <a:latin typeface="Arial"/>
            </a:endParaRPr>
          </a:p>
          <a:p>
            <a:pPr algn="ctr" defTabSz="914400">
              <a:lnSpc>
                <a:spcPct val="100000"/>
              </a:lnSpc>
            </a:pPr>
            <a:r>
              <a:rPr b="0" lang="en-US" sz="1000" strike="noStrike" u="none">
                <a:solidFill>
                  <a:srgbClr val="4a4a4a"/>
                </a:solidFill>
                <a:effectLst/>
                <a:uFillTx/>
                <a:latin typeface="Calibri"/>
              </a:rPr>
              <a:t>oversight, ethics.</a:t>
            </a:r>
            <a:endParaRPr b="0" lang="en-US" sz="1000" strike="noStrike" u="none">
              <a:solidFill>
                <a:srgbClr val="000000"/>
              </a:solidFill>
              <a:effectLst/>
              <a:uFillTx/>
              <a:latin typeface="Arial"/>
            </a:endParaRPr>
          </a:p>
        </p:txBody>
      </p:sp>
      <p:sp>
        <p:nvSpPr>
          <p:cNvPr id="1150" name="Rectangle 21"/>
          <p:cNvSpPr/>
          <p:nvPr/>
        </p:nvSpPr>
        <p:spPr>
          <a:xfrm>
            <a:off x="6748200" y="1280160"/>
            <a:ext cx="1965240" cy="33368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51" name="Rectangle 22"/>
          <p:cNvSpPr/>
          <p:nvPr/>
        </p:nvSpPr>
        <p:spPr>
          <a:xfrm>
            <a:off x="6748200" y="1280160"/>
            <a:ext cx="1965240" cy="63360"/>
          </a:xfrm>
          <a:prstGeom prst="rect">
            <a:avLst/>
          </a:prstGeom>
          <a:solidFill>
            <a:srgbClr val="fdf6f0"/>
          </a:solidFill>
          <a:ln>
            <a:noFill/>
          </a:ln>
        </p:spPr>
        <p:style>
          <a:lnRef idx="1">
            <a:schemeClr val="accent1"/>
          </a:lnRef>
          <a:fillRef idx="3">
            <a:schemeClr val="accent1"/>
          </a:fillRef>
          <a:effectRef idx="2">
            <a:schemeClr val="accent1"/>
          </a:effectRef>
          <a:fontRef idx="minor"/>
        </p:style>
        <p:txBody>
          <a:bodyPr lIns="90000" rIns="90000" tIns="19080" bIns="190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52" name="Oval 23"/>
          <p:cNvSpPr/>
          <p:nvPr/>
        </p:nvSpPr>
        <p:spPr>
          <a:xfrm>
            <a:off x="7434000" y="1508760"/>
            <a:ext cx="593640" cy="593640"/>
          </a:xfrm>
          <a:prstGeom prst="ellipse">
            <a:avLst/>
          </a:prstGeom>
          <a:solidFill>
            <a:srgbClr val="fdf6f0"/>
          </a:solidFill>
          <a:ln>
            <a:noFill/>
          </a:ln>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defTabSz="914400">
              <a:lnSpc>
                <a:spcPct val="100000"/>
              </a:lnSpc>
            </a:pPr>
            <a:r>
              <a:rPr b="1" lang="en-US" sz="2600" strike="noStrike" u="none">
                <a:solidFill>
                  <a:srgbClr val="ffffff"/>
                </a:solidFill>
                <a:effectLst/>
                <a:uFillTx/>
                <a:latin typeface="Trebuchet MS"/>
              </a:rPr>
              <a:t>E</a:t>
            </a:r>
            <a:endParaRPr b="0" lang="en-US" sz="2600" strike="noStrike" u="none">
              <a:solidFill>
                <a:srgbClr val="000000"/>
              </a:solidFill>
              <a:effectLst/>
              <a:uFillTx/>
              <a:latin typeface="Arial"/>
            </a:endParaRPr>
          </a:p>
        </p:txBody>
      </p:sp>
      <p:sp>
        <p:nvSpPr>
          <p:cNvPr id="1153" name="TextBox 24"/>
          <p:cNvSpPr/>
          <p:nvPr/>
        </p:nvSpPr>
        <p:spPr>
          <a:xfrm>
            <a:off x="6821280" y="2240280"/>
            <a:ext cx="1819080" cy="3193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300" strike="noStrike" u="none">
                <a:solidFill>
                  <a:srgbClr val="16213e"/>
                </a:solidFill>
                <a:effectLst/>
                <a:uFillTx/>
                <a:latin typeface="Trebuchet MS"/>
              </a:rPr>
              <a:t>ELEVATE</a:t>
            </a:r>
            <a:endParaRPr b="0" lang="en-US" sz="1300" strike="noStrike" u="none">
              <a:solidFill>
                <a:srgbClr val="000000"/>
              </a:solidFill>
              <a:effectLst/>
              <a:uFillTx/>
              <a:latin typeface="Arial"/>
            </a:endParaRPr>
          </a:p>
        </p:txBody>
      </p:sp>
      <p:sp>
        <p:nvSpPr>
          <p:cNvPr id="1154" name="TextBox 25"/>
          <p:cNvSpPr/>
          <p:nvPr/>
        </p:nvSpPr>
        <p:spPr>
          <a:xfrm>
            <a:off x="6839640" y="2606040"/>
            <a:ext cx="1782360" cy="730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i="1" lang="en-US" sz="1000" strike="noStrike" u="none">
                <a:solidFill>
                  <a:srgbClr val="4a4a4a"/>
                </a:solidFill>
                <a:effectLst/>
                <a:uFillTx/>
                <a:latin typeface="Calibri"/>
              </a:rPr>
              <a:t>Convert Capability</a:t>
            </a:r>
            <a:endParaRPr b="0" lang="en-US" sz="1000" strike="noStrike" u="none">
              <a:solidFill>
                <a:srgbClr val="000000"/>
              </a:solidFill>
              <a:effectLst/>
              <a:uFillTx/>
              <a:latin typeface="Arial"/>
            </a:endParaRPr>
          </a:p>
          <a:p>
            <a:pPr algn="ctr" defTabSz="914400">
              <a:lnSpc>
                <a:spcPct val="100000"/>
              </a:lnSpc>
            </a:pPr>
            <a:r>
              <a:rPr b="0" i="1" lang="en-US" sz="1000" strike="noStrike" u="none">
                <a:solidFill>
                  <a:srgbClr val="4a4a4a"/>
                </a:solidFill>
                <a:effectLst/>
                <a:uFillTx/>
                <a:latin typeface="Calibri"/>
              </a:rPr>
              <a:t>to Advantage</a:t>
            </a:r>
            <a:endParaRPr b="0" lang="en-US" sz="1000" strike="noStrike" u="none">
              <a:solidFill>
                <a:srgbClr val="000000"/>
              </a:solidFill>
              <a:effectLst/>
              <a:uFillTx/>
              <a:latin typeface="Arial"/>
            </a:endParaRPr>
          </a:p>
        </p:txBody>
      </p:sp>
      <p:sp>
        <p:nvSpPr>
          <p:cNvPr id="1155" name="TextBox 26"/>
          <p:cNvSpPr/>
          <p:nvPr/>
        </p:nvSpPr>
        <p:spPr>
          <a:xfrm>
            <a:off x="6858000" y="3429000"/>
            <a:ext cx="1745640" cy="1096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4a4a4a"/>
                </a:solidFill>
                <a:effectLst/>
                <a:uFillTx/>
                <a:latin typeface="Calibri"/>
              </a:rPr>
              <a:t>How do we create</a:t>
            </a:r>
            <a:endParaRPr b="0" lang="en-US" sz="1000" strike="noStrike" u="none">
              <a:solidFill>
                <a:srgbClr val="000000"/>
              </a:solidFill>
              <a:effectLst/>
              <a:uFillTx/>
              <a:latin typeface="Arial"/>
            </a:endParaRPr>
          </a:p>
          <a:p>
            <a:pPr>
              <a:lnSpc>
                <a:spcPct val="100000"/>
              </a:lnSpc>
            </a:pPr>
            <a:r>
              <a:rPr b="0" lang="en-US" sz="1000" strike="noStrike" u="none">
                <a:solidFill>
                  <a:srgbClr val="4a4a4a"/>
                </a:solidFill>
                <a:effectLst/>
                <a:uFillTx/>
                <a:latin typeface="Calibri"/>
              </a:rPr>
              <a:t>advantage? Compound</a:t>
            </a:r>
            <a:endParaRPr b="0" lang="en-US" sz="1000" strike="noStrike" u="none">
              <a:solidFill>
                <a:srgbClr val="000000"/>
              </a:solidFill>
              <a:effectLst/>
              <a:uFillTx/>
              <a:latin typeface="Arial"/>
            </a:endParaRPr>
          </a:p>
          <a:p>
            <a:pPr algn="ctr" defTabSz="914400">
              <a:lnSpc>
                <a:spcPct val="100000"/>
              </a:lnSpc>
            </a:pPr>
            <a:r>
              <a:rPr b="0" lang="en-US" sz="1000" strike="noStrike" u="none">
                <a:solidFill>
                  <a:srgbClr val="4a4a4a"/>
                </a:solidFill>
                <a:effectLst/>
                <a:uFillTx/>
                <a:latin typeface="Calibri"/>
              </a:rPr>
              <a:t>results over time.</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df6f0"/>
        </a:solidFill>
      </p:bgPr>
    </p:bg>
    <p:spTree>
      <p:nvGrpSpPr>
        <p:cNvPr id="1" name=""/>
        <p:cNvGrpSpPr/>
        <p:nvPr/>
      </p:nvGrpSpPr>
      <p:grpSpPr>
        <a:xfrm>
          <a:off x="0" y="0"/>
          <a:ext cx="0" cy="0"/>
          <a:chOff x="0" y="0"/>
          <a:chExt cx="0" cy="0"/>
        </a:xfrm>
      </p:grpSpPr>
      <p:sp>
        <p:nvSpPr>
          <p:cNvPr id="1156" name="TextBox 1"/>
          <p:cNvSpPr/>
          <p:nvPr/>
        </p:nvSpPr>
        <p:spPr>
          <a:xfrm>
            <a:off x="457200" y="228600"/>
            <a:ext cx="8228880" cy="547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3600" strike="noStrike" u="none">
                <a:solidFill>
                  <a:srgbClr val="1a1a2e"/>
                </a:solidFill>
                <a:effectLst/>
                <a:uFillTx/>
                <a:latin typeface="Trebuchet MS"/>
              </a:rPr>
              <a:t>Why Startups Need EDGE</a:t>
            </a:r>
            <a:endParaRPr b="0" lang="en-US" sz="3600" strike="noStrike" u="none">
              <a:solidFill>
                <a:srgbClr val="000000"/>
              </a:solidFill>
              <a:effectLst/>
              <a:uFillTx/>
              <a:latin typeface="Arial"/>
            </a:endParaRPr>
          </a:p>
        </p:txBody>
      </p:sp>
      <p:sp>
        <p:nvSpPr>
          <p:cNvPr id="1157" name="TextBox 2"/>
          <p:cNvSpPr/>
          <p:nvPr/>
        </p:nvSpPr>
        <p:spPr>
          <a:xfrm>
            <a:off x="457200" y="731520"/>
            <a:ext cx="82288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i="1" lang="en-US" sz="1300" strike="noStrike" u="none">
                <a:solidFill>
                  <a:srgbClr val="8e8e8e"/>
                </a:solidFill>
                <a:effectLst/>
                <a:uFillTx/>
                <a:latin typeface="Calibri"/>
              </a:rPr>
              <a:t>It prevents chaos as growth accelerates</a:t>
            </a:r>
            <a:endParaRPr b="0" lang="en-US" sz="1300" strike="noStrike" u="none">
              <a:solidFill>
                <a:srgbClr val="000000"/>
              </a:solidFill>
              <a:effectLst/>
              <a:uFillTx/>
              <a:latin typeface="Arial"/>
            </a:endParaRPr>
          </a:p>
        </p:txBody>
      </p:sp>
      <p:sp>
        <p:nvSpPr>
          <p:cNvPr id="1158" name="Rectangle 3"/>
          <p:cNvSpPr/>
          <p:nvPr/>
        </p:nvSpPr>
        <p:spPr>
          <a:xfrm>
            <a:off x="457200" y="1234440"/>
            <a:ext cx="4022640" cy="155376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59" name="Rectangle 4"/>
          <p:cNvSpPr/>
          <p:nvPr/>
        </p:nvSpPr>
        <p:spPr>
          <a:xfrm>
            <a:off x="457200" y="1234440"/>
            <a:ext cx="54000" cy="1553760"/>
          </a:xfrm>
          <a:prstGeom prst="rect">
            <a:avLst/>
          </a:prstGeom>
          <a:solidFill>
            <a:srgbClr val="e9456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60" name="TextBox 5"/>
          <p:cNvSpPr/>
          <p:nvPr/>
        </p:nvSpPr>
        <p:spPr>
          <a:xfrm>
            <a:off x="685800" y="1371600"/>
            <a:ext cx="36568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500" strike="noStrike" u="none">
                <a:solidFill>
                  <a:srgbClr val="e94560"/>
                </a:solidFill>
                <a:effectLst/>
                <a:uFillTx/>
                <a:latin typeface="Trebuchet MS"/>
              </a:rPr>
              <a:t>Evaluate Before You Spend</a:t>
            </a:r>
            <a:endParaRPr b="0" lang="en-US" sz="1500" strike="noStrike" u="none">
              <a:solidFill>
                <a:srgbClr val="000000"/>
              </a:solidFill>
              <a:effectLst/>
              <a:uFillTx/>
              <a:latin typeface="Arial"/>
            </a:endParaRPr>
          </a:p>
        </p:txBody>
      </p:sp>
      <p:sp>
        <p:nvSpPr>
          <p:cNvPr id="1161" name="TextBox 6"/>
          <p:cNvSpPr/>
          <p:nvPr/>
        </p:nvSpPr>
        <p:spPr>
          <a:xfrm>
            <a:off x="685800" y="1737360"/>
            <a:ext cx="3656880" cy="913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100" strike="noStrike" u="none">
                <a:solidFill>
                  <a:srgbClr val="4a4a4a"/>
                </a:solidFill>
                <a:effectLst/>
                <a:uFillTx/>
                <a:latin typeface="Calibri"/>
              </a:rPr>
              <a:t>Most startups adopt AI tools reactively. EDGE forces honest assessment of readiness before investing time and money in the wrong tools.</a:t>
            </a:r>
            <a:endParaRPr b="0" lang="en-US" sz="1100" strike="noStrike" u="none">
              <a:solidFill>
                <a:srgbClr val="000000"/>
              </a:solidFill>
              <a:effectLst/>
              <a:uFillTx/>
              <a:latin typeface="Arial"/>
            </a:endParaRPr>
          </a:p>
        </p:txBody>
      </p:sp>
      <p:sp>
        <p:nvSpPr>
          <p:cNvPr id="1162" name="Rectangle 7"/>
          <p:cNvSpPr/>
          <p:nvPr/>
        </p:nvSpPr>
        <p:spPr>
          <a:xfrm>
            <a:off x="4754880" y="1234440"/>
            <a:ext cx="4022640" cy="155376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63" name="Rectangle 8"/>
          <p:cNvSpPr/>
          <p:nvPr/>
        </p:nvSpPr>
        <p:spPr>
          <a:xfrm>
            <a:off x="4754880" y="1234440"/>
            <a:ext cx="54000" cy="1553760"/>
          </a:xfrm>
          <a:prstGeom prst="rect">
            <a:avLst/>
          </a:prstGeom>
          <a:solidFill>
            <a:srgbClr val="0f9b8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64" name="TextBox 9"/>
          <p:cNvSpPr/>
          <p:nvPr/>
        </p:nvSpPr>
        <p:spPr>
          <a:xfrm>
            <a:off x="4983480" y="1371600"/>
            <a:ext cx="36568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500" strike="noStrike" u="none">
                <a:solidFill>
                  <a:srgbClr val="0f9b8e"/>
                </a:solidFill>
                <a:effectLst/>
                <a:uFillTx/>
                <a:latin typeface="Trebuchet MS"/>
              </a:rPr>
              <a:t>Define Strategy, Not Just Tools</a:t>
            </a:r>
            <a:endParaRPr b="0" lang="en-US" sz="1500" strike="noStrike" u="none">
              <a:solidFill>
                <a:srgbClr val="000000"/>
              </a:solidFill>
              <a:effectLst/>
              <a:uFillTx/>
              <a:latin typeface="Arial"/>
            </a:endParaRPr>
          </a:p>
        </p:txBody>
      </p:sp>
      <p:sp>
        <p:nvSpPr>
          <p:cNvPr id="1165" name="TextBox 10"/>
          <p:cNvSpPr/>
          <p:nvPr/>
        </p:nvSpPr>
        <p:spPr>
          <a:xfrm>
            <a:off x="4983480" y="1737360"/>
            <a:ext cx="3656880" cy="913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100" strike="noStrike" u="none">
                <a:solidFill>
                  <a:srgbClr val="4a4a4a"/>
                </a:solidFill>
                <a:effectLst/>
                <a:uFillTx/>
                <a:latin typeface="Calibri"/>
              </a:rPr>
              <a:t>Trying everything, mastering nothing. EDGE's Define phase forces strategic choices aligned with actual business objectives  -  not hype cycles.</a:t>
            </a:r>
            <a:endParaRPr b="0" lang="en-US" sz="1100" strike="noStrike" u="none">
              <a:solidFill>
                <a:srgbClr val="000000"/>
              </a:solidFill>
              <a:effectLst/>
              <a:uFillTx/>
              <a:latin typeface="Arial"/>
            </a:endParaRPr>
          </a:p>
        </p:txBody>
      </p:sp>
      <p:sp>
        <p:nvSpPr>
          <p:cNvPr id="1166" name="Rectangle 11"/>
          <p:cNvSpPr/>
          <p:nvPr/>
        </p:nvSpPr>
        <p:spPr>
          <a:xfrm>
            <a:off x="457200" y="3017520"/>
            <a:ext cx="4022640" cy="155376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67" name="Rectangle 12"/>
          <p:cNvSpPr/>
          <p:nvPr/>
        </p:nvSpPr>
        <p:spPr>
          <a:xfrm>
            <a:off x="457200" y="3017520"/>
            <a:ext cx="54000" cy="1553760"/>
          </a:xfrm>
          <a:prstGeom prst="rect">
            <a:avLst/>
          </a:prstGeom>
          <a:solidFill>
            <a:srgbClr val="d4a517"/>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68" name="TextBox 13"/>
          <p:cNvSpPr/>
          <p:nvPr/>
        </p:nvSpPr>
        <p:spPr>
          <a:xfrm>
            <a:off x="685800" y="3154680"/>
            <a:ext cx="36568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500" strike="noStrike" u="none">
                <a:solidFill>
                  <a:srgbClr val="d4a517"/>
                </a:solidFill>
                <a:effectLst/>
                <a:uFillTx/>
                <a:latin typeface="Trebuchet MS"/>
              </a:rPr>
              <a:t>Governance From Day One</a:t>
            </a:r>
            <a:endParaRPr b="0" lang="en-US" sz="1500" strike="noStrike" u="none">
              <a:solidFill>
                <a:srgbClr val="000000"/>
              </a:solidFill>
              <a:effectLst/>
              <a:uFillTx/>
              <a:latin typeface="Arial"/>
            </a:endParaRPr>
          </a:p>
        </p:txBody>
      </p:sp>
      <p:sp>
        <p:nvSpPr>
          <p:cNvPr id="1169" name="TextBox 14"/>
          <p:cNvSpPr/>
          <p:nvPr/>
        </p:nvSpPr>
        <p:spPr>
          <a:xfrm>
            <a:off x="685800" y="3520440"/>
            <a:ext cx="3656880" cy="913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100" strike="noStrike" u="none">
                <a:solidFill>
                  <a:srgbClr val="4a4a4a"/>
                </a:solidFill>
                <a:effectLst/>
                <a:uFillTx/>
                <a:latin typeface="Calibri"/>
              </a:rPr>
              <a:t>Even a 2-person startup needs data ethics, brand consistency, and AI accuracy. EDGE builds lightweight discipline that scales with you.</a:t>
            </a:r>
            <a:endParaRPr b="0" lang="en-US" sz="1100" strike="noStrike" u="none">
              <a:solidFill>
                <a:srgbClr val="000000"/>
              </a:solidFill>
              <a:effectLst/>
              <a:uFillTx/>
              <a:latin typeface="Arial"/>
            </a:endParaRPr>
          </a:p>
        </p:txBody>
      </p:sp>
      <p:sp>
        <p:nvSpPr>
          <p:cNvPr id="1170" name="Rectangle 15"/>
          <p:cNvSpPr/>
          <p:nvPr/>
        </p:nvSpPr>
        <p:spPr>
          <a:xfrm>
            <a:off x="4754880" y="3017520"/>
            <a:ext cx="4022640" cy="155376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71" name="Rectangle 16"/>
          <p:cNvSpPr/>
          <p:nvPr/>
        </p:nvSpPr>
        <p:spPr>
          <a:xfrm>
            <a:off x="4754880" y="3017520"/>
            <a:ext cx="54000" cy="1553760"/>
          </a:xfrm>
          <a:prstGeom prst="rect">
            <a:avLst/>
          </a:prstGeom>
          <a:solidFill>
            <a:srgbClr val="fdf6f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72" name="TextBox 17"/>
          <p:cNvSpPr/>
          <p:nvPr/>
        </p:nvSpPr>
        <p:spPr>
          <a:xfrm>
            <a:off x="4983480" y="3154680"/>
            <a:ext cx="36568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500" strike="noStrike" u="none">
                <a:solidFill>
                  <a:srgbClr val="16213e"/>
                </a:solidFill>
                <a:effectLst/>
                <a:uFillTx/>
                <a:latin typeface="Trebuchet MS"/>
              </a:rPr>
              <a:t>Compound Your Advantage</a:t>
            </a:r>
            <a:endParaRPr b="0" lang="en-US" sz="1500" strike="noStrike" u="none">
              <a:solidFill>
                <a:srgbClr val="000000"/>
              </a:solidFill>
              <a:effectLst/>
              <a:uFillTx/>
              <a:latin typeface="Arial"/>
            </a:endParaRPr>
          </a:p>
        </p:txBody>
      </p:sp>
      <p:sp>
        <p:nvSpPr>
          <p:cNvPr id="1173" name="TextBox 18"/>
          <p:cNvSpPr/>
          <p:nvPr/>
        </p:nvSpPr>
        <p:spPr>
          <a:xfrm>
            <a:off x="4983480" y="3520440"/>
            <a:ext cx="3656880" cy="913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100" strike="noStrike" u="none">
                <a:solidFill>
                  <a:srgbClr val="4a4a4a"/>
                </a:solidFill>
                <a:effectLst/>
                <a:uFillTx/>
                <a:latin typeface="Calibri"/>
              </a:rPr>
              <a:t>Each cycle through EDGE builds on the last. Structured intelligence creates sustainable advantage that competitors can't easily replicate.</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df6f0"/>
        </a:solidFill>
      </p:bgPr>
    </p:bg>
    <p:spTree>
      <p:nvGrpSpPr>
        <p:cNvPr id="1" name=""/>
        <p:cNvGrpSpPr/>
        <p:nvPr/>
      </p:nvGrpSpPr>
      <p:grpSpPr>
        <a:xfrm>
          <a:off x="0" y="0"/>
          <a:ext cx="0" cy="0"/>
          <a:chOff x="0" y="0"/>
          <a:chExt cx="0" cy="0"/>
        </a:xfrm>
      </p:grpSpPr>
      <p:sp>
        <p:nvSpPr>
          <p:cNvPr id="1174" name="TextBox 1"/>
          <p:cNvSpPr/>
          <p:nvPr/>
        </p:nvSpPr>
        <p:spPr>
          <a:xfrm>
            <a:off x="457200" y="137160"/>
            <a:ext cx="8228880" cy="5022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3400" strike="noStrike" u="none">
                <a:solidFill>
                  <a:srgbClr val="1a1a2e"/>
                </a:solidFill>
                <a:effectLst/>
                <a:uFillTx/>
                <a:latin typeface="Trebuchet MS"/>
              </a:rPr>
              <a:t>12 Free AI Tools</a:t>
            </a:r>
            <a:endParaRPr b="0" lang="en-US" sz="3400" strike="noStrike" u="none">
              <a:solidFill>
                <a:srgbClr val="000000"/>
              </a:solidFill>
              <a:effectLst/>
              <a:uFillTx/>
              <a:latin typeface="Arial"/>
            </a:endParaRPr>
          </a:p>
        </p:txBody>
      </p:sp>
      <p:sp>
        <p:nvSpPr>
          <p:cNvPr id="1175" name="TextBox 2"/>
          <p:cNvSpPr/>
          <p:nvPr/>
        </p:nvSpPr>
        <p:spPr>
          <a:xfrm>
            <a:off x="457200" y="594360"/>
            <a:ext cx="82288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trike="noStrike" u="none">
                <a:solidFill>
                  <a:srgbClr val="e94560"/>
                </a:solidFill>
                <a:effectLst/>
                <a:uFillTx/>
                <a:latin typeface="Calibri"/>
              </a:rPr>
              <a:t>All available free at adrianwatkins.com/tools</a:t>
            </a:r>
            <a:endParaRPr b="0" lang="en-US" sz="1400" strike="noStrike" u="none">
              <a:solidFill>
                <a:srgbClr val="000000"/>
              </a:solidFill>
              <a:effectLst/>
              <a:uFillTx/>
              <a:latin typeface="Arial"/>
            </a:endParaRPr>
          </a:p>
        </p:txBody>
      </p:sp>
      <p:sp>
        <p:nvSpPr>
          <p:cNvPr id="1176" name="Rectangle 3"/>
          <p:cNvSpPr/>
          <p:nvPr/>
        </p:nvSpPr>
        <p:spPr>
          <a:xfrm>
            <a:off x="356760" y="1051560"/>
            <a:ext cx="2010960" cy="547920"/>
          </a:xfrm>
          <a:prstGeom prst="rect">
            <a:avLst/>
          </a:prstGeom>
          <a:solidFill>
            <a:srgbClr val="e9456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77" name="TextBox 4"/>
          <p:cNvSpPr/>
          <p:nvPr/>
        </p:nvSpPr>
        <p:spPr>
          <a:xfrm>
            <a:off x="429840" y="1078920"/>
            <a:ext cx="1864800" cy="273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300" strike="noStrike" u="none">
                <a:solidFill>
                  <a:srgbClr val="ffffff"/>
                </a:solidFill>
                <a:effectLst/>
                <a:uFillTx/>
                <a:latin typeface="Trebuchet MS"/>
              </a:rPr>
              <a:t>EVALUATE</a:t>
            </a:r>
            <a:endParaRPr b="0" lang="en-US" sz="1300" strike="noStrike" u="none">
              <a:solidFill>
                <a:srgbClr val="000000"/>
              </a:solidFill>
              <a:effectLst/>
              <a:uFillTx/>
              <a:latin typeface="Arial"/>
            </a:endParaRPr>
          </a:p>
        </p:txBody>
      </p:sp>
      <p:sp>
        <p:nvSpPr>
          <p:cNvPr id="1178" name="TextBox 5"/>
          <p:cNvSpPr/>
          <p:nvPr/>
        </p:nvSpPr>
        <p:spPr>
          <a:xfrm>
            <a:off x="429840" y="1325880"/>
            <a:ext cx="1864800" cy="2278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900" strike="noStrike" u="none">
                <a:solidFill>
                  <a:srgbClr val="ffffee"/>
                </a:solidFill>
                <a:effectLst/>
                <a:uFillTx/>
                <a:latin typeface="Calibri"/>
              </a:rPr>
              <a:t>5 Simulation Rooms</a:t>
            </a:r>
            <a:endParaRPr b="0" lang="en-US" sz="900" strike="noStrike" u="none">
              <a:solidFill>
                <a:srgbClr val="000000"/>
              </a:solidFill>
              <a:effectLst/>
              <a:uFillTx/>
              <a:latin typeface="Arial"/>
            </a:endParaRPr>
          </a:p>
        </p:txBody>
      </p:sp>
      <p:sp>
        <p:nvSpPr>
          <p:cNvPr id="1179" name="Rectangle 6"/>
          <p:cNvSpPr/>
          <p:nvPr/>
        </p:nvSpPr>
        <p:spPr>
          <a:xfrm>
            <a:off x="356760" y="1600200"/>
            <a:ext cx="2010960" cy="26510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80" name="Rectangle 7"/>
          <p:cNvSpPr/>
          <p:nvPr/>
        </p:nvSpPr>
        <p:spPr>
          <a:xfrm>
            <a:off x="493920" y="1792080"/>
            <a:ext cx="72360" cy="72360"/>
          </a:xfrm>
          <a:prstGeom prst="rect">
            <a:avLst/>
          </a:prstGeom>
          <a:solidFill>
            <a:srgbClr val="e94560"/>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81" name="TextBox 8"/>
          <p:cNvSpPr/>
          <p:nvPr/>
        </p:nvSpPr>
        <p:spPr>
          <a:xfrm>
            <a:off x="649080" y="1719000"/>
            <a:ext cx="15994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00" strike="noStrike" u="none">
                <a:solidFill>
                  <a:srgbClr val="4a4a4a"/>
                </a:solidFill>
                <a:effectLst/>
                <a:uFillTx/>
                <a:latin typeface="Calibri"/>
              </a:rPr>
              <a:t>Decision Simulation</a:t>
            </a:r>
            <a:endParaRPr b="0" lang="en-US" sz="1000" strike="noStrike" u="none">
              <a:solidFill>
                <a:srgbClr val="000000"/>
              </a:solidFill>
              <a:effectLst/>
              <a:uFillTx/>
              <a:latin typeface="Arial"/>
            </a:endParaRPr>
          </a:p>
        </p:txBody>
      </p:sp>
      <p:sp>
        <p:nvSpPr>
          <p:cNvPr id="1182" name="Rectangle 9"/>
          <p:cNvSpPr/>
          <p:nvPr/>
        </p:nvSpPr>
        <p:spPr>
          <a:xfrm>
            <a:off x="493920" y="2231280"/>
            <a:ext cx="72360" cy="72360"/>
          </a:xfrm>
          <a:prstGeom prst="rect">
            <a:avLst/>
          </a:prstGeom>
          <a:solidFill>
            <a:srgbClr val="e94560"/>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83" name="TextBox 10"/>
          <p:cNvSpPr/>
          <p:nvPr/>
        </p:nvSpPr>
        <p:spPr>
          <a:xfrm>
            <a:off x="649080" y="2157840"/>
            <a:ext cx="15994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00" strike="noStrike" u="none">
                <a:solidFill>
                  <a:srgbClr val="4a4a4a"/>
                </a:solidFill>
                <a:effectLst/>
                <a:uFillTx/>
                <a:latin typeface="Calibri"/>
              </a:rPr>
              <a:t>Red Team Simulation</a:t>
            </a:r>
            <a:endParaRPr b="0" lang="en-US" sz="1000" strike="noStrike" u="none">
              <a:solidFill>
                <a:srgbClr val="000000"/>
              </a:solidFill>
              <a:effectLst/>
              <a:uFillTx/>
              <a:latin typeface="Arial"/>
            </a:endParaRPr>
          </a:p>
        </p:txBody>
      </p:sp>
      <p:sp>
        <p:nvSpPr>
          <p:cNvPr id="1184" name="Rectangle 11"/>
          <p:cNvSpPr/>
          <p:nvPr/>
        </p:nvSpPr>
        <p:spPr>
          <a:xfrm>
            <a:off x="493920" y="2670120"/>
            <a:ext cx="72360" cy="72360"/>
          </a:xfrm>
          <a:prstGeom prst="rect">
            <a:avLst/>
          </a:prstGeom>
          <a:solidFill>
            <a:srgbClr val="e94560"/>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85" name="TextBox 12"/>
          <p:cNvSpPr/>
          <p:nvPr/>
        </p:nvSpPr>
        <p:spPr>
          <a:xfrm>
            <a:off x="649080" y="2597040"/>
            <a:ext cx="15994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00" strike="noStrike" u="none">
                <a:solidFill>
                  <a:srgbClr val="4a4a4a"/>
                </a:solidFill>
                <a:effectLst/>
                <a:uFillTx/>
                <a:latin typeface="Calibri"/>
              </a:rPr>
              <a:t>Conversation Simulator</a:t>
            </a:r>
            <a:endParaRPr b="0" lang="en-US" sz="1000" strike="noStrike" u="none">
              <a:solidFill>
                <a:srgbClr val="000000"/>
              </a:solidFill>
              <a:effectLst/>
              <a:uFillTx/>
              <a:latin typeface="Arial"/>
            </a:endParaRPr>
          </a:p>
        </p:txBody>
      </p:sp>
      <p:sp>
        <p:nvSpPr>
          <p:cNvPr id="1186" name="Rectangle 13"/>
          <p:cNvSpPr/>
          <p:nvPr/>
        </p:nvSpPr>
        <p:spPr>
          <a:xfrm>
            <a:off x="493920" y="3108960"/>
            <a:ext cx="72360" cy="72360"/>
          </a:xfrm>
          <a:prstGeom prst="rect">
            <a:avLst/>
          </a:prstGeom>
          <a:solidFill>
            <a:srgbClr val="e94560"/>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87" name="TextBox 14"/>
          <p:cNvSpPr/>
          <p:nvPr/>
        </p:nvSpPr>
        <p:spPr>
          <a:xfrm>
            <a:off x="649080" y="3035880"/>
            <a:ext cx="15994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00" strike="noStrike" u="none">
                <a:solidFill>
                  <a:srgbClr val="4a4a4a"/>
                </a:solidFill>
                <a:effectLst/>
                <a:uFillTx/>
                <a:latin typeface="Calibri"/>
              </a:rPr>
              <a:t>Before You Send</a:t>
            </a:r>
            <a:endParaRPr b="0" lang="en-US" sz="1000" strike="noStrike" u="none">
              <a:solidFill>
                <a:srgbClr val="000000"/>
              </a:solidFill>
              <a:effectLst/>
              <a:uFillTx/>
              <a:latin typeface="Arial"/>
            </a:endParaRPr>
          </a:p>
        </p:txBody>
      </p:sp>
      <p:sp>
        <p:nvSpPr>
          <p:cNvPr id="1188" name="Rectangle 15"/>
          <p:cNvSpPr/>
          <p:nvPr/>
        </p:nvSpPr>
        <p:spPr>
          <a:xfrm>
            <a:off x="493920" y="3547800"/>
            <a:ext cx="72360" cy="72360"/>
          </a:xfrm>
          <a:prstGeom prst="rect">
            <a:avLst/>
          </a:prstGeom>
          <a:solidFill>
            <a:srgbClr val="e94560"/>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89" name="TextBox 16"/>
          <p:cNvSpPr/>
          <p:nvPr/>
        </p:nvSpPr>
        <p:spPr>
          <a:xfrm>
            <a:off x="649080" y="3474720"/>
            <a:ext cx="15994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00" strike="noStrike" u="none">
                <a:solidFill>
                  <a:srgbClr val="4a4a4a"/>
                </a:solidFill>
                <a:effectLst/>
                <a:uFillTx/>
                <a:latin typeface="Calibri"/>
              </a:rPr>
              <a:t>Negotiation Simulator</a:t>
            </a:r>
            <a:endParaRPr b="0" lang="en-US" sz="1000" strike="noStrike" u="none">
              <a:solidFill>
                <a:srgbClr val="000000"/>
              </a:solidFill>
              <a:effectLst/>
              <a:uFillTx/>
              <a:latin typeface="Arial"/>
            </a:endParaRPr>
          </a:p>
        </p:txBody>
      </p:sp>
      <p:sp>
        <p:nvSpPr>
          <p:cNvPr id="1190" name="Rectangle 17"/>
          <p:cNvSpPr/>
          <p:nvPr/>
        </p:nvSpPr>
        <p:spPr>
          <a:xfrm>
            <a:off x="2468880" y="1051560"/>
            <a:ext cx="2010960" cy="547920"/>
          </a:xfrm>
          <a:prstGeom prst="rect">
            <a:avLst/>
          </a:prstGeom>
          <a:solidFill>
            <a:srgbClr val="0f9b8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91" name="TextBox 18"/>
          <p:cNvSpPr/>
          <p:nvPr/>
        </p:nvSpPr>
        <p:spPr>
          <a:xfrm>
            <a:off x="2541960" y="1078920"/>
            <a:ext cx="1864800" cy="273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300" strike="noStrike" u="none">
                <a:solidFill>
                  <a:srgbClr val="ffffff"/>
                </a:solidFill>
                <a:effectLst/>
                <a:uFillTx/>
                <a:latin typeface="Trebuchet MS"/>
              </a:rPr>
              <a:t>DEFINE</a:t>
            </a:r>
            <a:endParaRPr b="0" lang="en-US" sz="1300" strike="noStrike" u="none">
              <a:solidFill>
                <a:srgbClr val="000000"/>
              </a:solidFill>
              <a:effectLst/>
              <a:uFillTx/>
              <a:latin typeface="Arial"/>
            </a:endParaRPr>
          </a:p>
        </p:txBody>
      </p:sp>
      <p:sp>
        <p:nvSpPr>
          <p:cNvPr id="1192" name="TextBox 19"/>
          <p:cNvSpPr/>
          <p:nvPr/>
        </p:nvSpPr>
        <p:spPr>
          <a:xfrm>
            <a:off x="2541960" y="1325880"/>
            <a:ext cx="1864800" cy="2278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900" strike="noStrike" u="none">
                <a:solidFill>
                  <a:srgbClr val="ffffee"/>
                </a:solidFill>
                <a:effectLst/>
                <a:uFillTx/>
                <a:latin typeface="Calibri"/>
              </a:rPr>
              <a:t>3 Positioning Tools</a:t>
            </a:r>
            <a:endParaRPr b="0" lang="en-US" sz="900" strike="noStrike" u="none">
              <a:solidFill>
                <a:srgbClr val="000000"/>
              </a:solidFill>
              <a:effectLst/>
              <a:uFillTx/>
              <a:latin typeface="Arial"/>
            </a:endParaRPr>
          </a:p>
        </p:txBody>
      </p:sp>
      <p:sp>
        <p:nvSpPr>
          <p:cNvPr id="1193" name="Rectangle 20"/>
          <p:cNvSpPr/>
          <p:nvPr/>
        </p:nvSpPr>
        <p:spPr>
          <a:xfrm>
            <a:off x="2468880" y="1600200"/>
            <a:ext cx="2010960" cy="26510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94" name="Rectangle 21"/>
          <p:cNvSpPr/>
          <p:nvPr/>
        </p:nvSpPr>
        <p:spPr>
          <a:xfrm>
            <a:off x="2606040" y="1792080"/>
            <a:ext cx="72360" cy="72360"/>
          </a:xfrm>
          <a:prstGeom prst="rect">
            <a:avLst/>
          </a:prstGeom>
          <a:solidFill>
            <a:srgbClr val="0f9b8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95" name="TextBox 22"/>
          <p:cNvSpPr/>
          <p:nvPr/>
        </p:nvSpPr>
        <p:spPr>
          <a:xfrm>
            <a:off x="2761560" y="1719000"/>
            <a:ext cx="15994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00" strike="noStrike" u="none">
                <a:solidFill>
                  <a:srgbClr val="4a4a4a"/>
                </a:solidFill>
                <a:effectLst/>
                <a:uFillTx/>
                <a:latin typeface="Calibri"/>
              </a:rPr>
              <a:t>Brand Profile Generator</a:t>
            </a:r>
            <a:endParaRPr b="0" lang="en-US" sz="1000" strike="noStrike" u="none">
              <a:solidFill>
                <a:srgbClr val="000000"/>
              </a:solidFill>
              <a:effectLst/>
              <a:uFillTx/>
              <a:latin typeface="Arial"/>
            </a:endParaRPr>
          </a:p>
        </p:txBody>
      </p:sp>
      <p:sp>
        <p:nvSpPr>
          <p:cNvPr id="1196" name="Rectangle 23"/>
          <p:cNvSpPr/>
          <p:nvPr/>
        </p:nvSpPr>
        <p:spPr>
          <a:xfrm>
            <a:off x="2606040" y="2231280"/>
            <a:ext cx="72360" cy="72360"/>
          </a:xfrm>
          <a:prstGeom prst="rect">
            <a:avLst/>
          </a:prstGeom>
          <a:solidFill>
            <a:srgbClr val="0f9b8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97" name="TextBox 24"/>
          <p:cNvSpPr/>
          <p:nvPr/>
        </p:nvSpPr>
        <p:spPr>
          <a:xfrm>
            <a:off x="2761560" y="2157840"/>
            <a:ext cx="15994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00" strike="noStrike" u="none">
                <a:solidFill>
                  <a:srgbClr val="4a4a4a"/>
                </a:solidFill>
                <a:effectLst/>
                <a:uFillTx/>
                <a:latin typeface="Calibri"/>
              </a:rPr>
              <a:t>Content Sprint Generator</a:t>
            </a:r>
            <a:endParaRPr b="0" lang="en-US" sz="1000" strike="noStrike" u="none">
              <a:solidFill>
                <a:srgbClr val="000000"/>
              </a:solidFill>
              <a:effectLst/>
              <a:uFillTx/>
              <a:latin typeface="Arial"/>
            </a:endParaRPr>
          </a:p>
        </p:txBody>
      </p:sp>
      <p:sp>
        <p:nvSpPr>
          <p:cNvPr id="1198" name="Rectangle 25"/>
          <p:cNvSpPr/>
          <p:nvPr/>
        </p:nvSpPr>
        <p:spPr>
          <a:xfrm>
            <a:off x="2606040" y="2670120"/>
            <a:ext cx="72360" cy="72360"/>
          </a:xfrm>
          <a:prstGeom prst="rect">
            <a:avLst/>
          </a:prstGeom>
          <a:solidFill>
            <a:srgbClr val="0f9b8e"/>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199" name="TextBox 26"/>
          <p:cNvSpPr/>
          <p:nvPr/>
        </p:nvSpPr>
        <p:spPr>
          <a:xfrm>
            <a:off x="2761560" y="2597040"/>
            <a:ext cx="15994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00" strike="noStrike" u="none">
                <a:solidFill>
                  <a:srgbClr val="4a4a4a"/>
                </a:solidFill>
                <a:effectLst/>
                <a:uFillTx/>
                <a:latin typeface="Calibri"/>
              </a:rPr>
              <a:t>Engagement Analyzer</a:t>
            </a:r>
            <a:endParaRPr b="0" lang="en-US" sz="1000" strike="noStrike" u="none">
              <a:solidFill>
                <a:srgbClr val="000000"/>
              </a:solidFill>
              <a:effectLst/>
              <a:uFillTx/>
              <a:latin typeface="Arial"/>
            </a:endParaRPr>
          </a:p>
        </p:txBody>
      </p:sp>
      <p:sp>
        <p:nvSpPr>
          <p:cNvPr id="1200" name="Rectangle 27"/>
          <p:cNvSpPr/>
          <p:nvPr/>
        </p:nvSpPr>
        <p:spPr>
          <a:xfrm>
            <a:off x="4581000" y="1051560"/>
            <a:ext cx="2010960" cy="547920"/>
          </a:xfrm>
          <a:prstGeom prst="rect">
            <a:avLst/>
          </a:prstGeom>
          <a:solidFill>
            <a:srgbClr val="d4a517"/>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201" name="TextBox 28"/>
          <p:cNvSpPr/>
          <p:nvPr/>
        </p:nvSpPr>
        <p:spPr>
          <a:xfrm>
            <a:off x="4654440" y="1078920"/>
            <a:ext cx="1864800" cy="273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300" strike="noStrike" u="none">
                <a:solidFill>
                  <a:srgbClr val="ffffff"/>
                </a:solidFill>
                <a:effectLst/>
                <a:uFillTx/>
                <a:latin typeface="Trebuchet MS"/>
              </a:rPr>
              <a:t>GOVERN</a:t>
            </a:r>
            <a:endParaRPr b="0" lang="en-US" sz="1300" strike="noStrike" u="none">
              <a:solidFill>
                <a:srgbClr val="000000"/>
              </a:solidFill>
              <a:effectLst/>
              <a:uFillTx/>
              <a:latin typeface="Arial"/>
            </a:endParaRPr>
          </a:p>
        </p:txBody>
      </p:sp>
      <p:sp>
        <p:nvSpPr>
          <p:cNvPr id="1202" name="TextBox 29"/>
          <p:cNvSpPr/>
          <p:nvPr/>
        </p:nvSpPr>
        <p:spPr>
          <a:xfrm>
            <a:off x="4654440" y="1325880"/>
            <a:ext cx="1864800" cy="2278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900" strike="noStrike" u="none">
                <a:solidFill>
                  <a:srgbClr val="ffffee"/>
                </a:solidFill>
                <a:effectLst/>
                <a:uFillTx/>
                <a:latin typeface="Calibri"/>
              </a:rPr>
              <a:t>3 Governance Tools</a:t>
            </a:r>
            <a:endParaRPr b="0" lang="en-US" sz="900" strike="noStrike" u="none">
              <a:solidFill>
                <a:srgbClr val="000000"/>
              </a:solidFill>
              <a:effectLst/>
              <a:uFillTx/>
              <a:latin typeface="Arial"/>
            </a:endParaRPr>
          </a:p>
        </p:txBody>
      </p:sp>
      <p:sp>
        <p:nvSpPr>
          <p:cNvPr id="1203" name="Rectangle 30"/>
          <p:cNvSpPr/>
          <p:nvPr/>
        </p:nvSpPr>
        <p:spPr>
          <a:xfrm>
            <a:off x="4581000" y="1600200"/>
            <a:ext cx="2010960" cy="26510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204" name="Rectangle 31"/>
          <p:cNvSpPr/>
          <p:nvPr/>
        </p:nvSpPr>
        <p:spPr>
          <a:xfrm>
            <a:off x="4718160" y="1792080"/>
            <a:ext cx="72360" cy="72360"/>
          </a:xfrm>
          <a:prstGeom prst="rect">
            <a:avLst/>
          </a:prstGeom>
          <a:solidFill>
            <a:srgbClr val="d4a517"/>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205" name="TextBox 32"/>
          <p:cNvSpPr/>
          <p:nvPr/>
        </p:nvSpPr>
        <p:spPr>
          <a:xfrm>
            <a:off x="4873680" y="1719000"/>
            <a:ext cx="15994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00" strike="noStrike" u="none">
                <a:solidFill>
                  <a:srgbClr val="4a4a4a"/>
                </a:solidFill>
                <a:effectLst/>
                <a:uFillTx/>
                <a:latin typeface="Calibri"/>
              </a:rPr>
              <a:t>Governance Review</a:t>
            </a:r>
            <a:endParaRPr b="0" lang="en-US" sz="1000" strike="noStrike" u="none">
              <a:solidFill>
                <a:srgbClr val="000000"/>
              </a:solidFill>
              <a:effectLst/>
              <a:uFillTx/>
              <a:latin typeface="Arial"/>
            </a:endParaRPr>
          </a:p>
        </p:txBody>
      </p:sp>
      <p:sp>
        <p:nvSpPr>
          <p:cNvPr id="1206" name="Rectangle 33"/>
          <p:cNvSpPr/>
          <p:nvPr/>
        </p:nvSpPr>
        <p:spPr>
          <a:xfrm>
            <a:off x="4718160" y="2231280"/>
            <a:ext cx="72360" cy="72360"/>
          </a:xfrm>
          <a:prstGeom prst="rect">
            <a:avLst/>
          </a:prstGeom>
          <a:solidFill>
            <a:srgbClr val="d4a517"/>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207" name="TextBox 34"/>
          <p:cNvSpPr/>
          <p:nvPr/>
        </p:nvSpPr>
        <p:spPr>
          <a:xfrm>
            <a:off x="4873680" y="2157840"/>
            <a:ext cx="15994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00" strike="noStrike" u="none">
                <a:solidFill>
                  <a:srgbClr val="4a4a4a"/>
                </a:solidFill>
                <a:effectLst/>
                <a:uFillTx/>
                <a:latin typeface="Calibri"/>
              </a:rPr>
              <a:t>Ethical Dilemma Simulator</a:t>
            </a:r>
            <a:endParaRPr b="0" lang="en-US" sz="1000" strike="noStrike" u="none">
              <a:solidFill>
                <a:srgbClr val="000000"/>
              </a:solidFill>
              <a:effectLst/>
              <a:uFillTx/>
              <a:latin typeface="Arial"/>
            </a:endParaRPr>
          </a:p>
        </p:txBody>
      </p:sp>
      <p:sp>
        <p:nvSpPr>
          <p:cNvPr id="1208" name="Rectangle 35"/>
          <p:cNvSpPr/>
          <p:nvPr/>
        </p:nvSpPr>
        <p:spPr>
          <a:xfrm>
            <a:off x="4718160" y="2670120"/>
            <a:ext cx="72360" cy="72360"/>
          </a:xfrm>
          <a:prstGeom prst="rect">
            <a:avLst/>
          </a:prstGeom>
          <a:solidFill>
            <a:srgbClr val="d4a517"/>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209" name="TextBox 36"/>
          <p:cNvSpPr/>
          <p:nvPr/>
        </p:nvSpPr>
        <p:spPr>
          <a:xfrm>
            <a:off x="4873680" y="2597040"/>
            <a:ext cx="15994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00" strike="noStrike" u="none">
                <a:solidFill>
                  <a:srgbClr val="4a4a4a"/>
                </a:solidFill>
                <a:effectLst/>
                <a:uFillTx/>
                <a:latin typeface="Calibri"/>
              </a:rPr>
              <a:t>AI Governance Maturity</a:t>
            </a:r>
            <a:endParaRPr b="0" lang="en-US" sz="1000" strike="noStrike" u="none">
              <a:solidFill>
                <a:srgbClr val="000000"/>
              </a:solidFill>
              <a:effectLst/>
              <a:uFillTx/>
              <a:latin typeface="Arial"/>
            </a:endParaRPr>
          </a:p>
        </p:txBody>
      </p:sp>
      <p:sp>
        <p:nvSpPr>
          <p:cNvPr id="1210" name="Rectangle 37"/>
          <p:cNvSpPr/>
          <p:nvPr/>
        </p:nvSpPr>
        <p:spPr>
          <a:xfrm>
            <a:off x="6693480" y="1051560"/>
            <a:ext cx="2010960" cy="547920"/>
          </a:xfrm>
          <a:prstGeom prst="rect">
            <a:avLst/>
          </a:prstGeom>
          <a:solidFill>
            <a:srgbClr val="fdf6f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211" name="TextBox 38"/>
          <p:cNvSpPr/>
          <p:nvPr/>
        </p:nvSpPr>
        <p:spPr>
          <a:xfrm>
            <a:off x="6766560" y="1078920"/>
            <a:ext cx="1864800" cy="273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300" strike="noStrike" u="none">
                <a:solidFill>
                  <a:srgbClr val="ffffff"/>
                </a:solidFill>
                <a:effectLst/>
                <a:uFillTx/>
                <a:latin typeface="Trebuchet MS"/>
              </a:rPr>
              <a:t>ELEVATE</a:t>
            </a:r>
            <a:endParaRPr b="0" lang="en-US" sz="1300" strike="noStrike" u="none">
              <a:solidFill>
                <a:srgbClr val="000000"/>
              </a:solidFill>
              <a:effectLst/>
              <a:uFillTx/>
              <a:latin typeface="Arial"/>
            </a:endParaRPr>
          </a:p>
        </p:txBody>
      </p:sp>
      <p:sp>
        <p:nvSpPr>
          <p:cNvPr id="1212" name="TextBox 39"/>
          <p:cNvSpPr/>
          <p:nvPr/>
        </p:nvSpPr>
        <p:spPr>
          <a:xfrm>
            <a:off x="6766560" y="1325880"/>
            <a:ext cx="1864800" cy="2278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900" strike="noStrike" u="none">
                <a:solidFill>
                  <a:srgbClr val="ffffee"/>
                </a:solidFill>
                <a:effectLst/>
                <a:uFillTx/>
                <a:latin typeface="Calibri"/>
              </a:rPr>
              <a:t>Prompt Engineer</a:t>
            </a:r>
            <a:endParaRPr b="0" lang="en-US" sz="900" strike="noStrike" u="none">
              <a:solidFill>
                <a:srgbClr val="000000"/>
              </a:solidFill>
              <a:effectLst/>
              <a:uFillTx/>
              <a:latin typeface="Arial"/>
            </a:endParaRPr>
          </a:p>
        </p:txBody>
      </p:sp>
      <p:sp>
        <p:nvSpPr>
          <p:cNvPr id="1213" name="Rectangle 40"/>
          <p:cNvSpPr/>
          <p:nvPr/>
        </p:nvSpPr>
        <p:spPr>
          <a:xfrm>
            <a:off x="6693480" y="1600200"/>
            <a:ext cx="2010960" cy="265104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214" name="Rectangle 41"/>
          <p:cNvSpPr/>
          <p:nvPr/>
        </p:nvSpPr>
        <p:spPr>
          <a:xfrm>
            <a:off x="6830640" y="1792080"/>
            <a:ext cx="72360" cy="72360"/>
          </a:xfrm>
          <a:prstGeom prst="rect">
            <a:avLst/>
          </a:prstGeom>
          <a:solidFill>
            <a:srgbClr val="fdf6f0"/>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215" name="TextBox 42"/>
          <p:cNvSpPr/>
          <p:nvPr/>
        </p:nvSpPr>
        <p:spPr>
          <a:xfrm>
            <a:off x="6986160" y="1719000"/>
            <a:ext cx="15994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00" strike="noStrike" u="none">
                <a:solidFill>
                  <a:srgbClr val="4a4a4a"/>
                </a:solidFill>
                <a:effectLst/>
                <a:uFillTx/>
                <a:latin typeface="Calibri"/>
              </a:rPr>
              <a:t>Mode 1: Generate</a:t>
            </a:r>
            <a:endParaRPr b="0" lang="en-US" sz="1000" strike="noStrike" u="none">
              <a:solidFill>
                <a:srgbClr val="000000"/>
              </a:solidFill>
              <a:effectLst/>
              <a:uFillTx/>
              <a:latin typeface="Arial"/>
            </a:endParaRPr>
          </a:p>
        </p:txBody>
      </p:sp>
      <p:sp>
        <p:nvSpPr>
          <p:cNvPr id="1216" name="Rectangle 43"/>
          <p:cNvSpPr/>
          <p:nvPr/>
        </p:nvSpPr>
        <p:spPr>
          <a:xfrm>
            <a:off x="6830640" y="2231280"/>
            <a:ext cx="72360" cy="72360"/>
          </a:xfrm>
          <a:prstGeom prst="rect">
            <a:avLst/>
          </a:prstGeom>
          <a:solidFill>
            <a:srgbClr val="fdf6f0"/>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217" name="TextBox 44"/>
          <p:cNvSpPr/>
          <p:nvPr/>
        </p:nvSpPr>
        <p:spPr>
          <a:xfrm>
            <a:off x="6986160" y="2157840"/>
            <a:ext cx="15994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00" strike="noStrike" u="none">
                <a:solidFill>
                  <a:srgbClr val="4a4a4a"/>
                </a:solidFill>
                <a:effectLst/>
                <a:uFillTx/>
                <a:latin typeface="Calibri"/>
              </a:rPr>
              <a:t>Mode 2: Optimize</a:t>
            </a:r>
            <a:endParaRPr b="0" lang="en-US" sz="1000" strike="noStrike" u="none">
              <a:solidFill>
                <a:srgbClr val="000000"/>
              </a:solidFill>
              <a:effectLst/>
              <a:uFillTx/>
              <a:latin typeface="Arial"/>
            </a:endParaRPr>
          </a:p>
        </p:txBody>
      </p:sp>
      <p:sp>
        <p:nvSpPr>
          <p:cNvPr id="1218" name="Rectangle 45"/>
          <p:cNvSpPr/>
          <p:nvPr/>
        </p:nvSpPr>
        <p:spPr>
          <a:xfrm>
            <a:off x="6830640" y="2670120"/>
            <a:ext cx="72360" cy="72360"/>
          </a:xfrm>
          <a:prstGeom prst="rect">
            <a:avLst/>
          </a:prstGeom>
          <a:solidFill>
            <a:srgbClr val="fdf6f0"/>
          </a:solidFill>
          <a:ln>
            <a:noFill/>
          </a:ln>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219" name="TextBox 46"/>
          <p:cNvSpPr/>
          <p:nvPr/>
        </p:nvSpPr>
        <p:spPr>
          <a:xfrm>
            <a:off x="6986160" y="2597040"/>
            <a:ext cx="15994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00" strike="noStrike" u="none">
                <a:solidFill>
                  <a:srgbClr val="4a4a4a"/>
                </a:solidFill>
                <a:effectLst/>
                <a:uFillTx/>
                <a:latin typeface="Calibri"/>
              </a:rPr>
              <a:t>Mode 3: Adapt</a:t>
            </a:r>
            <a:endParaRPr b="0" lang="en-US" sz="1000" strike="noStrike" u="none">
              <a:solidFill>
                <a:srgbClr val="000000"/>
              </a:solidFill>
              <a:effectLst/>
              <a:uFillTx/>
              <a:latin typeface="Arial"/>
            </a:endParaRPr>
          </a:p>
        </p:txBody>
      </p:sp>
      <p:sp>
        <p:nvSpPr>
          <p:cNvPr id="1220" name="Rectangle 47"/>
          <p:cNvSpPr/>
          <p:nvPr/>
        </p:nvSpPr>
        <p:spPr>
          <a:xfrm>
            <a:off x="0" y="4526280"/>
            <a:ext cx="9143280" cy="616680"/>
          </a:xfrm>
          <a:prstGeom prst="rect">
            <a:avLst/>
          </a:prstGeom>
          <a:solidFill>
            <a:srgbClr val="1a1a2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221" name="TextBox 48"/>
          <p:cNvSpPr/>
          <p:nvPr/>
        </p:nvSpPr>
        <p:spPr>
          <a:xfrm>
            <a:off x="457200" y="4599360"/>
            <a:ext cx="8228880" cy="45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100" strike="noStrike" u="none">
                <a:solidFill>
                  <a:srgbClr val="cccccc"/>
                </a:solidFill>
                <a:effectLst/>
                <a:uFillTx/>
                <a:latin typeface="Calibri"/>
              </a:rPr>
              <a:t>Session-based  |  Privacy-first  |  Immediately actionable  |  Workshop-ready</a:t>
            </a:r>
            <a:endParaRPr b="0" lang="en-US" sz="1100" strike="noStrike" u="none">
              <a:solidFill>
                <a:srgbClr val="000000"/>
              </a:solidFill>
              <a:effectLst/>
              <a:uFillTx/>
              <a:latin typeface="Arial"/>
            </a:endParaRPr>
          </a:p>
        </p:txBody>
      </p:sp>
      <p:sp>
        <p:nvSpPr>
          <p:cNvPr id="1222" name="TextBox 49"/>
          <p:cNvSpPr/>
          <p:nvPr/>
        </p:nvSpPr>
        <p:spPr>
          <a:xfrm>
            <a:off x="457200" y="4800600"/>
            <a:ext cx="8228880" cy="3193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400" strike="noStrike" u="none">
                <a:solidFill>
                  <a:srgbClr val="e94560"/>
                </a:solidFill>
                <a:effectLst/>
                <a:uFillTx/>
                <a:latin typeface="Calibri"/>
              </a:rPr>
              <a:t>adrianwatkins.com/tools</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df6f0"/>
        </a:solidFill>
      </p:bgPr>
    </p:bg>
    <p:spTree>
      <p:nvGrpSpPr>
        <p:cNvPr id="1" name=""/>
        <p:cNvGrpSpPr/>
        <p:nvPr/>
      </p:nvGrpSpPr>
      <p:grpSpPr>
        <a:xfrm>
          <a:off x="0" y="0"/>
          <a:ext cx="0" cy="0"/>
          <a:chOff x="0" y="0"/>
          <a:chExt cx="0" cy="0"/>
        </a:xfrm>
      </p:grpSpPr>
      <p:sp>
        <p:nvSpPr>
          <p:cNvPr id="1223" name="TextBox 1"/>
          <p:cNvSpPr/>
          <p:nvPr/>
        </p:nvSpPr>
        <p:spPr>
          <a:xfrm>
            <a:off x="457200" y="81360"/>
            <a:ext cx="8228880" cy="5022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2800" strike="noStrike" u="none">
                <a:solidFill>
                  <a:srgbClr val="1a1a2e"/>
                </a:solidFill>
                <a:effectLst/>
                <a:uFillTx/>
                <a:latin typeface="Trebuchet MS"/>
              </a:rPr>
              <a:t>EDGE Meets Marketing Essentials</a:t>
            </a:r>
            <a:endParaRPr b="0" lang="en-US" sz="2800" strike="noStrike" u="none">
              <a:solidFill>
                <a:srgbClr val="000000"/>
              </a:solidFill>
              <a:effectLst/>
              <a:uFillTx/>
              <a:latin typeface="Arial"/>
            </a:endParaRPr>
          </a:p>
        </p:txBody>
      </p:sp>
      <p:sp>
        <p:nvSpPr>
          <p:cNvPr id="1224" name="TextBox 2"/>
          <p:cNvSpPr/>
          <p:nvPr/>
        </p:nvSpPr>
        <p:spPr>
          <a:xfrm>
            <a:off x="457200" y="538560"/>
            <a:ext cx="82288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i="1" lang="en-US" sz="1300" strike="noStrike" u="none">
                <a:solidFill>
                  <a:srgbClr val="8e8e8e"/>
                </a:solidFill>
                <a:effectLst/>
                <a:uFillTx/>
                <a:latin typeface="Calibri"/>
              </a:rPr>
              <a:t>How today's workshop maps to the EDGE Framework</a:t>
            </a:r>
            <a:endParaRPr b="0" lang="en-US" sz="1300" strike="noStrike" u="none">
              <a:solidFill>
                <a:srgbClr val="000000"/>
              </a:solidFill>
              <a:effectLst/>
              <a:uFillTx/>
              <a:latin typeface="Arial"/>
            </a:endParaRPr>
          </a:p>
        </p:txBody>
      </p:sp>
      <p:sp>
        <p:nvSpPr>
          <p:cNvPr id="1225" name="Rectangle 3"/>
          <p:cNvSpPr/>
          <p:nvPr/>
        </p:nvSpPr>
        <p:spPr>
          <a:xfrm>
            <a:off x="457200" y="1097280"/>
            <a:ext cx="1462320" cy="712440"/>
          </a:xfrm>
          <a:prstGeom prst="rect">
            <a:avLst/>
          </a:prstGeom>
          <a:solidFill>
            <a:srgbClr val="e9456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226" name="TextBox 4"/>
          <p:cNvSpPr/>
          <p:nvPr/>
        </p:nvSpPr>
        <p:spPr>
          <a:xfrm>
            <a:off x="502920" y="1261800"/>
            <a:ext cx="1370880" cy="4107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400" strike="noStrike" u="none">
                <a:solidFill>
                  <a:srgbClr val="ffffff"/>
                </a:solidFill>
                <a:effectLst/>
                <a:uFillTx/>
                <a:latin typeface="Trebuchet MS"/>
              </a:rPr>
              <a:t>EVALUATE</a:t>
            </a:r>
            <a:endParaRPr b="0" lang="en-US" sz="1400" strike="noStrike" u="none">
              <a:solidFill>
                <a:srgbClr val="000000"/>
              </a:solidFill>
              <a:effectLst/>
              <a:uFillTx/>
              <a:latin typeface="Arial"/>
            </a:endParaRPr>
          </a:p>
        </p:txBody>
      </p:sp>
      <p:sp>
        <p:nvSpPr>
          <p:cNvPr id="1227" name="TextBox 5"/>
          <p:cNvSpPr/>
          <p:nvPr/>
        </p:nvSpPr>
        <p:spPr>
          <a:xfrm>
            <a:off x="2011680" y="1234440"/>
            <a:ext cx="319320" cy="4564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800" strike="noStrike" u="none">
                <a:solidFill>
                  <a:srgbClr val="e94560"/>
                </a:solidFill>
                <a:effectLst/>
                <a:uFillTx/>
                <a:latin typeface="Calibri"/>
              </a:rPr>
              <a:t>▶</a:t>
            </a:r>
            <a:endParaRPr b="0" lang="en-US" sz="1800" strike="noStrike" u="none">
              <a:solidFill>
                <a:srgbClr val="000000"/>
              </a:solidFill>
              <a:effectLst/>
              <a:uFillTx/>
              <a:latin typeface="Arial"/>
            </a:endParaRPr>
          </a:p>
        </p:txBody>
      </p:sp>
      <p:sp>
        <p:nvSpPr>
          <p:cNvPr id="1228" name="TextBox 6"/>
          <p:cNvSpPr/>
          <p:nvPr/>
        </p:nvSpPr>
        <p:spPr>
          <a:xfrm>
            <a:off x="2423160" y="1143000"/>
            <a:ext cx="59428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500" strike="noStrike" u="none">
                <a:solidFill>
                  <a:srgbClr val="1a1a2e"/>
                </a:solidFill>
                <a:effectLst/>
                <a:uFillTx/>
                <a:latin typeface="Trebuchet MS"/>
              </a:rPr>
              <a:t>Marketing Refresher</a:t>
            </a:r>
            <a:endParaRPr b="0" lang="en-US" sz="1500" strike="noStrike" u="none">
              <a:solidFill>
                <a:srgbClr val="000000"/>
              </a:solidFill>
              <a:effectLst/>
              <a:uFillTx/>
              <a:latin typeface="Arial"/>
            </a:endParaRPr>
          </a:p>
        </p:txBody>
      </p:sp>
      <p:sp>
        <p:nvSpPr>
          <p:cNvPr id="1229" name="TextBox 7"/>
          <p:cNvSpPr/>
          <p:nvPr/>
        </p:nvSpPr>
        <p:spPr>
          <a:xfrm>
            <a:off x="2423160" y="1463040"/>
            <a:ext cx="621720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100" strike="noStrike" u="none">
                <a:solidFill>
                  <a:srgbClr val="4a4a4a"/>
                </a:solidFill>
                <a:effectLst/>
                <a:uFillTx/>
                <a:latin typeface="Calibri"/>
              </a:rPr>
              <a:t>Know your customer, map assumptions, audit your current state before acting</a:t>
            </a:r>
            <a:endParaRPr b="0" lang="en-US" sz="1100" strike="noStrike" u="none">
              <a:solidFill>
                <a:srgbClr val="000000"/>
              </a:solidFill>
              <a:effectLst/>
              <a:uFillTx/>
              <a:latin typeface="Arial"/>
            </a:endParaRPr>
          </a:p>
        </p:txBody>
      </p:sp>
      <p:sp>
        <p:nvSpPr>
          <p:cNvPr id="1230" name="Rectangle 8"/>
          <p:cNvSpPr/>
          <p:nvPr/>
        </p:nvSpPr>
        <p:spPr>
          <a:xfrm>
            <a:off x="457200" y="2011680"/>
            <a:ext cx="1462320" cy="712440"/>
          </a:xfrm>
          <a:prstGeom prst="rect">
            <a:avLst/>
          </a:prstGeom>
          <a:solidFill>
            <a:srgbClr val="0f9b8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231" name="TextBox 9"/>
          <p:cNvSpPr/>
          <p:nvPr/>
        </p:nvSpPr>
        <p:spPr>
          <a:xfrm>
            <a:off x="502920" y="2176200"/>
            <a:ext cx="1370880" cy="4107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400" strike="noStrike" u="none">
                <a:solidFill>
                  <a:srgbClr val="ffffff"/>
                </a:solidFill>
                <a:effectLst/>
                <a:uFillTx/>
                <a:latin typeface="Trebuchet MS"/>
              </a:rPr>
              <a:t>DEFINE</a:t>
            </a:r>
            <a:endParaRPr b="0" lang="en-US" sz="1400" strike="noStrike" u="none">
              <a:solidFill>
                <a:srgbClr val="000000"/>
              </a:solidFill>
              <a:effectLst/>
              <a:uFillTx/>
              <a:latin typeface="Arial"/>
            </a:endParaRPr>
          </a:p>
        </p:txBody>
      </p:sp>
      <p:sp>
        <p:nvSpPr>
          <p:cNvPr id="1232" name="TextBox 10"/>
          <p:cNvSpPr/>
          <p:nvPr/>
        </p:nvSpPr>
        <p:spPr>
          <a:xfrm>
            <a:off x="2011680" y="2148840"/>
            <a:ext cx="319320" cy="4564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800" strike="noStrike" u="none">
                <a:solidFill>
                  <a:srgbClr val="0f9b8e"/>
                </a:solidFill>
                <a:effectLst/>
                <a:uFillTx/>
                <a:latin typeface="Calibri"/>
              </a:rPr>
              <a:t>▶</a:t>
            </a:r>
            <a:endParaRPr b="0" lang="en-US" sz="1800" strike="noStrike" u="none">
              <a:solidFill>
                <a:srgbClr val="000000"/>
              </a:solidFill>
              <a:effectLst/>
              <a:uFillTx/>
              <a:latin typeface="Arial"/>
            </a:endParaRPr>
          </a:p>
        </p:txBody>
      </p:sp>
      <p:sp>
        <p:nvSpPr>
          <p:cNvPr id="1233" name="TextBox 11"/>
          <p:cNvSpPr/>
          <p:nvPr/>
        </p:nvSpPr>
        <p:spPr>
          <a:xfrm>
            <a:off x="2423160" y="2057400"/>
            <a:ext cx="59428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500" strike="noStrike" u="none">
                <a:solidFill>
                  <a:srgbClr val="1a1a2e"/>
                </a:solidFill>
                <a:effectLst/>
                <a:uFillTx/>
                <a:latin typeface="Trebuchet MS"/>
              </a:rPr>
              <a:t>Lean Marketing Framework</a:t>
            </a:r>
            <a:endParaRPr b="0" lang="en-US" sz="1500" strike="noStrike" u="none">
              <a:solidFill>
                <a:srgbClr val="000000"/>
              </a:solidFill>
              <a:effectLst/>
              <a:uFillTx/>
              <a:latin typeface="Arial"/>
            </a:endParaRPr>
          </a:p>
        </p:txBody>
      </p:sp>
      <p:sp>
        <p:nvSpPr>
          <p:cNvPr id="1234" name="TextBox 12"/>
          <p:cNvSpPr/>
          <p:nvPr/>
        </p:nvSpPr>
        <p:spPr>
          <a:xfrm>
            <a:off x="2423160" y="2377440"/>
            <a:ext cx="621720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100" strike="noStrike" u="none">
                <a:solidFill>
                  <a:srgbClr val="4a4a4a"/>
                </a:solidFill>
                <a:effectLst/>
                <a:uFillTx/>
                <a:latin typeface="Calibri"/>
              </a:rPr>
              <a:t>Design experiments, set objectives, define success metrics before building</a:t>
            </a:r>
            <a:endParaRPr b="0" lang="en-US" sz="1100" strike="noStrike" u="none">
              <a:solidFill>
                <a:srgbClr val="000000"/>
              </a:solidFill>
              <a:effectLst/>
              <a:uFillTx/>
              <a:latin typeface="Arial"/>
            </a:endParaRPr>
          </a:p>
        </p:txBody>
      </p:sp>
      <p:sp>
        <p:nvSpPr>
          <p:cNvPr id="1235" name="Rectangle 13"/>
          <p:cNvSpPr/>
          <p:nvPr/>
        </p:nvSpPr>
        <p:spPr>
          <a:xfrm>
            <a:off x="457200" y="2926080"/>
            <a:ext cx="1462320" cy="712440"/>
          </a:xfrm>
          <a:prstGeom prst="rect">
            <a:avLst/>
          </a:prstGeom>
          <a:solidFill>
            <a:srgbClr val="d4a517"/>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236" name="TextBox 14"/>
          <p:cNvSpPr/>
          <p:nvPr/>
        </p:nvSpPr>
        <p:spPr>
          <a:xfrm>
            <a:off x="502920" y="3090600"/>
            <a:ext cx="1370880" cy="4107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400" strike="noStrike" u="none">
                <a:solidFill>
                  <a:srgbClr val="ffffff"/>
                </a:solidFill>
                <a:effectLst/>
                <a:uFillTx/>
                <a:latin typeface="Trebuchet MS"/>
              </a:rPr>
              <a:t>GOVERN</a:t>
            </a:r>
            <a:endParaRPr b="0" lang="en-US" sz="1400" strike="noStrike" u="none">
              <a:solidFill>
                <a:srgbClr val="000000"/>
              </a:solidFill>
              <a:effectLst/>
              <a:uFillTx/>
              <a:latin typeface="Arial"/>
            </a:endParaRPr>
          </a:p>
        </p:txBody>
      </p:sp>
      <p:sp>
        <p:nvSpPr>
          <p:cNvPr id="1237" name="TextBox 15"/>
          <p:cNvSpPr/>
          <p:nvPr/>
        </p:nvSpPr>
        <p:spPr>
          <a:xfrm>
            <a:off x="2011680" y="3063240"/>
            <a:ext cx="319320" cy="4564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800" strike="noStrike" u="none">
                <a:solidFill>
                  <a:srgbClr val="d4a517"/>
                </a:solidFill>
                <a:effectLst/>
                <a:uFillTx/>
                <a:latin typeface="Calibri"/>
              </a:rPr>
              <a:t>▶</a:t>
            </a:r>
            <a:endParaRPr b="0" lang="en-US" sz="1800" strike="noStrike" u="none">
              <a:solidFill>
                <a:srgbClr val="000000"/>
              </a:solidFill>
              <a:effectLst/>
              <a:uFillTx/>
              <a:latin typeface="Arial"/>
            </a:endParaRPr>
          </a:p>
        </p:txBody>
      </p:sp>
      <p:sp>
        <p:nvSpPr>
          <p:cNvPr id="1238" name="TextBox 16"/>
          <p:cNvSpPr/>
          <p:nvPr/>
        </p:nvSpPr>
        <p:spPr>
          <a:xfrm>
            <a:off x="2423160" y="2971800"/>
            <a:ext cx="59428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500" strike="noStrike" u="none">
                <a:solidFill>
                  <a:srgbClr val="1a1a2e"/>
                </a:solidFill>
                <a:effectLst/>
                <a:uFillTx/>
                <a:latin typeface="Trebuchet MS"/>
              </a:rPr>
              <a:t>Social Media + Brand Discipline</a:t>
            </a:r>
            <a:endParaRPr b="0" lang="en-US" sz="1500" strike="noStrike" u="none">
              <a:solidFill>
                <a:srgbClr val="000000"/>
              </a:solidFill>
              <a:effectLst/>
              <a:uFillTx/>
              <a:latin typeface="Arial"/>
            </a:endParaRPr>
          </a:p>
        </p:txBody>
      </p:sp>
      <p:sp>
        <p:nvSpPr>
          <p:cNvPr id="1239" name="TextBox 17"/>
          <p:cNvSpPr/>
          <p:nvPr/>
        </p:nvSpPr>
        <p:spPr>
          <a:xfrm>
            <a:off x="2423160" y="3291840"/>
            <a:ext cx="621720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100" strike="noStrike" u="none">
                <a:solidFill>
                  <a:srgbClr val="4a4a4a"/>
                </a:solidFill>
                <a:effectLst/>
                <a:uFillTx/>
                <a:latin typeface="Calibri"/>
              </a:rPr>
              <a:t>Execute with data-backed channels, consistent messaging, and ethical practices</a:t>
            </a:r>
            <a:endParaRPr b="0" lang="en-US" sz="1100" strike="noStrike" u="none">
              <a:solidFill>
                <a:srgbClr val="000000"/>
              </a:solidFill>
              <a:effectLst/>
              <a:uFillTx/>
              <a:latin typeface="Arial"/>
            </a:endParaRPr>
          </a:p>
        </p:txBody>
      </p:sp>
      <p:sp>
        <p:nvSpPr>
          <p:cNvPr id="1240" name="Rectangle 18"/>
          <p:cNvSpPr/>
          <p:nvPr/>
        </p:nvSpPr>
        <p:spPr>
          <a:xfrm>
            <a:off x="457200" y="3840480"/>
            <a:ext cx="1462320" cy="712440"/>
          </a:xfrm>
          <a:prstGeom prst="rect">
            <a:avLst/>
          </a:prstGeom>
          <a:solidFill>
            <a:srgbClr val="fdf6f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241" name="TextBox 19"/>
          <p:cNvSpPr/>
          <p:nvPr/>
        </p:nvSpPr>
        <p:spPr>
          <a:xfrm>
            <a:off x="502920" y="4005000"/>
            <a:ext cx="1370880" cy="4107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400" strike="noStrike" u="none">
                <a:solidFill>
                  <a:srgbClr val="ffffff"/>
                </a:solidFill>
                <a:effectLst/>
                <a:uFillTx/>
                <a:latin typeface="Trebuchet MS"/>
              </a:rPr>
              <a:t>ELEVATE</a:t>
            </a:r>
            <a:endParaRPr b="0" lang="en-US" sz="1400" strike="noStrike" u="none">
              <a:solidFill>
                <a:srgbClr val="000000"/>
              </a:solidFill>
              <a:effectLst/>
              <a:uFillTx/>
              <a:latin typeface="Arial"/>
            </a:endParaRPr>
          </a:p>
        </p:txBody>
      </p:sp>
      <p:sp>
        <p:nvSpPr>
          <p:cNvPr id="1242" name="TextBox 20"/>
          <p:cNvSpPr/>
          <p:nvPr/>
        </p:nvSpPr>
        <p:spPr>
          <a:xfrm>
            <a:off x="2011680" y="3977640"/>
            <a:ext cx="319320" cy="4564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800" strike="noStrike" u="none">
                <a:solidFill>
                  <a:srgbClr val="16213e"/>
                </a:solidFill>
                <a:effectLst/>
                <a:uFillTx/>
                <a:latin typeface="Calibri"/>
              </a:rPr>
              <a:t>▶</a:t>
            </a:r>
            <a:endParaRPr b="0" lang="en-US" sz="1800" strike="noStrike" u="none">
              <a:solidFill>
                <a:srgbClr val="000000"/>
              </a:solidFill>
              <a:effectLst/>
              <a:uFillTx/>
              <a:latin typeface="Arial"/>
            </a:endParaRPr>
          </a:p>
        </p:txBody>
      </p:sp>
      <p:sp>
        <p:nvSpPr>
          <p:cNvPr id="1243" name="TextBox 21"/>
          <p:cNvSpPr/>
          <p:nvPr/>
        </p:nvSpPr>
        <p:spPr>
          <a:xfrm>
            <a:off x="2423160" y="3886200"/>
            <a:ext cx="59428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500" strike="noStrike" u="none">
                <a:solidFill>
                  <a:srgbClr val="1a1a2e"/>
                </a:solidFill>
                <a:effectLst/>
                <a:uFillTx/>
                <a:latin typeface="Trebuchet MS"/>
              </a:rPr>
              <a:t>AI Tools + Prompt Mastery</a:t>
            </a:r>
            <a:endParaRPr b="0" lang="en-US" sz="1500" strike="noStrike" u="none">
              <a:solidFill>
                <a:srgbClr val="000000"/>
              </a:solidFill>
              <a:effectLst/>
              <a:uFillTx/>
              <a:latin typeface="Arial"/>
            </a:endParaRPr>
          </a:p>
        </p:txBody>
      </p:sp>
      <p:sp>
        <p:nvSpPr>
          <p:cNvPr id="1244" name="TextBox 22"/>
          <p:cNvSpPr/>
          <p:nvPr/>
        </p:nvSpPr>
        <p:spPr>
          <a:xfrm>
            <a:off x="2423160" y="4206240"/>
            <a:ext cx="621720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100" strike="noStrike" u="none">
                <a:solidFill>
                  <a:srgbClr val="4a4a4a"/>
                </a:solidFill>
                <a:effectLst/>
                <a:uFillTx/>
                <a:latin typeface="Calibri"/>
              </a:rPr>
              <a:t>Deploy AI strategically, optimise prompts, compound results over time</a:t>
            </a:r>
            <a:endParaRPr b="0" lang="en-US" sz="1100" strike="noStrike" u="none">
              <a:solidFill>
                <a:srgbClr val="000000"/>
              </a:solidFill>
              <a:effectLst/>
              <a:uFillTx/>
              <a:latin typeface="Arial"/>
            </a:endParaRPr>
          </a:p>
        </p:txBody>
      </p:sp>
      <p:sp>
        <p:nvSpPr>
          <p:cNvPr id="1245" name="Rectangle 23"/>
          <p:cNvSpPr/>
          <p:nvPr/>
        </p:nvSpPr>
        <p:spPr>
          <a:xfrm>
            <a:off x="457200" y="4617720"/>
            <a:ext cx="8228880" cy="36000"/>
          </a:xfrm>
          <a:prstGeom prst="rect">
            <a:avLst/>
          </a:prstGeom>
          <a:solidFill>
            <a:srgbClr val="e94560"/>
          </a:solidFill>
          <a:ln>
            <a:noFill/>
          </a:ln>
        </p:spPr>
        <p:style>
          <a:lnRef idx="1">
            <a:schemeClr val="accent1"/>
          </a:lnRef>
          <a:fillRef idx="3">
            <a:schemeClr val="accent1"/>
          </a:fillRef>
          <a:effectRef idx="2">
            <a:schemeClr val="accent1"/>
          </a:effectRef>
          <a:fontRef idx="minor"/>
        </p:style>
        <p:txBody>
          <a:bodyPr lIns="90000" rIns="90000" tIns="-8280" bIns="-828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246" name="TextBox 24"/>
          <p:cNvSpPr/>
          <p:nvPr/>
        </p:nvSpPr>
        <p:spPr>
          <a:xfrm>
            <a:off x="457200" y="4709160"/>
            <a:ext cx="8228880" cy="319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200" strike="noStrike" u="none">
                <a:solidFill>
                  <a:srgbClr val="e94560"/>
                </a:solidFill>
                <a:effectLst/>
                <a:uFillTx/>
                <a:latin typeface="Calibri"/>
              </a:rPr>
              <a:t>Take the free AI Governance Maturity Assessment → adrianwatkins.com/tools</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47" name="Text 0"/>
          <p:cNvSpPr/>
          <p:nvPr/>
        </p:nvSpPr>
        <p:spPr>
          <a:xfrm>
            <a:off x="731520" y="548640"/>
            <a:ext cx="1828080" cy="1828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8000" strike="noStrike" u="none">
                <a:solidFill>
                  <a:srgbClr val="e94560"/>
                </a:solidFill>
                <a:effectLst/>
                <a:uFillTx/>
                <a:latin typeface="Trebuchet MS"/>
                <a:ea typeface="Trebuchet MS"/>
              </a:rPr>
              <a:t>05</a:t>
            </a:r>
            <a:endParaRPr b="0" lang="en-US" sz="8000" strike="noStrike" u="none">
              <a:solidFill>
                <a:srgbClr val="000000"/>
              </a:solidFill>
              <a:effectLst/>
              <a:uFillTx/>
              <a:latin typeface="Arial"/>
            </a:endParaRPr>
          </a:p>
        </p:txBody>
      </p:sp>
      <p:sp>
        <p:nvSpPr>
          <p:cNvPr id="1248" name="Text 1"/>
          <p:cNvSpPr/>
          <p:nvPr/>
        </p:nvSpPr>
        <p:spPr>
          <a:xfrm>
            <a:off x="731520" y="2286000"/>
            <a:ext cx="7314480" cy="913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4000" strike="noStrike" u="none">
                <a:solidFill>
                  <a:srgbClr val="1a1a2e"/>
                </a:solidFill>
                <a:effectLst/>
                <a:uFillTx/>
                <a:latin typeface="Trebuchet MS"/>
                <a:ea typeface="Trebuchet MS"/>
              </a:rPr>
              <a:t>Start-Ups Looking for Prompts to Drive Efficiency*</a:t>
            </a:r>
            <a:endParaRPr b="0" lang="en-US" sz="4000" strike="noStrike" u="none">
              <a:solidFill>
                <a:srgbClr val="000000"/>
              </a:solidFill>
              <a:effectLst/>
              <a:uFillTx/>
              <a:latin typeface="Arial"/>
            </a:endParaRPr>
          </a:p>
        </p:txBody>
      </p:sp>
      <p:sp>
        <p:nvSpPr>
          <p:cNvPr id="1249" name="Text 2"/>
          <p:cNvSpPr/>
          <p:nvPr/>
        </p:nvSpPr>
        <p:spPr>
          <a:xfrm>
            <a:off x="731520" y="3200400"/>
            <a:ext cx="64000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600" strike="noStrike" u="none">
                <a:solidFill>
                  <a:srgbClr val="0f9b8e"/>
                </a:solidFill>
                <a:effectLst/>
                <a:uFillTx/>
                <a:latin typeface="Calibri"/>
                <a:ea typeface="Calibri"/>
              </a:rPr>
              <a:t>Real data on 50,625 AI prompt seekers in Singapore</a:t>
            </a:r>
            <a:endParaRPr b="0" lang="en-US" sz="1600" strike="noStrike" u="none">
              <a:solidFill>
                <a:srgbClr val="000000"/>
              </a:solidFill>
              <a:effectLst/>
              <a:uFillTx/>
              <a:latin typeface="Arial"/>
            </a:endParaRPr>
          </a:p>
        </p:txBody>
      </p:sp>
      <p:sp>
        <p:nvSpPr>
          <p:cNvPr id="1250" name="Shape 3"/>
          <p:cNvSpPr/>
          <p:nvPr/>
        </p:nvSpPr>
        <p:spPr>
          <a:xfrm>
            <a:off x="731520" y="4502880"/>
            <a:ext cx="1828080" cy="54000"/>
          </a:xfrm>
          <a:prstGeom prst="rect">
            <a:avLst/>
          </a:prstGeom>
          <a:solidFill>
            <a:srgbClr val="e94560"/>
          </a:solidFill>
          <a:ln w="0">
            <a:noFill/>
          </a:ln>
        </p:spPr>
        <p:style>
          <a:lnRef idx="0"/>
          <a:fillRef idx="0"/>
          <a:effectRef idx="0"/>
          <a:fontRef idx="minor"/>
        </p:style>
        <p:txBody>
          <a:bodyPr lIns="90000" rIns="90000" tIns="9720" bIns="9720" anchor="t">
            <a:noAutofit/>
          </a:bodyPr>
          <a:p>
            <a:pPr defTabSz="914400">
              <a:lnSpc>
                <a:spcPct val="100000"/>
              </a:lnSpc>
            </a:pPr>
            <a:endParaRPr b="0" lang="en-US" sz="1800" strike="noStrike" u="none">
              <a:solidFill>
                <a:schemeClr val="dk1"/>
              </a:solidFill>
              <a:effectLst/>
              <a:uFillTx/>
              <a:latin typeface="Calibri"/>
            </a:endParaRPr>
          </a:p>
        </p:txBody>
      </p:sp>
      <p:sp>
        <p:nvSpPr>
          <p:cNvPr id="1251" name="TextBox 6"/>
          <p:cNvSpPr/>
          <p:nvPr/>
        </p:nvSpPr>
        <p:spPr>
          <a:xfrm>
            <a:off x="731520" y="3825720"/>
            <a:ext cx="4571280" cy="3686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tabLst>
                <a:tab algn="l" pos="0"/>
              </a:tabLst>
            </a:pPr>
            <a:r>
              <a:rPr b="1" lang="en-US" sz="1800" strike="noStrike" u="none">
                <a:solidFill>
                  <a:schemeClr val="lt1">
                    <a:lumMod val="65000"/>
                  </a:schemeClr>
                </a:solidFill>
                <a:effectLst/>
                <a:uFillTx/>
                <a:latin typeface="Trebuchet MS"/>
                <a:ea typeface="Trebuchet MS"/>
              </a:rPr>
              <a:t>*SQREEM Insights</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df6f0"/>
        </a:solidFill>
      </p:bgPr>
    </p:bg>
    <p:spTree>
      <p:nvGrpSpPr>
        <p:cNvPr id="1" name=""/>
        <p:cNvGrpSpPr/>
        <p:nvPr/>
      </p:nvGrpSpPr>
      <p:grpSpPr>
        <a:xfrm>
          <a:off x="0" y="0"/>
          <a:ext cx="0" cy="0"/>
          <a:chOff x="0" y="0"/>
          <a:chExt cx="0" cy="0"/>
        </a:xfrm>
      </p:grpSpPr>
      <p:sp>
        <p:nvSpPr>
          <p:cNvPr id="1252" name="Shape 0"/>
          <p:cNvSpPr/>
          <p:nvPr/>
        </p:nvSpPr>
        <p:spPr>
          <a:xfrm>
            <a:off x="0" y="0"/>
            <a:ext cx="9143280" cy="77652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53" name="Text 1"/>
          <p:cNvSpPr/>
          <p:nvPr/>
        </p:nvSpPr>
        <p:spPr>
          <a:xfrm>
            <a:off x="548640" y="0"/>
            <a:ext cx="7771680" cy="776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000" strike="noStrike" u="none">
                <a:solidFill>
                  <a:srgbClr val="ffffff"/>
                </a:solidFill>
                <a:effectLst/>
                <a:uFillTx/>
                <a:latin typeface="Trebuchet MS"/>
                <a:ea typeface="Trebuchet MS"/>
              </a:rPr>
              <a:t>Cheat Sheet: Blog Posts with AI  |  Step 1 of 4</a:t>
            </a:r>
            <a:endParaRPr b="0" lang="en-US" sz="2000" strike="noStrike" u="none">
              <a:solidFill>
                <a:srgbClr val="000000"/>
              </a:solidFill>
              <a:effectLst/>
              <a:uFillTx/>
              <a:latin typeface="Arial"/>
            </a:endParaRPr>
          </a:p>
        </p:txBody>
      </p:sp>
      <p:sp>
        <p:nvSpPr>
          <p:cNvPr id="1254" name="Shape 2"/>
          <p:cNvSpPr/>
          <p:nvPr/>
        </p:nvSpPr>
        <p:spPr>
          <a:xfrm>
            <a:off x="548640" y="1005840"/>
            <a:ext cx="8046000" cy="54792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55" name="Shape 3"/>
          <p:cNvSpPr/>
          <p:nvPr/>
        </p:nvSpPr>
        <p:spPr>
          <a:xfrm>
            <a:off x="685800" y="1078920"/>
            <a:ext cx="383400" cy="383400"/>
          </a:xfrm>
          <a:prstGeom prst="ellipse">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56" name="Text 4"/>
          <p:cNvSpPr/>
          <p:nvPr/>
        </p:nvSpPr>
        <p:spPr>
          <a:xfrm>
            <a:off x="685800" y="107892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trike="noStrike" u="none">
                <a:solidFill>
                  <a:srgbClr val="ffffff"/>
                </a:solidFill>
                <a:effectLst/>
                <a:uFillTx/>
                <a:latin typeface="Trebuchet MS"/>
                <a:ea typeface="Trebuchet MS"/>
              </a:rPr>
              <a:t>1</a:t>
            </a:r>
            <a:endParaRPr b="0" lang="en-US" sz="1600" strike="noStrike" u="none">
              <a:solidFill>
                <a:srgbClr val="000000"/>
              </a:solidFill>
              <a:effectLst/>
              <a:uFillTx/>
              <a:latin typeface="Arial"/>
            </a:endParaRPr>
          </a:p>
        </p:txBody>
      </p:sp>
      <p:sp>
        <p:nvSpPr>
          <p:cNvPr id="1257" name="Text 5"/>
          <p:cNvSpPr/>
          <p:nvPr/>
        </p:nvSpPr>
        <p:spPr>
          <a:xfrm>
            <a:off x="1188720" y="1005840"/>
            <a:ext cx="640008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a1a2e"/>
                </a:solidFill>
                <a:effectLst/>
                <a:uFillTx/>
                <a:latin typeface="Trebuchet MS"/>
                <a:ea typeface="Trebuchet MS"/>
              </a:rPr>
              <a:t>Step 1: Find Ideas with AI</a:t>
            </a:r>
            <a:endParaRPr b="0" lang="en-US" sz="1800" strike="noStrike" u="none">
              <a:solidFill>
                <a:srgbClr val="000000"/>
              </a:solidFill>
              <a:effectLst/>
              <a:uFillTx/>
              <a:latin typeface="Arial"/>
            </a:endParaRPr>
          </a:p>
        </p:txBody>
      </p:sp>
      <p:sp>
        <p:nvSpPr>
          <p:cNvPr id="1258" name="Shape 6"/>
          <p:cNvSpPr/>
          <p:nvPr/>
        </p:nvSpPr>
        <p:spPr>
          <a:xfrm>
            <a:off x="548640" y="1737360"/>
            <a:ext cx="8046000" cy="30168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59" name="Shape 7"/>
          <p:cNvSpPr/>
          <p:nvPr/>
        </p:nvSpPr>
        <p:spPr>
          <a:xfrm>
            <a:off x="548640" y="1737360"/>
            <a:ext cx="8046000" cy="31932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60" name="Text 8"/>
          <p:cNvSpPr/>
          <p:nvPr/>
        </p:nvSpPr>
        <p:spPr>
          <a:xfrm>
            <a:off x="731520" y="1737360"/>
            <a:ext cx="18280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trike="noStrike" u="none">
                <a:solidFill>
                  <a:srgbClr val="0f9b8e"/>
                </a:solidFill>
                <a:effectLst/>
                <a:uFillTx/>
                <a:latin typeface="Trebuchet MS"/>
                <a:ea typeface="Trebuchet MS"/>
              </a:rPr>
              <a:t>AI PROMPT</a:t>
            </a:r>
            <a:endParaRPr b="0" lang="en-US" sz="1000" strike="noStrike" u="none">
              <a:solidFill>
                <a:srgbClr val="000000"/>
              </a:solidFill>
              <a:effectLst/>
              <a:uFillTx/>
              <a:latin typeface="Arial"/>
            </a:endParaRPr>
          </a:p>
        </p:txBody>
      </p:sp>
      <p:sp>
        <p:nvSpPr>
          <p:cNvPr id="1261" name="Text 9"/>
          <p:cNvSpPr/>
          <p:nvPr/>
        </p:nvSpPr>
        <p:spPr>
          <a:xfrm>
            <a:off x="731520" y="2148840"/>
            <a:ext cx="7680240" cy="2513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2d2d2d"/>
                </a:solidFill>
                <a:effectLst/>
                <a:uFillTx/>
                <a:latin typeface="Calibri"/>
                <a:ea typeface="Calibri"/>
              </a:rPr>
              <a:t>I run [Startup Name], which provides [briefly describe product/service] to [target audience or customers]. My customers often struggle with [common problems or pain points your audience faces]. Suggest 10 relevant, interesting, and helpful blog article topics that address these challenges, educate my audience, and position [Startup Name] as a trusted expert in [industry or niche]. These topics should be engaging, practical, and SEO-friendly, helping me attract more readers who could become potential customers.</a:t>
            </a:r>
            <a:endParaRPr b="0" lang="en-US" sz="1000" strike="noStrike" u="none">
              <a:solidFill>
                <a:srgbClr val="000000"/>
              </a:solidFill>
              <a:effectLst/>
              <a:uFillTx/>
              <a:latin typeface="Arial"/>
            </a:endParaRPr>
          </a:p>
        </p:txBody>
      </p:sp>
      <p:sp>
        <p:nvSpPr>
          <p:cNvPr id="1262" name="Shape 10"/>
          <p:cNvSpPr/>
          <p:nvPr/>
        </p:nvSpPr>
        <p:spPr>
          <a:xfrm>
            <a:off x="3840480" y="4800600"/>
            <a:ext cx="182160" cy="182160"/>
          </a:xfrm>
          <a:prstGeom prst="ellipse">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63" name="Shape 11"/>
          <p:cNvSpPr/>
          <p:nvPr/>
        </p:nvSpPr>
        <p:spPr>
          <a:xfrm>
            <a:off x="4297680" y="4800600"/>
            <a:ext cx="182160" cy="182160"/>
          </a:xfrm>
          <a:prstGeom prst="ellipse">
            <a:avLst/>
          </a:prstGeom>
          <a:solidFill>
            <a:srgbClr val="8e8e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64" name="Shape 12"/>
          <p:cNvSpPr/>
          <p:nvPr/>
        </p:nvSpPr>
        <p:spPr>
          <a:xfrm>
            <a:off x="4754880" y="4800600"/>
            <a:ext cx="182160" cy="182160"/>
          </a:xfrm>
          <a:prstGeom prst="ellipse">
            <a:avLst/>
          </a:prstGeom>
          <a:solidFill>
            <a:srgbClr val="8e8e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65" name="Shape 13"/>
          <p:cNvSpPr/>
          <p:nvPr/>
        </p:nvSpPr>
        <p:spPr>
          <a:xfrm>
            <a:off x="5212080" y="4800600"/>
            <a:ext cx="182160" cy="182160"/>
          </a:xfrm>
          <a:prstGeom prst="ellipse">
            <a:avLst/>
          </a:prstGeom>
          <a:solidFill>
            <a:srgbClr val="8e8e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df6f0"/>
        </a:solidFill>
      </p:bgPr>
    </p:bg>
    <p:spTree>
      <p:nvGrpSpPr>
        <p:cNvPr id="1" name=""/>
        <p:cNvGrpSpPr/>
        <p:nvPr/>
      </p:nvGrpSpPr>
      <p:grpSpPr>
        <a:xfrm>
          <a:off x="0" y="0"/>
          <a:ext cx="0" cy="0"/>
          <a:chOff x="0" y="0"/>
          <a:chExt cx="0" cy="0"/>
        </a:xfrm>
      </p:grpSpPr>
      <p:sp>
        <p:nvSpPr>
          <p:cNvPr id="1266" name="Shape 0"/>
          <p:cNvSpPr/>
          <p:nvPr/>
        </p:nvSpPr>
        <p:spPr>
          <a:xfrm>
            <a:off x="0" y="0"/>
            <a:ext cx="9143280" cy="776520"/>
          </a:xfrm>
          <a:prstGeom prst="rect">
            <a:avLst/>
          </a:prstGeom>
          <a:solidFill>
            <a:srgbClr val="3b82f6"/>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67" name="Text 1"/>
          <p:cNvSpPr/>
          <p:nvPr/>
        </p:nvSpPr>
        <p:spPr>
          <a:xfrm>
            <a:off x="548640" y="0"/>
            <a:ext cx="7771680" cy="776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000" strike="noStrike" u="none">
                <a:solidFill>
                  <a:srgbClr val="ffffff"/>
                </a:solidFill>
                <a:effectLst/>
                <a:uFillTx/>
                <a:latin typeface="Trebuchet MS"/>
                <a:ea typeface="Trebuchet MS"/>
              </a:rPr>
              <a:t>Cheat Sheet: Blog Posts with AI  |  Step 2 of 4</a:t>
            </a:r>
            <a:endParaRPr b="0" lang="en-US" sz="2000" strike="noStrike" u="none">
              <a:solidFill>
                <a:srgbClr val="000000"/>
              </a:solidFill>
              <a:effectLst/>
              <a:uFillTx/>
              <a:latin typeface="Arial"/>
            </a:endParaRPr>
          </a:p>
        </p:txBody>
      </p:sp>
      <p:sp>
        <p:nvSpPr>
          <p:cNvPr id="1268" name="Shape 2"/>
          <p:cNvSpPr/>
          <p:nvPr/>
        </p:nvSpPr>
        <p:spPr>
          <a:xfrm>
            <a:off x="548640" y="1005840"/>
            <a:ext cx="8046000" cy="54792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69" name="Shape 3"/>
          <p:cNvSpPr/>
          <p:nvPr/>
        </p:nvSpPr>
        <p:spPr>
          <a:xfrm>
            <a:off x="685800" y="1078920"/>
            <a:ext cx="383400" cy="383400"/>
          </a:xfrm>
          <a:prstGeom prst="ellipse">
            <a:avLst/>
          </a:prstGeom>
          <a:solidFill>
            <a:srgbClr val="3b82f6"/>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70" name="Text 4"/>
          <p:cNvSpPr/>
          <p:nvPr/>
        </p:nvSpPr>
        <p:spPr>
          <a:xfrm>
            <a:off x="685800" y="107892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trike="noStrike" u="none">
                <a:solidFill>
                  <a:srgbClr val="ffffff"/>
                </a:solidFill>
                <a:effectLst/>
                <a:uFillTx/>
                <a:latin typeface="Trebuchet MS"/>
                <a:ea typeface="Trebuchet MS"/>
              </a:rPr>
              <a:t>2</a:t>
            </a:r>
            <a:endParaRPr b="0" lang="en-US" sz="1600" strike="noStrike" u="none">
              <a:solidFill>
                <a:srgbClr val="000000"/>
              </a:solidFill>
              <a:effectLst/>
              <a:uFillTx/>
              <a:latin typeface="Arial"/>
            </a:endParaRPr>
          </a:p>
        </p:txBody>
      </p:sp>
      <p:sp>
        <p:nvSpPr>
          <p:cNvPr id="1271" name="Text 5"/>
          <p:cNvSpPr/>
          <p:nvPr/>
        </p:nvSpPr>
        <p:spPr>
          <a:xfrm>
            <a:off x="1188720" y="1005840"/>
            <a:ext cx="640008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a1a2e"/>
                </a:solidFill>
                <a:effectLst/>
                <a:uFillTx/>
                <a:latin typeface="Trebuchet MS"/>
                <a:ea typeface="Trebuchet MS"/>
              </a:rPr>
              <a:t>Step 2: Create an Outline with AI</a:t>
            </a:r>
            <a:endParaRPr b="0" lang="en-US" sz="1800" strike="noStrike" u="none">
              <a:solidFill>
                <a:srgbClr val="000000"/>
              </a:solidFill>
              <a:effectLst/>
              <a:uFillTx/>
              <a:latin typeface="Arial"/>
            </a:endParaRPr>
          </a:p>
        </p:txBody>
      </p:sp>
      <p:sp>
        <p:nvSpPr>
          <p:cNvPr id="1272" name="Shape 6"/>
          <p:cNvSpPr/>
          <p:nvPr/>
        </p:nvSpPr>
        <p:spPr>
          <a:xfrm>
            <a:off x="548640" y="1737360"/>
            <a:ext cx="8046000" cy="30168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73" name="Shape 7"/>
          <p:cNvSpPr/>
          <p:nvPr/>
        </p:nvSpPr>
        <p:spPr>
          <a:xfrm>
            <a:off x="548640" y="1737360"/>
            <a:ext cx="8046000" cy="31932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74" name="Text 8"/>
          <p:cNvSpPr/>
          <p:nvPr/>
        </p:nvSpPr>
        <p:spPr>
          <a:xfrm>
            <a:off x="731520" y="1737360"/>
            <a:ext cx="18280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trike="noStrike" u="none">
                <a:solidFill>
                  <a:srgbClr val="0f9b8e"/>
                </a:solidFill>
                <a:effectLst/>
                <a:uFillTx/>
                <a:latin typeface="Trebuchet MS"/>
                <a:ea typeface="Trebuchet MS"/>
              </a:rPr>
              <a:t>AI PROMPT</a:t>
            </a:r>
            <a:endParaRPr b="0" lang="en-US" sz="1000" strike="noStrike" u="none">
              <a:solidFill>
                <a:srgbClr val="000000"/>
              </a:solidFill>
              <a:effectLst/>
              <a:uFillTx/>
              <a:latin typeface="Arial"/>
            </a:endParaRPr>
          </a:p>
        </p:txBody>
      </p:sp>
      <p:sp>
        <p:nvSpPr>
          <p:cNvPr id="1275" name="Text 9"/>
          <p:cNvSpPr/>
          <p:nvPr/>
        </p:nvSpPr>
        <p:spPr>
          <a:xfrm>
            <a:off x="731520" y="2148840"/>
            <a:ext cx="7680240" cy="2513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2d2d2d"/>
                </a:solidFill>
                <a:effectLst/>
                <a:uFillTx/>
                <a:latin typeface="Calibri"/>
                <a:ea typeface="Calibri"/>
              </a:rPr>
              <a:t>I'm writing a blog article titled "[Your Blog Article Topic]" for my startup, [Startup Name], which offers [briefly describe product/service] to [target audience or customers]. The main goal of this article is to [explain primary purpose: educate, solve a specific problem, offer insights, etc.]. Provide a clear, practical, and engaging outline for this article. Include the following sections:</a:t>
            </a:r>
            <a:endParaRPr b="0" lang="en-US" sz="1000" strike="noStrike" u="none">
              <a:solidFill>
                <a:srgbClr val="000000"/>
              </a:solidFill>
              <a:effectLst/>
              <a:uFillTx/>
              <a:latin typeface="Arial"/>
            </a:endParaRPr>
          </a:p>
          <a:p>
            <a:pPr defTabSz="914400">
              <a:lnSpc>
                <a:spcPct val="100000"/>
              </a:lnSpc>
              <a:tabLst>
                <a:tab algn="l" pos="0"/>
              </a:tabLst>
            </a:pPr>
            <a:endParaRPr b="0" lang="en-US"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2d2d2d"/>
                </a:solidFill>
                <a:effectLst/>
                <a:uFillTx/>
                <a:latin typeface="Calibri"/>
                <a:ea typeface="Calibri"/>
              </a:rPr>
              <a:t>- Introduction: Briefly introduce the topic and why it's relevant to my audience.</a:t>
            </a:r>
            <a:endParaRPr b="0" lang="en-US"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2d2d2d"/>
                </a:solidFill>
                <a:effectLst/>
                <a:uFillTx/>
                <a:latin typeface="Calibri"/>
                <a:ea typeface="Calibri"/>
              </a:rPr>
              <a:t>- Main Points: Suggest 3-5 key points or subheadings to structure the article clearly. Each point should directly address my readers' interests or pain points.</a:t>
            </a:r>
            <a:endParaRPr b="0" lang="en-US"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2d2d2d"/>
                </a:solidFill>
                <a:effectLst/>
                <a:uFillTx/>
                <a:latin typeface="Calibri"/>
                <a:ea typeface="Calibri"/>
              </a:rPr>
              <a:t>- Conclusion &amp; CTA: Summarise the key takeaway and suggest a relevant call-to-action.</a:t>
            </a:r>
            <a:endParaRPr b="0" lang="en-US" sz="1000" strike="noStrike" u="none">
              <a:solidFill>
                <a:srgbClr val="000000"/>
              </a:solidFill>
              <a:effectLst/>
              <a:uFillTx/>
              <a:latin typeface="Arial"/>
            </a:endParaRPr>
          </a:p>
        </p:txBody>
      </p:sp>
      <p:sp>
        <p:nvSpPr>
          <p:cNvPr id="1276" name="Shape 10"/>
          <p:cNvSpPr/>
          <p:nvPr/>
        </p:nvSpPr>
        <p:spPr>
          <a:xfrm>
            <a:off x="3840480" y="4800600"/>
            <a:ext cx="182160" cy="182160"/>
          </a:xfrm>
          <a:prstGeom prst="ellipse">
            <a:avLst/>
          </a:prstGeom>
          <a:solidFill>
            <a:srgbClr val="8e8e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77" name="Shape 11"/>
          <p:cNvSpPr/>
          <p:nvPr/>
        </p:nvSpPr>
        <p:spPr>
          <a:xfrm>
            <a:off x="4297680" y="4800600"/>
            <a:ext cx="182160" cy="182160"/>
          </a:xfrm>
          <a:prstGeom prst="ellipse">
            <a:avLst/>
          </a:prstGeom>
          <a:solidFill>
            <a:srgbClr val="3b82f6"/>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78" name="Shape 12"/>
          <p:cNvSpPr/>
          <p:nvPr/>
        </p:nvSpPr>
        <p:spPr>
          <a:xfrm>
            <a:off x="4754880" y="4800600"/>
            <a:ext cx="182160" cy="182160"/>
          </a:xfrm>
          <a:prstGeom prst="ellipse">
            <a:avLst/>
          </a:prstGeom>
          <a:solidFill>
            <a:srgbClr val="8e8e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79" name="Shape 13"/>
          <p:cNvSpPr/>
          <p:nvPr/>
        </p:nvSpPr>
        <p:spPr>
          <a:xfrm>
            <a:off x="5212080" y="4800600"/>
            <a:ext cx="182160" cy="182160"/>
          </a:xfrm>
          <a:prstGeom prst="ellipse">
            <a:avLst/>
          </a:prstGeom>
          <a:solidFill>
            <a:srgbClr val="8e8e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df6f0"/>
        </a:solidFill>
      </p:bgPr>
    </p:bg>
    <p:spTree>
      <p:nvGrpSpPr>
        <p:cNvPr id="1" name=""/>
        <p:cNvGrpSpPr/>
        <p:nvPr/>
      </p:nvGrpSpPr>
      <p:grpSpPr>
        <a:xfrm>
          <a:off x="0" y="0"/>
          <a:ext cx="0" cy="0"/>
          <a:chOff x="0" y="0"/>
          <a:chExt cx="0" cy="0"/>
        </a:xfrm>
      </p:grpSpPr>
      <p:sp>
        <p:nvSpPr>
          <p:cNvPr id="1280" name="Shape 0"/>
          <p:cNvSpPr/>
          <p:nvPr/>
        </p:nvSpPr>
        <p:spPr>
          <a:xfrm>
            <a:off x="0" y="0"/>
            <a:ext cx="9143280" cy="77652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81" name="Text 1"/>
          <p:cNvSpPr/>
          <p:nvPr/>
        </p:nvSpPr>
        <p:spPr>
          <a:xfrm>
            <a:off x="548640" y="0"/>
            <a:ext cx="7771680" cy="776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000" strike="noStrike" u="none">
                <a:solidFill>
                  <a:srgbClr val="ffffff"/>
                </a:solidFill>
                <a:effectLst/>
                <a:uFillTx/>
                <a:latin typeface="Trebuchet MS"/>
                <a:ea typeface="Trebuchet MS"/>
              </a:rPr>
              <a:t>Cheat Sheet: Blog Posts with AI  |  Step 3 of 4</a:t>
            </a:r>
            <a:endParaRPr b="0" lang="en-US" sz="2000" strike="noStrike" u="none">
              <a:solidFill>
                <a:srgbClr val="000000"/>
              </a:solidFill>
              <a:effectLst/>
              <a:uFillTx/>
              <a:latin typeface="Arial"/>
            </a:endParaRPr>
          </a:p>
        </p:txBody>
      </p:sp>
      <p:sp>
        <p:nvSpPr>
          <p:cNvPr id="1282" name="Shape 2"/>
          <p:cNvSpPr/>
          <p:nvPr/>
        </p:nvSpPr>
        <p:spPr>
          <a:xfrm>
            <a:off x="548640" y="1005840"/>
            <a:ext cx="8046000" cy="54792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83" name="Shape 3"/>
          <p:cNvSpPr/>
          <p:nvPr/>
        </p:nvSpPr>
        <p:spPr>
          <a:xfrm>
            <a:off x="685800" y="1078920"/>
            <a:ext cx="383400" cy="383400"/>
          </a:xfrm>
          <a:prstGeom prst="ellipse">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84" name="Text 4"/>
          <p:cNvSpPr/>
          <p:nvPr/>
        </p:nvSpPr>
        <p:spPr>
          <a:xfrm>
            <a:off x="685800" y="107892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trike="noStrike" u="none">
                <a:solidFill>
                  <a:srgbClr val="ffffff"/>
                </a:solidFill>
                <a:effectLst/>
                <a:uFillTx/>
                <a:latin typeface="Trebuchet MS"/>
                <a:ea typeface="Trebuchet MS"/>
              </a:rPr>
              <a:t>3</a:t>
            </a:r>
            <a:endParaRPr b="0" lang="en-US" sz="1600" strike="noStrike" u="none">
              <a:solidFill>
                <a:srgbClr val="000000"/>
              </a:solidFill>
              <a:effectLst/>
              <a:uFillTx/>
              <a:latin typeface="Arial"/>
            </a:endParaRPr>
          </a:p>
        </p:txBody>
      </p:sp>
      <p:sp>
        <p:nvSpPr>
          <p:cNvPr id="1285" name="Text 5"/>
          <p:cNvSpPr/>
          <p:nvPr/>
        </p:nvSpPr>
        <p:spPr>
          <a:xfrm>
            <a:off x="1188720" y="1005840"/>
            <a:ext cx="640008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a1a2e"/>
                </a:solidFill>
                <a:effectLst/>
                <a:uFillTx/>
                <a:latin typeface="Trebuchet MS"/>
                <a:ea typeface="Trebuchet MS"/>
              </a:rPr>
              <a:t>Step 3: Write a Draft with AI</a:t>
            </a:r>
            <a:endParaRPr b="0" lang="en-US" sz="1800" strike="noStrike" u="none">
              <a:solidFill>
                <a:srgbClr val="000000"/>
              </a:solidFill>
              <a:effectLst/>
              <a:uFillTx/>
              <a:latin typeface="Arial"/>
            </a:endParaRPr>
          </a:p>
        </p:txBody>
      </p:sp>
      <p:sp>
        <p:nvSpPr>
          <p:cNvPr id="1286" name="Shape 6"/>
          <p:cNvSpPr/>
          <p:nvPr/>
        </p:nvSpPr>
        <p:spPr>
          <a:xfrm>
            <a:off x="548640" y="1737360"/>
            <a:ext cx="8046000" cy="30168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87" name="Shape 7"/>
          <p:cNvSpPr/>
          <p:nvPr/>
        </p:nvSpPr>
        <p:spPr>
          <a:xfrm>
            <a:off x="548640" y="1737360"/>
            <a:ext cx="8046000" cy="31932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88" name="Text 8"/>
          <p:cNvSpPr/>
          <p:nvPr/>
        </p:nvSpPr>
        <p:spPr>
          <a:xfrm>
            <a:off x="731520" y="1737360"/>
            <a:ext cx="18280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trike="noStrike" u="none">
                <a:solidFill>
                  <a:srgbClr val="0f9b8e"/>
                </a:solidFill>
                <a:effectLst/>
                <a:uFillTx/>
                <a:latin typeface="Trebuchet MS"/>
                <a:ea typeface="Trebuchet MS"/>
              </a:rPr>
              <a:t>AI PROMPT</a:t>
            </a:r>
            <a:endParaRPr b="0" lang="en-US" sz="1000" strike="noStrike" u="none">
              <a:solidFill>
                <a:srgbClr val="000000"/>
              </a:solidFill>
              <a:effectLst/>
              <a:uFillTx/>
              <a:latin typeface="Arial"/>
            </a:endParaRPr>
          </a:p>
        </p:txBody>
      </p:sp>
      <p:sp>
        <p:nvSpPr>
          <p:cNvPr id="1289" name="Text 9"/>
          <p:cNvSpPr/>
          <p:nvPr/>
        </p:nvSpPr>
        <p:spPr>
          <a:xfrm>
            <a:off x="731520" y="2148840"/>
            <a:ext cx="7680240" cy="2513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2d2d2d"/>
                </a:solidFill>
                <a:effectLst/>
                <a:uFillTx/>
                <a:latin typeface="Calibri"/>
                <a:ea typeface="Calibri"/>
              </a:rPr>
              <a:t>Write a clear, engaging, and SEO-friendly blog article for my startup, [Startup Name], titled "[Your Blog Article Topic]". Use the provided outline as your guide:</a:t>
            </a:r>
            <a:endParaRPr b="0" lang="en-US" sz="1000" strike="noStrike" u="none">
              <a:solidFill>
                <a:srgbClr val="000000"/>
              </a:solidFill>
              <a:effectLst/>
              <a:uFillTx/>
              <a:latin typeface="Arial"/>
            </a:endParaRPr>
          </a:p>
          <a:p>
            <a:pPr defTabSz="914400">
              <a:lnSpc>
                <a:spcPct val="100000"/>
              </a:lnSpc>
              <a:tabLst>
                <a:tab algn="l" pos="0"/>
              </a:tabLst>
            </a:pPr>
            <a:endParaRPr b="0" lang="en-US"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2d2d2d"/>
                </a:solidFill>
                <a:effectLst/>
                <a:uFillTx/>
                <a:latin typeface="Calibri"/>
                <a:ea typeface="Calibri"/>
              </a:rPr>
              <a:t>[Paste your outline here]</a:t>
            </a:r>
            <a:endParaRPr b="0" lang="en-US" sz="1000" strike="noStrike" u="none">
              <a:solidFill>
                <a:srgbClr val="000000"/>
              </a:solidFill>
              <a:effectLst/>
              <a:uFillTx/>
              <a:latin typeface="Arial"/>
            </a:endParaRPr>
          </a:p>
          <a:p>
            <a:pPr defTabSz="914400">
              <a:lnSpc>
                <a:spcPct val="100000"/>
              </a:lnSpc>
              <a:tabLst>
                <a:tab algn="l" pos="0"/>
              </a:tabLst>
            </a:pPr>
            <a:endParaRPr b="0" lang="en-US"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2d2d2d"/>
                </a:solidFill>
                <a:effectLst/>
                <a:uFillTx/>
                <a:latin typeface="Calibri"/>
                <a:ea typeface="Calibri"/>
              </a:rPr>
              <a:t>The tone should be helpful, conversational, and position [Startup Name] as an expert resource for [target audience or customers]. Include a compelling introduction, practical advice in the body, and a clear call-to-action at the end.</a:t>
            </a:r>
            <a:endParaRPr b="0" lang="en-US" sz="1000" strike="noStrike" u="none">
              <a:solidFill>
                <a:srgbClr val="000000"/>
              </a:solidFill>
              <a:effectLst/>
              <a:uFillTx/>
              <a:latin typeface="Arial"/>
            </a:endParaRPr>
          </a:p>
        </p:txBody>
      </p:sp>
      <p:sp>
        <p:nvSpPr>
          <p:cNvPr id="1290" name="Shape 10"/>
          <p:cNvSpPr/>
          <p:nvPr/>
        </p:nvSpPr>
        <p:spPr>
          <a:xfrm>
            <a:off x="3840480" y="4800600"/>
            <a:ext cx="182160" cy="182160"/>
          </a:xfrm>
          <a:prstGeom prst="ellipse">
            <a:avLst/>
          </a:prstGeom>
          <a:solidFill>
            <a:srgbClr val="8e8e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91" name="Shape 11"/>
          <p:cNvSpPr/>
          <p:nvPr/>
        </p:nvSpPr>
        <p:spPr>
          <a:xfrm>
            <a:off x="4297680" y="4800600"/>
            <a:ext cx="182160" cy="182160"/>
          </a:xfrm>
          <a:prstGeom prst="ellipse">
            <a:avLst/>
          </a:prstGeom>
          <a:solidFill>
            <a:srgbClr val="8e8e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92" name="Shape 12"/>
          <p:cNvSpPr/>
          <p:nvPr/>
        </p:nvSpPr>
        <p:spPr>
          <a:xfrm>
            <a:off x="4754880" y="4800600"/>
            <a:ext cx="182160" cy="182160"/>
          </a:xfrm>
          <a:prstGeom prst="ellipse">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93" name="Shape 13"/>
          <p:cNvSpPr/>
          <p:nvPr/>
        </p:nvSpPr>
        <p:spPr>
          <a:xfrm>
            <a:off x="5212080" y="4800600"/>
            <a:ext cx="182160" cy="182160"/>
          </a:xfrm>
          <a:prstGeom prst="ellipse">
            <a:avLst/>
          </a:prstGeom>
          <a:solidFill>
            <a:srgbClr val="8e8e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df6f0"/>
        </a:solidFill>
      </p:bgPr>
    </p:bg>
    <p:spTree>
      <p:nvGrpSpPr>
        <p:cNvPr id="1" name=""/>
        <p:cNvGrpSpPr/>
        <p:nvPr/>
      </p:nvGrpSpPr>
      <p:grpSpPr>
        <a:xfrm>
          <a:off x="0" y="0"/>
          <a:ext cx="0" cy="0"/>
          <a:chOff x="0" y="0"/>
          <a:chExt cx="0" cy="0"/>
        </a:xfrm>
      </p:grpSpPr>
      <p:sp>
        <p:nvSpPr>
          <p:cNvPr id="1294" name="Shape 0"/>
          <p:cNvSpPr/>
          <p:nvPr/>
        </p:nvSpPr>
        <p:spPr>
          <a:xfrm>
            <a:off x="0" y="0"/>
            <a:ext cx="9143280" cy="776520"/>
          </a:xfrm>
          <a:prstGeom prst="rect">
            <a:avLst/>
          </a:prstGeom>
          <a:solidFill>
            <a:srgbClr val="8b5cf6"/>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95" name="Text 1"/>
          <p:cNvSpPr/>
          <p:nvPr/>
        </p:nvSpPr>
        <p:spPr>
          <a:xfrm>
            <a:off x="548640" y="0"/>
            <a:ext cx="7771680" cy="776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000" strike="noStrike" u="none">
                <a:solidFill>
                  <a:srgbClr val="ffffff"/>
                </a:solidFill>
                <a:effectLst/>
                <a:uFillTx/>
                <a:latin typeface="Trebuchet MS"/>
                <a:ea typeface="Trebuchet MS"/>
              </a:rPr>
              <a:t>Cheat Sheet: Blog Posts with AI  |  Step 4 of 4</a:t>
            </a:r>
            <a:endParaRPr b="0" lang="en-US" sz="2000" strike="noStrike" u="none">
              <a:solidFill>
                <a:srgbClr val="000000"/>
              </a:solidFill>
              <a:effectLst/>
              <a:uFillTx/>
              <a:latin typeface="Arial"/>
            </a:endParaRPr>
          </a:p>
        </p:txBody>
      </p:sp>
      <p:sp>
        <p:nvSpPr>
          <p:cNvPr id="1296" name="Shape 2"/>
          <p:cNvSpPr/>
          <p:nvPr/>
        </p:nvSpPr>
        <p:spPr>
          <a:xfrm>
            <a:off x="548640" y="1005840"/>
            <a:ext cx="8046000" cy="54792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97" name="Shape 3"/>
          <p:cNvSpPr/>
          <p:nvPr/>
        </p:nvSpPr>
        <p:spPr>
          <a:xfrm>
            <a:off x="685800" y="1078920"/>
            <a:ext cx="383400" cy="383400"/>
          </a:xfrm>
          <a:prstGeom prst="ellipse">
            <a:avLst/>
          </a:prstGeom>
          <a:solidFill>
            <a:srgbClr val="8b5cf6"/>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298" name="Text 4"/>
          <p:cNvSpPr/>
          <p:nvPr/>
        </p:nvSpPr>
        <p:spPr>
          <a:xfrm>
            <a:off x="685800" y="1078920"/>
            <a:ext cx="383400" cy="383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trike="noStrike" u="none">
                <a:solidFill>
                  <a:srgbClr val="ffffff"/>
                </a:solidFill>
                <a:effectLst/>
                <a:uFillTx/>
                <a:latin typeface="Trebuchet MS"/>
                <a:ea typeface="Trebuchet MS"/>
              </a:rPr>
              <a:t>4</a:t>
            </a:r>
            <a:endParaRPr b="0" lang="en-US" sz="1600" strike="noStrike" u="none">
              <a:solidFill>
                <a:srgbClr val="000000"/>
              </a:solidFill>
              <a:effectLst/>
              <a:uFillTx/>
              <a:latin typeface="Arial"/>
            </a:endParaRPr>
          </a:p>
        </p:txBody>
      </p:sp>
      <p:sp>
        <p:nvSpPr>
          <p:cNvPr id="1299" name="Text 5"/>
          <p:cNvSpPr/>
          <p:nvPr/>
        </p:nvSpPr>
        <p:spPr>
          <a:xfrm>
            <a:off x="1188720" y="1005840"/>
            <a:ext cx="6400080" cy="547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1a1a2e"/>
                </a:solidFill>
                <a:effectLst/>
                <a:uFillTx/>
                <a:latin typeface="Trebuchet MS"/>
                <a:ea typeface="Trebuchet MS"/>
              </a:rPr>
              <a:t>Step 4: Optimise for SEO</a:t>
            </a:r>
            <a:endParaRPr b="0" lang="en-US" sz="1800" strike="noStrike" u="none">
              <a:solidFill>
                <a:srgbClr val="000000"/>
              </a:solidFill>
              <a:effectLst/>
              <a:uFillTx/>
              <a:latin typeface="Arial"/>
            </a:endParaRPr>
          </a:p>
        </p:txBody>
      </p:sp>
      <p:sp>
        <p:nvSpPr>
          <p:cNvPr id="1300" name="Shape 6"/>
          <p:cNvSpPr/>
          <p:nvPr/>
        </p:nvSpPr>
        <p:spPr>
          <a:xfrm>
            <a:off x="548640" y="1737360"/>
            <a:ext cx="8046000" cy="30168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01" name="Shape 7"/>
          <p:cNvSpPr/>
          <p:nvPr/>
        </p:nvSpPr>
        <p:spPr>
          <a:xfrm>
            <a:off x="548640" y="1737360"/>
            <a:ext cx="8046000" cy="319320"/>
          </a:xfrm>
          <a:prstGeom prst="rect">
            <a:avLst/>
          </a:prstGeom>
          <a:solidFill>
            <a:srgbClr val="1a1a2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02" name="Text 8"/>
          <p:cNvSpPr/>
          <p:nvPr/>
        </p:nvSpPr>
        <p:spPr>
          <a:xfrm>
            <a:off x="731520" y="1737360"/>
            <a:ext cx="18280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trike="noStrike" u="none">
                <a:solidFill>
                  <a:srgbClr val="0f9b8e"/>
                </a:solidFill>
                <a:effectLst/>
                <a:uFillTx/>
                <a:latin typeface="Trebuchet MS"/>
                <a:ea typeface="Trebuchet MS"/>
              </a:rPr>
              <a:t>AI PROMPT</a:t>
            </a:r>
            <a:endParaRPr b="0" lang="en-US" sz="1000" strike="noStrike" u="none">
              <a:solidFill>
                <a:srgbClr val="000000"/>
              </a:solidFill>
              <a:effectLst/>
              <a:uFillTx/>
              <a:latin typeface="Arial"/>
            </a:endParaRPr>
          </a:p>
        </p:txBody>
      </p:sp>
      <p:sp>
        <p:nvSpPr>
          <p:cNvPr id="1303" name="Text 9"/>
          <p:cNvSpPr/>
          <p:nvPr/>
        </p:nvSpPr>
        <p:spPr>
          <a:xfrm>
            <a:off x="731520" y="2148840"/>
            <a:ext cx="7680240" cy="2513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2d2d2d"/>
                </a:solidFill>
                <a:effectLst/>
                <a:uFillTx/>
                <a:latin typeface="Calibri"/>
                <a:ea typeface="Calibri"/>
              </a:rPr>
              <a:t>Optimise the following blog article to make it fully SEO-friendly. Use the details provided below:</a:t>
            </a:r>
            <a:endParaRPr b="0" lang="en-US" sz="1000" strike="noStrike" u="none">
              <a:solidFill>
                <a:srgbClr val="000000"/>
              </a:solidFill>
              <a:effectLst/>
              <a:uFillTx/>
              <a:latin typeface="Arial"/>
            </a:endParaRPr>
          </a:p>
          <a:p>
            <a:pPr defTabSz="914400">
              <a:lnSpc>
                <a:spcPct val="100000"/>
              </a:lnSpc>
              <a:tabLst>
                <a:tab algn="l" pos="0"/>
              </a:tabLst>
            </a:pPr>
            <a:endParaRPr b="0" lang="en-US"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2d2d2d"/>
                </a:solidFill>
                <a:effectLst/>
                <a:uFillTx/>
                <a:latin typeface="Calibri"/>
                <a:ea typeface="Calibri"/>
              </a:rPr>
              <a:t>- Article Title: [Your Article Title]</a:t>
            </a:r>
            <a:endParaRPr b="0" lang="en-US"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2d2d2d"/>
                </a:solidFill>
                <a:effectLst/>
                <a:uFillTx/>
                <a:latin typeface="Calibri"/>
                <a:ea typeface="Calibri"/>
              </a:rPr>
              <a:t>- Focus Keyword: recommend a focus keyphrase and focus keywords. Add them naturally throughout the article.</a:t>
            </a:r>
            <a:endParaRPr b="0" lang="en-US"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2d2d2d"/>
                </a:solidFill>
                <a:effectLst/>
                <a:uFillTx/>
                <a:latin typeface="Calibri"/>
                <a:ea typeface="Calibri"/>
              </a:rPr>
              <a:t>- Provide a Short Meta Description (max. 160 characters, engaging and keyword-rich)</a:t>
            </a:r>
            <a:endParaRPr b="0" lang="en-US"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2d2d2d"/>
                </a:solidFill>
                <a:effectLst/>
                <a:uFillTx/>
                <a:latin typeface="Calibri"/>
                <a:ea typeface="Calibri"/>
              </a:rPr>
              <a:t>- Instructions for Optimisation:</a:t>
            </a:r>
            <a:endParaRPr b="0" lang="en-US"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2d2d2d"/>
                </a:solidFill>
                <a:effectLst/>
                <a:uFillTx/>
                <a:latin typeface="Calibri"/>
                <a:ea typeface="Calibri"/>
              </a:rPr>
              <a:t>  - Use appropriate H1, H2, and H3 tags clearly structured around main sections</a:t>
            </a:r>
            <a:endParaRPr b="0" lang="en-US"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2d2d2d"/>
                </a:solidFill>
                <a:effectLst/>
                <a:uFillTx/>
                <a:latin typeface="Calibri"/>
                <a:ea typeface="Calibri"/>
              </a:rPr>
              <a:t>  - Naturally incorporate the focus keyword into the title, introduction, subheadings, body content, and conclusion</a:t>
            </a:r>
            <a:endParaRPr b="0" lang="en-US"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2d2d2d"/>
                </a:solidFill>
                <a:effectLst/>
                <a:uFillTx/>
                <a:latin typeface="Calibri"/>
                <a:ea typeface="Calibri"/>
              </a:rPr>
              <a:t>  - Ensure the tone remains engaging, conversational, and helpful</a:t>
            </a:r>
            <a:endParaRPr b="0" lang="en-US" sz="1000" strike="noStrike" u="none">
              <a:solidFill>
                <a:srgbClr val="000000"/>
              </a:solidFill>
              <a:effectLst/>
              <a:uFillTx/>
              <a:latin typeface="Arial"/>
            </a:endParaRPr>
          </a:p>
          <a:p>
            <a:pPr defTabSz="914400">
              <a:lnSpc>
                <a:spcPct val="100000"/>
              </a:lnSpc>
              <a:tabLst>
                <a:tab algn="l" pos="0"/>
              </a:tabLst>
            </a:pPr>
            <a:r>
              <a:rPr b="0" lang="en-US" sz="1000" strike="noStrike" u="none">
                <a:solidFill>
                  <a:srgbClr val="2d2d2d"/>
                </a:solidFill>
                <a:effectLst/>
                <a:uFillTx/>
                <a:latin typeface="Calibri"/>
                <a:ea typeface="Calibri"/>
              </a:rPr>
              <a:t>- Original Article: [Paste your blog article here]</a:t>
            </a:r>
            <a:endParaRPr b="0" lang="en-US" sz="1000" strike="noStrike" u="none">
              <a:solidFill>
                <a:srgbClr val="000000"/>
              </a:solidFill>
              <a:effectLst/>
              <a:uFillTx/>
              <a:latin typeface="Arial"/>
            </a:endParaRPr>
          </a:p>
        </p:txBody>
      </p:sp>
      <p:sp>
        <p:nvSpPr>
          <p:cNvPr id="1304" name="Shape 10"/>
          <p:cNvSpPr/>
          <p:nvPr/>
        </p:nvSpPr>
        <p:spPr>
          <a:xfrm>
            <a:off x="3840480" y="4800600"/>
            <a:ext cx="182160" cy="182160"/>
          </a:xfrm>
          <a:prstGeom prst="ellipse">
            <a:avLst/>
          </a:prstGeom>
          <a:solidFill>
            <a:srgbClr val="8e8e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05" name="Shape 11"/>
          <p:cNvSpPr/>
          <p:nvPr/>
        </p:nvSpPr>
        <p:spPr>
          <a:xfrm>
            <a:off x="4297680" y="4800600"/>
            <a:ext cx="182160" cy="182160"/>
          </a:xfrm>
          <a:prstGeom prst="ellipse">
            <a:avLst/>
          </a:prstGeom>
          <a:solidFill>
            <a:srgbClr val="8e8e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06" name="Shape 12"/>
          <p:cNvSpPr/>
          <p:nvPr/>
        </p:nvSpPr>
        <p:spPr>
          <a:xfrm>
            <a:off x="4754880" y="4800600"/>
            <a:ext cx="182160" cy="182160"/>
          </a:xfrm>
          <a:prstGeom prst="ellipse">
            <a:avLst/>
          </a:prstGeom>
          <a:solidFill>
            <a:srgbClr val="8e8e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07" name="Shape 13"/>
          <p:cNvSpPr/>
          <p:nvPr/>
        </p:nvSpPr>
        <p:spPr>
          <a:xfrm>
            <a:off x="5212080" y="4800600"/>
            <a:ext cx="182160" cy="182160"/>
          </a:xfrm>
          <a:prstGeom prst="ellipse">
            <a:avLst/>
          </a:prstGeom>
          <a:solidFill>
            <a:srgbClr val="8b5cf6"/>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08" name="Shape 0"/>
          <p:cNvSpPr/>
          <p:nvPr/>
        </p:nvSpPr>
        <p:spPr>
          <a:xfrm>
            <a:off x="0" y="0"/>
            <a:ext cx="9143280" cy="72360"/>
          </a:xfrm>
          <a:prstGeom prst="rect">
            <a:avLst/>
          </a:prstGeom>
          <a:solidFill>
            <a:srgbClr val="e94560"/>
          </a:solidFill>
          <a:ln w="0">
            <a:noFill/>
          </a:ln>
        </p:spPr>
        <p:style>
          <a:lnRef idx="0"/>
          <a:fillRef idx="0"/>
          <a:effectRef idx="0"/>
          <a:fontRef idx="minor"/>
        </p:style>
        <p:txBody>
          <a:bodyPr lIns="90000" rIns="90000" tIns="28080" bIns="2808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09" name="Text 1"/>
          <p:cNvSpPr/>
          <p:nvPr/>
        </p:nvSpPr>
        <p:spPr>
          <a:xfrm>
            <a:off x="548640" y="274320"/>
            <a:ext cx="73144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600" strike="noStrike" u="none">
                <a:solidFill>
                  <a:srgbClr val="1a1a2e"/>
                </a:solidFill>
                <a:effectLst/>
                <a:uFillTx/>
                <a:latin typeface="Trebuchet MS"/>
                <a:ea typeface="Trebuchet MS"/>
              </a:rPr>
              <a:t>Level Up Your Prompts</a:t>
            </a:r>
            <a:endParaRPr b="0" lang="en-US" sz="3600" strike="noStrike" u="none">
              <a:solidFill>
                <a:srgbClr val="000000"/>
              </a:solidFill>
              <a:effectLst/>
              <a:uFillTx/>
              <a:latin typeface="Arial"/>
            </a:endParaRPr>
          </a:p>
        </p:txBody>
      </p:sp>
      <p:sp>
        <p:nvSpPr>
          <p:cNvPr id="1310" name="Text 2"/>
          <p:cNvSpPr/>
          <p:nvPr/>
        </p:nvSpPr>
        <p:spPr>
          <a:xfrm>
            <a:off x="548640" y="777240"/>
            <a:ext cx="36568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000" strike="noStrike" u="none">
                <a:solidFill>
                  <a:srgbClr val="00b0f0"/>
                </a:solidFill>
                <a:effectLst/>
                <a:uFillTx/>
                <a:latin typeface="Trebuchet MS"/>
                <a:ea typeface="Trebuchet MS"/>
              </a:rPr>
              <a:t>promptandgo.ai</a:t>
            </a:r>
            <a:endParaRPr b="0" lang="en-US" sz="2000" strike="noStrike" u="none">
              <a:solidFill>
                <a:srgbClr val="000000"/>
              </a:solidFill>
              <a:effectLst/>
              <a:uFillTx/>
              <a:latin typeface="Arial"/>
            </a:endParaRPr>
          </a:p>
        </p:txBody>
      </p:sp>
      <p:sp>
        <p:nvSpPr>
          <p:cNvPr id="1311" name="Shape 3"/>
          <p:cNvSpPr/>
          <p:nvPr/>
        </p:nvSpPr>
        <p:spPr>
          <a:xfrm>
            <a:off x="457200" y="1371600"/>
            <a:ext cx="2651040" cy="2285280"/>
          </a:xfrm>
          <a:prstGeom prst="rect">
            <a:avLst/>
          </a:prstGeom>
          <a:solidFill>
            <a:srgbClr val="fdf6f0"/>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12" name="Shape 4"/>
          <p:cNvSpPr/>
          <p:nvPr/>
        </p:nvSpPr>
        <p:spPr>
          <a:xfrm>
            <a:off x="457200" y="1371600"/>
            <a:ext cx="2651040" cy="54000"/>
          </a:xfrm>
          <a:prstGeom prst="rect">
            <a:avLst/>
          </a:prstGeom>
          <a:solidFill>
            <a:srgbClr val="0f9b8e"/>
          </a:solidFill>
          <a:ln w="0">
            <a:noFill/>
          </a:ln>
        </p:spPr>
        <p:style>
          <a:lnRef idx="0"/>
          <a:fillRef idx="0"/>
          <a:effectRef idx="0"/>
          <a:fontRef idx="minor"/>
        </p:style>
        <p:txBody>
          <a:bodyPr lIns="90000" rIns="90000" tIns="9720" bIns="972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13" name="Text 5"/>
          <p:cNvSpPr/>
          <p:nvPr/>
        </p:nvSpPr>
        <p:spPr>
          <a:xfrm>
            <a:off x="640080" y="1554480"/>
            <a:ext cx="228528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trike="noStrike" u="none">
                <a:solidFill>
                  <a:srgbClr val="0f9b8e"/>
                </a:solidFill>
                <a:effectLst/>
                <a:uFillTx/>
                <a:latin typeface="Trebuchet MS"/>
                <a:ea typeface="Trebuchet MS"/>
              </a:rPr>
              <a:t>Prompt Library</a:t>
            </a:r>
            <a:endParaRPr b="0" lang="en-US" sz="1600" strike="noStrike" u="none">
              <a:solidFill>
                <a:srgbClr val="000000"/>
              </a:solidFill>
              <a:effectLst/>
              <a:uFillTx/>
              <a:latin typeface="Arial"/>
            </a:endParaRPr>
          </a:p>
        </p:txBody>
      </p:sp>
      <p:sp>
        <p:nvSpPr>
          <p:cNvPr id="1314" name="Text 6"/>
          <p:cNvSpPr/>
          <p:nvPr/>
        </p:nvSpPr>
        <p:spPr>
          <a:xfrm>
            <a:off x="640080" y="2103120"/>
            <a:ext cx="2285280" cy="137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1a1a2e"/>
                </a:solidFill>
                <a:effectLst/>
                <a:uFillTx/>
                <a:latin typeface="Calibri"/>
                <a:ea typeface="Calibri"/>
              </a:rPr>
              <a:t>500+ curated prompts across marketing, sales, content, SEO, and strategy. Search, filter, and use instantly.</a:t>
            </a:r>
            <a:endParaRPr b="0" lang="en-US" sz="1100" strike="noStrike" u="none">
              <a:solidFill>
                <a:srgbClr val="000000"/>
              </a:solidFill>
              <a:effectLst/>
              <a:uFillTx/>
              <a:latin typeface="Arial"/>
            </a:endParaRPr>
          </a:p>
        </p:txBody>
      </p:sp>
      <p:sp>
        <p:nvSpPr>
          <p:cNvPr id="1315" name="Shape 7"/>
          <p:cNvSpPr/>
          <p:nvPr/>
        </p:nvSpPr>
        <p:spPr>
          <a:xfrm>
            <a:off x="3337560" y="1371600"/>
            <a:ext cx="2651040" cy="2285280"/>
          </a:xfrm>
          <a:prstGeom prst="rect">
            <a:avLst/>
          </a:prstGeom>
          <a:solidFill>
            <a:srgbClr val="fdf6f0"/>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16" name="Shape 8"/>
          <p:cNvSpPr/>
          <p:nvPr/>
        </p:nvSpPr>
        <p:spPr>
          <a:xfrm>
            <a:off x="3337560" y="1371600"/>
            <a:ext cx="2651040" cy="54000"/>
          </a:xfrm>
          <a:prstGeom prst="rect">
            <a:avLst/>
          </a:prstGeom>
          <a:solidFill>
            <a:srgbClr val="e94560"/>
          </a:solidFill>
          <a:ln w="0">
            <a:noFill/>
          </a:ln>
        </p:spPr>
        <p:style>
          <a:lnRef idx="0"/>
          <a:fillRef idx="0"/>
          <a:effectRef idx="0"/>
          <a:fontRef idx="minor"/>
        </p:style>
        <p:txBody>
          <a:bodyPr lIns="90000" rIns="90000" tIns="9720" bIns="972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17" name="Text 9"/>
          <p:cNvSpPr/>
          <p:nvPr/>
        </p:nvSpPr>
        <p:spPr>
          <a:xfrm>
            <a:off x="3520440" y="1554480"/>
            <a:ext cx="228528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trike="noStrike" u="none">
                <a:solidFill>
                  <a:srgbClr val="e94560"/>
                </a:solidFill>
                <a:effectLst/>
                <a:uFillTx/>
                <a:latin typeface="Trebuchet MS"/>
                <a:ea typeface="Trebuchet MS"/>
              </a:rPr>
              <a:t>Scout AI Optimizer</a:t>
            </a:r>
            <a:endParaRPr b="0" lang="en-US" sz="1600" strike="noStrike" u="none">
              <a:solidFill>
                <a:srgbClr val="000000"/>
              </a:solidFill>
              <a:effectLst/>
              <a:uFillTx/>
              <a:latin typeface="Arial"/>
            </a:endParaRPr>
          </a:p>
        </p:txBody>
      </p:sp>
      <p:sp>
        <p:nvSpPr>
          <p:cNvPr id="1318" name="Text 10"/>
          <p:cNvSpPr/>
          <p:nvPr/>
        </p:nvSpPr>
        <p:spPr>
          <a:xfrm>
            <a:off x="3520440" y="2103120"/>
            <a:ext cx="2285280" cy="137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1a1a2e"/>
                </a:solidFill>
                <a:effectLst/>
                <a:uFillTx/>
                <a:latin typeface="Calibri"/>
                <a:ea typeface="Calibri"/>
              </a:rPr>
              <a:t>Paste any prompt and Scout AI rewrites it for your specific platform - ChatGPT, Claude, Gemini, and more.</a:t>
            </a:r>
            <a:endParaRPr b="0" lang="en-US" sz="1100" strike="noStrike" u="none">
              <a:solidFill>
                <a:srgbClr val="000000"/>
              </a:solidFill>
              <a:effectLst/>
              <a:uFillTx/>
              <a:latin typeface="Arial"/>
            </a:endParaRPr>
          </a:p>
        </p:txBody>
      </p:sp>
      <p:sp>
        <p:nvSpPr>
          <p:cNvPr id="1319" name="Shape 11"/>
          <p:cNvSpPr/>
          <p:nvPr/>
        </p:nvSpPr>
        <p:spPr>
          <a:xfrm>
            <a:off x="6217920" y="1371600"/>
            <a:ext cx="2651040" cy="2285280"/>
          </a:xfrm>
          <a:prstGeom prst="rect">
            <a:avLst/>
          </a:prstGeom>
          <a:solidFill>
            <a:srgbClr val="fdf6f0"/>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20" name="Shape 12"/>
          <p:cNvSpPr/>
          <p:nvPr/>
        </p:nvSpPr>
        <p:spPr>
          <a:xfrm>
            <a:off x="6217920" y="1371600"/>
            <a:ext cx="2651040" cy="54000"/>
          </a:xfrm>
          <a:prstGeom prst="rect">
            <a:avLst/>
          </a:prstGeom>
          <a:solidFill>
            <a:srgbClr val="3b82f6"/>
          </a:solidFill>
          <a:ln w="0">
            <a:noFill/>
          </a:ln>
        </p:spPr>
        <p:style>
          <a:lnRef idx="0"/>
          <a:fillRef idx="0"/>
          <a:effectRef idx="0"/>
          <a:fontRef idx="minor"/>
        </p:style>
        <p:txBody>
          <a:bodyPr lIns="90000" rIns="90000" tIns="9720" bIns="972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21" name="Text 13"/>
          <p:cNvSpPr/>
          <p:nvPr/>
        </p:nvSpPr>
        <p:spPr>
          <a:xfrm>
            <a:off x="6400800" y="1554480"/>
            <a:ext cx="228528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trike="noStrike" u="none">
                <a:solidFill>
                  <a:srgbClr val="3b82f6"/>
                </a:solidFill>
                <a:effectLst/>
                <a:uFillTx/>
                <a:latin typeface="Trebuchet MS"/>
                <a:ea typeface="Trebuchet MS"/>
              </a:rPr>
              <a:t>Power Packs</a:t>
            </a:r>
            <a:endParaRPr b="0" lang="en-US" sz="1600" strike="noStrike" u="none">
              <a:solidFill>
                <a:srgbClr val="000000"/>
              </a:solidFill>
              <a:effectLst/>
              <a:uFillTx/>
              <a:latin typeface="Arial"/>
            </a:endParaRPr>
          </a:p>
        </p:txBody>
      </p:sp>
      <p:sp>
        <p:nvSpPr>
          <p:cNvPr id="1322" name="Text 14"/>
          <p:cNvSpPr/>
          <p:nvPr/>
        </p:nvSpPr>
        <p:spPr>
          <a:xfrm>
            <a:off x="6400800" y="2103120"/>
            <a:ext cx="2285280" cy="137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1a1a2e"/>
                </a:solidFill>
                <a:effectLst/>
                <a:uFillTx/>
                <a:latin typeface="Calibri"/>
                <a:ea typeface="Calibri"/>
              </a:rPr>
              <a:t>Themed bundles of expert prompts for specific use cases. From social media to business strategy to blogging.</a:t>
            </a:r>
            <a:endParaRPr b="0" lang="en-US" sz="1100" strike="noStrike" u="none">
              <a:solidFill>
                <a:srgbClr val="000000"/>
              </a:solidFill>
              <a:effectLst/>
              <a:uFillTx/>
              <a:latin typeface="Arial"/>
            </a:endParaRPr>
          </a:p>
        </p:txBody>
      </p:sp>
      <p:sp>
        <p:nvSpPr>
          <p:cNvPr id="1323" name="Shape 15"/>
          <p:cNvSpPr/>
          <p:nvPr/>
        </p:nvSpPr>
        <p:spPr>
          <a:xfrm>
            <a:off x="457200" y="3931920"/>
            <a:ext cx="8228880" cy="730800"/>
          </a:xfrm>
          <a:prstGeom prst="rect">
            <a:avLst/>
          </a:prstGeom>
          <a:solidFill>
            <a:srgbClr val="00b0f0"/>
          </a:solidFill>
          <a:ln w="0">
            <a:solidFill>
              <a:srgbClr val="4472c4"/>
            </a:solid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24" name="Text 16"/>
          <p:cNvSpPr/>
          <p:nvPr/>
        </p:nvSpPr>
        <p:spPr>
          <a:xfrm>
            <a:off x="457200" y="3931920"/>
            <a:ext cx="8228880" cy="7308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800" strike="noStrike" u="none">
                <a:solidFill>
                  <a:srgbClr val="1a1a2e"/>
                </a:solidFill>
                <a:effectLst/>
                <a:uFillTx/>
                <a:latin typeface="Trebuchet MS"/>
                <a:ea typeface="Trebuchet MS"/>
              </a:rPr>
              <a:t>All packs unlocked for all of you |  promptandgo.ai</a:t>
            </a:r>
            <a:endParaRPr b="0" lang="en-US" sz="1800" strike="noStrike" u="none">
              <a:solidFill>
                <a:srgbClr val="000000"/>
              </a:solidFill>
              <a:effectLst/>
              <a:uFillTx/>
              <a:latin typeface="Arial"/>
            </a:endParaRPr>
          </a:p>
        </p:txBody>
      </p:sp>
      <p:sp>
        <p:nvSpPr>
          <p:cNvPr id="1325" name="Text 17"/>
          <p:cNvSpPr/>
          <p:nvPr/>
        </p:nvSpPr>
        <p:spPr>
          <a:xfrm>
            <a:off x="457200" y="4709160"/>
            <a:ext cx="8228880" cy="2736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00" strike="noStrike" u="none">
                <a:solidFill>
                  <a:srgbClr val="8e8e8e"/>
                </a:solidFill>
                <a:effectLst/>
                <a:uFillTx/>
                <a:latin typeface="Calibri"/>
                <a:ea typeface="Calibri"/>
              </a:rPr>
              <a:t>Built for APAC professionals  |  1.1M+ people actively seeking better AI prompts across the region</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26" name="Text 0"/>
          <p:cNvSpPr/>
          <p:nvPr/>
        </p:nvSpPr>
        <p:spPr>
          <a:xfrm>
            <a:off x="548640" y="274320"/>
            <a:ext cx="73144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600" strike="noStrike" u="none">
                <a:solidFill>
                  <a:srgbClr val="1a1a2e"/>
                </a:solidFill>
                <a:effectLst/>
                <a:uFillTx/>
                <a:latin typeface="Trebuchet MS"/>
                <a:ea typeface="Trebuchet MS"/>
              </a:rPr>
              <a:t>Key Takeaways</a:t>
            </a:r>
            <a:endParaRPr b="0" lang="en-US" sz="3600" strike="noStrike" u="none">
              <a:solidFill>
                <a:srgbClr val="000000"/>
              </a:solidFill>
              <a:effectLst/>
              <a:uFillTx/>
              <a:latin typeface="Arial"/>
            </a:endParaRPr>
          </a:p>
        </p:txBody>
      </p:sp>
      <p:sp>
        <p:nvSpPr>
          <p:cNvPr id="1327" name="Shape 1"/>
          <p:cNvSpPr/>
          <p:nvPr/>
        </p:nvSpPr>
        <p:spPr>
          <a:xfrm>
            <a:off x="548640" y="1097280"/>
            <a:ext cx="8046000" cy="6393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1328" name="Image 0" descr="preencoded.png"/>
          <p:cNvPicPr/>
          <p:nvPr/>
        </p:nvPicPr>
        <p:blipFill>
          <a:blip r:embed="rId1"/>
          <a:stretch/>
        </p:blipFill>
        <p:spPr>
          <a:xfrm>
            <a:off x="777240" y="1234440"/>
            <a:ext cx="346680" cy="346680"/>
          </a:xfrm>
          <a:prstGeom prst="rect">
            <a:avLst/>
          </a:prstGeom>
          <a:noFill/>
          <a:ln w="0">
            <a:noFill/>
          </a:ln>
        </p:spPr>
      </p:pic>
      <p:sp>
        <p:nvSpPr>
          <p:cNvPr id="1329" name="Text 2"/>
          <p:cNvSpPr/>
          <p:nvPr/>
        </p:nvSpPr>
        <p:spPr>
          <a:xfrm>
            <a:off x="1280160" y="1097280"/>
            <a:ext cx="713160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1a1a2e"/>
                </a:solidFill>
                <a:effectLst/>
                <a:uFillTx/>
                <a:latin typeface="Calibri"/>
                <a:ea typeface="Calibri"/>
              </a:rPr>
              <a:t>Marketing doesn't need a big budget - it needs smart strategy and relentless testing</a:t>
            </a:r>
            <a:endParaRPr b="0" lang="en-US" sz="1300" strike="noStrike" u="none">
              <a:solidFill>
                <a:srgbClr val="000000"/>
              </a:solidFill>
              <a:effectLst/>
              <a:uFillTx/>
              <a:latin typeface="Arial"/>
            </a:endParaRPr>
          </a:p>
        </p:txBody>
      </p:sp>
      <p:sp>
        <p:nvSpPr>
          <p:cNvPr id="1330" name="Shape 3"/>
          <p:cNvSpPr/>
          <p:nvPr/>
        </p:nvSpPr>
        <p:spPr>
          <a:xfrm>
            <a:off x="548640" y="1874520"/>
            <a:ext cx="8046000" cy="6393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1331" name="Image 1" descr="preencoded.png"/>
          <p:cNvPicPr/>
          <p:nvPr/>
        </p:nvPicPr>
        <p:blipFill>
          <a:blip r:embed="rId2"/>
          <a:stretch/>
        </p:blipFill>
        <p:spPr>
          <a:xfrm>
            <a:off x="777240" y="2011680"/>
            <a:ext cx="346680" cy="346680"/>
          </a:xfrm>
          <a:prstGeom prst="rect">
            <a:avLst/>
          </a:prstGeom>
          <a:noFill/>
          <a:ln w="0">
            <a:noFill/>
          </a:ln>
        </p:spPr>
      </p:pic>
      <p:sp>
        <p:nvSpPr>
          <p:cNvPr id="1332" name="Text 4"/>
          <p:cNvSpPr/>
          <p:nvPr/>
        </p:nvSpPr>
        <p:spPr>
          <a:xfrm>
            <a:off x="1280160" y="1874520"/>
            <a:ext cx="713160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1a1a2e"/>
                </a:solidFill>
                <a:effectLst/>
                <a:uFillTx/>
                <a:latin typeface="Calibri"/>
                <a:ea typeface="Calibri"/>
              </a:rPr>
              <a:t>AI tools are your unfair advantage - use them for writing, research, images, and design</a:t>
            </a:r>
            <a:endParaRPr b="0" lang="en-US" sz="1300" strike="noStrike" u="none">
              <a:solidFill>
                <a:srgbClr val="000000"/>
              </a:solidFill>
              <a:effectLst/>
              <a:uFillTx/>
              <a:latin typeface="Arial"/>
            </a:endParaRPr>
          </a:p>
        </p:txBody>
      </p:sp>
      <p:sp>
        <p:nvSpPr>
          <p:cNvPr id="1333" name="Shape 5"/>
          <p:cNvSpPr/>
          <p:nvPr/>
        </p:nvSpPr>
        <p:spPr>
          <a:xfrm>
            <a:off x="548640" y="2651760"/>
            <a:ext cx="8046000" cy="6393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1334" name="Image 2" descr="preencoded.png"/>
          <p:cNvPicPr/>
          <p:nvPr/>
        </p:nvPicPr>
        <p:blipFill>
          <a:blip r:embed="rId3"/>
          <a:stretch/>
        </p:blipFill>
        <p:spPr>
          <a:xfrm>
            <a:off x="777240" y="2788920"/>
            <a:ext cx="346680" cy="346680"/>
          </a:xfrm>
          <a:prstGeom prst="rect">
            <a:avLst/>
          </a:prstGeom>
          <a:noFill/>
          <a:ln w="0">
            <a:noFill/>
          </a:ln>
        </p:spPr>
      </p:pic>
      <p:sp>
        <p:nvSpPr>
          <p:cNvPr id="1335" name="Text 6"/>
          <p:cNvSpPr/>
          <p:nvPr/>
        </p:nvSpPr>
        <p:spPr>
          <a:xfrm>
            <a:off x="1280160" y="2651760"/>
            <a:ext cx="713160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1a1a2e"/>
                </a:solidFill>
                <a:effectLst/>
                <a:uFillTx/>
                <a:latin typeface="Calibri"/>
                <a:ea typeface="Calibri"/>
              </a:rPr>
              <a:t>Lean approach: test fast, learn fast, pivot fast - fail forward</a:t>
            </a:r>
            <a:endParaRPr b="0" lang="en-US" sz="1300" strike="noStrike" u="none">
              <a:solidFill>
                <a:srgbClr val="000000"/>
              </a:solidFill>
              <a:effectLst/>
              <a:uFillTx/>
              <a:latin typeface="Arial"/>
            </a:endParaRPr>
          </a:p>
        </p:txBody>
      </p:sp>
      <p:sp>
        <p:nvSpPr>
          <p:cNvPr id="1336" name="Shape 7"/>
          <p:cNvSpPr/>
          <p:nvPr/>
        </p:nvSpPr>
        <p:spPr>
          <a:xfrm>
            <a:off x="548640" y="3429000"/>
            <a:ext cx="8046000" cy="6393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1337" name="Image 3" descr="preencoded.png"/>
          <p:cNvPicPr/>
          <p:nvPr/>
        </p:nvPicPr>
        <p:blipFill>
          <a:blip r:embed="rId4"/>
          <a:stretch/>
        </p:blipFill>
        <p:spPr>
          <a:xfrm>
            <a:off x="777240" y="3566160"/>
            <a:ext cx="346680" cy="346680"/>
          </a:xfrm>
          <a:prstGeom prst="rect">
            <a:avLst/>
          </a:prstGeom>
          <a:noFill/>
          <a:ln w="0">
            <a:noFill/>
          </a:ln>
        </p:spPr>
      </p:pic>
      <p:sp>
        <p:nvSpPr>
          <p:cNvPr id="1338" name="Text 8"/>
          <p:cNvSpPr/>
          <p:nvPr/>
        </p:nvSpPr>
        <p:spPr>
          <a:xfrm>
            <a:off x="1280160" y="3429000"/>
            <a:ext cx="713160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1a1a2e"/>
                </a:solidFill>
                <a:effectLst/>
                <a:uFillTx/>
                <a:latin typeface="Calibri"/>
                <a:ea typeface="Calibri"/>
              </a:rPr>
              <a:t>Choose 1-2 social platforms and master them before expanding</a:t>
            </a:r>
            <a:endParaRPr b="0" lang="en-US" sz="1300" strike="noStrike" u="none">
              <a:solidFill>
                <a:srgbClr val="000000"/>
              </a:solidFill>
              <a:effectLst/>
              <a:uFillTx/>
              <a:latin typeface="Arial"/>
            </a:endParaRPr>
          </a:p>
        </p:txBody>
      </p:sp>
      <p:sp>
        <p:nvSpPr>
          <p:cNvPr id="1339" name="Shape 9"/>
          <p:cNvSpPr/>
          <p:nvPr/>
        </p:nvSpPr>
        <p:spPr>
          <a:xfrm>
            <a:off x="548640" y="4206240"/>
            <a:ext cx="8046000" cy="63936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pic>
        <p:nvPicPr>
          <p:cNvPr id="1340" name="Image 4" descr="preencoded.png"/>
          <p:cNvPicPr/>
          <p:nvPr/>
        </p:nvPicPr>
        <p:blipFill>
          <a:blip r:embed="rId5"/>
          <a:stretch/>
        </p:blipFill>
        <p:spPr>
          <a:xfrm>
            <a:off x="777240" y="4343400"/>
            <a:ext cx="346680" cy="346680"/>
          </a:xfrm>
          <a:prstGeom prst="rect">
            <a:avLst/>
          </a:prstGeom>
          <a:noFill/>
          <a:ln w="0">
            <a:noFill/>
          </a:ln>
        </p:spPr>
      </p:pic>
      <p:sp>
        <p:nvSpPr>
          <p:cNvPr id="1341" name="Text 10"/>
          <p:cNvSpPr/>
          <p:nvPr/>
        </p:nvSpPr>
        <p:spPr>
          <a:xfrm>
            <a:off x="1280160" y="4206240"/>
            <a:ext cx="713160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00" strike="noStrike" u="none">
                <a:solidFill>
                  <a:srgbClr val="1a1a2e"/>
                </a:solidFill>
                <a:effectLst/>
                <a:uFillTx/>
                <a:latin typeface="Calibri"/>
                <a:ea typeface="Calibri"/>
              </a:rPr>
              <a:t>Your challenge: launch ONE marketing experiment this week using what you learned</a:t>
            </a:r>
            <a:endParaRPr b="0" lang="en-US"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94560"/>
        </a:solidFill>
      </p:bgPr>
    </p:bg>
    <p:spTree>
      <p:nvGrpSpPr>
        <p:cNvPr id="1" name=""/>
        <p:cNvGrpSpPr/>
        <p:nvPr/>
      </p:nvGrpSpPr>
      <p:grpSpPr>
        <a:xfrm>
          <a:off x="0" y="0"/>
          <a:ext cx="0" cy="0"/>
          <a:chOff x="0" y="0"/>
          <a:chExt cx="0" cy="0"/>
        </a:xfrm>
      </p:grpSpPr>
      <p:sp>
        <p:nvSpPr>
          <p:cNvPr id="1342" name="Text 0"/>
          <p:cNvSpPr/>
          <p:nvPr/>
        </p:nvSpPr>
        <p:spPr>
          <a:xfrm>
            <a:off x="548640" y="914400"/>
            <a:ext cx="7314480" cy="18280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7200" strike="noStrike" u="none">
                <a:solidFill>
                  <a:srgbClr val="ffffff"/>
                </a:solidFill>
                <a:effectLst/>
                <a:uFillTx/>
                <a:latin typeface="Trebuchet MS"/>
                <a:ea typeface="Trebuchet MS"/>
              </a:rPr>
              <a:t>Q &amp; A</a:t>
            </a:r>
            <a:endParaRPr b="0" lang="en-US" sz="7200" strike="noStrike" u="none">
              <a:solidFill>
                <a:srgbClr val="ffffff"/>
              </a:solidFill>
              <a:effectLst/>
              <a:uFillTx/>
              <a:latin typeface="Arial"/>
            </a:endParaRPr>
          </a:p>
        </p:txBody>
      </p:sp>
      <p:sp>
        <p:nvSpPr>
          <p:cNvPr id="1343" name="Text 1"/>
          <p:cNvSpPr/>
          <p:nvPr/>
        </p:nvSpPr>
        <p:spPr>
          <a:xfrm>
            <a:off x="548640" y="2926080"/>
            <a:ext cx="7314480" cy="547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000" strike="noStrike" u="none">
                <a:solidFill>
                  <a:srgbClr val="1a1a2e"/>
                </a:solidFill>
                <a:effectLst/>
                <a:uFillTx/>
                <a:latin typeface="Calibri"/>
                <a:ea typeface="Calibri"/>
              </a:rPr>
              <a:t>What questions do you have?</a:t>
            </a:r>
            <a:endParaRPr b="0" lang="en-US"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44" name="Shape 0"/>
          <p:cNvSpPr/>
          <p:nvPr/>
        </p:nvSpPr>
        <p:spPr>
          <a:xfrm>
            <a:off x="0" y="0"/>
            <a:ext cx="136440" cy="514296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Calibri"/>
            </a:endParaRPr>
          </a:p>
        </p:txBody>
      </p:sp>
      <p:sp>
        <p:nvSpPr>
          <p:cNvPr id="1345" name="Text 1"/>
          <p:cNvSpPr/>
          <p:nvPr/>
        </p:nvSpPr>
        <p:spPr>
          <a:xfrm>
            <a:off x="731520" y="914400"/>
            <a:ext cx="7314480" cy="1370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5200" strike="noStrike" u="none">
                <a:solidFill>
                  <a:srgbClr val="1a1a2e"/>
                </a:solidFill>
                <a:effectLst/>
                <a:uFillTx/>
                <a:latin typeface="Trebuchet MS"/>
                <a:ea typeface="Trebuchet MS"/>
              </a:rPr>
              <a:t>Thank You!</a:t>
            </a:r>
            <a:endParaRPr b="0" lang="en-US" sz="5200" strike="noStrike" u="none">
              <a:solidFill>
                <a:srgbClr val="000000"/>
              </a:solidFill>
              <a:effectLst/>
              <a:uFillTx/>
              <a:latin typeface="Arial"/>
            </a:endParaRPr>
          </a:p>
        </p:txBody>
      </p:sp>
      <p:sp>
        <p:nvSpPr>
          <p:cNvPr id="1346" name="Text 2"/>
          <p:cNvSpPr/>
          <p:nvPr/>
        </p:nvSpPr>
        <p:spPr>
          <a:xfrm>
            <a:off x="731520" y="2286000"/>
            <a:ext cx="64000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800" strike="noStrike" u="none">
                <a:solidFill>
                  <a:srgbClr val="0f9b8e"/>
                </a:solidFill>
                <a:effectLst/>
                <a:uFillTx/>
                <a:latin typeface="Calibri"/>
                <a:ea typeface="Calibri"/>
              </a:rPr>
              <a:t>Keep experimenting. Keep learning. Keep growing.</a:t>
            </a:r>
            <a:endParaRPr b="0" lang="en-US" sz="1800" strike="noStrike" u="none">
              <a:solidFill>
                <a:srgbClr val="000000"/>
              </a:solidFill>
              <a:effectLst/>
              <a:uFillTx/>
              <a:latin typeface="Arial"/>
            </a:endParaRPr>
          </a:p>
        </p:txBody>
      </p:sp>
      <p:sp>
        <p:nvSpPr>
          <p:cNvPr id="1347" name="Shape 3"/>
          <p:cNvSpPr/>
          <p:nvPr/>
        </p:nvSpPr>
        <p:spPr>
          <a:xfrm>
            <a:off x="731520" y="3108960"/>
            <a:ext cx="1828080" cy="45000"/>
          </a:xfrm>
          <a:prstGeom prst="rect">
            <a:avLst/>
          </a:prstGeom>
          <a:solidFill>
            <a:srgbClr val="e94560"/>
          </a:solidFill>
          <a:ln w="0">
            <a:noFill/>
          </a:ln>
        </p:spPr>
        <p:style>
          <a:lnRef idx="0"/>
          <a:fillRef idx="0"/>
          <a:effectRef idx="0"/>
          <a:fontRef idx="minor"/>
        </p:style>
        <p:txBody>
          <a:bodyPr lIns="90000" rIns="90000" tIns="720" bIns="720" anchor="t">
            <a:noAutofit/>
          </a:bodyPr>
          <a:p>
            <a:pPr defTabSz="914400">
              <a:lnSpc>
                <a:spcPct val="100000"/>
              </a:lnSpc>
            </a:pPr>
            <a:endParaRPr b="0" lang="en-US" sz="1800" strike="noStrike" u="none">
              <a:solidFill>
                <a:schemeClr val="dk1"/>
              </a:solidFill>
              <a:effectLst/>
              <a:uFillTx/>
              <a:latin typeface="Calibri"/>
            </a:endParaRPr>
          </a:p>
        </p:txBody>
      </p:sp>
      <p:sp>
        <p:nvSpPr>
          <p:cNvPr id="1348" name="Text 4"/>
          <p:cNvSpPr/>
          <p:nvPr/>
        </p:nvSpPr>
        <p:spPr>
          <a:xfrm>
            <a:off x="731520" y="3383280"/>
            <a:ext cx="5485680" cy="730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trike="noStrike" u="none">
                <a:solidFill>
                  <a:srgbClr val="8e8e8e"/>
                </a:solidFill>
                <a:effectLst/>
                <a:uFillTx/>
                <a:latin typeface="Calibri"/>
                <a:ea typeface="Calibri"/>
              </a:rPr>
              <a:t>BlackStorm Consulting  |  blackstormco.asia</a:t>
            </a:r>
            <a:endParaRPr b="0" lang="en-US" sz="1200" strike="noStrike" u="none">
              <a:solidFill>
                <a:srgbClr val="000000"/>
              </a:solidFill>
              <a:effectLst/>
              <a:uFillTx/>
              <a:latin typeface="Arial"/>
            </a:endParaRPr>
          </a:p>
          <a:p>
            <a:pPr defTabSz="914400">
              <a:lnSpc>
                <a:spcPct val="100000"/>
              </a:lnSpc>
              <a:tabLst>
                <a:tab algn="l" pos="0"/>
              </a:tabLst>
            </a:pPr>
            <a:r>
              <a:rPr b="0" lang="en-US" sz="1200" strike="noStrike" u="none">
                <a:solidFill>
                  <a:srgbClr val="8e8e8e"/>
                </a:solidFill>
                <a:effectLst/>
                <a:uFillTx/>
                <a:latin typeface="Calibri"/>
                <a:ea typeface="Calibri"/>
              </a:rPr>
              <a:t>Startup Bootcamp 2025</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fffff"/>
        </a:solidFill>
      </p:bgPr>
    </p:bg>
    <p:spTree>
      <p:nvGrpSpPr>
        <p:cNvPr id="1" name=""/>
        <p:cNvGrpSpPr/>
        <p:nvPr/>
      </p:nvGrpSpPr>
      <p:grpSpPr>
        <a:xfrm>
          <a:off x="0" y="0"/>
          <a:ext cx="0" cy="0"/>
          <a:chOff x="0" y="0"/>
          <a:chExt cx="0" cy="0"/>
        </a:xfrm>
      </p:grpSpPr>
      <p:sp>
        <p:nvSpPr>
          <p:cNvPr id="1349" name="Text 0"/>
          <p:cNvSpPr/>
          <p:nvPr/>
        </p:nvSpPr>
        <p:spPr>
          <a:xfrm>
            <a:off x="548640" y="274320"/>
            <a:ext cx="73144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trike="noStrike" u="none">
                <a:solidFill>
                  <a:srgbClr val="1a1a2e"/>
                </a:solidFill>
                <a:effectLst/>
                <a:uFillTx/>
                <a:latin typeface="Trebuchet MS"/>
                <a:ea typeface="Trebuchet MS"/>
              </a:rPr>
              <a:t>Singapore AI Prompt Market</a:t>
            </a:r>
            <a:endParaRPr b="0" lang="en-US" sz="3200" strike="noStrike" u="none">
              <a:solidFill>
                <a:srgbClr val="000000"/>
              </a:solidFill>
              <a:effectLst/>
              <a:uFillTx/>
              <a:latin typeface="Arial"/>
            </a:endParaRPr>
          </a:p>
        </p:txBody>
      </p:sp>
      <p:sp>
        <p:nvSpPr>
          <p:cNvPr id="1350" name="Text 1"/>
          <p:cNvSpPr/>
          <p:nvPr/>
        </p:nvSpPr>
        <p:spPr>
          <a:xfrm>
            <a:off x="548640" y="82296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trike="noStrike" u="none">
                <a:solidFill>
                  <a:srgbClr val="8e8e8e"/>
                </a:solidFill>
                <a:effectLst/>
                <a:uFillTx/>
                <a:latin typeface="Calibri"/>
                <a:ea typeface="Calibri"/>
              </a:rPr>
              <a:t>Source: SQREEM Market Intelligence, 2025</a:t>
            </a:r>
            <a:endParaRPr b="0" lang="en-US" sz="1000" strike="noStrike" u="none">
              <a:solidFill>
                <a:srgbClr val="000000"/>
              </a:solidFill>
              <a:effectLst/>
              <a:uFillTx/>
              <a:latin typeface="Arial"/>
            </a:endParaRPr>
          </a:p>
        </p:txBody>
      </p:sp>
      <p:sp>
        <p:nvSpPr>
          <p:cNvPr id="1351" name="Text 2"/>
          <p:cNvSpPr/>
          <p:nvPr/>
        </p:nvSpPr>
        <p:spPr>
          <a:xfrm>
            <a:off x="548640" y="1280160"/>
            <a:ext cx="4571280" cy="1096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7200" strike="noStrike" u="none">
                <a:solidFill>
                  <a:srgbClr val="e94560"/>
                </a:solidFill>
                <a:effectLst/>
                <a:uFillTx/>
                <a:latin typeface="Trebuchet MS"/>
                <a:ea typeface="Trebuchet MS"/>
              </a:rPr>
              <a:t>50,625</a:t>
            </a:r>
            <a:endParaRPr b="0" lang="en-US" sz="7200" strike="noStrike" u="none">
              <a:solidFill>
                <a:srgbClr val="000000"/>
              </a:solidFill>
              <a:effectLst/>
              <a:uFillTx/>
              <a:latin typeface="Arial"/>
            </a:endParaRPr>
          </a:p>
        </p:txBody>
      </p:sp>
      <p:sp>
        <p:nvSpPr>
          <p:cNvPr id="1352" name="Text 3"/>
          <p:cNvSpPr/>
          <p:nvPr/>
        </p:nvSpPr>
        <p:spPr>
          <a:xfrm>
            <a:off x="548640" y="2377440"/>
            <a:ext cx="45712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600" strike="noStrike" u="none">
                <a:solidFill>
                  <a:srgbClr val="0f9b8e"/>
                </a:solidFill>
                <a:effectLst/>
                <a:uFillTx/>
                <a:latin typeface="Calibri"/>
                <a:ea typeface="Calibri"/>
              </a:rPr>
              <a:t>People in Singapore actively looking</a:t>
            </a:r>
            <a:endParaRPr b="0" lang="en-US" sz="1600" strike="noStrike" u="none">
              <a:solidFill>
                <a:srgbClr val="000000"/>
              </a:solidFill>
              <a:effectLst/>
              <a:uFillTx/>
              <a:latin typeface="Arial"/>
            </a:endParaRPr>
          </a:p>
          <a:p>
            <a:pPr defTabSz="914400">
              <a:lnSpc>
                <a:spcPct val="100000"/>
              </a:lnSpc>
              <a:tabLst>
                <a:tab algn="l" pos="0"/>
              </a:tabLst>
            </a:pPr>
            <a:r>
              <a:rPr b="0" lang="en-US" sz="1600" strike="noStrike" u="none">
                <a:solidFill>
                  <a:srgbClr val="0f9b8e"/>
                </a:solidFill>
                <a:effectLst/>
                <a:uFillTx/>
                <a:latin typeface="Calibri"/>
                <a:ea typeface="Calibri"/>
              </a:rPr>
              <a:t>to optimise their AI prompts</a:t>
            </a:r>
            <a:endParaRPr b="0" lang="en-US" sz="1600" strike="noStrike" u="none">
              <a:solidFill>
                <a:srgbClr val="000000"/>
              </a:solidFill>
              <a:effectLst/>
              <a:uFillTx/>
              <a:latin typeface="Arial"/>
            </a:endParaRPr>
          </a:p>
        </p:txBody>
      </p:sp>
      <p:sp>
        <p:nvSpPr>
          <p:cNvPr id="1353" name="Shape 4"/>
          <p:cNvSpPr/>
          <p:nvPr/>
        </p:nvSpPr>
        <p:spPr>
          <a:xfrm>
            <a:off x="5029200" y="1280160"/>
            <a:ext cx="3656880" cy="3199680"/>
          </a:xfrm>
          <a:prstGeom prst="rect">
            <a:avLst/>
          </a:prstGeom>
          <a:solidFill>
            <a:srgbClr val="fdf6f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54" name="Text 5"/>
          <p:cNvSpPr/>
          <p:nvPr/>
        </p:nvSpPr>
        <p:spPr>
          <a:xfrm>
            <a:off x="5212080" y="1371600"/>
            <a:ext cx="329112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trike="noStrike" u="none">
                <a:solidFill>
                  <a:srgbClr val="0f9b8e"/>
                </a:solidFill>
                <a:effectLst/>
                <a:uFillTx/>
                <a:latin typeface="Trebuchet MS"/>
                <a:ea typeface="Trebuchet MS"/>
              </a:rPr>
              <a:t>5 Personas Identified</a:t>
            </a:r>
            <a:endParaRPr b="0" lang="en-US" sz="1400" strike="noStrike" u="none">
              <a:solidFill>
                <a:srgbClr val="000000"/>
              </a:solidFill>
              <a:effectLst/>
              <a:uFillTx/>
              <a:latin typeface="Arial"/>
            </a:endParaRPr>
          </a:p>
        </p:txBody>
      </p:sp>
      <p:sp>
        <p:nvSpPr>
          <p:cNvPr id="1355" name="Text 6"/>
          <p:cNvSpPr/>
          <p:nvPr/>
        </p:nvSpPr>
        <p:spPr>
          <a:xfrm>
            <a:off x="5212080" y="1828800"/>
            <a:ext cx="913680" cy="410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trike="noStrike" u="none">
                <a:solidFill>
                  <a:srgbClr val="e94560"/>
                </a:solidFill>
                <a:effectLst/>
                <a:uFillTx/>
                <a:latin typeface="Trebuchet MS"/>
                <a:ea typeface="Trebuchet MS"/>
              </a:rPr>
              <a:t>49%</a:t>
            </a:r>
            <a:endParaRPr b="0" lang="en-US" sz="1400" strike="noStrike" u="none">
              <a:solidFill>
                <a:srgbClr val="000000"/>
              </a:solidFill>
              <a:effectLst/>
              <a:uFillTx/>
              <a:latin typeface="Arial"/>
            </a:endParaRPr>
          </a:p>
        </p:txBody>
      </p:sp>
      <p:sp>
        <p:nvSpPr>
          <p:cNvPr id="1356" name="Text 7"/>
          <p:cNvSpPr/>
          <p:nvPr/>
        </p:nvSpPr>
        <p:spPr>
          <a:xfrm>
            <a:off x="6126480" y="1828800"/>
            <a:ext cx="164520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1a1a2e"/>
                </a:solidFill>
                <a:effectLst/>
                <a:uFillTx/>
                <a:latin typeface="Calibri"/>
                <a:ea typeface="Calibri"/>
              </a:rPr>
              <a:t>Business Professionals</a:t>
            </a:r>
            <a:endParaRPr b="0" lang="en-US" sz="1100" strike="noStrike" u="none">
              <a:solidFill>
                <a:srgbClr val="000000"/>
              </a:solidFill>
              <a:effectLst/>
              <a:uFillTx/>
              <a:latin typeface="Arial"/>
            </a:endParaRPr>
          </a:p>
        </p:txBody>
      </p:sp>
      <p:sp>
        <p:nvSpPr>
          <p:cNvPr id="1357" name="Text 8"/>
          <p:cNvSpPr/>
          <p:nvPr/>
        </p:nvSpPr>
        <p:spPr>
          <a:xfrm>
            <a:off x="7772400" y="1828800"/>
            <a:ext cx="73080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trike="noStrike" u="none">
                <a:solidFill>
                  <a:srgbClr val="8e8e8e"/>
                </a:solidFill>
                <a:effectLst/>
                <a:uFillTx/>
                <a:latin typeface="Calibri"/>
                <a:ea typeface="Calibri"/>
              </a:rPr>
              <a:t>~24,800</a:t>
            </a:r>
            <a:endParaRPr b="0" lang="en-US" sz="900" strike="noStrike" u="none">
              <a:solidFill>
                <a:srgbClr val="000000"/>
              </a:solidFill>
              <a:effectLst/>
              <a:uFillTx/>
              <a:latin typeface="Arial"/>
            </a:endParaRPr>
          </a:p>
        </p:txBody>
      </p:sp>
      <p:sp>
        <p:nvSpPr>
          <p:cNvPr id="1358" name="Text 9"/>
          <p:cNvSpPr/>
          <p:nvPr/>
        </p:nvSpPr>
        <p:spPr>
          <a:xfrm>
            <a:off x="5212080" y="2331720"/>
            <a:ext cx="913680" cy="410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trike="noStrike" u="none">
                <a:solidFill>
                  <a:srgbClr val="e94560"/>
                </a:solidFill>
                <a:effectLst/>
                <a:uFillTx/>
                <a:latin typeface="Trebuchet MS"/>
                <a:ea typeface="Trebuchet MS"/>
              </a:rPr>
              <a:t>32%</a:t>
            </a:r>
            <a:endParaRPr b="0" lang="en-US" sz="1400" strike="noStrike" u="none">
              <a:solidFill>
                <a:srgbClr val="000000"/>
              </a:solidFill>
              <a:effectLst/>
              <a:uFillTx/>
              <a:latin typeface="Arial"/>
            </a:endParaRPr>
          </a:p>
        </p:txBody>
      </p:sp>
      <p:sp>
        <p:nvSpPr>
          <p:cNvPr id="1359" name="Text 10"/>
          <p:cNvSpPr/>
          <p:nvPr/>
        </p:nvSpPr>
        <p:spPr>
          <a:xfrm>
            <a:off x="6126480" y="2331720"/>
            <a:ext cx="164520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1a1a2e"/>
                </a:solidFill>
                <a:effectLst/>
                <a:uFillTx/>
                <a:latin typeface="Calibri"/>
                <a:ea typeface="Calibri"/>
              </a:rPr>
              <a:t>Creative &amp; Entrepreneurs</a:t>
            </a:r>
            <a:endParaRPr b="0" lang="en-US" sz="1100" strike="noStrike" u="none">
              <a:solidFill>
                <a:srgbClr val="000000"/>
              </a:solidFill>
              <a:effectLst/>
              <a:uFillTx/>
              <a:latin typeface="Arial"/>
            </a:endParaRPr>
          </a:p>
        </p:txBody>
      </p:sp>
      <p:sp>
        <p:nvSpPr>
          <p:cNvPr id="1360" name="Text 11"/>
          <p:cNvSpPr/>
          <p:nvPr/>
        </p:nvSpPr>
        <p:spPr>
          <a:xfrm>
            <a:off x="7772400" y="2331720"/>
            <a:ext cx="73080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trike="noStrike" u="none">
                <a:solidFill>
                  <a:srgbClr val="8e8e8e"/>
                </a:solidFill>
                <a:effectLst/>
                <a:uFillTx/>
                <a:latin typeface="Calibri"/>
                <a:ea typeface="Calibri"/>
              </a:rPr>
              <a:t>~16,200</a:t>
            </a:r>
            <a:endParaRPr b="0" lang="en-US" sz="900" strike="noStrike" u="none">
              <a:solidFill>
                <a:srgbClr val="000000"/>
              </a:solidFill>
              <a:effectLst/>
              <a:uFillTx/>
              <a:latin typeface="Arial"/>
            </a:endParaRPr>
          </a:p>
        </p:txBody>
      </p:sp>
      <p:sp>
        <p:nvSpPr>
          <p:cNvPr id="1361" name="Text 12"/>
          <p:cNvSpPr/>
          <p:nvPr/>
        </p:nvSpPr>
        <p:spPr>
          <a:xfrm>
            <a:off x="5212080" y="2834640"/>
            <a:ext cx="913680" cy="410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trike="noStrike" u="none">
                <a:solidFill>
                  <a:srgbClr val="e94560"/>
                </a:solidFill>
                <a:effectLst/>
                <a:uFillTx/>
                <a:latin typeface="Trebuchet MS"/>
                <a:ea typeface="Trebuchet MS"/>
              </a:rPr>
              <a:t>14%</a:t>
            </a:r>
            <a:endParaRPr b="0" lang="en-US" sz="1400" strike="noStrike" u="none">
              <a:solidFill>
                <a:srgbClr val="000000"/>
              </a:solidFill>
              <a:effectLst/>
              <a:uFillTx/>
              <a:latin typeface="Arial"/>
            </a:endParaRPr>
          </a:p>
        </p:txBody>
      </p:sp>
      <p:sp>
        <p:nvSpPr>
          <p:cNvPr id="1362" name="Text 13"/>
          <p:cNvSpPr/>
          <p:nvPr/>
        </p:nvSpPr>
        <p:spPr>
          <a:xfrm>
            <a:off x="6126480" y="2834640"/>
            <a:ext cx="164520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1a1a2e"/>
                </a:solidFill>
                <a:effectLst/>
                <a:uFillTx/>
                <a:latin typeface="Calibri"/>
                <a:ea typeface="Calibri"/>
              </a:rPr>
              <a:t>Students &amp; Learners</a:t>
            </a:r>
            <a:endParaRPr b="0" lang="en-US" sz="1100" strike="noStrike" u="none">
              <a:solidFill>
                <a:srgbClr val="000000"/>
              </a:solidFill>
              <a:effectLst/>
              <a:uFillTx/>
              <a:latin typeface="Arial"/>
            </a:endParaRPr>
          </a:p>
        </p:txBody>
      </p:sp>
      <p:sp>
        <p:nvSpPr>
          <p:cNvPr id="1363" name="Text 14"/>
          <p:cNvSpPr/>
          <p:nvPr/>
        </p:nvSpPr>
        <p:spPr>
          <a:xfrm>
            <a:off x="7772400" y="2834640"/>
            <a:ext cx="73080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trike="noStrike" u="none">
                <a:solidFill>
                  <a:srgbClr val="8e8e8e"/>
                </a:solidFill>
                <a:effectLst/>
                <a:uFillTx/>
                <a:latin typeface="Calibri"/>
                <a:ea typeface="Calibri"/>
              </a:rPr>
              <a:t>~7,100</a:t>
            </a:r>
            <a:endParaRPr b="0" lang="en-US" sz="900" strike="noStrike" u="none">
              <a:solidFill>
                <a:srgbClr val="000000"/>
              </a:solidFill>
              <a:effectLst/>
              <a:uFillTx/>
              <a:latin typeface="Arial"/>
            </a:endParaRPr>
          </a:p>
        </p:txBody>
      </p:sp>
      <p:sp>
        <p:nvSpPr>
          <p:cNvPr id="1364" name="Text 15"/>
          <p:cNvSpPr/>
          <p:nvPr/>
        </p:nvSpPr>
        <p:spPr>
          <a:xfrm>
            <a:off x="5212080" y="3337560"/>
            <a:ext cx="913680" cy="410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trike="noStrike" u="none">
                <a:solidFill>
                  <a:srgbClr val="e94560"/>
                </a:solidFill>
                <a:effectLst/>
                <a:uFillTx/>
                <a:latin typeface="Trebuchet MS"/>
                <a:ea typeface="Trebuchet MS"/>
              </a:rPr>
              <a:t>2.5%</a:t>
            </a:r>
            <a:endParaRPr b="0" lang="en-US" sz="1400" strike="noStrike" u="none">
              <a:solidFill>
                <a:srgbClr val="000000"/>
              </a:solidFill>
              <a:effectLst/>
              <a:uFillTx/>
              <a:latin typeface="Arial"/>
            </a:endParaRPr>
          </a:p>
        </p:txBody>
      </p:sp>
      <p:sp>
        <p:nvSpPr>
          <p:cNvPr id="1365" name="Text 16"/>
          <p:cNvSpPr/>
          <p:nvPr/>
        </p:nvSpPr>
        <p:spPr>
          <a:xfrm>
            <a:off x="6126480" y="3337560"/>
            <a:ext cx="164520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1a1a2e"/>
                </a:solidFill>
                <a:effectLst/>
                <a:uFillTx/>
                <a:latin typeface="Calibri"/>
                <a:ea typeface="Calibri"/>
              </a:rPr>
              <a:t>Public Sector</a:t>
            </a:r>
            <a:endParaRPr b="0" lang="en-US" sz="1100" strike="noStrike" u="none">
              <a:solidFill>
                <a:srgbClr val="000000"/>
              </a:solidFill>
              <a:effectLst/>
              <a:uFillTx/>
              <a:latin typeface="Arial"/>
            </a:endParaRPr>
          </a:p>
        </p:txBody>
      </p:sp>
      <p:sp>
        <p:nvSpPr>
          <p:cNvPr id="1366" name="Text 17"/>
          <p:cNvSpPr/>
          <p:nvPr/>
        </p:nvSpPr>
        <p:spPr>
          <a:xfrm>
            <a:off x="7772400" y="3337560"/>
            <a:ext cx="73080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trike="noStrike" u="none">
                <a:solidFill>
                  <a:srgbClr val="8e8e8e"/>
                </a:solidFill>
                <a:effectLst/>
                <a:uFillTx/>
                <a:latin typeface="Calibri"/>
                <a:ea typeface="Calibri"/>
              </a:rPr>
              <a:t>~1,250</a:t>
            </a:r>
            <a:endParaRPr b="0" lang="en-US" sz="900" strike="noStrike" u="none">
              <a:solidFill>
                <a:srgbClr val="000000"/>
              </a:solidFill>
              <a:effectLst/>
              <a:uFillTx/>
              <a:latin typeface="Arial"/>
            </a:endParaRPr>
          </a:p>
        </p:txBody>
      </p:sp>
      <p:sp>
        <p:nvSpPr>
          <p:cNvPr id="1367" name="Text 18"/>
          <p:cNvSpPr/>
          <p:nvPr/>
        </p:nvSpPr>
        <p:spPr>
          <a:xfrm>
            <a:off x="5212080" y="3840480"/>
            <a:ext cx="913680" cy="410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trike="noStrike" u="none">
                <a:solidFill>
                  <a:srgbClr val="e94560"/>
                </a:solidFill>
                <a:effectLst/>
                <a:uFillTx/>
                <a:latin typeface="Trebuchet MS"/>
                <a:ea typeface="Trebuchet MS"/>
              </a:rPr>
              <a:t>2.2%</a:t>
            </a:r>
            <a:endParaRPr b="0" lang="en-US" sz="1400" strike="noStrike" u="none">
              <a:solidFill>
                <a:srgbClr val="000000"/>
              </a:solidFill>
              <a:effectLst/>
              <a:uFillTx/>
              <a:latin typeface="Arial"/>
            </a:endParaRPr>
          </a:p>
        </p:txBody>
      </p:sp>
      <p:sp>
        <p:nvSpPr>
          <p:cNvPr id="1368" name="Text 19"/>
          <p:cNvSpPr/>
          <p:nvPr/>
        </p:nvSpPr>
        <p:spPr>
          <a:xfrm>
            <a:off x="6126480" y="3840480"/>
            <a:ext cx="164520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1a1a2e"/>
                </a:solidFill>
                <a:effectLst/>
                <a:uFillTx/>
                <a:latin typeface="Calibri"/>
                <a:ea typeface="Calibri"/>
              </a:rPr>
              <a:t>Retirees &amp; Lifelong</a:t>
            </a:r>
            <a:endParaRPr b="0" lang="en-US" sz="1100" strike="noStrike" u="none">
              <a:solidFill>
                <a:srgbClr val="000000"/>
              </a:solidFill>
              <a:effectLst/>
              <a:uFillTx/>
              <a:latin typeface="Arial"/>
            </a:endParaRPr>
          </a:p>
        </p:txBody>
      </p:sp>
      <p:sp>
        <p:nvSpPr>
          <p:cNvPr id="1369" name="Text 20"/>
          <p:cNvSpPr/>
          <p:nvPr/>
        </p:nvSpPr>
        <p:spPr>
          <a:xfrm>
            <a:off x="7772400" y="3840480"/>
            <a:ext cx="73080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900" strike="noStrike" u="none">
                <a:solidFill>
                  <a:srgbClr val="8e8e8e"/>
                </a:solidFill>
                <a:effectLst/>
                <a:uFillTx/>
                <a:latin typeface="Calibri"/>
                <a:ea typeface="Calibri"/>
              </a:rPr>
              <a:t>~1,100</a:t>
            </a:r>
            <a:endParaRPr b="0" lang="en-US"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fffff"/>
        </a:solidFill>
      </p:bgPr>
    </p:bg>
    <p:spTree>
      <p:nvGrpSpPr>
        <p:cNvPr id="1" name=""/>
        <p:cNvGrpSpPr/>
        <p:nvPr/>
      </p:nvGrpSpPr>
      <p:grpSpPr>
        <a:xfrm>
          <a:off x="0" y="0"/>
          <a:ext cx="0" cy="0"/>
          <a:chOff x="0" y="0"/>
          <a:chExt cx="0" cy="0"/>
        </a:xfrm>
      </p:grpSpPr>
      <p:sp>
        <p:nvSpPr>
          <p:cNvPr id="1370" name="Text 0"/>
          <p:cNvSpPr/>
          <p:nvPr/>
        </p:nvSpPr>
        <p:spPr>
          <a:xfrm>
            <a:off x="548640" y="274320"/>
            <a:ext cx="73144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trike="noStrike" u="none">
                <a:solidFill>
                  <a:srgbClr val="1a1a2e"/>
                </a:solidFill>
                <a:effectLst/>
                <a:uFillTx/>
                <a:latin typeface="Trebuchet MS"/>
                <a:ea typeface="Trebuchet MS"/>
              </a:rPr>
              <a:t>What Singapore's AI Audience Cares About</a:t>
            </a:r>
            <a:endParaRPr b="0" lang="en-US" sz="2800" strike="noStrike" u="none">
              <a:solidFill>
                <a:srgbClr val="000000"/>
              </a:solidFill>
              <a:effectLst/>
              <a:uFillTx/>
              <a:latin typeface="Arial"/>
            </a:endParaRPr>
          </a:p>
        </p:txBody>
      </p:sp>
      <p:graphicFrame>
        <p:nvGraphicFramePr>
          <p:cNvPr id="1371" name="Chart 0"/>
          <p:cNvGraphicFramePr/>
          <p:nvPr/>
        </p:nvGraphicFramePr>
        <p:xfrm>
          <a:off x="548640" y="1097280"/>
          <a:ext cx="8046000" cy="3656880"/>
        </p:xfrm>
        <a:graphic>
          <a:graphicData uri="http://schemas.openxmlformats.org/drawingml/2006/chart">
            <c:chart xmlns:c="http://schemas.openxmlformats.org/drawingml/2006/chart" xmlns:r="http://schemas.openxmlformats.org/officeDocument/2006/relationships" r:id="rId1"/>
          </a:graphicData>
        </a:graphic>
      </p:graphicFrame>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df6f0"/>
        </a:solidFill>
      </p:bgPr>
    </p:bg>
    <p:spTree>
      <p:nvGrpSpPr>
        <p:cNvPr id="1" name=""/>
        <p:cNvGrpSpPr/>
        <p:nvPr/>
      </p:nvGrpSpPr>
      <p:grpSpPr>
        <a:xfrm>
          <a:off x="0" y="0"/>
          <a:ext cx="0" cy="0"/>
          <a:chOff x="0" y="0"/>
          <a:chExt cx="0" cy="0"/>
        </a:xfrm>
      </p:grpSpPr>
      <p:sp>
        <p:nvSpPr>
          <p:cNvPr id="1372" name="Text 0"/>
          <p:cNvSpPr/>
          <p:nvPr/>
        </p:nvSpPr>
        <p:spPr>
          <a:xfrm>
            <a:off x="548640" y="274320"/>
            <a:ext cx="73144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trike="noStrike" u="none">
                <a:solidFill>
                  <a:srgbClr val="1a1a2e"/>
                </a:solidFill>
                <a:effectLst/>
                <a:uFillTx/>
                <a:latin typeface="Trebuchet MS"/>
                <a:ea typeface="Trebuchet MS"/>
              </a:rPr>
              <a:t>Brand Whitespace: Your Opportunity</a:t>
            </a:r>
            <a:endParaRPr b="0" lang="en-US" sz="2800" strike="noStrike" u="none">
              <a:solidFill>
                <a:srgbClr val="000000"/>
              </a:solidFill>
              <a:effectLst/>
              <a:uFillTx/>
              <a:latin typeface="Arial"/>
            </a:endParaRPr>
          </a:p>
        </p:txBody>
      </p:sp>
      <p:sp>
        <p:nvSpPr>
          <p:cNvPr id="1373" name="Text 1"/>
          <p:cNvSpPr/>
          <p:nvPr/>
        </p:nvSpPr>
        <p:spPr>
          <a:xfrm>
            <a:off x="548640" y="914400"/>
            <a:ext cx="7314480" cy="31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trike="noStrike" u="none">
                <a:solidFill>
                  <a:srgbClr val="2d2d2d"/>
                </a:solidFill>
                <a:effectLst/>
                <a:uFillTx/>
                <a:latin typeface="Calibri"/>
                <a:ea typeface="Calibri"/>
              </a:rPr>
              <a:t>High audience interest + Low brand penetration = Untapped market</a:t>
            </a:r>
            <a:endParaRPr b="0" lang="en-US" sz="1200" strike="noStrike" u="none">
              <a:solidFill>
                <a:srgbClr val="000000"/>
              </a:solidFill>
              <a:effectLst/>
              <a:uFillTx/>
              <a:latin typeface="Arial"/>
            </a:endParaRPr>
          </a:p>
        </p:txBody>
      </p:sp>
      <p:sp>
        <p:nvSpPr>
          <p:cNvPr id="1374" name="Shape 2"/>
          <p:cNvSpPr/>
          <p:nvPr/>
        </p:nvSpPr>
        <p:spPr>
          <a:xfrm>
            <a:off x="548640" y="1280160"/>
            <a:ext cx="3931200" cy="365040"/>
          </a:xfrm>
          <a:prstGeom prst="rect">
            <a:avLst/>
          </a:prstGeom>
          <a:solidFill>
            <a:srgbClr val="0f9b8e"/>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75" name="Text 3"/>
          <p:cNvSpPr/>
          <p:nvPr/>
        </p:nvSpPr>
        <p:spPr>
          <a:xfrm>
            <a:off x="731520" y="1280160"/>
            <a:ext cx="36568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trike="noStrike" u="none">
                <a:solidFill>
                  <a:srgbClr val="ffffff"/>
                </a:solidFill>
                <a:effectLst/>
                <a:uFillTx/>
                <a:latin typeface="Trebuchet MS"/>
                <a:ea typeface="Trebuchet MS"/>
              </a:rPr>
              <a:t>UNSATURATED OPPORTUNITIES</a:t>
            </a:r>
            <a:endParaRPr b="0" lang="en-US" sz="1100" strike="noStrike" u="none">
              <a:solidFill>
                <a:srgbClr val="000000"/>
              </a:solidFill>
              <a:effectLst/>
              <a:uFillTx/>
              <a:latin typeface="Arial"/>
            </a:endParaRPr>
          </a:p>
        </p:txBody>
      </p:sp>
      <p:sp>
        <p:nvSpPr>
          <p:cNvPr id="1376" name="Shape 4"/>
          <p:cNvSpPr/>
          <p:nvPr/>
        </p:nvSpPr>
        <p:spPr>
          <a:xfrm>
            <a:off x="548640" y="1737360"/>
            <a:ext cx="3931200" cy="5022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77" name="Text 5"/>
          <p:cNvSpPr/>
          <p:nvPr/>
        </p:nvSpPr>
        <p:spPr>
          <a:xfrm>
            <a:off x="731520" y="1737360"/>
            <a:ext cx="274248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1a1a2e"/>
                </a:solidFill>
                <a:effectLst/>
                <a:uFillTx/>
                <a:latin typeface="Calibri"/>
                <a:ea typeface="Calibri"/>
              </a:rPr>
              <a:t>Entrepreneurship &amp; Startups</a:t>
            </a:r>
            <a:endParaRPr b="0" lang="en-US" sz="1200" strike="noStrike" u="none">
              <a:solidFill>
                <a:srgbClr val="000000"/>
              </a:solidFill>
              <a:effectLst/>
              <a:uFillTx/>
              <a:latin typeface="Arial"/>
            </a:endParaRPr>
          </a:p>
        </p:txBody>
      </p:sp>
      <p:sp>
        <p:nvSpPr>
          <p:cNvPr id="1378" name="Text 6"/>
          <p:cNvSpPr/>
          <p:nvPr/>
        </p:nvSpPr>
        <p:spPr>
          <a:xfrm>
            <a:off x="3474720" y="1737360"/>
            <a:ext cx="913680" cy="5022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1" lang="en-US" sz="1400" strike="noStrike" u="none">
                <a:solidFill>
                  <a:srgbClr val="0f9b8e"/>
                </a:solidFill>
                <a:effectLst/>
                <a:uFillTx/>
                <a:latin typeface="Trebuchet MS"/>
                <a:ea typeface="Trebuchet MS"/>
              </a:rPr>
              <a:t>+24.91%</a:t>
            </a:r>
            <a:endParaRPr b="0" lang="en-US" sz="1400" strike="noStrike" u="none">
              <a:solidFill>
                <a:srgbClr val="000000"/>
              </a:solidFill>
              <a:effectLst/>
              <a:uFillTx/>
              <a:latin typeface="Arial"/>
            </a:endParaRPr>
          </a:p>
        </p:txBody>
      </p:sp>
      <p:sp>
        <p:nvSpPr>
          <p:cNvPr id="1379" name="Shape 7"/>
          <p:cNvSpPr/>
          <p:nvPr/>
        </p:nvSpPr>
        <p:spPr>
          <a:xfrm>
            <a:off x="548640" y="2331720"/>
            <a:ext cx="3931200" cy="5022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80" name="Text 8"/>
          <p:cNvSpPr/>
          <p:nvPr/>
        </p:nvSpPr>
        <p:spPr>
          <a:xfrm>
            <a:off x="731520" y="2331720"/>
            <a:ext cx="274248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1a1a2e"/>
                </a:solidFill>
                <a:effectLst/>
                <a:uFillTx/>
                <a:latin typeface="Calibri"/>
                <a:ea typeface="Calibri"/>
              </a:rPr>
              <a:t>Creative Writing</a:t>
            </a:r>
            <a:endParaRPr b="0" lang="en-US" sz="1200" strike="noStrike" u="none">
              <a:solidFill>
                <a:srgbClr val="000000"/>
              </a:solidFill>
              <a:effectLst/>
              <a:uFillTx/>
              <a:latin typeface="Arial"/>
            </a:endParaRPr>
          </a:p>
        </p:txBody>
      </p:sp>
      <p:sp>
        <p:nvSpPr>
          <p:cNvPr id="1381" name="Text 9"/>
          <p:cNvSpPr/>
          <p:nvPr/>
        </p:nvSpPr>
        <p:spPr>
          <a:xfrm>
            <a:off x="3474720" y="2331720"/>
            <a:ext cx="913680" cy="5022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1" lang="en-US" sz="1400" strike="noStrike" u="none">
                <a:solidFill>
                  <a:srgbClr val="0f9b8e"/>
                </a:solidFill>
                <a:effectLst/>
                <a:uFillTx/>
                <a:latin typeface="Trebuchet MS"/>
                <a:ea typeface="Trebuchet MS"/>
              </a:rPr>
              <a:t>+28.64%</a:t>
            </a:r>
            <a:endParaRPr b="0" lang="en-US" sz="1400" strike="noStrike" u="none">
              <a:solidFill>
                <a:srgbClr val="000000"/>
              </a:solidFill>
              <a:effectLst/>
              <a:uFillTx/>
              <a:latin typeface="Arial"/>
            </a:endParaRPr>
          </a:p>
        </p:txBody>
      </p:sp>
      <p:sp>
        <p:nvSpPr>
          <p:cNvPr id="1382" name="Shape 10"/>
          <p:cNvSpPr/>
          <p:nvPr/>
        </p:nvSpPr>
        <p:spPr>
          <a:xfrm>
            <a:off x="548640" y="2926080"/>
            <a:ext cx="3931200" cy="5022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83" name="Text 11"/>
          <p:cNvSpPr/>
          <p:nvPr/>
        </p:nvSpPr>
        <p:spPr>
          <a:xfrm>
            <a:off x="731520" y="2926080"/>
            <a:ext cx="274248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1a1a2e"/>
                </a:solidFill>
                <a:effectLst/>
                <a:uFillTx/>
                <a:latin typeface="Calibri"/>
                <a:ea typeface="Calibri"/>
              </a:rPr>
              <a:t>Content Creation</a:t>
            </a:r>
            <a:endParaRPr b="0" lang="en-US" sz="1200" strike="noStrike" u="none">
              <a:solidFill>
                <a:srgbClr val="000000"/>
              </a:solidFill>
              <a:effectLst/>
              <a:uFillTx/>
              <a:latin typeface="Arial"/>
            </a:endParaRPr>
          </a:p>
        </p:txBody>
      </p:sp>
      <p:sp>
        <p:nvSpPr>
          <p:cNvPr id="1384" name="Text 12"/>
          <p:cNvSpPr/>
          <p:nvPr/>
        </p:nvSpPr>
        <p:spPr>
          <a:xfrm>
            <a:off x="3474720" y="2926080"/>
            <a:ext cx="913680" cy="5022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1" lang="en-US" sz="1400" strike="noStrike" u="none">
                <a:solidFill>
                  <a:srgbClr val="0f9b8e"/>
                </a:solidFill>
                <a:effectLst/>
                <a:uFillTx/>
                <a:latin typeface="Trebuchet MS"/>
                <a:ea typeface="Trebuchet MS"/>
              </a:rPr>
              <a:t>+25.98%</a:t>
            </a:r>
            <a:endParaRPr b="0" lang="en-US" sz="1400" strike="noStrike" u="none">
              <a:solidFill>
                <a:srgbClr val="000000"/>
              </a:solidFill>
              <a:effectLst/>
              <a:uFillTx/>
              <a:latin typeface="Arial"/>
            </a:endParaRPr>
          </a:p>
        </p:txBody>
      </p:sp>
      <p:sp>
        <p:nvSpPr>
          <p:cNvPr id="1385" name="Shape 13"/>
          <p:cNvSpPr/>
          <p:nvPr/>
        </p:nvSpPr>
        <p:spPr>
          <a:xfrm>
            <a:off x="548640" y="3520440"/>
            <a:ext cx="3931200" cy="5022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86" name="Text 14"/>
          <p:cNvSpPr/>
          <p:nvPr/>
        </p:nvSpPr>
        <p:spPr>
          <a:xfrm>
            <a:off x="731520" y="3520440"/>
            <a:ext cx="274248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1a1a2e"/>
                </a:solidFill>
                <a:effectLst/>
                <a:uFillTx/>
                <a:latin typeface="Calibri"/>
                <a:ea typeface="Calibri"/>
              </a:rPr>
              <a:t>Social Media Management</a:t>
            </a:r>
            <a:endParaRPr b="0" lang="en-US" sz="1200" strike="noStrike" u="none">
              <a:solidFill>
                <a:srgbClr val="000000"/>
              </a:solidFill>
              <a:effectLst/>
              <a:uFillTx/>
              <a:latin typeface="Arial"/>
            </a:endParaRPr>
          </a:p>
        </p:txBody>
      </p:sp>
      <p:sp>
        <p:nvSpPr>
          <p:cNvPr id="1387" name="Text 15"/>
          <p:cNvSpPr/>
          <p:nvPr/>
        </p:nvSpPr>
        <p:spPr>
          <a:xfrm>
            <a:off x="3474720" y="3520440"/>
            <a:ext cx="913680" cy="5022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1" lang="en-US" sz="1400" strike="noStrike" u="none">
                <a:solidFill>
                  <a:srgbClr val="0f9b8e"/>
                </a:solidFill>
                <a:effectLst/>
                <a:uFillTx/>
                <a:latin typeface="Trebuchet MS"/>
                <a:ea typeface="Trebuchet MS"/>
              </a:rPr>
              <a:t>+24.90%</a:t>
            </a:r>
            <a:endParaRPr b="0" lang="en-US" sz="1400" strike="noStrike" u="none">
              <a:solidFill>
                <a:srgbClr val="000000"/>
              </a:solidFill>
              <a:effectLst/>
              <a:uFillTx/>
              <a:latin typeface="Arial"/>
            </a:endParaRPr>
          </a:p>
        </p:txBody>
      </p:sp>
      <p:sp>
        <p:nvSpPr>
          <p:cNvPr id="1388" name="Shape 16"/>
          <p:cNvSpPr/>
          <p:nvPr/>
        </p:nvSpPr>
        <p:spPr>
          <a:xfrm>
            <a:off x="548640" y="4114800"/>
            <a:ext cx="3931200" cy="5022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89" name="Text 17"/>
          <p:cNvSpPr/>
          <p:nvPr/>
        </p:nvSpPr>
        <p:spPr>
          <a:xfrm>
            <a:off x="731520" y="4114800"/>
            <a:ext cx="274248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1a1a2e"/>
                </a:solidFill>
                <a:effectLst/>
                <a:uFillTx/>
                <a:latin typeface="Calibri"/>
                <a:ea typeface="Calibri"/>
              </a:rPr>
              <a:t>Data Analysis</a:t>
            </a:r>
            <a:endParaRPr b="0" lang="en-US" sz="1200" strike="noStrike" u="none">
              <a:solidFill>
                <a:srgbClr val="000000"/>
              </a:solidFill>
              <a:effectLst/>
              <a:uFillTx/>
              <a:latin typeface="Arial"/>
            </a:endParaRPr>
          </a:p>
        </p:txBody>
      </p:sp>
      <p:sp>
        <p:nvSpPr>
          <p:cNvPr id="1390" name="Text 18"/>
          <p:cNvSpPr/>
          <p:nvPr/>
        </p:nvSpPr>
        <p:spPr>
          <a:xfrm>
            <a:off x="3474720" y="4114800"/>
            <a:ext cx="913680" cy="5022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1" lang="en-US" sz="1400" strike="noStrike" u="none">
                <a:solidFill>
                  <a:srgbClr val="0f9b8e"/>
                </a:solidFill>
                <a:effectLst/>
                <a:uFillTx/>
                <a:latin typeface="Trebuchet MS"/>
                <a:ea typeface="Trebuchet MS"/>
              </a:rPr>
              <a:t>+16.53%</a:t>
            </a:r>
            <a:endParaRPr b="0" lang="en-US" sz="1400" strike="noStrike" u="none">
              <a:solidFill>
                <a:srgbClr val="000000"/>
              </a:solidFill>
              <a:effectLst/>
              <a:uFillTx/>
              <a:latin typeface="Arial"/>
            </a:endParaRPr>
          </a:p>
        </p:txBody>
      </p:sp>
      <p:sp>
        <p:nvSpPr>
          <p:cNvPr id="1391" name="Shape 19"/>
          <p:cNvSpPr/>
          <p:nvPr/>
        </p:nvSpPr>
        <p:spPr>
          <a:xfrm>
            <a:off x="4663440" y="1280160"/>
            <a:ext cx="3931200" cy="365040"/>
          </a:xfrm>
          <a:prstGeom prst="rect">
            <a:avLst/>
          </a:prstGeom>
          <a:solidFill>
            <a:srgbClr val="e94560"/>
          </a:solidFill>
          <a:ln w="0">
            <a:noFill/>
          </a:ln>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92" name="Text 20"/>
          <p:cNvSpPr/>
          <p:nvPr/>
        </p:nvSpPr>
        <p:spPr>
          <a:xfrm>
            <a:off x="4846320" y="1280160"/>
            <a:ext cx="36568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trike="noStrike" u="none">
                <a:solidFill>
                  <a:srgbClr val="ffffff"/>
                </a:solidFill>
                <a:effectLst/>
                <a:uFillTx/>
                <a:latin typeface="Trebuchet MS"/>
                <a:ea typeface="Trebuchet MS"/>
              </a:rPr>
              <a:t>SATURATED (HIGH COMPETITION)</a:t>
            </a:r>
            <a:endParaRPr b="0" lang="en-US" sz="1100" strike="noStrike" u="none">
              <a:solidFill>
                <a:srgbClr val="000000"/>
              </a:solidFill>
              <a:effectLst/>
              <a:uFillTx/>
              <a:latin typeface="Arial"/>
            </a:endParaRPr>
          </a:p>
        </p:txBody>
      </p:sp>
      <p:sp>
        <p:nvSpPr>
          <p:cNvPr id="1393" name="Shape 21"/>
          <p:cNvSpPr/>
          <p:nvPr/>
        </p:nvSpPr>
        <p:spPr>
          <a:xfrm>
            <a:off x="4663440" y="1737360"/>
            <a:ext cx="3931200" cy="5022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94" name="Text 22"/>
          <p:cNvSpPr/>
          <p:nvPr/>
        </p:nvSpPr>
        <p:spPr>
          <a:xfrm>
            <a:off x="4846320" y="1737360"/>
            <a:ext cx="274248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1a1a2e"/>
                </a:solidFill>
                <a:effectLst/>
                <a:uFillTx/>
                <a:latin typeface="Calibri"/>
                <a:ea typeface="Calibri"/>
              </a:rPr>
              <a:t>Career Development</a:t>
            </a:r>
            <a:endParaRPr b="0" lang="en-US" sz="1200" strike="noStrike" u="none">
              <a:solidFill>
                <a:srgbClr val="000000"/>
              </a:solidFill>
              <a:effectLst/>
              <a:uFillTx/>
              <a:latin typeface="Arial"/>
            </a:endParaRPr>
          </a:p>
        </p:txBody>
      </p:sp>
      <p:sp>
        <p:nvSpPr>
          <p:cNvPr id="1395" name="Text 23"/>
          <p:cNvSpPr/>
          <p:nvPr/>
        </p:nvSpPr>
        <p:spPr>
          <a:xfrm>
            <a:off x="7589520" y="1737360"/>
            <a:ext cx="913680" cy="5022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1" lang="en-US" sz="1400" strike="noStrike" u="none">
                <a:solidFill>
                  <a:srgbClr val="e94560"/>
                </a:solidFill>
                <a:effectLst/>
                <a:uFillTx/>
                <a:latin typeface="Trebuchet MS"/>
                <a:ea typeface="Trebuchet MS"/>
              </a:rPr>
              <a:t>-10.22%</a:t>
            </a:r>
            <a:endParaRPr b="0" lang="en-US" sz="1400" strike="noStrike" u="none">
              <a:solidFill>
                <a:srgbClr val="000000"/>
              </a:solidFill>
              <a:effectLst/>
              <a:uFillTx/>
              <a:latin typeface="Arial"/>
            </a:endParaRPr>
          </a:p>
        </p:txBody>
      </p:sp>
      <p:sp>
        <p:nvSpPr>
          <p:cNvPr id="1396" name="Shape 24"/>
          <p:cNvSpPr/>
          <p:nvPr/>
        </p:nvSpPr>
        <p:spPr>
          <a:xfrm>
            <a:off x="4663440" y="2331720"/>
            <a:ext cx="3931200" cy="5022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397" name="Text 25"/>
          <p:cNvSpPr/>
          <p:nvPr/>
        </p:nvSpPr>
        <p:spPr>
          <a:xfrm>
            <a:off x="4846320" y="2331720"/>
            <a:ext cx="274248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1a1a2e"/>
                </a:solidFill>
                <a:effectLst/>
                <a:uFillTx/>
                <a:latin typeface="Calibri"/>
                <a:ea typeface="Calibri"/>
              </a:rPr>
              <a:t>Language Learning</a:t>
            </a:r>
            <a:endParaRPr b="0" lang="en-US" sz="1200" strike="noStrike" u="none">
              <a:solidFill>
                <a:srgbClr val="000000"/>
              </a:solidFill>
              <a:effectLst/>
              <a:uFillTx/>
              <a:latin typeface="Arial"/>
            </a:endParaRPr>
          </a:p>
        </p:txBody>
      </p:sp>
      <p:sp>
        <p:nvSpPr>
          <p:cNvPr id="1398" name="Text 26"/>
          <p:cNvSpPr/>
          <p:nvPr/>
        </p:nvSpPr>
        <p:spPr>
          <a:xfrm>
            <a:off x="7589520" y="2331720"/>
            <a:ext cx="913680" cy="5022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1" lang="en-US" sz="1400" strike="noStrike" u="none">
                <a:solidFill>
                  <a:srgbClr val="e94560"/>
                </a:solidFill>
                <a:effectLst/>
                <a:uFillTx/>
                <a:latin typeface="Trebuchet MS"/>
                <a:ea typeface="Trebuchet MS"/>
              </a:rPr>
              <a:t>-10.41%</a:t>
            </a:r>
            <a:endParaRPr b="0" lang="en-US" sz="1400" strike="noStrike" u="none">
              <a:solidFill>
                <a:srgbClr val="000000"/>
              </a:solidFill>
              <a:effectLst/>
              <a:uFillTx/>
              <a:latin typeface="Arial"/>
            </a:endParaRPr>
          </a:p>
        </p:txBody>
      </p:sp>
      <p:sp>
        <p:nvSpPr>
          <p:cNvPr id="1399" name="Shape 27"/>
          <p:cNvSpPr/>
          <p:nvPr/>
        </p:nvSpPr>
        <p:spPr>
          <a:xfrm>
            <a:off x="4663440" y="2926080"/>
            <a:ext cx="3931200" cy="502200"/>
          </a:xfrm>
          <a:prstGeom prst="rect">
            <a:avLst/>
          </a:prstGeom>
          <a:solidFill>
            <a:srgbClr val="ffffff"/>
          </a:solidFill>
          <a:ln w="0">
            <a:noFill/>
          </a:ln>
          <a:effectLst>
            <a:outerShdw algn="bl" blurRad="76320" dir="8100000" dist="25455" rotWithShape="0">
              <a:srgbClr val="000000">
                <a:alpha val="12000"/>
              </a:srgbClr>
            </a:outerShdw>
          </a:effectLst>
        </p:spPr>
        <p:style>
          <a:lnRef idx="0"/>
          <a:fillRef idx="0"/>
          <a:effectRef idx="0"/>
          <a:fontRef idx="minor"/>
        </p:style>
        <p:txBody>
          <a:bodyPr lIns="90000" rIns="90000" tIns="45000" bIns="45000" anchor="t">
            <a:noAutofit/>
          </a:bodyPr>
          <a:p>
            <a:pPr defTabSz="914400">
              <a:lnSpc>
                <a:spcPct val="100000"/>
              </a:lnSpc>
              <a:tabLst>
                <a:tab algn="l" pos="0"/>
              </a:tabLst>
            </a:pPr>
            <a:endParaRPr b="0" lang="en-US" sz="1800" strike="noStrike" u="none">
              <a:solidFill>
                <a:srgbClr val="000000"/>
              </a:solidFill>
              <a:effectLst/>
              <a:uFillTx/>
              <a:latin typeface="Calibri"/>
            </a:endParaRPr>
          </a:p>
        </p:txBody>
      </p:sp>
      <p:sp>
        <p:nvSpPr>
          <p:cNvPr id="1400" name="Text 28"/>
          <p:cNvSpPr/>
          <p:nvPr/>
        </p:nvSpPr>
        <p:spPr>
          <a:xfrm>
            <a:off x="4846320" y="2926080"/>
            <a:ext cx="2742480" cy="5022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200" strike="noStrike" u="none">
                <a:solidFill>
                  <a:srgbClr val="1a1a2e"/>
                </a:solidFill>
                <a:effectLst/>
                <a:uFillTx/>
                <a:latin typeface="Calibri"/>
                <a:ea typeface="Calibri"/>
              </a:rPr>
              <a:t>Design &amp; Art</a:t>
            </a:r>
            <a:endParaRPr b="0" lang="en-US" sz="1200" strike="noStrike" u="none">
              <a:solidFill>
                <a:srgbClr val="000000"/>
              </a:solidFill>
              <a:effectLst/>
              <a:uFillTx/>
              <a:latin typeface="Arial"/>
            </a:endParaRPr>
          </a:p>
        </p:txBody>
      </p:sp>
      <p:sp>
        <p:nvSpPr>
          <p:cNvPr id="1401" name="Text 29"/>
          <p:cNvSpPr/>
          <p:nvPr/>
        </p:nvSpPr>
        <p:spPr>
          <a:xfrm>
            <a:off x="7589520" y="2926080"/>
            <a:ext cx="913680" cy="5022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r>
              <a:rPr b="1" lang="en-US" sz="1400" strike="noStrike" u="none">
                <a:solidFill>
                  <a:srgbClr val="e94560"/>
                </a:solidFill>
                <a:effectLst/>
                <a:uFillTx/>
                <a:latin typeface="Trebuchet MS"/>
                <a:ea typeface="Trebuchet MS"/>
              </a:rPr>
              <a:t>-9.98%</a:t>
            </a:r>
            <a:endParaRPr b="0" lang="en-US" sz="1400" strike="noStrike" u="none">
              <a:solidFill>
                <a:srgbClr val="000000"/>
              </a:solidFill>
              <a:effectLst/>
              <a:uFillTx/>
              <a:latin typeface="Arial"/>
            </a:endParaRPr>
          </a:p>
        </p:txBody>
      </p:sp>
      <p:sp>
        <p:nvSpPr>
          <p:cNvPr id="1402" name="Text 30"/>
          <p:cNvSpPr/>
          <p:nvPr/>
        </p:nvSpPr>
        <p:spPr>
          <a:xfrm>
            <a:off x="548640" y="4754880"/>
            <a:ext cx="4571280" cy="273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00" strike="noStrike" u="none">
                <a:solidFill>
                  <a:srgbClr val="8e8e8e"/>
                </a:solidFill>
                <a:effectLst/>
                <a:uFillTx/>
                <a:latin typeface="Calibri"/>
                <a:ea typeface="Calibri"/>
              </a:rPr>
              <a:t>Source: SQREEM Market Intelligence, 2025</a:t>
            </a:r>
            <a:endParaRPr b="0" lang="en-US"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fffff"/>
        </a:solidFill>
      </p:bgPr>
    </p:bg>
    <p:spTree>
      <p:nvGrpSpPr>
        <p:cNvPr id="1" name=""/>
        <p:cNvGrpSpPr/>
        <p:nvPr/>
      </p:nvGrpSpPr>
      <p:grpSpPr>
        <a:xfrm>
          <a:off x="0" y="0"/>
          <a:ext cx="0" cy="0"/>
          <a:chOff x="0" y="0"/>
          <a:chExt cx="0" cy="0"/>
        </a:xfrm>
      </p:grpSpPr>
      <p:sp>
        <p:nvSpPr>
          <p:cNvPr id="1403" name="Text 0"/>
          <p:cNvSpPr/>
          <p:nvPr/>
        </p:nvSpPr>
        <p:spPr>
          <a:xfrm>
            <a:off x="548640" y="274320"/>
            <a:ext cx="7314480" cy="639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600" strike="noStrike" u="none">
                <a:solidFill>
                  <a:srgbClr val="1a1a2e"/>
                </a:solidFill>
                <a:effectLst/>
                <a:uFillTx/>
                <a:latin typeface="Trebuchet MS"/>
                <a:ea typeface="Trebuchet MS"/>
              </a:rPr>
              <a:t>Competitive Landscape: Brand Consideration</a:t>
            </a:r>
            <a:endParaRPr b="0" lang="en-US" sz="2600" strike="noStrike" u="none">
              <a:solidFill>
                <a:srgbClr val="000000"/>
              </a:solidFill>
              <a:effectLst/>
              <a:uFillTx/>
              <a:latin typeface="Arial"/>
            </a:endParaRPr>
          </a:p>
        </p:txBody>
      </p:sp>
      <p:graphicFrame>
        <p:nvGraphicFramePr>
          <p:cNvPr id="1404" name="Table 0"/>
          <p:cNvGraphicFramePr/>
          <p:nvPr/>
        </p:nvGraphicFramePr>
        <p:xfrm>
          <a:off x="548640" y="1005840"/>
          <a:ext cx="8046360" cy="3200400"/>
        </p:xfrm>
        <a:graphic>
          <a:graphicData uri="http://schemas.openxmlformats.org/drawingml/2006/table">
            <a:tbl>
              <a:tblPr/>
              <a:tblGrid>
                <a:gridCol w="1645920"/>
                <a:gridCol w="1280160"/>
                <a:gridCol w="1280160"/>
                <a:gridCol w="1280160"/>
                <a:gridCol w="1280160"/>
                <a:gridCol w="1280160"/>
              </a:tblGrid>
              <a:tr h="457200">
                <a:tc>
                  <a:txBody>
                    <a:bodyPr anchor="t">
                      <a:noAutofit/>
                    </a:bodyPr>
                    <a:p>
                      <a:pPr defTabSz="914400">
                        <a:lnSpc>
                          <a:spcPct val="100000"/>
                        </a:lnSpc>
                        <a:tabLst>
                          <a:tab algn="l" pos="0"/>
                        </a:tabLst>
                      </a:pPr>
                      <a:r>
                        <a:rPr b="1" lang="en-US" sz="1000" strike="noStrike" u="none">
                          <a:solidFill>
                            <a:srgbClr val="ffffff"/>
                          </a:solidFill>
                          <a:effectLst/>
                          <a:uFillTx/>
                          <a:latin typeface="Calibri"/>
                          <a:ea typeface="Calibri"/>
                        </a:rPr>
                        <a:t>Category</a:t>
                      </a:r>
                      <a:endParaRPr b="0" lang="en-US" sz="1000" strike="noStrike" u="none">
                        <a:solidFill>
                          <a:srgbClr val="ffffff"/>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1a1a2e"/>
                    </a:solidFill>
                  </a:tcPr>
                </a:tc>
                <a:tc>
                  <a:txBody>
                    <a:bodyPr anchor="t">
                      <a:noAutofit/>
                    </a:bodyPr>
                    <a:p>
                      <a:pPr defTabSz="914400">
                        <a:lnSpc>
                          <a:spcPct val="100000"/>
                        </a:lnSpc>
                        <a:tabLst>
                          <a:tab algn="l" pos="0"/>
                        </a:tabLst>
                      </a:pPr>
                      <a:r>
                        <a:rPr b="1" lang="en-US" sz="1000" strike="noStrike" u="none">
                          <a:solidFill>
                            <a:srgbClr val="ffffff"/>
                          </a:solidFill>
                          <a:effectLst/>
                          <a:uFillTx/>
                          <a:latin typeface="Calibri"/>
                          <a:ea typeface="Calibri"/>
                        </a:rPr>
                        <a:t>OpenAI</a:t>
                      </a:r>
                      <a:endParaRPr b="0" lang="en-US" sz="1000" strike="noStrike" u="none">
                        <a:solidFill>
                          <a:srgbClr val="ffffff"/>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1a1a2e"/>
                    </a:solidFill>
                  </a:tcPr>
                </a:tc>
                <a:tc>
                  <a:txBody>
                    <a:bodyPr anchor="t">
                      <a:noAutofit/>
                    </a:bodyPr>
                    <a:p>
                      <a:pPr defTabSz="914400">
                        <a:lnSpc>
                          <a:spcPct val="100000"/>
                        </a:lnSpc>
                        <a:tabLst>
                          <a:tab algn="l" pos="0"/>
                        </a:tabLst>
                      </a:pPr>
                      <a:r>
                        <a:rPr b="1" lang="en-US" sz="1000" strike="noStrike" u="none">
                          <a:solidFill>
                            <a:srgbClr val="ffffff"/>
                          </a:solidFill>
                          <a:effectLst/>
                          <a:uFillTx/>
                          <a:latin typeface="Calibri"/>
                          <a:ea typeface="Calibri"/>
                        </a:rPr>
                        <a:t>Google</a:t>
                      </a:r>
                      <a:endParaRPr b="0" lang="en-US" sz="1000" strike="noStrike" u="none">
                        <a:solidFill>
                          <a:srgbClr val="ffffff"/>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1a1a2e"/>
                    </a:solidFill>
                  </a:tcPr>
                </a:tc>
                <a:tc>
                  <a:txBody>
                    <a:bodyPr anchor="t">
                      <a:noAutofit/>
                    </a:bodyPr>
                    <a:p>
                      <a:pPr defTabSz="914400">
                        <a:lnSpc>
                          <a:spcPct val="100000"/>
                        </a:lnSpc>
                        <a:tabLst>
                          <a:tab algn="l" pos="0"/>
                        </a:tabLst>
                      </a:pPr>
                      <a:r>
                        <a:rPr b="1" lang="en-US" sz="1000" strike="noStrike" u="none">
                          <a:solidFill>
                            <a:srgbClr val="ffffff"/>
                          </a:solidFill>
                          <a:effectLst/>
                          <a:uFillTx/>
                          <a:latin typeface="Calibri"/>
                          <a:ea typeface="Calibri"/>
                        </a:rPr>
                        <a:t>Microsoft</a:t>
                      </a:r>
                      <a:endParaRPr b="0" lang="en-US" sz="1000" strike="noStrike" u="none">
                        <a:solidFill>
                          <a:srgbClr val="ffffff"/>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1a1a2e"/>
                    </a:solidFill>
                  </a:tcPr>
                </a:tc>
                <a:tc>
                  <a:txBody>
                    <a:bodyPr anchor="t">
                      <a:noAutofit/>
                    </a:bodyPr>
                    <a:p>
                      <a:pPr defTabSz="914400">
                        <a:lnSpc>
                          <a:spcPct val="100000"/>
                        </a:lnSpc>
                        <a:tabLst>
                          <a:tab algn="l" pos="0"/>
                        </a:tabLst>
                      </a:pPr>
                      <a:r>
                        <a:rPr b="1" lang="en-US" sz="1000" strike="noStrike" u="none">
                          <a:solidFill>
                            <a:srgbClr val="ffffff"/>
                          </a:solidFill>
                          <a:effectLst/>
                          <a:uFillTx/>
                          <a:latin typeface="Calibri"/>
                          <a:ea typeface="Calibri"/>
                        </a:rPr>
                        <a:t>IBM</a:t>
                      </a:r>
                      <a:endParaRPr b="0" lang="en-US" sz="1000" strike="noStrike" u="none">
                        <a:solidFill>
                          <a:srgbClr val="ffffff"/>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1a1a2e"/>
                    </a:solidFill>
                  </a:tcPr>
                </a:tc>
                <a:tc>
                  <a:txBody>
                    <a:bodyPr anchor="t">
                      <a:noAutofit/>
                    </a:bodyPr>
                    <a:p>
                      <a:pPr defTabSz="914400">
                        <a:lnSpc>
                          <a:spcPct val="100000"/>
                        </a:lnSpc>
                        <a:tabLst>
                          <a:tab algn="l" pos="0"/>
                        </a:tabLst>
                      </a:pPr>
                      <a:r>
                        <a:rPr b="1" lang="en-US" sz="1000" strike="noStrike" u="none">
                          <a:solidFill>
                            <a:srgbClr val="ffffff"/>
                          </a:solidFill>
                          <a:effectLst/>
                          <a:uFillTx/>
                          <a:latin typeface="Calibri"/>
                          <a:ea typeface="Calibri"/>
                        </a:rPr>
                        <a:t>Midjourney</a:t>
                      </a:r>
                      <a:endParaRPr b="0" lang="en-US" sz="1000" strike="noStrike" u="none">
                        <a:solidFill>
                          <a:srgbClr val="ffffff"/>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solidFill>
                      <a:srgbClr val="1a1a2e"/>
                    </a:solidFill>
                  </a:tcPr>
                </a:tc>
              </a:tr>
              <a:tr h="457200">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Productivity</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Moderate</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Strong</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Strong</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Strong</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Moderate</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457200">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Education</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Strong</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Strong</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Moderate</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Moderate</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Strong</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457200">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Data Analysis</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Strong</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Moderate</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Moderate</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Moderate</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Strong</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457200">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Coding</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Strong</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Strong</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Strong</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Strong</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Strong</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457200">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Business Automation</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Moderate</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Moderate</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Strong</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Strong</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Little</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r h="457200">
                <a:tc>
                  <a:txBody>
                    <a:bodyPr anchor="t">
                      <a:noAutofit/>
                    </a:bodyPr>
                    <a:p>
                      <a:pPr defTabSz="914400">
                        <a:lnSpc>
                          <a:spcPct val="100000"/>
                        </a:lnSpc>
                        <a:tabLst>
                          <a:tab algn="l" pos="0"/>
                        </a:tabLst>
                      </a:pPr>
                      <a:r>
                        <a:rPr b="1" lang="en-US" sz="1000" strike="noStrike" u="none">
                          <a:solidFill>
                            <a:srgbClr val="e94560"/>
                          </a:solidFill>
                          <a:effectLst/>
                          <a:uFillTx/>
                          <a:latin typeface="Calibri"/>
                          <a:ea typeface="Calibri"/>
                        </a:rPr>
                        <a:t>Creative Writing</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Moderate</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Little</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Little</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No</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c>
                  <a:txBody>
                    <a:bodyPr anchor="t">
                      <a:noAutofit/>
                    </a:bodyPr>
                    <a:p>
                      <a:pPr defTabSz="914400">
                        <a:lnSpc>
                          <a:spcPct val="100000"/>
                        </a:lnSpc>
                        <a:tabLst>
                          <a:tab algn="l" pos="0"/>
                        </a:tabLst>
                      </a:pPr>
                      <a:r>
                        <a:rPr b="0" lang="en-US" sz="1000" strike="noStrike" u="none">
                          <a:solidFill>
                            <a:srgbClr val="000000"/>
                          </a:solidFill>
                          <a:effectLst/>
                          <a:uFillTx/>
                          <a:latin typeface="Calibri"/>
                          <a:ea typeface="Calibri"/>
                        </a:rPr>
                        <a:t>Moderate</a:t>
                      </a:r>
                      <a:endParaRPr b="0" lang="en-US" sz="1000" strike="noStrike" u="none">
                        <a:solidFill>
                          <a:srgbClr val="000000"/>
                        </a:solidFill>
                        <a:effectLst/>
                        <a:uFillTx/>
                        <a:latin typeface="Arial"/>
                      </a:endParaRPr>
                    </a:p>
                  </a:txBody>
                  <a:tcPr anchor="t" marL="91440" marR="91440">
                    <a:lnL w="6480">
                      <a:solidFill>
                        <a:srgbClr val="dddddd"/>
                      </a:solidFill>
                      <a:prstDash val="solid"/>
                    </a:lnL>
                    <a:lnR w="6480">
                      <a:solidFill>
                        <a:srgbClr val="dddddd"/>
                      </a:solidFill>
                      <a:prstDash val="solid"/>
                    </a:lnR>
                    <a:lnT w="6480">
                      <a:solidFill>
                        <a:srgbClr val="dddddd"/>
                      </a:solidFill>
                      <a:prstDash val="solid"/>
                    </a:lnT>
                    <a:lnB w="6480">
                      <a:solidFill>
                        <a:srgbClr val="dddddd"/>
                      </a:solidFill>
                      <a:prstDash val="solid"/>
                    </a:lnB>
                    <a:noFill/>
                  </a:tcPr>
                </a:tc>
              </a:tr>
            </a:tbl>
          </a:graphicData>
        </a:graphic>
      </p:graphicFrame>
      <p:sp>
        <p:nvSpPr>
          <p:cNvPr id="1405" name="Text 1"/>
          <p:cNvSpPr/>
          <p:nvPr/>
        </p:nvSpPr>
        <p:spPr>
          <a:xfrm>
            <a:off x="548640" y="4389120"/>
            <a:ext cx="7314480" cy="365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trike="noStrike" u="none">
                <a:solidFill>
                  <a:srgbClr val="e94560"/>
                </a:solidFill>
                <a:effectLst/>
                <a:uFillTx/>
                <a:latin typeface="Calibri"/>
                <a:ea typeface="Calibri"/>
              </a:rPr>
              <a:t>Creative Writing is the biggest gap - high interest, low brand presence</a:t>
            </a:r>
            <a:endParaRPr b="0" lang="en-US"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06" name="Title"/>
          <p:cNvSpPr/>
          <p:nvPr/>
        </p:nvSpPr>
        <p:spPr>
          <a:xfrm>
            <a:off x="457200" y="182880"/>
            <a:ext cx="8228880" cy="639360"/>
          </a:xfrm>
          <a:noFill/>
          <a:ln w="0">
            <a:noFill/>
          </a:ln>
        </p:spPr>
        <p:style>
          <a:lnRef idx="0"/>
          <a:fillRef idx="0"/>
          <a:effectRef idx="0"/>
          <a:fontRef idx="minor"/>
        </p:style>
        <p:txBody>
          <a:bodyPr lIns="90000" rIns="90000" tIns="45000" bIns="45000" anchor="t">
            <a:noAutofit/>
          </a:bodyPr>
          <a:p>
            <a:pPr defTabSz="914400">
              <a:lnSpc>
                <a:spcPct val="100000"/>
              </a:lnSpc>
            </a:pPr>
            <a:r>
              <a:rPr b="1" lang="en-US" sz="3200" strike="noStrike" u="none">
                <a:solidFill>
                  <a:srgbClr val="1a1a2e"/>
                </a:solidFill>
                <a:effectLst/>
                <a:uFillTx/>
                <a:latin typeface="Trebuchet MS"/>
              </a:rPr>
              <a:t>AI Tools for SG Startups</a:t>
            </a:r>
            <a:endParaRPr b="0" lang="en-US" sz="3200" strike="noStrike" u="none">
              <a:solidFill>
                <a:srgbClr val="000000"/>
              </a:solidFill>
              <a:effectLst/>
              <a:uFillTx/>
              <a:latin typeface="Arial"/>
            </a:endParaRPr>
          </a:p>
        </p:txBody>
      </p:sp>
      <p:sp>
        <p:nvSpPr>
          <p:cNvPr id="1407" name="Sub"/>
          <p:cNvSpPr/>
          <p:nvPr/>
        </p:nvSpPr>
        <p:spPr>
          <a:xfrm>
            <a:off x="457200" y="749880"/>
            <a:ext cx="8228880" cy="299160"/>
          </a:xfrm>
          <a:noFill/>
          <a:ln w="0">
            <a:noFill/>
          </a:ln>
        </p:spPr>
        <p:style>
          <a:lnRef idx="0"/>
          <a:fillRef idx="0"/>
          <a:effectRef idx="0"/>
          <a:fontRef idx="minor"/>
        </p:style>
        <p:txBody>
          <a:bodyPr lIns="90000" rIns="90000" tIns="45000" bIns="45000" anchor="t">
            <a:noAutofit/>
          </a:bodyPr>
          <a:p>
            <a:pPr defTabSz="914400">
              <a:lnSpc>
                <a:spcPct val="100000"/>
              </a:lnSpc>
            </a:pPr>
            <a:r>
              <a:rPr b="0" i="1" lang="en-US" sz="1600" strike="noStrike" u="none">
                <a:solidFill>
                  <a:srgbClr val="555555"/>
                </a:solidFill>
                <a:effectLst/>
                <a:uFillTx/>
                <a:latin typeface="Calibri"/>
              </a:rPr>
              <a:t>Writing, Research &amp; Creation</a:t>
            </a:r>
            <a:endParaRPr b="0" lang="en-US" sz="1600" strike="noStrike" u="none">
              <a:solidFill>
                <a:srgbClr val="000000"/>
              </a:solidFill>
              <a:effectLst/>
              <a:uFillTx/>
              <a:latin typeface="Arial"/>
            </a:endParaRPr>
          </a:p>
        </p:txBody>
      </p:sp>
      <p:sp>
        <p:nvSpPr>
          <p:cNvPr id="1408" name="Card"/>
          <p:cNvSpPr/>
          <p:nvPr/>
        </p:nvSpPr>
        <p:spPr>
          <a:xfrm>
            <a:off x="299880" y="1100160"/>
            <a:ext cx="2749320" cy="3399120"/>
          </a:xfrm>
          <a:prstGeom prst="roundRect">
            <a:avLst>
              <a:gd name="adj" fmla="val 16000"/>
            </a:avLst>
          </a:prstGeom>
          <a:solidFill>
            <a:srgbClr val="fdf6f0"/>
          </a:solidFill>
          <a:ln w="50800">
            <a:solidFill>
              <a:srgbClr val="e94560"/>
            </a:solidFill>
            <a:round/>
          </a:ln>
          <a:effectLst>
            <a:outerShdw algn="bl" blurRad="76320" dir="8100000" dist="25455">
              <a:srgbClr val="000000">
                <a:alpha val="12000"/>
              </a:srgbClr>
            </a:outerShdw>
          </a:effectLst>
        </p:spPr>
        <p:style>
          <a:lnRef idx="0"/>
          <a:fillRef idx="0"/>
          <a:effectRef idx="0"/>
          <a:fontRef idx="minor"/>
        </p:style>
        <p:txBody>
          <a:bodyPr lIns="182880" rIns="182880" tIns="137160" bIns="91440" anchor="t">
            <a:noAutofit/>
          </a:bodyPr>
          <a:p>
            <a:pPr defTabSz="914400">
              <a:lnSpc>
                <a:spcPct val="100000"/>
              </a:lnSpc>
              <a:spcBef>
                <a:spcPts val="201"/>
              </a:spcBef>
            </a:pPr>
            <a:r>
              <a:rPr b="1" lang="en-US" sz="2000" strike="noStrike" u="none">
                <a:solidFill>
                  <a:srgbClr val="1a1a2e"/>
                </a:solidFill>
                <a:effectLst/>
                <a:uFillTx/>
                <a:latin typeface="Trebuchet MS"/>
              </a:rPr>
              <a:t>ChatGPT</a:t>
            </a:r>
            <a:endParaRPr b="0" lang="en-US" sz="2000" strike="noStrike" u="none">
              <a:solidFill>
                <a:srgbClr val="000000"/>
              </a:solidFill>
              <a:effectLst/>
              <a:uFillTx/>
              <a:latin typeface="Arial"/>
            </a:endParaRPr>
          </a:p>
          <a:p>
            <a:pPr defTabSz="914400">
              <a:lnSpc>
                <a:spcPct val="100000"/>
              </a:lnSpc>
              <a:spcBef>
                <a:spcPts val="99"/>
              </a:spcBef>
            </a:pPr>
            <a:r>
              <a:rPr b="0" lang="en-US" sz="1100" strike="noStrike" u="none">
                <a:solidFill>
                  <a:srgbClr val="555555"/>
                </a:solidFill>
                <a:effectLst/>
                <a:uFillTx/>
                <a:latin typeface="Calibri"/>
              </a:rPr>
              <a:t>Your always-on writing assistant. Draft social posts in Singlish or formal English. Generate pitch decks and emails. Train on your brand voice with Custom GPTs.</a:t>
            </a:r>
            <a:endParaRPr b="0" lang="en-US" sz="1100" strike="noStrike" u="none">
              <a:solidFill>
                <a:srgbClr val="000000"/>
              </a:solidFill>
              <a:effectLst/>
              <a:uFillTx/>
              <a:latin typeface="Arial"/>
            </a:endParaRPr>
          </a:p>
          <a:p>
            <a:pPr defTabSz="914400">
              <a:lnSpc>
                <a:spcPct val="100000"/>
              </a:lnSpc>
              <a:spcBef>
                <a:spcPts val="400"/>
              </a:spcBef>
            </a:pPr>
            <a:r>
              <a:rPr b="0" i="1" lang="en-US" sz="1100" strike="noStrike" u="none">
                <a:solidFill>
                  <a:srgbClr val="e94560"/>
                </a:solidFill>
                <a:effectLst/>
                <a:uFillTx/>
                <a:latin typeface="Calibri"/>
              </a:rPr>
              <a:t>Top 5 most visited site in SG</a:t>
            </a:r>
            <a:endParaRPr b="0" lang="en-US" sz="1100" strike="noStrike" u="none">
              <a:solidFill>
                <a:srgbClr val="000000"/>
              </a:solidFill>
              <a:effectLst/>
              <a:uFillTx/>
              <a:latin typeface="Arial"/>
            </a:endParaRPr>
          </a:p>
        </p:txBody>
      </p:sp>
      <p:sp>
        <p:nvSpPr>
          <p:cNvPr id="1409" name="Card"/>
          <p:cNvSpPr/>
          <p:nvPr/>
        </p:nvSpPr>
        <p:spPr>
          <a:xfrm>
            <a:off x="3200040" y="1100160"/>
            <a:ext cx="2749320" cy="3399120"/>
          </a:xfrm>
          <a:prstGeom prst="roundRect">
            <a:avLst>
              <a:gd name="adj" fmla="val 16000"/>
            </a:avLst>
          </a:prstGeom>
          <a:solidFill>
            <a:srgbClr val="fdf6f0"/>
          </a:solidFill>
          <a:ln w="50800">
            <a:solidFill>
              <a:srgbClr val="0f9b8e"/>
            </a:solidFill>
            <a:round/>
          </a:ln>
          <a:effectLst>
            <a:outerShdw algn="bl" blurRad="76320" dir="8100000" dist="25455">
              <a:srgbClr val="000000">
                <a:alpha val="12000"/>
              </a:srgbClr>
            </a:outerShdw>
          </a:effectLst>
        </p:spPr>
        <p:style>
          <a:lnRef idx="0"/>
          <a:fillRef idx="0"/>
          <a:effectRef idx="0"/>
          <a:fontRef idx="minor"/>
        </p:style>
        <p:txBody>
          <a:bodyPr lIns="182880" rIns="182880" tIns="137160" bIns="91440" anchor="t">
            <a:noAutofit/>
          </a:bodyPr>
          <a:p>
            <a:pPr defTabSz="914400">
              <a:lnSpc>
                <a:spcPct val="100000"/>
              </a:lnSpc>
              <a:spcBef>
                <a:spcPts val="201"/>
              </a:spcBef>
            </a:pPr>
            <a:r>
              <a:rPr b="1" lang="en-US" sz="2000" strike="noStrike" u="none">
                <a:solidFill>
                  <a:srgbClr val="1a1a2e"/>
                </a:solidFill>
                <a:effectLst/>
                <a:uFillTx/>
                <a:latin typeface="Trebuchet MS"/>
              </a:rPr>
              <a:t>Claude</a:t>
            </a:r>
            <a:endParaRPr b="0" lang="en-US" sz="2000" strike="noStrike" u="none">
              <a:solidFill>
                <a:srgbClr val="000000"/>
              </a:solidFill>
              <a:effectLst/>
              <a:uFillTx/>
              <a:latin typeface="Arial"/>
            </a:endParaRPr>
          </a:p>
          <a:p>
            <a:pPr defTabSz="914400">
              <a:lnSpc>
                <a:spcPct val="100000"/>
              </a:lnSpc>
              <a:spcBef>
                <a:spcPts val="99"/>
              </a:spcBef>
            </a:pPr>
            <a:r>
              <a:rPr b="0" lang="en-US" sz="1100" strike="noStrike" u="none">
                <a:solidFill>
                  <a:srgbClr val="555555"/>
                </a:solidFill>
                <a:effectLst/>
                <a:uFillTx/>
                <a:latin typeface="Calibri"/>
              </a:rPr>
              <a:t>Better-sounding AI for creation. More natural, human-sounding copy. Build presentations from rough notes. Excellent for blogs, proposals, reports.</a:t>
            </a:r>
            <a:endParaRPr b="0" lang="en-US" sz="1100" strike="noStrike" u="none">
              <a:solidFill>
                <a:srgbClr val="000000"/>
              </a:solidFill>
              <a:effectLst/>
              <a:uFillTx/>
              <a:latin typeface="Arial"/>
            </a:endParaRPr>
          </a:p>
          <a:p>
            <a:pPr defTabSz="914400">
              <a:lnSpc>
                <a:spcPct val="100000"/>
              </a:lnSpc>
              <a:spcBef>
                <a:spcPts val="400"/>
              </a:spcBef>
            </a:pPr>
            <a:r>
              <a:rPr b="0" i="1" lang="en-US" sz="1100" strike="noStrike" u="none">
                <a:solidFill>
                  <a:srgbClr val="0f9b8e"/>
                </a:solidFill>
                <a:effectLst/>
                <a:uFillTx/>
                <a:latin typeface="Calibri"/>
              </a:rPr>
              <a:t>Growing fast among SG founders</a:t>
            </a:r>
            <a:endParaRPr b="0" lang="en-US" sz="1100" strike="noStrike" u="none">
              <a:solidFill>
                <a:srgbClr val="000000"/>
              </a:solidFill>
              <a:effectLst/>
              <a:uFillTx/>
              <a:latin typeface="Arial"/>
            </a:endParaRPr>
          </a:p>
        </p:txBody>
      </p:sp>
      <p:sp>
        <p:nvSpPr>
          <p:cNvPr id="1410" name="Card"/>
          <p:cNvSpPr/>
          <p:nvPr/>
        </p:nvSpPr>
        <p:spPr>
          <a:xfrm>
            <a:off x="6099840" y="1100160"/>
            <a:ext cx="2749320" cy="3399120"/>
          </a:xfrm>
          <a:prstGeom prst="roundRect">
            <a:avLst>
              <a:gd name="adj" fmla="val 16000"/>
            </a:avLst>
          </a:prstGeom>
          <a:solidFill>
            <a:srgbClr val="fdf6f0"/>
          </a:solidFill>
          <a:ln w="50800">
            <a:solidFill>
              <a:srgbClr val="e94560"/>
            </a:solidFill>
            <a:round/>
          </a:ln>
          <a:effectLst>
            <a:outerShdw algn="bl" blurRad="76320" dir="8100000" dist="25455">
              <a:srgbClr val="000000">
                <a:alpha val="12000"/>
              </a:srgbClr>
            </a:outerShdw>
          </a:effectLst>
        </p:spPr>
        <p:style>
          <a:lnRef idx="0"/>
          <a:fillRef idx="0"/>
          <a:effectRef idx="0"/>
          <a:fontRef idx="minor"/>
        </p:style>
        <p:txBody>
          <a:bodyPr lIns="182880" rIns="182880" tIns="137160" bIns="91440" anchor="t">
            <a:noAutofit/>
          </a:bodyPr>
          <a:p>
            <a:pPr defTabSz="914400">
              <a:lnSpc>
                <a:spcPct val="100000"/>
              </a:lnSpc>
              <a:spcBef>
                <a:spcPts val="201"/>
              </a:spcBef>
            </a:pPr>
            <a:r>
              <a:rPr b="1" lang="en-US" sz="2000" strike="noStrike" u="none">
                <a:solidFill>
                  <a:srgbClr val="1a1a2e"/>
                </a:solidFill>
                <a:effectLst/>
                <a:uFillTx/>
                <a:latin typeface="Trebuchet MS"/>
              </a:rPr>
              <a:t>Perplexity</a:t>
            </a:r>
            <a:endParaRPr b="0" lang="en-US" sz="2000" strike="noStrike" u="none">
              <a:solidFill>
                <a:srgbClr val="000000"/>
              </a:solidFill>
              <a:effectLst/>
              <a:uFillTx/>
              <a:latin typeface="Arial"/>
            </a:endParaRPr>
          </a:p>
          <a:p>
            <a:pPr defTabSz="914400">
              <a:lnSpc>
                <a:spcPct val="100000"/>
              </a:lnSpc>
              <a:spcBef>
                <a:spcPts val="99"/>
              </a:spcBef>
            </a:pPr>
            <a:r>
              <a:rPr b="0" lang="en-US" sz="1100" strike="noStrike" u="none">
                <a:solidFill>
                  <a:srgbClr val="555555"/>
                </a:solidFill>
                <a:effectLst/>
                <a:uFillTx/>
                <a:latin typeface="Calibri"/>
              </a:rPr>
              <a:t>AI-powered research with citations. Real-time market research with sources. Competitor analysis with fresh data. Find SG-specific stats and trends.</a:t>
            </a:r>
            <a:endParaRPr b="0" lang="en-US" sz="1100" strike="noStrike" u="none">
              <a:solidFill>
                <a:srgbClr val="000000"/>
              </a:solidFill>
              <a:effectLst/>
              <a:uFillTx/>
              <a:latin typeface="Arial"/>
            </a:endParaRPr>
          </a:p>
          <a:p>
            <a:pPr defTabSz="914400">
              <a:lnSpc>
                <a:spcPct val="100000"/>
              </a:lnSpc>
              <a:spcBef>
                <a:spcPts val="400"/>
              </a:spcBef>
            </a:pPr>
            <a:r>
              <a:rPr b="0" i="1" lang="en-US" sz="1100" strike="noStrike" u="none">
                <a:solidFill>
                  <a:srgbClr val="e94560"/>
                </a:solidFill>
                <a:effectLst/>
                <a:uFillTx/>
                <a:latin typeface="Calibri"/>
              </a:rPr>
              <a:t>Ideal for validating SG ideas</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11" name="Title"/>
          <p:cNvSpPr/>
          <p:nvPr/>
        </p:nvSpPr>
        <p:spPr>
          <a:xfrm>
            <a:off x="457200" y="182880"/>
            <a:ext cx="8228880" cy="639360"/>
          </a:xfrm>
          <a:noFill/>
          <a:ln w="0">
            <a:noFill/>
          </a:ln>
        </p:spPr>
        <p:style>
          <a:lnRef idx="0"/>
          <a:fillRef idx="0"/>
          <a:effectRef idx="0"/>
          <a:fontRef idx="minor"/>
        </p:style>
        <p:txBody>
          <a:bodyPr lIns="90000" rIns="90000" tIns="45000" bIns="45000" anchor="t">
            <a:noAutofit/>
          </a:bodyPr>
          <a:p>
            <a:pPr defTabSz="914400">
              <a:lnSpc>
                <a:spcPct val="100000"/>
              </a:lnSpc>
            </a:pPr>
            <a:r>
              <a:rPr b="1" lang="en-US" sz="3200" strike="noStrike" u="none">
                <a:solidFill>
                  <a:srgbClr val="1a1a2e"/>
                </a:solidFill>
                <a:effectLst/>
                <a:uFillTx/>
                <a:latin typeface="Trebuchet MS"/>
              </a:rPr>
              <a:t>AI Tools for SG Startups</a:t>
            </a:r>
            <a:endParaRPr b="0" lang="en-US" sz="3200" strike="noStrike" u="none">
              <a:solidFill>
                <a:srgbClr val="000000"/>
              </a:solidFill>
              <a:effectLst/>
              <a:uFillTx/>
              <a:latin typeface="Arial"/>
            </a:endParaRPr>
          </a:p>
        </p:txBody>
      </p:sp>
      <p:sp>
        <p:nvSpPr>
          <p:cNvPr id="1412" name="Sub"/>
          <p:cNvSpPr/>
          <p:nvPr/>
        </p:nvSpPr>
        <p:spPr>
          <a:xfrm>
            <a:off x="457200" y="749880"/>
            <a:ext cx="8228880" cy="299160"/>
          </a:xfrm>
          <a:noFill/>
          <a:ln w="0">
            <a:noFill/>
          </a:ln>
        </p:spPr>
        <p:style>
          <a:lnRef idx="0"/>
          <a:fillRef idx="0"/>
          <a:effectRef idx="0"/>
          <a:fontRef idx="minor"/>
        </p:style>
        <p:txBody>
          <a:bodyPr lIns="90000" rIns="90000" tIns="45000" bIns="45000" anchor="t">
            <a:noAutofit/>
          </a:bodyPr>
          <a:p>
            <a:pPr defTabSz="914400">
              <a:lnSpc>
                <a:spcPct val="100000"/>
              </a:lnSpc>
            </a:pPr>
            <a:r>
              <a:rPr b="0" i="1" lang="en-US" sz="1600" strike="noStrike" u="none">
                <a:solidFill>
                  <a:srgbClr val="555555"/>
                </a:solidFill>
                <a:effectLst/>
                <a:uFillTx/>
                <a:latin typeface="Calibri"/>
              </a:rPr>
              <a:t>Social, Visual &amp; Knowledge</a:t>
            </a:r>
            <a:endParaRPr b="0" lang="en-US" sz="1600" strike="noStrike" u="none">
              <a:solidFill>
                <a:srgbClr val="000000"/>
              </a:solidFill>
              <a:effectLst/>
              <a:uFillTx/>
              <a:latin typeface="Arial"/>
            </a:endParaRPr>
          </a:p>
        </p:txBody>
      </p:sp>
      <p:sp>
        <p:nvSpPr>
          <p:cNvPr id="1413" name="Card"/>
          <p:cNvSpPr/>
          <p:nvPr/>
        </p:nvSpPr>
        <p:spPr>
          <a:xfrm>
            <a:off x="299880" y="1100160"/>
            <a:ext cx="4199400" cy="1499400"/>
          </a:xfrm>
          <a:prstGeom prst="roundRect">
            <a:avLst>
              <a:gd name="adj" fmla="val 16000"/>
            </a:avLst>
          </a:prstGeom>
          <a:solidFill>
            <a:srgbClr val="fdf6f0"/>
          </a:solidFill>
          <a:ln w="50800">
            <a:solidFill>
              <a:srgbClr val="0f9b8e"/>
            </a:solidFill>
            <a:round/>
          </a:ln>
          <a:effectLst>
            <a:outerShdw algn="bl" blurRad="76320" dir="8100000" dist="25455">
              <a:srgbClr val="000000">
                <a:alpha val="12000"/>
              </a:srgbClr>
            </a:outerShdw>
          </a:effectLst>
        </p:spPr>
        <p:style>
          <a:lnRef idx="0"/>
          <a:fillRef idx="0"/>
          <a:effectRef idx="0"/>
          <a:fontRef idx="minor"/>
        </p:style>
        <p:txBody>
          <a:bodyPr lIns="182880" rIns="182880" tIns="137160" bIns="91440" anchor="t">
            <a:noAutofit/>
          </a:bodyPr>
          <a:p>
            <a:pPr defTabSz="914400">
              <a:lnSpc>
                <a:spcPct val="100000"/>
              </a:lnSpc>
              <a:spcBef>
                <a:spcPts val="201"/>
              </a:spcBef>
            </a:pPr>
            <a:r>
              <a:rPr b="1" lang="en-US" sz="2000" strike="noStrike" u="none">
                <a:solidFill>
                  <a:srgbClr val="1a1a2e"/>
                </a:solidFill>
                <a:effectLst/>
                <a:uFillTx/>
                <a:latin typeface="Trebuchet MS"/>
              </a:rPr>
              <a:t>Meta.ai</a:t>
            </a:r>
            <a:endParaRPr b="0" lang="en-US" sz="2000" strike="noStrike" u="none">
              <a:solidFill>
                <a:srgbClr val="000000"/>
              </a:solidFill>
              <a:effectLst/>
              <a:uFillTx/>
              <a:latin typeface="Arial"/>
            </a:endParaRPr>
          </a:p>
          <a:p>
            <a:pPr defTabSz="914400">
              <a:lnSpc>
                <a:spcPct val="100000"/>
              </a:lnSpc>
              <a:spcBef>
                <a:spcPts val="99"/>
              </a:spcBef>
            </a:pPr>
            <a:r>
              <a:rPr b="0" lang="en-US" sz="1000" strike="noStrike" u="none">
                <a:solidFill>
                  <a:srgbClr val="555555"/>
                </a:solidFill>
                <a:effectLst/>
                <a:uFillTx/>
                <a:latin typeface="Calibri"/>
              </a:rPr>
              <a:t>Free AI inside WhatsApp. Generate content in WhatsApp (80.1% of SG users). Create images and brainstorm without switching apps.</a:t>
            </a:r>
            <a:endParaRPr b="0" lang="en-US" sz="1000" strike="noStrike" u="none">
              <a:solidFill>
                <a:srgbClr val="000000"/>
              </a:solidFill>
              <a:effectLst/>
              <a:uFillTx/>
              <a:latin typeface="Arial"/>
            </a:endParaRPr>
          </a:p>
          <a:p>
            <a:pPr defTabSz="914400">
              <a:lnSpc>
                <a:spcPct val="100000"/>
              </a:lnSpc>
              <a:spcBef>
                <a:spcPts val="400"/>
              </a:spcBef>
            </a:pPr>
            <a:r>
              <a:rPr b="0" i="1" lang="en-US" sz="1100" strike="noStrike" u="none">
                <a:solidFill>
                  <a:srgbClr val="0f9b8e"/>
                </a:solidFill>
                <a:effectLst/>
                <a:uFillTx/>
                <a:latin typeface="Calibri"/>
              </a:rPr>
              <a:t>SG #1 platform: WhatsApp 30.4%</a:t>
            </a:r>
            <a:endParaRPr b="0" lang="en-US" sz="1100" strike="noStrike" u="none">
              <a:solidFill>
                <a:srgbClr val="000000"/>
              </a:solidFill>
              <a:effectLst/>
              <a:uFillTx/>
              <a:latin typeface="Arial"/>
            </a:endParaRPr>
          </a:p>
        </p:txBody>
      </p:sp>
      <p:sp>
        <p:nvSpPr>
          <p:cNvPr id="1414" name="Card"/>
          <p:cNvSpPr/>
          <p:nvPr/>
        </p:nvSpPr>
        <p:spPr>
          <a:xfrm>
            <a:off x="4650120" y="1100160"/>
            <a:ext cx="4199400" cy="1499400"/>
          </a:xfrm>
          <a:prstGeom prst="roundRect">
            <a:avLst>
              <a:gd name="adj" fmla="val 16000"/>
            </a:avLst>
          </a:prstGeom>
          <a:solidFill>
            <a:srgbClr val="fdf6f0"/>
          </a:solidFill>
          <a:ln w="50800">
            <a:solidFill>
              <a:srgbClr val="e94560"/>
            </a:solidFill>
            <a:round/>
          </a:ln>
          <a:effectLst>
            <a:outerShdw algn="bl" blurRad="76320" dir="8100000" dist="25455">
              <a:srgbClr val="000000">
                <a:alpha val="12000"/>
              </a:srgbClr>
            </a:outerShdw>
          </a:effectLst>
        </p:spPr>
        <p:style>
          <a:lnRef idx="0"/>
          <a:fillRef idx="0"/>
          <a:effectRef idx="0"/>
          <a:fontRef idx="minor"/>
        </p:style>
        <p:txBody>
          <a:bodyPr lIns="182880" rIns="182880" tIns="137160" bIns="91440" anchor="t">
            <a:noAutofit/>
          </a:bodyPr>
          <a:p>
            <a:pPr defTabSz="914400">
              <a:lnSpc>
                <a:spcPct val="100000"/>
              </a:lnSpc>
              <a:spcBef>
                <a:spcPts val="201"/>
              </a:spcBef>
            </a:pPr>
            <a:r>
              <a:rPr b="1" lang="en-US" sz="2000" strike="noStrike" u="none">
                <a:solidFill>
                  <a:srgbClr val="1a1a2e"/>
                </a:solidFill>
                <a:effectLst/>
                <a:uFillTx/>
                <a:latin typeface="Trebuchet MS"/>
              </a:rPr>
              <a:t>Ideogram</a:t>
            </a:r>
            <a:endParaRPr b="0" lang="en-US" sz="2000" strike="noStrike" u="none">
              <a:solidFill>
                <a:srgbClr val="000000"/>
              </a:solidFill>
              <a:effectLst/>
              <a:uFillTx/>
              <a:latin typeface="Arial"/>
            </a:endParaRPr>
          </a:p>
          <a:p>
            <a:pPr defTabSz="914400">
              <a:lnSpc>
                <a:spcPct val="100000"/>
              </a:lnSpc>
              <a:spcBef>
                <a:spcPts val="99"/>
              </a:spcBef>
            </a:pPr>
            <a:r>
              <a:rPr b="0" lang="en-US" sz="1000" strike="noStrike" u="none">
                <a:solidFill>
                  <a:srgbClr val="555555"/>
                </a:solidFill>
                <a:effectLst/>
                <a:uFillTx/>
                <a:latin typeface="Calibri"/>
              </a:rPr>
              <a:t>AI image generation. Create scroll-stopping social visuals. Test ad creatives before investing. Generate mockups.</a:t>
            </a:r>
            <a:endParaRPr b="0" lang="en-US" sz="1000" strike="noStrike" u="none">
              <a:solidFill>
                <a:srgbClr val="000000"/>
              </a:solidFill>
              <a:effectLst/>
              <a:uFillTx/>
              <a:latin typeface="Arial"/>
            </a:endParaRPr>
          </a:p>
          <a:p>
            <a:pPr defTabSz="914400">
              <a:lnSpc>
                <a:spcPct val="100000"/>
              </a:lnSpc>
              <a:spcBef>
                <a:spcPts val="400"/>
              </a:spcBef>
            </a:pPr>
            <a:r>
              <a:rPr b="0" i="1" lang="en-US" sz="1100" strike="noStrike" u="none">
                <a:solidFill>
                  <a:srgbClr val="e94560"/>
                </a:solidFill>
                <a:effectLst/>
                <a:uFillTx/>
                <a:latin typeface="Calibri"/>
              </a:rPr>
              <a:t>Visual drives TikTok 58%, IG 62.6%</a:t>
            </a:r>
            <a:endParaRPr b="0" lang="en-US" sz="1100" strike="noStrike" u="none">
              <a:solidFill>
                <a:srgbClr val="000000"/>
              </a:solidFill>
              <a:effectLst/>
              <a:uFillTx/>
              <a:latin typeface="Arial"/>
            </a:endParaRPr>
          </a:p>
        </p:txBody>
      </p:sp>
      <p:sp>
        <p:nvSpPr>
          <p:cNvPr id="1415" name="Card"/>
          <p:cNvSpPr/>
          <p:nvPr/>
        </p:nvSpPr>
        <p:spPr>
          <a:xfrm>
            <a:off x="299880" y="2800080"/>
            <a:ext cx="4199400" cy="1499400"/>
          </a:xfrm>
          <a:prstGeom prst="roundRect">
            <a:avLst>
              <a:gd name="adj" fmla="val 16000"/>
            </a:avLst>
          </a:prstGeom>
          <a:solidFill>
            <a:srgbClr val="fdf6f0"/>
          </a:solidFill>
          <a:ln w="50800">
            <a:solidFill>
              <a:srgbClr val="0f9b8e"/>
            </a:solidFill>
            <a:round/>
          </a:ln>
          <a:effectLst>
            <a:outerShdw algn="bl" blurRad="76320" dir="8100000" dist="25455">
              <a:srgbClr val="000000">
                <a:alpha val="12000"/>
              </a:srgbClr>
            </a:outerShdw>
          </a:effectLst>
        </p:spPr>
        <p:style>
          <a:lnRef idx="0"/>
          <a:fillRef idx="0"/>
          <a:effectRef idx="0"/>
          <a:fontRef idx="minor"/>
        </p:style>
        <p:txBody>
          <a:bodyPr lIns="182880" rIns="182880" tIns="137160" bIns="91440" anchor="t">
            <a:noAutofit/>
          </a:bodyPr>
          <a:p>
            <a:pPr defTabSz="914400">
              <a:lnSpc>
                <a:spcPct val="100000"/>
              </a:lnSpc>
              <a:spcBef>
                <a:spcPts val="201"/>
              </a:spcBef>
            </a:pPr>
            <a:r>
              <a:rPr b="1" lang="en-US" sz="2000" strike="noStrike" u="none">
                <a:solidFill>
                  <a:srgbClr val="1a1a2e"/>
                </a:solidFill>
                <a:effectLst/>
                <a:uFillTx/>
                <a:latin typeface="Trebuchet MS"/>
              </a:rPr>
              <a:t>NotebookLM</a:t>
            </a:r>
            <a:endParaRPr b="0" lang="en-US" sz="2000" strike="noStrike" u="none">
              <a:solidFill>
                <a:srgbClr val="000000"/>
              </a:solidFill>
              <a:effectLst/>
              <a:uFillTx/>
              <a:latin typeface="Arial"/>
            </a:endParaRPr>
          </a:p>
          <a:p>
            <a:pPr defTabSz="914400">
              <a:lnSpc>
                <a:spcPct val="100000"/>
              </a:lnSpc>
              <a:spcBef>
                <a:spcPts val="99"/>
              </a:spcBef>
            </a:pPr>
            <a:r>
              <a:rPr b="0" lang="en-US" sz="1000" strike="noStrike" u="none">
                <a:solidFill>
                  <a:srgbClr val="555555"/>
                </a:solidFill>
                <a:effectLst/>
                <a:uFillTx/>
                <a:latin typeface="Calibri"/>
              </a:rPr>
              <a:t>Turn documents into content. Create audio summaries, infographics, slides from any doc. Repurpose research into shareable formats.</a:t>
            </a:r>
            <a:endParaRPr b="0" lang="en-US" sz="1000" strike="noStrike" u="none">
              <a:solidFill>
                <a:srgbClr val="000000"/>
              </a:solidFill>
              <a:effectLst/>
              <a:uFillTx/>
              <a:latin typeface="Arial"/>
            </a:endParaRPr>
          </a:p>
          <a:p>
            <a:pPr defTabSz="914400">
              <a:lnSpc>
                <a:spcPct val="100000"/>
              </a:lnSpc>
              <a:spcBef>
                <a:spcPts val="400"/>
              </a:spcBef>
            </a:pPr>
            <a:r>
              <a:rPr b="0" i="1" lang="en-US" sz="1100" strike="noStrike" u="none">
                <a:solidFill>
                  <a:srgbClr val="0f9b8e"/>
                </a:solidFill>
                <a:effectLst/>
                <a:uFillTx/>
                <a:latin typeface="Calibri"/>
              </a:rPr>
              <a:t>Ideal for time-poor SG founders</a:t>
            </a:r>
            <a:endParaRPr b="0" lang="en-US" sz="1100" strike="noStrike" u="none">
              <a:solidFill>
                <a:srgbClr val="000000"/>
              </a:solidFill>
              <a:effectLst/>
              <a:uFillTx/>
              <a:latin typeface="Arial"/>
            </a:endParaRPr>
          </a:p>
        </p:txBody>
      </p:sp>
      <p:sp>
        <p:nvSpPr>
          <p:cNvPr id="1416" name="Card"/>
          <p:cNvSpPr/>
          <p:nvPr/>
        </p:nvSpPr>
        <p:spPr>
          <a:xfrm>
            <a:off x="4650120" y="2800080"/>
            <a:ext cx="4199400" cy="1499400"/>
          </a:xfrm>
          <a:prstGeom prst="roundRect">
            <a:avLst>
              <a:gd name="adj" fmla="val 16000"/>
            </a:avLst>
          </a:prstGeom>
          <a:solidFill>
            <a:srgbClr val="fdf6f0"/>
          </a:solidFill>
          <a:ln w="50800">
            <a:solidFill>
              <a:srgbClr val="e94560"/>
            </a:solidFill>
            <a:round/>
          </a:ln>
          <a:effectLst>
            <a:outerShdw algn="bl" blurRad="76320" dir="8100000" dist="25455">
              <a:srgbClr val="000000">
                <a:alpha val="12000"/>
              </a:srgbClr>
            </a:outerShdw>
          </a:effectLst>
        </p:spPr>
        <p:style>
          <a:lnRef idx="0"/>
          <a:fillRef idx="0"/>
          <a:effectRef idx="0"/>
          <a:fontRef idx="minor"/>
        </p:style>
        <p:txBody>
          <a:bodyPr lIns="182880" rIns="182880" tIns="137160" bIns="91440" anchor="t">
            <a:noAutofit/>
          </a:bodyPr>
          <a:p>
            <a:pPr defTabSz="914400">
              <a:lnSpc>
                <a:spcPct val="100000"/>
              </a:lnSpc>
              <a:spcBef>
                <a:spcPts val="201"/>
              </a:spcBef>
            </a:pPr>
            <a:r>
              <a:rPr b="1" lang="en-US" sz="2000" strike="noStrike" u="none">
                <a:solidFill>
                  <a:srgbClr val="1a1a2e"/>
                </a:solidFill>
                <a:effectLst/>
                <a:uFillTx/>
                <a:latin typeface="Trebuchet MS"/>
              </a:rPr>
              <a:t>Canva</a:t>
            </a:r>
            <a:endParaRPr b="0" lang="en-US" sz="2000" strike="noStrike" u="none">
              <a:solidFill>
                <a:srgbClr val="000000"/>
              </a:solidFill>
              <a:effectLst/>
              <a:uFillTx/>
              <a:latin typeface="Arial"/>
            </a:endParaRPr>
          </a:p>
          <a:p>
            <a:pPr defTabSz="914400">
              <a:lnSpc>
                <a:spcPct val="100000"/>
              </a:lnSpc>
              <a:spcBef>
                <a:spcPts val="99"/>
              </a:spcBef>
            </a:pPr>
            <a:r>
              <a:rPr b="0" lang="en-US" sz="1000" strike="noStrike" u="none">
                <a:solidFill>
                  <a:srgbClr val="555555"/>
                </a:solidFill>
                <a:effectLst/>
                <a:uFillTx/>
                <a:latin typeface="Calibri"/>
              </a:rPr>
              <a:t>AI-assisted design. Social posts, presentations, brand assets. Thousands of templates. No design skills needed.</a:t>
            </a:r>
            <a:endParaRPr b="0" lang="en-US" sz="1000" strike="noStrike" u="none">
              <a:solidFill>
                <a:srgbClr val="000000"/>
              </a:solidFill>
              <a:effectLst/>
              <a:uFillTx/>
              <a:latin typeface="Arial"/>
            </a:endParaRPr>
          </a:p>
          <a:p>
            <a:pPr defTabSz="914400">
              <a:lnSpc>
                <a:spcPct val="100000"/>
              </a:lnSpc>
              <a:spcBef>
                <a:spcPts val="400"/>
              </a:spcBef>
            </a:pPr>
            <a:r>
              <a:rPr b="0" i="1" lang="en-US" sz="1100" strike="noStrike" u="none">
                <a:solidFill>
                  <a:srgbClr val="e94560"/>
                </a:solidFill>
                <a:effectLst/>
                <a:uFillTx/>
                <a:latin typeface="Calibri"/>
              </a:rPr>
              <a:t>68% of SG social users buy via social</a:t>
            </a:r>
            <a:endParaRPr b="0" lang="en-US" sz="1100" strike="noStrike" u="none">
              <a:solidFill>
                <a:srgbClr val="000000"/>
              </a:solidFill>
              <a:effectLst/>
              <a:uFillTx/>
              <a:latin typeface="Arial"/>
            </a:endParaRPr>
          </a:p>
        </p:txBody>
      </p:sp>
      <p:sp>
        <p:nvSpPr>
          <p:cNvPr id="1417" name="Source"/>
          <p:cNvSpPr/>
          <p:nvPr/>
        </p:nvSpPr>
        <p:spPr>
          <a:xfrm>
            <a:off x="457200" y="4600080"/>
            <a:ext cx="8228880" cy="299160"/>
          </a:xfrm>
          <a:noFill/>
          <a:ln w="0">
            <a:noFill/>
          </a:ln>
        </p:spPr>
        <p:style>
          <a:lnRef idx="0"/>
          <a:fillRef idx="0"/>
          <a:effectRef idx="0"/>
          <a:fontRef idx="minor"/>
        </p:style>
        <p:txBody>
          <a:bodyPr lIns="90000" rIns="90000" tIns="45000" bIns="45000" anchor="t">
            <a:noAutofit/>
          </a:bodyPr>
          <a:p>
            <a:pPr defTabSz="914400">
              <a:lnSpc>
                <a:spcPct val="100000"/>
              </a:lnSpc>
            </a:pPr>
            <a:r>
              <a:rPr b="0" i="1" lang="en-US" sz="900" strike="noStrike" u="none">
                <a:solidFill>
                  <a:srgbClr val="555555"/>
                </a:solidFill>
                <a:effectLst/>
                <a:uFillTx/>
                <a:latin typeface="Calibri"/>
              </a:rPr>
              <a:t>Source: Digital 2026 Singapore - DataReportal / We Are Social / Meltwater</a:t>
            </a:r>
            <a:endParaRPr b="0" lang="en-US"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418" name="SectionNum"/>
          <p:cNvSpPr/>
          <p:nvPr/>
        </p:nvSpPr>
        <p:spPr>
          <a:xfrm>
            <a:off x="457200" y="914400"/>
            <a:ext cx="1370880" cy="137088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7200" strike="noStrike" u="none">
                <a:solidFill>
                  <a:srgbClr val="e94560"/>
                </a:solidFill>
                <a:effectLst/>
                <a:uFillTx/>
                <a:latin typeface="Calibri"/>
              </a:rPr>
              <a:t>05</a:t>
            </a:r>
            <a:endParaRPr b="0" lang="en-US" sz="7200" strike="noStrike" u="none">
              <a:solidFill>
                <a:srgbClr val="ffffff"/>
              </a:solidFill>
              <a:effectLst/>
              <a:uFillTx/>
              <a:latin typeface="Arial"/>
            </a:endParaRPr>
          </a:p>
        </p:txBody>
      </p:sp>
      <p:sp>
        <p:nvSpPr>
          <p:cNvPr id="1419" name="Title"/>
          <p:cNvSpPr/>
          <p:nvPr/>
        </p:nvSpPr>
        <p:spPr>
          <a:xfrm>
            <a:off x="457200" y="2286000"/>
            <a:ext cx="8228880" cy="13708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4000" strike="noStrike" u="none">
                <a:solidFill>
                  <a:srgbClr val="ffffff"/>
                </a:solidFill>
                <a:effectLst/>
                <a:uFillTx/>
                <a:latin typeface="Calibri"/>
              </a:rPr>
              <a:t>From Marketing to Sales</a:t>
            </a:r>
            <a:endParaRPr b="0" lang="en-US" sz="4000" strike="noStrike" u="none">
              <a:solidFill>
                <a:srgbClr val="ffffff"/>
              </a:solidFill>
              <a:effectLst/>
              <a:uFillTx/>
              <a:latin typeface="Arial"/>
            </a:endParaRPr>
          </a:p>
        </p:txBody>
      </p:sp>
      <p:sp>
        <p:nvSpPr>
          <p:cNvPr id="1420" name="Subtitle"/>
          <p:cNvSpPr/>
          <p:nvPr/>
        </p:nvSpPr>
        <p:spPr>
          <a:xfrm>
            <a:off x="457200" y="3657600"/>
            <a:ext cx="8228880" cy="9136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0" lang="en-US" sz="1600" strike="noStrike" u="none">
                <a:solidFill>
                  <a:srgbClr val="0f9b8e"/>
                </a:solidFill>
                <a:effectLst/>
                <a:uFillTx/>
                <a:latin typeface="Calibri"/>
              </a:rPr>
              <a:t>How good marketing drives sales - and how to sell without ever sounding like a salesperson.</a:t>
            </a:r>
            <a:endParaRPr b="0" lang="en-US" sz="1600" strike="noStrike" u="none">
              <a:solidFill>
                <a:srgbClr val="ffffff"/>
              </a:solidFill>
              <a:effectLst/>
              <a:uFillTx/>
              <a:latin typeface="Arial"/>
            </a:endParaRPr>
          </a:p>
        </p:txBody>
      </p:sp>
      <p:sp>
        <p:nvSpPr>
          <p:cNvPr id="1421" name="AccentLine"/>
          <p:cNvSpPr/>
          <p:nvPr/>
        </p:nvSpPr>
        <p:spPr>
          <a:xfrm>
            <a:off x="457200" y="4572000"/>
            <a:ext cx="8228880" cy="90720"/>
          </a:xfrm>
          <a:prstGeom prst="rect">
            <a:avLst/>
          </a:prstGeom>
          <a:solidFill>
            <a:srgbClr val="e94560"/>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422" name="QuoteMark"/>
          <p:cNvSpPr/>
          <p:nvPr/>
        </p:nvSpPr>
        <p:spPr>
          <a:xfrm>
            <a:off x="457200" y="914400"/>
            <a:ext cx="9136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b="1" lang="en-US" sz="6000" strike="noStrike" u="none">
                <a:solidFill>
                  <a:srgbClr val="e94560"/>
                </a:solidFill>
                <a:effectLst/>
                <a:uFillTx/>
                <a:latin typeface="Calibri"/>
              </a:rPr>
              <a:t>"</a:t>
            </a:r>
            <a:endParaRPr b="0" lang="en-US" sz="6000" strike="noStrike" u="none">
              <a:solidFill>
                <a:srgbClr val="ffffff"/>
              </a:solidFill>
              <a:effectLst/>
              <a:uFillTx/>
              <a:latin typeface="Arial"/>
            </a:endParaRPr>
          </a:p>
        </p:txBody>
      </p:sp>
      <p:sp>
        <p:nvSpPr>
          <p:cNvPr id="1423" name="Quote"/>
          <p:cNvSpPr/>
          <p:nvPr/>
        </p:nvSpPr>
        <p:spPr>
          <a:xfrm>
            <a:off x="1371600" y="1828800"/>
            <a:ext cx="7314480" cy="22852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b="0" i="1" lang="en-US" sz="2800" strike="noStrike" u="none">
                <a:solidFill>
                  <a:srgbClr val="ffffff"/>
                </a:solidFill>
                <a:effectLst/>
                <a:uFillTx/>
                <a:latin typeface="Calibri"/>
              </a:rPr>
              <a:t>People don't buy what you do - they buy how it makes them feel.</a:t>
            </a:r>
            <a:endParaRPr b="0" lang="en-US" sz="2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24" name="Title"/>
          <p:cNvSpPr/>
          <p:nvPr/>
        </p:nvSpPr>
        <p:spPr>
          <a:xfrm>
            <a:off x="457200" y="457200"/>
            <a:ext cx="8228880" cy="456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800" strike="noStrike" u="none">
                <a:solidFill>
                  <a:srgbClr val="1a1a2e"/>
                </a:solidFill>
                <a:effectLst/>
                <a:uFillTx/>
                <a:latin typeface="Calibri"/>
              </a:rPr>
              <a:t>Sales Thinking for Founders</a:t>
            </a:r>
            <a:endParaRPr b="0" lang="en-US" sz="2800" strike="noStrike" u="none">
              <a:solidFill>
                <a:srgbClr val="000000"/>
              </a:solidFill>
              <a:effectLst/>
              <a:uFillTx/>
              <a:latin typeface="Arial"/>
            </a:endParaRPr>
          </a:p>
        </p:txBody>
      </p:sp>
      <p:sp>
        <p:nvSpPr>
          <p:cNvPr id="1425" name="Card1"/>
          <p:cNvSpPr/>
          <p:nvPr/>
        </p:nvSpPr>
        <p:spPr>
          <a:xfrm>
            <a:off x="914400" y="1371600"/>
            <a:ext cx="731448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26" name="Border1"/>
          <p:cNvSpPr/>
          <p:nvPr/>
        </p:nvSpPr>
        <p:spPr>
          <a:xfrm>
            <a:off x="914400" y="1463040"/>
            <a:ext cx="54000" cy="3187800"/>
          </a:xfrm>
          <a:prstGeom prst="roundRect">
            <a:avLst>
              <a:gd name="adj" fmla="val 50000"/>
            </a:avLst>
          </a:prstGeom>
          <a:solidFill>
            <a:srgbClr val="0f9b8e"/>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27" name="CardText1"/>
          <p:cNvSpPr/>
          <p:nvPr/>
        </p:nvSpPr>
        <p:spPr>
          <a:xfrm>
            <a:off x="1051560" y="1417320"/>
            <a:ext cx="713160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1a1a2e"/>
                </a:solidFill>
                <a:effectLst/>
                <a:uFillTx/>
                <a:latin typeface="Calibri"/>
              </a:rPr>
              <a:t>You are Already Selling When You...</a:t>
            </a:r>
            <a:endParaRPr b="0" lang="en-US" sz="14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Pitch to an investor = Selling the future</a:t>
            </a:r>
            <a:endParaRPr b="0" lang="en-US" sz="12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Hire your first team member = Selling belief</a:t>
            </a:r>
            <a:endParaRPr b="0" lang="en-US" sz="12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Convince a customer to try beta = Selling trust</a:t>
            </a:r>
            <a:endParaRPr b="0" lang="en-US" sz="12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Ask a partner to collaborate = Selling vision</a:t>
            </a:r>
            <a:endParaRPr b="0" lang="en-US" sz="1200" strike="noStrike" u="none">
              <a:solidFill>
                <a:srgbClr val="000000"/>
              </a:solidFill>
              <a:effectLst/>
              <a:uFillTx/>
              <a:latin typeface="Arial"/>
            </a:endParaRPr>
          </a:p>
        </p:txBody>
      </p:sp>
      <p:sp>
        <p:nvSpPr>
          <p:cNvPr id="1428" name="Oval 1421"/>
          <p:cNvSpPr/>
          <p:nvPr/>
        </p:nvSpPr>
        <p:spPr>
          <a:xfrm>
            <a:off x="8321040" y="4206240"/>
            <a:ext cx="456840" cy="456840"/>
          </a:xfrm>
          <a:prstGeom prst="ellipse">
            <a:avLst/>
          </a:prstGeom>
          <a:solidFill>
            <a:srgbClr val="0f9b8e"/>
          </a:solidFill>
          <a:ln>
            <a:noFill/>
          </a:ln>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pPr>
            <a:r>
              <a:rPr b="1" lang="en-US" sz="1800" strike="noStrike" u="none">
                <a:solidFill>
                  <a:srgbClr val="ffffff"/>
                </a:solidFill>
                <a:effectLst/>
                <a:uFillTx/>
                <a:latin typeface="Calibri"/>
              </a:rPr>
              <a:t>$</a:t>
            </a: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29" name="Title"/>
          <p:cNvSpPr/>
          <p:nvPr/>
        </p:nvSpPr>
        <p:spPr>
          <a:xfrm>
            <a:off x="457200" y="457200"/>
            <a:ext cx="8228880" cy="456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800" strike="noStrike" u="none">
                <a:solidFill>
                  <a:srgbClr val="1a1a2e"/>
                </a:solidFill>
                <a:effectLst/>
                <a:uFillTx/>
                <a:latin typeface="Calibri"/>
              </a:rPr>
              <a:t>Good Marketing Is the Product</a:t>
            </a:r>
            <a:endParaRPr b="0" lang="en-US" sz="2800" strike="noStrike" u="none">
              <a:solidFill>
                <a:srgbClr val="000000"/>
              </a:solidFill>
              <a:effectLst/>
              <a:uFillTx/>
              <a:latin typeface="Arial"/>
            </a:endParaRPr>
          </a:p>
        </p:txBody>
      </p:sp>
      <p:sp>
        <p:nvSpPr>
          <p:cNvPr id="1430" name="Card1"/>
          <p:cNvSpPr/>
          <p:nvPr/>
        </p:nvSpPr>
        <p:spPr>
          <a:xfrm>
            <a:off x="457200" y="1371600"/>
            <a:ext cx="422856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31" name="Border1"/>
          <p:cNvSpPr/>
          <p:nvPr/>
        </p:nvSpPr>
        <p:spPr>
          <a:xfrm>
            <a:off x="457200" y="1463040"/>
            <a:ext cx="54000" cy="3187800"/>
          </a:xfrm>
          <a:prstGeom prst="roundRect">
            <a:avLst>
              <a:gd name="adj" fmla="val 50000"/>
            </a:avLst>
          </a:prstGeom>
          <a:solidFill>
            <a:srgbClr val="e94560"/>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32" name="CardText1"/>
          <p:cNvSpPr/>
          <p:nvPr/>
        </p:nvSpPr>
        <p:spPr>
          <a:xfrm>
            <a:off x="594360" y="1417320"/>
            <a:ext cx="404532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1a1a2e"/>
                </a:solidFill>
                <a:effectLst/>
                <a:uFillTx/>
                <a:latin typeface="Calibri"/>
              </a:rPr>
              <a:t>Perception = Value</a:t>
            </a:r>
            <a:endParaRPr b="0" lang="en-US" sz="14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Great marketing doesn't decorate the product - it defines how it's understood. Consumers don't buy specs. They buy meaning, status, convenience, identity.</a:t>
            </a:r>
            <a:endParaRPr b="0" lang="en-US" sz="1200" strike="noStrike" u="none">
              <a:solidFill>
                <a:srgbClr val="000000"/>
              </a:solidFill>
              <a:effectLst/>
              <a:uFillTx/>
              <a:latin typeface="Arial"/>
            </a:endParaRPr>
          </a:p>
        </p:txBody>
      </p:sp>
      <p:sp>
        <p:nvSpPr>
          <p:cNvPr id="1433" name="Card2"/>
          <p:cNvSpPr/>
          <p:nvPr/>
        </p:nvSpPr>
        <p:spPr>
          <a:xfrm>
            <a:off x="4686120" y="1371600"/>
            <a:ext cx="422856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34" name="Border2"/>
          <p:cNvSpPr/>
          <p:nvPr/>
        </p:nvSpPr>
        <p:spPr>
          <a:xfrm>
            <a:off x="4686120" y="1463040"/>
            <a:ext cx="54000" cy="3187800"/>
          </a:xfrm>
          <a:prstGeom prst="roundRect">
            <a:avLst>
              <a:gd name="adj" fmla="val 50000"/>
            </a:avLst>
          </a:prstGeom>
          <a:solidFill>
            <a:srgbClr val="0f9b8e"/>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35" name="CardText2"/>
          <p:cNvSpPr/>
          <p:nvPr/>
        </p:nvSpPr>
        <p:spPr>
          <a:xfrm>
            <a:off x="4823280" y="1417320"/>
            <a:ext cx="404532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1a1a2e"/>
                </a:solidFill>
                <a:effectLst/>
                <a:uFillTx/>
                <a:latin typeface="Calibri"/>
              </a:rPr>
              <a:t>The Real Job</a:t>
            </a:r>
            <a:endParaRPr b="0" lang="en-US" sz="14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Marketing isn't about creating desire. It's about satisfying desire better than anyone else. Frame your product as the obvious solution.</a:t>
            </a:r>
            <a:endParaRPr b="0" lang="en-US" sz="1200" strike="noStrike" u="none">
              <a:solidFill>
                <a:srgbClr val="000000"/>
              </a:solidFill>
              <a:effectLst/>
              <a:uFillTx/>
              <a:latin typeface="Arial"/>
            </a:endParaRPr>
          </a:p>
        </p:txBody>
      </p:sp>
      <p:sp>
        <p:nvSpPr>
          <p:cNvPr id="1436" name="Oval 1428"/>
          <p:cNvSpPr/>
          <p:nvPr/>
        </p:nvSpPr>
        <p:spPr>
          <a:xfrm>
            <a:off x="8321040" y="4206240"/>
            <a:ext cx="456840" cy="456840"/>
          </a:xfrm>
          <a:prstGeom prst="ellipse">
            <a:avLst/>
          </a:prstGeom>
          <a:solidFill>
            <a:srgbClr val="e94560"/>
          </a:solidFill>
          <a:ln>
            <a:noFill/>
          </a:ln>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pPr>
            <a:r>
              <a:rPr b="1" lang="en-US" sz="1800" strike="noStrike" u="none">
                <a:solidFill>
                  <a:srgbClr val="ffffff"/>
                </a:solidFill>
                <a:effectLst/>
                <a:uFillTx/>
                <a:latin typeface="Calibri"/>
              </a:rPr>
              <a:t>*</a:t>
            </a: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37" name="Title"/>
          <p:cNvSpPr/>
          <p:nvPr/>
        </p:nvSpPr>
        <p:spPr>
          <a:xfrm>
            <a:off x="457200" y="457200"/>
            <a:ext cx="8228880" cy="456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800" strike="noStrike" u="none">
                <a:solidFill>
                  <a:srgbClr val="1a1a2e"/>
                </a:solidFill>
                <a:effectLst/>
                <a:uFillTx/>
                <a:latin typeface="Calibri"/>
              </a:rPr>
              <a:t>The Psychology of Selling Smarter</a:t>
            </a:r>
            <a:endParaRPr b="0" lang="en-US" sz="2800" strike="noStrike" u="none">
              <a:solidFill>
                <a:srgbClr val="000000"/>
              </a:solidFill>
              <a:effectLst/>
              <a:uFillTx/>
              <a:latin typeface="Arial"/>
            </a:endParaRPr>
          </a:p>
        </p:txBody>
      </p:sp>
      <p:sp>
        <p:nvSpPr>
          <p:cNvPr id="1438" name="Card1"/>
          <p:cNvSpPr/>
          <p:nvPr/>
        </p:nvSpPr>
        <p:spPr>
          <a:xfrm>
            <a:off x="457200" y="1371600"/>
            <a:ext cx="422856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39" name="Border1"/>
          <p:cNvSpPr/>
          <p:nvPr/>
        </p:nvSpPr>
        <p:spPr>
          <a:xfrm>
            <a:off x="457200" y="1463040"/>
            <a:ext cx="54000" cy="3187800"/>
          </a:xfrm>
          <a:prstGeom prst="roundRect">
            <a:avLst>
              <a:gd name="adj" fmla="val 50000"/>
            </a:avLst>
          </a:prstGeom>
          <a:solidFill>
            <a:srgbClr val="e94560"/>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40" name="CardText1"/>
          <p:cNvSpPr/>
          <p:nvPr/>
        </p:nvSpPr>
        <p:spPr>
          <a:xfrm>
            <a:off x="594360" y="1417320"/>
            <a:ext cx="404532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1a1a2e"/>
                </a:solidFill>
                <a:effectLst/>
                <a:uFillTx/>
                <a:latin typeface="Calibri"/>
              </a:rPr>
              <a:t>Make It Feel Better</a:t>
            </a:r>
            <a:endParaRPr b="0" lang="en-US" sz="14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Psychological friction matters more than physical time. Wait time: Show progress. Cost friction: Use instalments, anchors. Fear of commitment: Offer trials, guarantees.</a:t>
            </a:r>
            <a:endParaRPr b="0" lang="en-US" sz="1200" strike="noStrike" u="none">
              <a:solidFill>
                <a:srgbClr val="000000"/>
              </a:solidFill>
              <a:effectLst/>
              <a:uFillTx/>
              <a:latin typeface="Arial"/>
            </a:endParaRPr>
          </a:p>
        </p:txBody>
      </p:sp>
      <p:sp>
        <p:nvSpPr>
          <p:cNvPr id="1441" name="Card2"/>
          <p:cNvSpPr/>
          <p:nvPr/>
        </p:nvSpPr>
        <p:spPr>
          <a:xfrm>
            <a:off x="4686120" y="1371600"/>
            <a:ext cx="422856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42" name="Border2"/>
          <p:cNvSpPr/>
          <p:nvPr/>
        </p:nvSpPr>
        <p:spPr>
          <a:xfrm>
            <a:off x="4686120" y="1463040"/>
            <a:ext cx="54000" cy="3187800"/>
          </a:xfrm>
          <a:prstGeom prst="roundRect">
            <a:avLst>
              <a:gd name="adj" fmla="val 50000"/>
            </a:avLst>
          </a:prstGeom>
          <a:solidFill>
            <a:srgbClr val="0f9b8e"/>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43" name="CardText2"/>
          <p:cNvSpPr/>
          <p:nvPr/>
        </p:nvSpPr>
        <p:spPr>
          <a:xfrm>
            <a:off x="4823280" y="1417320"/>
            <a:ext cx="404532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1a1a2e"/>
                </a:solidFill>
                <a:effectLst/>
                <a:uFillTx/>
                <a:latin typeface="Calibri"/>
              </a:rPr>
              <a:t>Reduce Risk</a:t>
            </a:r>
            <a:endParaRPr b="0" lang="en-US" sz="14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People fear loss more than they desire gain. Social proof, testimonials, refund policies. Trial periods remove decision anxiety.</a:t>
            </a:r>
            <a:endParaRPr b="0" lang="en-US" sz="1200" strike="noStrike" u="none">
              <a:solidFill>
                <a:srgbClr val="000000"/>
              </a:solidFill>
              <a:effectLst/>
              <a:uFillTx/>
              <a:latin typeface="Arial"/>
            </a:endParaRPr>
          </a:p>
        </p:txBody>
      </p:sp>
      <p:sp>
        <p:nvSpPr>
          <p:cNvPr id="1444" name="Oval 1435"/>
          <p:cNvSpPr/>
          <p:nvPr/>
        </p:nvSpPr>
        <p:spPr>
          <a:xfrm>
            <a:off x="8321040" y="4206240"/>
            <a:ext cx="456840" cy="456840"/>
          </a:xfrm>
          <a:prstGeom prst="ellipse">
            <a:avLst/>
          </a:prstGeom>
          <a:solidFill>
            <a:srgbClr val="0f9b8e"/>
          </a:solidFill>
          <a:ln>
            <a:noFill/>
          </a:ln>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pPr>
            <a:r>
              <a:rPr b="1" lang="en-US" sz="1800" strike="noStrike" u="none">
                <a:solidFill>
                  <a:srgbClr val="ffffff"/>
                </a:solidFill>
                <a:effectLst/>
                <a:uFillTx/>
                <a:latin typeface="Calibri"/>
              </a:rPr>
              <a:t>~</a:t>
            </a: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45" name="Title"/>
          <p:cNvSpPr/>
          <p:nvPr/>
        </p:nvSpPr>
        <p:spPr>
          <a:xfrm>
            <a:off x="457200" y="457200"/>
            <a:ext cx="8228880" cy="456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800" strike="noStrike" u="none">
                <a:solidFill>
                  <a:srgbClr val="1a1a2e"/>
                </a:solidFill>
                <a:effectLst/>
                <a:uFillTx/>
                <a:latin typeface="Calibri"/>
              </a:rPr>
              <a:t>Defaults, Upgrades and Pricing Psychology</a:t>
            </a:r>
            <a:endParaRPr b="0" lang="en-US" sz="2800" strike="noStrike" u="none">
              <a:solidFill>
                <a:srgbClr val="000000"/>
              </a:solidFill>
              <a:effectLst/>
              <a:uFillTx/>
              <a:latin typeface="Arial"/>
            </a:endParaRPr>
          </a:p>
        </p:txBody>
      </p:sp>
      <p:sp>
        <p:nvSpPr>
          <p:cNvPr id="1446" name="Card1"/>
          <p:cNvSpPr/>
          <p:nvPr/>
        </p:nvSpPr>
        <p:spPr>
          <a:xfrm>
            <a:off x="457200" y="1371600"/>
            <a:ext cx="422856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47" name="Border1"/>
          <p:cNvSpPr/>
          <p:nvPr/>
        </p:nvSpPr>
        <p:spPr>
          <a:xfrm>
            <a:off x="457200" y="1463040"/>
            <a:ext cx="54000" cy="3187800"/>
          </a:xfrm>
          <a:prstGeom prst="roundRect">
            <a:avLst>
              <a:gd name="adj" fmla="val 50000"/>
            </a:avLst>
          </a:prstGeom>
          <a:solidFill>
            <a:srgbClr val="0f9b8e"/>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48" name="CardText1"/>
          <p:cNvSpPr/>
          <p:nvPr/>
        </p:nvSpPr>
        <p:spPr>
          <a:xfrm>
            <a:off x="594360" y="1417320"/>
            <a:ext cx="404532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1a1a2e"/>
                </a:solidFill>
                <a:effectLst/>
                <a:uFillTx/>
                <a:latin typeface="Calibri"/>
              </a:rPr>
              <a:t>Engineer the Defaults</a:t>
            </a:r>
            <a:endParaRPr b="0" lang="en-US" sz="14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Most customers stick with defaults. Make your best plan the default. People upgrade once they have started buying (sunk cost effect). Use decoy pricing to steer choices.</a:t>
            </a:r>
            <a:endParaRPr b="0" lang="en-US" sz="1200" strike="noStrike" u="none">
              <a:solidFill>
                <a:srgbClr val="000000"/>
              </a:solidFill>
              <a:effectLst/>
              <a:uFillTx/>
              <a:latin typeface="Arial"/>
            </a:endParaRPr>
          </a:p>
        </p:txBody>
      </p:sp>
      <p:sp>
        <p:nvSpPr>
          <p:cNvPr id="1449" name="Card2"/>
          <p:cNvSpPr/>
          <p:nvPr/>
        </p:nvSpPr>
        <p:spPr>
          <a:xfrm>
            <a:off x="4686120" y="1371600"/>
            <a:ext cx="422856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50" name="Border2"/>
          <p:cNvSpPr/>
          <p:nvPr/>
        </p:nvSpPr>
        <p:spPr>
          <a:xfrm>
            <a:off x="4686120" y="1463040"/>
            <a:ext cx="54000" cy="3187800"/>
          </a:xfrm>
          <a:prstGeom prst="roundRect">
            <a:avLst>
              <a:gd name="adj" fmla="val 50000"/>
            </a:avLst>
          </a:prstGeom>
          <a:solidFill>
            <a:srgbClr val="e94560"/>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51" name="CardText2"/>
          <p:cNvSpPr/>
          <p:nvPr/>
        </p:nvSpPr>
        <p:spPr>
          <a:xfrm>
            <a:off x="4823280" y="1417320"/>
            <a:ext cx="404532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1a1a2e"/>
                </a:solidFill>
                <a:effectLst/>
                <a:uFillTx/>
                <a:latin typeface="Calibri"/>
              </a:rPr>
              <a:t>Price with Psychology</a:t>
            </a:r>
            <a:endParaRPr b="0" lang="en-US" sz="14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Anchoring: show the expensive option first. Charm pricing: $9.99 vs $10. Bundle value: make comparison harder.</a:t>
            </a:r>
            <a:endParaRPr b="0" lang="en-US" sz="1200" strike="noStrike" u="none">
              <a:solidFill>
                <a:srgbClr val="000000"/>
              </a:solidFill>
              <a:effectLst/>
              <a:uFillTx/>
              <a:latin typeface="Arial"/>
            </a:endParaRPr>
          </a:p>
        </p:txBody>
      </p:sp>
      <p:sp>
        <p:nvSpPr>
          <p:cNvPr id="1452" name="Oval 1442"/>
          <p:cNvSpPr/>
          <p:nvPr/>
        </p:nvSpPr>
        <p:spPr>
          <a:xfrm>
            <a:off x="8321040" y="4206240"/>
            <a:ext cx="456840" cy="456840"/>
          </a:xfrm>
          <a:prstGeom prst="ellipse">
            <a:avLst/>
          </a:prstGeom>
          <a:solidFill>
            <a:srgbClr val="e94560"/>
          </a:solidFill>
          <a:ln>
            <a:noFill/>
          </a:ln>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pPr>
            <a:r>
              <a:rPr b="1" lang="en-US" sz="1800" strike="noStrike" u="none">
                <a:solidFill>
                  <a:srgbClr val="ffffff"/>
                </a:solidFill>
                <a:effectLst/>
                <a:uFillTx/>
                <a:latin typeface="Calibri"/>
              </a:rPr>
              <a:t>^</a:t>
            </a: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53" name="Title"/>
          <p:cNvSpPr/>
          <p:nvPr/>
        </p:nvSpPr>
        <p:spPr>
          <a:xfrm>
            <a:off x="457200" y="457200"/>
            <a:ext cx="8228880" cy="456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800" strike="noStrike" u="none">
                <a:solidFill>
                  <a:srgbClr val="1a1a2e"/>
                </a:solidFill>
                <a:effectLst/>
                <a:uFillTx/>
                <a:latin typeface="Calibri"/>
              </a:rPr>
              <a:t>The Metrics That Matter</a:t>
            </a:r>
            <a:endParaRPr b="0" lang="en-US" sz="2800" strike="noStrike" u="none">
              <a:solidFill>
                <a:srgbClr val="000000"/>
              </a:solidFill>
              <a:effectLst/>
              <a:uFillTx/>
              <a:latin typeface="Arial"/>
            </a:endParaRPr>
          </a:p>
        </p:txBody>
      </p:sp>
      <p:sp>
        <p:nvSpPr>
          <p:cNvPr id="1454" name="Card1"/>
          <p:cNvSpPr/>
          <p:nvPr/>
        </p:nvSpPr>
        <p:spPr>
          <a:xfrm>
            <a:off x="457200" y="1371600"/>
            <a:ext cx="422856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55" name="Border1"/>
          <p:cNvSpPr/>
          <p:nvPr/>
        </p:nvSpPr>
        <p:spPr>
          <a:xfrm>
            <a:off x="457200" y="1463040"/>
            <a:ext cx="54000" cy="3187800"/>
          </a:xfrm>
          <a:prstGeom prst="roundRect">
            <a:avLst>
              <a:gd name="adj" fmla="val 50000"/>
            </a:avLst>
          </a:prstGeom>
          <a:solidFill>
            <a:srgbClr val="e94560"/>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56" name="CardText1"/>
          <p:cNvSpPr/>
          <p:nvPr/>
        </p:nvSpPr>
        <p:spPr>
          <a:xfrm>
            <a:off x="594360" y="1417320"/>
            <a:ext cx="404532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1a1a2e"/>
                </a:solidFill>
                <a:effectLst/>
                <a:uFillTx/>
                <a:latin typeface="Calibri"/>
              </a:rPr>
              <a:t>Non-Metrics (Noise)</a:t>
            </a:r>
            <a:endParaRPr b="0" lang="en-US" sz="14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Page views, social followers, website visits, email opens, likes/shares. These measure nothing actionable.</a:t>
            </a:r>
            <a:endParaRPr b="0" lang="en-US" sz="1200" strike="noStrike" u="none">
              <a:solidFill>
                <a:srgbClr val="000000"/>
              </a:solidFill>
              <a:effectLst/>
              <a:uFillTx/>
              <a:latin typeface="Arial"/>
            </a:endParaRPr>
          </a:p>
        </p:txBody>
      </p:sp>
      <p:sp>
        <p:nvSpPr>
          <p:cNvPr id="1457" name="Card2"/>
          <p:cNvSpPr/>
          <p:nvPr/>
        </p:nvSpPr>
        <p:spPr>
          <a:xfrm>
            <a:off x="4686120" y="1371600"/>
            <a:ext cx="422856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58" name="Border2"/>
          <p:cNvSpPr/>
          <p:nvPr/>
        </p:nvSpPr>
        <p:spPr>
          <a:xfrm>
            <a:off x="4686120" y="1463040"/>
            <a:ext cx="54000" cy="3187800"/>
          </a:xfrm>
          <a:prstGeom prst="roundRect">
            <a:avLst>
              <a:gd name="adj" fmla="val 50000"/>
            </a:avLst>
          </a:prstGeom>
          <a:solidFill>
            <a:srgbClr val="0f9b8e"/>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59" name="CardText2"/>
          <p:cNvSpPr/>
          <p:nvPr/>
        </p:nvSpPr>
        <p:spPr>
          <a:xfrm>
            <a:off x="4823280" y="1417320"/>
            <a:ext cx="404532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1a1a2e"/>
                </a:solidFill>
                <a:effectLst/>
                <a:uFillTx/>
                <a:latin typeface="Calibri"/>
              </a:rPr>
              <a:t>Real Metrics (Signal)</a:t>
            </a:r>
            <a:endParaRPr b="0" lang="en-US" sz="14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CAC, Conversion Rate, LTV, NPS, Revenue per Channel. These drive decisions and funding.</a:t>
            </a:r>
            <a:endParaRPr b="0" lang="en-US" sz="1200" strike="noStrike" u="none">
              <a:solidFill>
                <a:srgbClr val="000000"/>
              </a:solidFill>
              <a:effectLst/>
              <a:uFillTx/>
              <a:latin typeface="Arial"/>
            </a:endParaRPr>
          </a:p>
        </p:txBody>
      </p:sp>
      <p:sp>
        <p:nvSpPr>
          <p:cNvPr id="1460" name="Oval 1449"/>
          <p:cNvSpPr/>
          <p:nvPr/>
        </p:nvSpPr>
        <p:spPr>
          <a:xfrm>
            <a:off x="8321040" y="4206240"/>
            <a:ext cx="456840" cy="456840"/>
          </a:xfrm>
          <a:prstGeom prst="ellipse">
            <a:avLst/>
          </a:prstGeom>
          <a:solidFill>
            <a:srgbClr val="0f9b8e"/>
          </a:solidFill>
          <a:ln>
            <a:noFill/>
          </a:ln>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pPr>
            <a:r>
              <a:rPr b="1" lang="en-US" sz="1800" strike="noStrike" u="none">
                <a:solidFill>
                  <a:srgbClr val="ffffff"/>
                </a:solidFill>
                <a:effectLst/>
                <a:uFillTx/>
                <a:latin typeface="Calibri"/>
              </a:rPr>
              <a:t>#</a:t>
            </a: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61" name="Title"/>
          <p:cNvSpPr/>
          <p:nvPr/>
        </p:nvSpPr>
        <p:spPr>
          <a:xfrm>
            <a:off x="457200" y="457200"/>
            <a:ext cx="8228880" cy="456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800" strike="noStrike" u="none">
                <a:solidFill>
                  <a:srgbClr val="1a1a2e"/>
                </a:solidFill>
                <a:effectLst/>
                <a:uFillTx/>
                <a:latin typeface="Calibri"/>
              </a:rPr>
              <a:t>Your Story and Moments That Matter</a:t>
            </a:r>
            <a:endParaRPr b="0" lang="en-US" sz="2800" strike="noStrike" u="none">
              <a:solidFill>
                <a:srgbClr val="000000"/>
              </a:solidFill>
              <a:effectLst/>
              <a:uFillTx/>
              <a:latin typeface="Arial"/>
            </a:endParaRPr>
          </a:p>
        </p:txBody>
      </p:sp>
      <p:sp>
        <p:nvSpPr>
          <p:cNvPr id="1462" name="Card1"/>
          <p:cNvSpPr/>
          <p:nvPr/>
        </p:nvSpPr>
        <p:spPr>
          <a:xfrm>
            <a:off x="457200" y="1371600"/>
            <a:ext cx="422856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63" name="Border1"/>
          <p:cNvSpPr/>
          <p:nvPr/>
        </p:nvSpPr>
        <p:spPr>
          <a:xfrm>
            <a:off x="457200" y="1463040"/>
            <a:ext cx="54000" cy="3187800"/>
          </a:xfrm>
          <a:prstGeom prst="roundRect">
            <a:avLst>
              <a:gd name="adj" fmla="val 50000"/>
            </a:avLst>
          </a:prstGeom>
          <a:solidFill>
            <a:srgbClr val="0f9b8e"/>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64" name="CardText1"/>
          <p:cNvSpPr/>
          <p:nvPr/>
        </p:nvSpPr>
        <p:spPr>
          <a:xfrm>
            <a:off x="594360" y="1417320"/>
            <a:ext cx="404532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1a1a2e"/>
                </a:solidFill>
                <a:effectLst/>
                <a:uFillTx/>
                <a:latin typeface="Calibri"/>
              </a:rPr>
              <a:t>Your Founder Story Is Your First Funnel</a:t>
            </a:r>
            <a:endParaRPr b="0" lang="en-US" sz="14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People buy into people before they buy products. Share: Why you started, what problem you solved, why you care deeply. Keep it human, keep it real.</a:t>
            </a:r>
            <a:endParaRPr b="0" lang="en-US" sz="1200" strike="noStrike" u="none">
              <a:solidFill>
                <a:srgbClr val="000000"/>
              </a:solidFill>
              <a:effectLst/>
              <a:uFillTx/>
              <a:latin typeface="Arial"/>
            </a:endParaRPr>
          </a:p>
        </p:txBody>
      </p:sp>
      <p:sp>
        <p:nvSpPr>
          <p:cNvPr id="1465" name="Card2"/>
          <p:cNvSpPr/>
          <p:nvPr/>
        </p:nvSpPr>
        <p:spPr>
          <a:xfrm>
            <a:off x="4686120" y="1371600"/>
            <a:ext cx="422856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66" name="Border2"/>
          <p:cNvSpPr/>
          <p:nvPr/>
        </p:nvSpPr>
        <p:spPr>
          <a:xfrm>
            <a:off x="4686120" y="1463040"/>
            <a:ext cx="54000" cy="3187800"/>
          </a:xfrm>
          <a:prstGeom prst="roundRect">
            <a:avLst>
              <a:gd name="adj" fmla="val 50000"/>
            </a:avLst>
          </a:prstGeom>
          <a:solidFill>
            <a:srgbClr val="e94560"/>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67" name="CardText2"/>
          <p:cNvSpPr/>
          <p:nvPr/>
        </p:nvSpPr>
        <p:spPr>
          <a:xfrm>
            <a:off x="4823280" y="1417320"/>
            <a:ext cx="404532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1a1a2e"/>
                </a:solidFill>
                <a:effectLst/>
                <a:uFillTx/>
                <a:latin typeface="Calibri"/>
              </a:rPr>
              <a:t>Moments That Matter</a:t>
            </a:r>
            <a:endParaRPr b="0" lang="en-US" sz="14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Peak-end rule: people remember the best moment and the last moment. Surprise-and-delight strategies for retention. Micro-moments: the 3-second window where you win or lose.</a:t>
            </a:r>
            <a:endParaRPr b="0" lang="en-US" sz="1200" strike="noStrike" u="none">
              <a:solidFill>
                <a:srgbClr val="000000"/>
              </a:solidFill>
              <a:effectLst/>
              <a:uFillTx/>
              <a:latin typeface="Arial"/>
            </a:endParaRPr>
          </a:p>
        </p:txBody>
      </p:sp>
      <p:sp>
        <p:nvSpPr>
          <p:cNvPr id="1468" name="Oval 1456"/>
          <p:cNvSpPr/>
          <p:nvPr/>
        </p:nvSpPr>
        <p:spPr>
          <a:xfrm>
            <a:off x="8321040" y="4206240"/>
            <a:ext cx="456840" cy="456840"/>
          </a:xfrm>
          <a:prstGeom prst="ellipse">
            <a:avLst/>
          </a:prstGeom>
          <a:solidFill>
            <a:srgbClr val="e94560"/>
          </a:solidFill>
          <a:ln>
            <a:noFill/>
          </a:ln>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pPr>
            <a:r>
              <a:rPr b="1" lang="en-US" sz="1800" strike="noStrike" u="none">
                <a:solidFill>
                  <a:srgbClr val="ffffff"/>
                </a:solidFill>
                <a:effectLst/>
                <a:uFillTx/>
                <a:latin typeface="Calibri"/>
              </a:rPr>
              <a:t>@</a:t>
            </a: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69" name="Title"/>
          <p:cNvSpPr/>
          <p:nvPr/>
        </p:nvSpPr>
        <p:spPr>
          <a:xfrm>
            <a:off x="457200" y="457200"/>
            <a:ext cx="8228880" cy="456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800" strike="noStrike" u="none">
                <a:solidFill>
                  <a:srgbClr val="1a1a2e"/>
                </a:solidFill>
                <a:effectLst/>
                <a:uFillTx/>
                <a:latin typeface="Calibri"/>
              </a:rPr>
              <a:t>How to Sell Without Sounding Salesy</a:t>
            </a:r>
            <a:endParaRPr b="0" lang="en-US" sz="2800" strike="noStrike" u="none">
              <a:solidFill>
                <a:srgbClr val="000000"/>
              </a:solidFill>
              <a:effectLst/>
              <a:uFillTx/>
              <a:latin typeface="Arial"/>
            </a:endParaRPr>
          </a:p>
        </p:txBody>
      </p:sp>
      <p:sp>
        <p:nvSpPr>
          <p:cNvPr id="1470" name="Card1"/>
          <p:cNvSpPr/>
          <p:nvPr/>
        </p:nvSpPr>
        <p:spPr>
          <a:xfrm>
            <a:off x="305280" y="1371600"/>
            <a:ext cx="274248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71" name="Border1"/>
          <p:cNvSpPr/>
          <p:nvPr/>
        </p:nvSpPr>
        <p:spPr>
          <a:xfrm>
            <a:off x="305280" y="1463040"/>
            <a:ext cx="54000" cy="3187800"/>
          </a:xfrm>
          <a:prstGeom prst="roundRect">
            <a:avLst>
              <a:gd name="adj" fmla="val 50000"/>
            </a:avLst>
          </a:prstGeom>
          <a:solidFill>
            <a:srgbClr val="e94560"/>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72" name="CardText1"/>
          <p:cNvSpPr/>
          <p:nvPr/>
        </p:nvSpPr>
        <p:spPr>
          <a:xfrm>
            <a:off x="442440" y="1417320"/>
            <a:ext cx="255960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300" strike="noStrike" u="none">
                <a:solidFill>
                  <a:srgbClr val="1a1a2e"/>
                </a:solidFill>
                <a:effectLst/>
                <a:uFillTx/>
                <a:latin typeface="Calibri"/>
              </a:rPr>
              <a:t>Lead with Insight</a:t>
            </a:r>
            <a:endParaRPr b="0" lang="en-US" sz="1300" strike="noStrike" u="none">
              <a:solidFill>
                <a:srgbClr val="000000"/>
              </a:solidFill>
              <a:effectLst/>
              <a:uFillTx/>
              <a:latin typeface="Arial"/>
            </a:endParaRPr>
          </a:p>
          <a:p>
            <a:pPr defTabSz="914400">
              <a:lnSpc>
                <a:spcPct val="100000"/>
              </a:lnSpc>
            </a:pPr>
            <a:r>
              <a:rPr b="0" lang="en-US" sz="1100" strike="noStrike" u="none">
                <a:solidFill>
                  <a:srgbClr val="2d2d2d"/>
                </a:solidFill>
                <a:effectLst/>
                <a:uFillTx/>
                <a:latin typeface="Calibri"/>
              </a:rPr>
              <a:t>Start with what you know they care about, not your solution.</a:t>
            </a:r>
            <a:endParaRPr b="0" lang="en-US" sz="1100" strike="noStrike" u="none">
              <a:solidFill>
                <a:srgbClr val="000000"/>
              </a:solidFill>
              <a:effectLst/>
              <a:uFillTx/>
              <a:latin typeface="Arial"/>
            </a:endParaRPr>
          </a:p>
        </p:txBody>
      </p:sp>
      <p:sp>
        <p:nvSpPr>
          <p:cNvPr id="1473" name="Card2"/>
          <p:cNvSpPr/>
          <p:nvPr/>
        </p:nvSpPr>
        <p:spPr>
          <a:xfrm>
            <a:off x="3185640" y="1371600"/>
            <a:ext cx="274248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74" name="Border2"/>
          <p:cNvSpPr/>
          <p:nvPr/>
        </p:nvSpPr>
        <p:spPr>
          <a:xfrm>
            <a:off x="3185640" y="1463040"/>
            <a:ext cx="54000" cy="3187800"/>
          </a:xfrm>
          <a:prstGeom prst="roundRect">
            <a:avLst>
              <a:gd name="adj" fmla="val 50000"/>
            </a:avLst>
          </a:prstGeom>
          <a:solidFill>
            <a:srgbClr val="0f9b8e"/>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75" name="CardText2"/>
          <p:cNvSpPr/>
          <p:nvPr/>
        </p:nvSpPr>
        <p:spPr>
          <a:xfrm>
            <a:off x="3322800" y="1417320"/>
            <a:ext cx="255960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300" strike="noStrike" u="none">
                <a:solidFill>
                  <a:srgbClr val="1a1a2e"/>
                </a:solidFill>
                <a:effectLst/>
                <a:uFillTx/>
                <a:latin typeface="Calibri"/>
              </a:rPr>
              <a:t>Show Empathy</a:t>
            </a:r>
            <a:endParaRPr b="0" lang="en-US" sz="1300" strike="noStrike" u="none">
              <a:solidFill>
                <a:srgbClr val="000000"/>
              </a:solidFill>
              <a:effectLst/>
              <a:uFillTx/>
              <a:latin typeface="Arial"/>
            </a:endParaRPr>
          </a:p>
          <a:p>
            <a:pPr defTabSz="914400">
              <a:lnSpc>
                <a:spcPct val="100000"/>
              </a:lnSpc>
            </a:pPr>
            <a:r>
              <a:rPr b="0" lang="en-US" sz="1100" strike="noStrike" u="none">
                <a:solidFill>
                  <a:srgbClr val="2d2d2d"/>
                </a:solidFill>
                <a:effectLst/>
                <a:uFillTx/>
                <a:latin typeface="Calibri"/>
              </a:rPr>
              <a:t>Acknowledge their challenges before offering a solution.</a:t>
            </a:r>
            <a:endParaRPr b="0" lang="en-US" sz="1100" strike="noStrike" u="none">
              <a:solidFill>
                <a:srgbClr val="000000"/>
              </a:solidFill>
              <a:effectLst/>
              <a:uFillTx/>
              <a:latin typeface="Arial"/>
            </a:endParaRPr>
          </a:p>
        </p:txBody>
      </p:sp>
      <p:sp>
        <p:nvSpPr>
          <p:cNvPr id="1476" name="Card3"/>
          <p:cNvSpPr/>
          <p:nvPr/>
        </p:nvSpPr>
        <p:spPr>
          <a:xfrm>
            <a:off x="6066000" y="1371600"/>
            <a:ext cx="274248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77" name="Border3"/>
          <p:cNvSpPr/>
          <p:nvPr/>
        </p:nvSpPr>
        <p:spPr>
          <a:xfrm>
            <a:off x="6066000" y="1463040"/>
            <a:ext cx="54000" cy="3187800"/>
          </a:xfrm>
          <a:prstGeom prst="roundRect">
            <a:avLst>
              <a:gd name="adj" fmla="val 50000"/>
            </a:avLst>
          </a:prstGeom>
          <a:solidFill>
            <a:srgbClr val="e94560"/>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78" name="CardText3"/>
          <p:cNvSpPr/>
          <p:nvPr/>
        </p:nvSpPr>
        <p:spPr>
          <a:xfrm>
            <a:off x="6203160" y="1417320"/>
            <a:ext cx="255960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300" strike="noStrike" u="none">
                <a:solidFill>
                  <a:srgbClr val="1a1a2e"/>
                </a:solidFill>
                <a:effectLst/>
                <a:uFillTx/>
                <a:latin typeface="Calibri"/>
              </a:rPr>
              <a:t>Make It Easy</a:t>
            </a:r>
            <a:endParaRPr b="0" lang="en-US" sz="1300" strike="noStrike" u="none">
              <a:solidFill>
                <a:srgbClr val="000000"/>
              </a:solidFill>
              <a:effectLst/>
              <a:uFillTx/>
              <a:latin typeface="Arial"/>
            </a:endParaRPr>
          </a:p>
          <a:p>
            <a:pPr defTabSz="914400">
              <a:lnSpc>
                <a:spcPct val="100000"/>
              </a:lnSpc>
            </a:pPr>
            <a:r>
              <a:rPr b="0" lang="en-US" sz="1100" strike="noStrike" u="none">
                <a:solidFill>
                  <a:srgbClr val="2d2d2d"/>
                </a:solidFill>
                <a:effectLst/>
                <a:uFillTx/>
                <a:latin typeface="Calibri"/>
              </a:rPr>
              <a:t>Remove friction from every step. One clear CTA per interaction.</a:t>
            </a:r>
            <a:endParaRPr b="0" lang="en-US" sz="1100" strike="noStrike" u="none">
              <a:solidFill>
                <a:srgbClr val="000000"/>
              </a:solidFill>
              <a:effectLst/>
              <a:uFillTx/>
              <a:latin typeface="Arial"/>
            </a:endParaRPr>
          </a:p>
        </p:txBody>
      </p:sp>
      <p:sp>
        <p:nvSpPr>
          <p:cNvPr id="1479" name="Oval 1466"/>
          <p:cNvSpPr/>
          <p:nvPr/>
        </p:nvSpPr>
        <p:spPr>
          <a:xfrm>
            <a:off x="8321040" y="4206240"/>
            <a:ext cx="456840" cy="456840"/>
          </a:xfrm>
          <a:prstGeom prst="ellipse">
            <a:avLst/>
          </a:prstGeom>
          <a:solidFill>
            <a:srgbClr val="0f9b8e"/>
          </a:solidFill>
          <a:ln>
            <a:noFill/>
          </a:ln>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pPr>
            <a:r>
              <a:rPr b="1" lang="en-US" sz="1800" strike="noStrike" u="none">
                <a:solidFill>
                  <a:srgbClr val="ffffff"/>
                </a:solidFill>
                <a:effectLst/>
                <a:uFillTx/>
                <a:latin typeface="Calibri"/>
              </a:rPr>
              <a:t>!</a:t>
            </a: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80" name="Title"/>
          <p:cNvSpPr/>
          <p:nvPr/>
        </p:nvSpPr>
        <p:spPr>
          <a:xfrm>
            <a:off x="457200" y="457200"/>
            <a:ext cx="8228880" cy="456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800" strike="noStrike" u="none">
                <a:solidFill>
                  <a:srgbClr val="1a1a2e"/>
                </a:solidFill>
                <a:effectLst/>
                <a:uFillTx/>
                <a:latin typeface="Calibri"/>
              </a:rPr>
              <a:t>Frictionless CTAs and System 1 Storytelling</a:t>
            </a:r>
            <a:endParaRPr b="0" lang="en-US" sz="2800" strike="noStrike" u="none">
              <a:solidFill>
                <a:srgbClr val="000000"/>
              </a:solidFill>
              <a:effectLst/>
              <a:uFillTx/>
              <a:latin typeface="Arial"/>
            </a:endParaRPr>
          </a:p>
        </p:txBody>
      </p:sp>
      <p:sp>
        <p:nvSpPr>
          <p:cNvPr id="1481" name="Card1"/>
          <p:cNvSpPr/>
          <p:nvPr/>
        </p:nvSpPr>
        <p:spPr>
          <a:xfrm>
            <a:off x="457200" y="1371600"/>
            <a:ext cx="422856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82" name="Border1"/>
          <p:cNvSpPr/>
          <p:nvPr/>
        </p:nvSpPr>
        <p:spPr>
          <a:xfrm>
            <a:off x="457200" y="1463040"/>
            <a:ext cx="54000" cy="3187800"/>
          </a:xfrm>
          <a:prstGeom prst="roundRect">
            <a:avLst>
              <a:gd name="adj" fmla="val 50000"/>
            </a:avLst>
          </a:prstGeom>
          <a:solidFill>
            <a:srgbClr val="0f9b8e"/>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83" name="CardText1"/>
          <p:cNvSpPr/>
          <p:nvPr/>
        </p:nvSpPr>
        <p:spPr>
          <a:xfrm>
            <a:off x="594360" y="1417320"/>
            <a:ext cx="404532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1a1a2e"/>
                </a:solidFill>
                <a:effectLst/>
                <a:uFillTx/>
                <a:latin typeface="Calibri"/>
              </a:rPr>
              <a:t>Frictionless CTAs</a:t>
            </a:r>
            <a:endParaRPr b="0" lang="en-US" sz="14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Remove barriers to action - make the next step obvious. Use micro-commitments: free trial, quick demo, no obligation. One clear CTA per page, email, or ad.</a:t>
            </a:r>
            <a:endParaRPr b="0" lang="en-US" sz="1200" strike="noStrike" u="none">
              <a:solidFill>
                <a:srgbClr val="000000"/>
              </a:solidFill>
              <a:effectLst/>
              <a:uFillTx/>
              <a:latin typeface="Arial"/>
            </a:endParaRPr>
          </a:p>
        </p:txBody>
      </p:sp>
      <p:sp>
        <p:nvSpPr>
          <p:cNvPr id="1484" name="Card2"/>
          <p:cNvSpPr/>
          <p:nvPr/>
        </p:nvSpPr>
        <p:spPr>
          <a:xfrm>
            <a:off x="4686120" y="1371600"/>
            <a:ext cx="422856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85" name="Border2"/>
          <p:cNvSpPr/>
          <p:nvPr/>
        </p:nvSpPr>
        <p:spPr>
          <a:xfrm>
            <a:off x="4686120" y="1463040"/>
            <a:ext cx="54000" cy="3187800"/>
          </a:xfrm>
          <a:prstGeom prst="roundRect">
            <a:avLst>
              <a:gd name="adj" fmla="val 50000"/>
            </a:avLst>
          </a:prstGeom>
          <a:solidFill>
            <a:srgbClr val="e94560"/>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86" name="CardText2"/>
          <p:cNvSpPr/>
          <p:nvPr/>
        </p:nvSpPr>
        <p:spPr>
          <a:xfrm>
            <a:off x="4823280" y="1417320"/>
            <a:ext cx="404532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1a1a2e"/>
                </a:solidFill>
                <a:effectLst/>
                <a:uFillTx/>
                <a:latin typeface="Calibri"/>
              </a:rPr>
              <a:t>System 1 Storytelling</a:t>
            </a:r>
            <a:endParaRPr b="0" lang="en-US" sz="14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Speak to the fast, emotional brain. Use vivid imagery, simple language, and pattern interrupts. Stories beat statistics every time.</a:t>
            </a:r>
            <a:endParaRPr b="0" lang="en-US" sz="1200" strike="noStrike" u="none">
              <a:solidFill>
                <a:srgbClr val="000000"/>
              </a:solidFill>
              <a:effectLst/>
              <a:uFillTx/>
              <a:latin typeface="Arial"/>
            </a:endParaRPr>
          </a:p>
        </p:txBody>
      </p:sp>
      <p:sp>
        <p:nvSpPr>
          <p:cNvPr id="1487" name="Oval 1473"/>
          <p:cNvSpPr/>
          <p:nvPr/>
        </p:nvSpPr>
        <p:spPr>
          <a:xfrm>
            <a:off x="8321040" y="4206240"/>
            <a:ext cx="456840" cy="456840"/>
          </a:xfrm>
          <a:prstGeom prst="ellipse">
            <a:avLst/>
          </a:prstGeom>
          <a:solidFill>
            <a:srgbClr val="e94560"/>
          </a:solidFill>
          <a:ln>
            <a:noFill/>
          </a:ln>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pPr>
            <a:r>
              <a:rPr b="1" lang="en-US" sz="1800" strike="noStrike" u="none">
                <a:solidFill>
                  <a:srgbClr val="ffffff"/>
                </a:solidFill>
                <a:effectLst/>
                <a:uFillTx/>
                <a:latin typeface="Calibri"/>
              </a:rPr>
              <a:t>&gt;</a:t>
            </a: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88" name="Title"/>
          <p:cNvSpPr/>
          <p:nvPr/>
        </p:nvSpPr>
        <p:spPr>
          <a:xfrm>
            <a:off x="457200" y="457200"/>
            <a:ext cx="8228880" cy="456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800" strike="noStrike" u="none">
                <a:solidFill>
                  <a:srgbClr val="1a1a2e"/>
                </a:solidFill>
                <a:effectLst/>
                <a:uFillTx/>
                <a:latin typeface="Calibri"/>
              </a:rPr>
              <a:t>The Founder Sales Checklist</a:t>
            </a:r>
            <a:endParaRPr b="0" lang="en-US" sz="2800" strike="noStrike" u="none">
              <a:solidFill>
                <a:srgbClr val="000000"/>
              </a:solidFill>
              <a:effectLst/>
              <a:uFillTx/>
              <a:latin typeface="Arial"/>
            </a:endParaRPr>
          </a:p>
        </p:txBody>
      </p:sp>
      <p:sp>
        <p:nvSpPr>
          <p:cNvPr id="1489" name="Card1"/>
          <p:cNvSpPr/>
          <p:nvPr/>
        </p:nvSpPr>
        <p:spPr>
          <a:xfrm>
            <a:off x="457200" y="1371600"/>
            <a:ext cx="422856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90" name="Border1"/>
          <p:cNvSpPr/>
          <p:nvPr/>
        </p:nvSpPr>
        <p:spPr>
          <a:xfrm>
            <a:off x="457200" y="1463040"/>
            <a:ext cx="54000" cy="3187800"/>
          </a:xfrm>
          <a:prstGeom prst="roundRect">
            <a:avLst>
              <a:gd name="adj" fmla="val 50000"/>
            </a:avLst>
          </a:prstGeom>
          <a:solidFill>
            <a:srgbClr val="e94560"/>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91" name="CardText1"/>
          <p:cNvSpPr/>
          <p:nvPr/>
        </p:nvSpPr>
        <p:spPr>
          <a:xfrm>
            <a:off x="594360" y="1417320"/>
            <a:ext cx="404532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1a1a2e"/>
                </a:solidFill>
                <a:effectLst/>
                <a:uFillTx/>
                <a:latin typeface="Calibri"/>
              </a:rPr>
              <a:t>Before the Pitch</a:t>
            </a:r>
            <a:endParaRPr b="0" lang="en-US" sz="14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Qualify your prospects before pitching. Research their business and pain points. Ask permission before pitching.</a:t>
            </a:r>
            <a:endParaRPr b="0" lang="en-US" sz="1200" strike="noStrike" u="none">
              <a:solidFill>
                <a:srgbClr val="000000"/>
              </a:solidFill>
              <a:effectLst/>
              <a:uFillTx/>
              <a:latin typeface="Arial"/>
            </a:endParaRPr>
          </a:p>
        </p:txBody>
      </p:sp>
      <p:sp>
        <p:nvSpPr>
          <p:cNvPr id="1492" name="Card2"/>
          <p:cNvSpPr/>
          <p:nvPr/>
        </p:nvSpPr>
        <p:spPr>
          <a:xfrm>
            <a:off x="4686120" y="1371600"/>
            <a:ext cx="422856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93" name="Border2"/>
          <p:cNvSpPr/>
          <p:nvPr/>
        </p:nvSpPr>
        <p:spPr>
          <a:xfrm>
            <a:off x="4686120" y="1463040"/>
            <a:ext cx="54000" cy="3187800"/>
          </a:xfrm>
          <a:prstGeom prst="roundRect">
            <a:avLst>
              <a:gd name="adj" fmla="val 50000"/>
            </a:avLst>
          </a:prstGeom>
          <a:solidFill>
            <a:srgbClr val="0f9b8e"/>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94" name="CardText2"/>
          <p:cNvSpPr/>
          <p:nvPr/>
        </p:nvSpPr>
        <p:spPr>
          <a:xfrm>
            <a:off x="4823280" y="1417320"/>
            <a:ext cx="404532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1a1a2e"/>
                </a:solidFill>
                <a:effectLst/>
                <a:uFillTx/>
                <a:latin typeface="Calibri"/>
              </a:rPr>
              <a:t>After the Pitch</a:t>
            </a:r>
            <a:endParaRPr b="0" lang="en-US" sz="14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Celebrate wins and build long-term relationships. Follow up within 24 hours. Track outcomes and iterate your approach.</a:t>
            </a:r>
            <a:endParaRPr b="0" lang="en-US" sz="1200" strike="noStrike" u="none">
              <a:solidFill>
                <a:srgbClr val="000000"/>
              </a:solidFill>
              <a:effectLst/>
              <a:uFillTx/>
              <a:latin typeface="Arial"/>
            </a:endParaRPr>
          </a:p>
        </p:txBody>
      </p:sp>
      <p:sp>
        <p:nvSpPr>
          <p:cNvPr id="1495" name="Oval 1480"/>
          <p:cNvSpPr/>
          <p:nvPr/>
        </p:nvSpPr>
        <p:spPr>
          <a:xfrm>
            <a:off x="8321040" y="4206240"/>
            <a:ext cx="456840" cy="456840"/>
          </a:xfrm>
          <a:prstGeom prst="ellipse">
            <a:avLst/>
          </a:prstGeom>
          <a:solidFill>
            <a:srgbClr val="0f9b8e"/>
          </a:solidFill>
          <a:ln>
            <a:noFill/>
          </a:ln>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pPr>
            <a:r>
              <a:rPr b="1" lang="en-US" sz="1800" strike="noStrike" u="none">
                <a:solidFill>
                  <a:srgbClr val="ffffff"/>
                </a:solidFill>
                <a:effectLst/>
                <a:uFillTx/>
                <a:latin typeface="Calibri"/>
              </a:rPr>
              <a:t>+</a:t>
            </a: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96" name="Title"/>
          <p:cNvSpPr/>
          <p:nvPr/>
        </p:nvSpPr>
        <p:spPr>
          <a:xfrm>
            <a:off x="457200" y="457200"/>
            <a:ext cx="8228880" cy="456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800" strike="noStrike" u="none">
                <a:solidFill>
                  <a:srgbClr val="1a1a2e"/>
                </a:solidFill>
                <a:effectLst/>
                <a:uFillTx/>
                <a:latin typeface="Calibri"/>
              </a:rPr>
              <a:t>Diagnose and Build Your Sales Toolkit</a:t>
            </a:r>
            <a:endParaRPr b="0" lang="en-US" sz="2800" strike="noStrike" u="none">
              <a:solidFill>
                <a:srgbClr val="000000"/>
              </a:solidFill>
              <a:effectLst/>
              <a:uFillTx/>
              <a:latin typeface="Arial"/>
            </a:endParaRPr>
          </a:p>
        </p:txBody>
      </p:sp>
      <p:sp>
        <p:nvSpPr>
          <p:cNvPr id="1497" name="Card1"/>
          <p:cNvSpPr/>
          <p:nvPr/>
        </p:nvSpPr>
        <p:spPr>
          <a:xfrm>
            <a:off x="457200" y="1371600"/>
            <a:ext cx="422856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98" name="Border1"/>
          <p:cNvSpPr/>
          <p:nvPr/>
        </p:nvSpPr>
        <p:spPr>
          <a:xfrm>
            <a:off x="457200" y="1463040"/>
            <a:ext cx="54000" cy="3187800"/>
          </a:xfrm>
          <a:prstGeom prst="roundRect">
            <a:avLst>
              <a:gd name="adj" fmla="val 50000"/>
            </a:avLst>
          </a:prstGeom>
          <a:solidFill>
            <a:srgbClr val="0f9b8e"/>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499" name="CardText1"/>
          <p:cNvSpPr/>
          <p:nvPr/>
        </p:nvSpPr>
        <p:spPr>
          <a:xfrm>
            <a:off x="594360" y="1417320"/>
            <a:ext cx="404532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1a1a2e"/>
                </a:solidFill>
                <a:effectLst/>
                <a:uFillTx/>
                <a:latin typeface="Calibri"/>
              </a:rPr>
              <a:t>Diagnose Your Gaps</a:t>
            </a:r>
            <a:endParaRPr b="0" lang="en-US" sz="14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Where are your sales skills weakest? Assess across outreach, storytelling, and objection handling. Be honest - the gap is where growth starts.</a:t>
            </a:r>
            <a:endParaRPr b="0" lang="en-US" sz="1200" strike="noStrike" u="none">
              <a:solidFill>
                <a:srgbClr val="000000"/>
              </a:solidFill>
              <a:effectLst/>
              <a:uFillTx/>
              <a:latin typeface="Arial"/>
            </a:endParaRPr>
          </a:p>
        </p:txBody>
      </p:sp>
      <p:sp>
        <p:nvSpPr>
          <p:cNvPr id="1500" name="Card2"/>
          <p:cNvSpPr/>
          <p:nvPr/>
        </p:nvSpPr>
        <p:spPr>
          <a:xfrm>
            <a:off x="4686120" y="1371600"/>
            <a:ext cx="4228560" cy="3370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501" name="Border2"/>
          <p:cNvSpPr/>
          <p:nvPr/>
        </p:nvSpPr>
        <p:spPr>
          <a:xfrm>
            <a:off x="4686120" y="1463040"/>
            <a:ext cx="54000" cy="3187800"/>
          </a:xfrm>
          <a:prstGeom prst="roundRect">
            <a:avLst>
              <a:gd name="adj" fmla="val 50000"/>
            </a:avLst>
          </a:prstGeom>
          <a:solidFill>
            <a:srgbClr val="e94560"/>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02" name="CardText2"/>
          <p:cNvSpPr/>
          <p:nvPr/>
        </p:nvSpPr>
        <p:spPr>
          <a:xfrm>
            <a:off x="4823280" y="1417320"/>
            <a:ext cx="4045320" cy="31878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1a1a2e"/>
                </a:solidFill>
                <a:effectLst/>
                <a:uFillTx/>
                <a:latin typeface="Calibri"/>
              </a:rPr>
              <a:t>Build Your Toolkit</a:t>
            </a:r>
            <a:endParaRPr b="0" lang="en-US" sz="1400" strike="noStrike" u="none">
              <a:solidFill>
                <a:srgbClr val="000000"/>
              </a:solidFill>
              <a:effectLst/>
              <a:uFillTx/>
              <a:latin typeface="Arial"/>
            </a:endParaRPr>
          </a:p>
          <a:p>
            <a:pPr defTabSz="914400">
              <a:lnSpc>
                <a:spcPct val="100000"/>
              </a:lnSpc>
            </a:pPr>
            <a:r>
              <a:rPr b="0" lang="en-US" sz="1200" strike="noStrike" u="none">
                <a:solidFill>
                  <a:srgbClr val="2d2d2d"/>
                </a:solidFill>
                <a:effectLst/>
                <a:uFillTx/>
                <a:latin typeface="Calibri"/>
              </a:rPr>
              <a:t>One-liner, email templates, objection scripts. Practice with a peer or mentor. Test and iterate weekly.</a:t>
            </a:r>
            <a:endParaRPr b="0" lang="en-US" sz="1200" strike="noStrike" u="none">
              <a:solidFill>
                <a:srgbClr val="000000"/>
              </a:solidFill>
              <a:effectLst/>
              <a:uFillTx/>
              <a:latin typeface="Arial"/>
            </a:endParaRPr>
          </a:p>
        </p:txBody>
      </p:sp>
      <p:sp>
        <p:nvSpPr>
          <p:cNvPr id="1503" name="Oval 1487"/>
          <p:cNvSpPr/>
          <p:nvPr/>
        </p:nvSpPr>
        <p:spPr>
          <a:xfrm>
            <a:off x="8321040" y="4206240"/>
            <a:ext cx="456840" cy="456840"/>
          </a:xfrm>
          <a:prstGeom prst="ellipse">
            <a:avLst/>
          </a:prstGeom>
          <a:solidFill>
            <a:srgbClr val="e94560"/>
          </a:solidFill>
          <a:ln>
            <a:noFill/>
          </a:ln>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pPr>
            <a:r>
              <a:rPr b="1" lang="en-US" sz="1800" strike="noStrike" u="none">
                <a:solidFill>
                  <a:srgbClr val="ffffff"/>
                </a:solidFill>
                <a:effectLst/>
                <a:uFillTx/>
                <a:latin typeface="Calibri"/>
              </a:rPr>
              <a:t>?</a:t>
            </a: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04" name="Title"/>
          <p:cNvSpPr/>
          <p:nvPr/>
        </p:nvSpPr>
        <p:spPr>
          <a:xfrm>
            <a:off x="457200" y="457200"/>
            <a:ext cx="8228880" cy="456480"/>
          </a:xfrm>
          <a:prstGeom prst="rect">
            <a:avLst/>
          </a:prstGeom>
          <a:noFill/>
          <a:ln w="0">
            <a:noFill/>
          </a:ln>
        </p:spPr>
        <p:style>
          <a:lnRef idx="0"/>
          <a:fillRef idx="0"/>
          <a:effectRef idx="0"/>
          <a:fontRef idx="minor"/>
        </p:style>
        <p:txBody>
          <a:bodyPr lIns="0" rIns="0" tIns="0" bIns="0" anchor="t">
            <a:noAutofit/>
          </a:bodyPr>
          <a:p>
            <a:pPr defTabSz="914400">
              <a:lnSpc>
                <a:spcPct val="100000"/>
              </a:lnSpc>
            </a:pPr>
            <a:r>
              <a:rPr b="1" lang="en-US" sz="2800" strike="noStrike" u="none">
                <a:solidFill>
                  <a:srgbClr val="1a1a2e"/>
                </a:solidFill>
                <a:effectLst/>
                <a:uFillTx/>
                <a:latin typeface="Calibri"/>
              </a:rPr>
              <a:t>Your 7-Day Action Plan</a:t>
            </a:r>
            <a:endParaRPr b="0" lang="en-US" sz="2800" strike="noStrike" u="none">
              <a:solidFill>
                <a:srgbClr val="000000"/>
              </a:solidFill>
              <a:effectLst/>
              <a:uFillTx/>
              <a:latin typeface="Arial"/>
            </a:endParaRPr>
          </a:p>
        </p:txBody>
      </p:sp>
      <p:sp>
        <p:nvSpPr>
          <p:cNvPr id="1505" name="Card1"/>
          <p:cNvSpPr/>
          <p:nvPr/>
        </p:nvSpPr>
        <p:spPr>
          <a:xfrm>
            <a:off x="274320" y="1371600"/>
            <a:ext cx="4060800" cy="2056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506" name="Border1"/>
          <p:cNvSpPr/>
          <p:nvPr/>
        </p:nvSpPr>
        <p:spPr>
          <a:xfrm>
            <a:off x="274320" y="1463040"/>
            <a:ext cx="54000" cy="1873800"/>
          </a:xfrm>
          <a:prstGeom prst="roundRect">
            <a:avLst>
              <a:gd name="adj" fmla="val 50000"/>
            </a:avLst>
          </a:prstGeom>
          <a:solidFill>
            <a:srgbClr val="e94560"/>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07" name="CardText1"/>
          <p:cNvSpPr/>
          <p:nvPr/>
        </p:nvSpPr>
        <p:spPr>
          <a:xfrm>
            <a:off x="411480" y="1417320"/>
            <a:ext cx="3877920" cy="196524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200" strike="noStrike" u="none">
                <a:solidFill>
                  <a:srgbClr val="1a1a2e"/>
                </a:solidFill>
                <a:effectLst/>
                <a:uFillTx/>
                <a:latin typeface="Calibri"/>
              </a:rPr>
              <a:t>Days 1-3: Foundation</a:t>
            </a:r>
            <a:endParaRPr b="0" lang="en-US" sz="1200" strike="noStrike" u="none">
              <a:solidFill>
                <a:srgbClr val="000000"/>
              </a:solidFill>
              <a:effectLst/>
              <a:uFillTx/>
              <a:latin typeface="Arial"/>
            </a:endParaRPr>
          </a:p>
          <a:p>
            <a:pPr defTabSz="914400">
              <a:lnSpc>
                <a:spcPct val="100000"/>
              </a:lnSpc>
            </a:pPr>
            <a:r>
              <a:rPr b="0" lang="en-US" sz="1000" strike="noStrike" u="none">
                <a:solidFill>
                  <a:srgbClr val="2d2d2d"/>
                </a:solidFill>
                <a:effectLst/>
                <a:uFillTx/>
                <a:latin typeface="Calibri"/>
              </a:rPr>
              <a:t>Write your founder story in 3 sentences. Define your ICP and top 3 pain points. Draft your one-liner and email signature CTA.</a:t>
            </a:r>
            <a:endParaRPr b="0" lang="en-US" sz="1000" strike="noStrike" u="none">
              <a:solidFill>
                <a:srgbClr val="000000"/>
              </a:solidFill>
              <a:effectLst/>
              <a:uFillTx/>
              <a:latin typeface="Arial"/>
            </a:endParaRPr>
          </a:p>
        </p:txBody>
      </p:sp>
      <p:sp>
        <p:nvSpPr>
          <p:cNvPr id="1508" name="Card2"/>
          <p:cNvSpPr/>
          <p:nvPr/>
        </p:nvSpPr>
        <p:spPr>
          <a:xfrm>
            <a:off x="4473000" y="1371600"/>
            <a:ext cx="4060800" cy="2056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509" name="Border2"/>
          <p:cNvSpPr/>
          <p:nvPr/>
        </p:nvSpPr>
        <p:spPr>
          <a:xfrm>
            <a:off x="4473000" y="1463040"/>
            <a:ext cx="54000" cy="1873800"/>
          </a:xfrm>
          <a:prstGeom prst="roundRect">
            <a:avLst>
              <a:gd name="adj" fmla="val 50000"/>
            </a:avLst>
          </a:prstGeom>
          <a:solidFill>
            <a:srgbClr val="0f9b8e"/>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10" name="CardText2"/>
          <p:cNvSpPr/>
          <p:nvPr/>
        </p:nvSpPr>
        <p:spPr>
          <a:xfrm>
            <a:off x="4610160" y="1417320"/>
            <a:ext cx="3877920" cy="196524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200" strike="noStrike" u="none">
                <a:solidFill>
                  <a:srgbClr val="1a1a2e"/>
                </a:solidFill>
                <a:effectLst/>
                <a:uFillTx/>
                <a:latin typeface="Calibri"/>
              </a:rPr>
              <a:t>Days 4-5: Outreach</a:t>
            </a:r>
            <a:endParaRPr b="0" lang="en-US" sz="1200" strike="noStrike" u="none">
              <a:solidFill>
                <a:srgbClr val="000000"/>
              </a:solidFill>
              <a:effectLst/>
              <a:uFillTx/>
              <a:latin typeface="Arial"/>
            </a:endParaRPr>
          </a:p>
          <a:p>
            <a:pPr defTabSz="914400">
              <a:lnSpc>
                <a:spcPct val="100000"/>
              </a:lnSpc>
            </a:pPr>
            <a:r>
              <a:rPr b="0" lang="en-US" sz="1000" strike="noStrike" u="none">
                <a:solidFill>
                  <a:srgbClr val="2d2d2d"/>
                </a:solidFill>
                <a:effectLst/>
                <a:uFillTx/>
                <a:latin typeface="Calibri"/>
              </a:rPr>
              <a:t>Send 5 personalised outreach messages. Book 2 discovery calls. Test one ad or post.</a:t>
            </a:r>
            <a:endParaRPr b="0" lang="en-US" sz="1000" strike="noStrike" u="none">
              <a:solidFill>
                <a:srgbClr val="000000"/>
              </a:solidFill>
              <a:effectLst/>
              <a:uFillTx/>
              <a:latin typeface="Arial"/>
            </a:endParaRPr>
          </a:p>
        </p:txBody>
      </p:sp>
      <p:sp>
        <p:nvSpPr>
          <p:cNvPr id="1511" name="Card3"/>
          <p:cNvSpPr/>
          <p:nvPr/>
        </p:nvSpPr>
        <p:spPr>
          <a:xfrm>
            <a:off x="274320" y="3566160"/>
            <a:ext cx="4060800" cy="2056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512" name="Border3"/>
          <p:cNvSpPr/>
          <p:nvPr/>
        </p:nvSpPr>
        <p:spPr>
          <a:xfrm>
            <a:off x="274320" y="3657600"/>
            <a:ext cx="54000" cy="1873800"/>
          </a:xfrm>
          <a:prstGeom prst="roundRect">
            <a:avLst>
              <a:gd name="adj" fmla="val 50000"/>
            </a:avLst>
          </a:prstGeom>
          <a:solidFill>
            <a:srgbClr val="e94560"/>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13" name="CardText3"/>
          <p:cNvSpPr/>
          <p:nvPr/>
        </p:nvSpPr>
        <p:spPr>
          <a:xfrm>
            <a:off x="411480" y="3611880"/>
            <a:ext cx="3877920" cy="196524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200" strike="noStrike" u="none">
                <a:solidFill>
                  <a:srgbClr val="1a1a2e"/>
                </a:solidFill>
                <a:effectLst/>
                <a:uFillTx/>
                <a:latin typeface="Calibri"/>
              </a:rPr>
              <a:t>Days 6-7: Optimise</a:t>
            </a:r>
            <a:endParaRPr b="0" lang="en-US" sz="1200" strike="noStrike" u="none">
              <a:solidFill>
                <a:srgbClr val="000000"/>
              </a:solidFill>
              <a:effectLst/>
              <a:uFillTx/>
              <a:latin typeface="Arial"/>
            </a:endParaRPr>
          </a:p>
          <a:p>
            <a:pPr defTabSz="914400">
              <a:lnSpc>
                <a:spcPct val="100000"/>
              </a:lnSpc>
            </a:pPr>
            <a:r>
              <a:rPr b="0" lang="en-US" sz="1000" strike="noStrike" u="none">
                <a:solidFill>
                  <a:srgbClr val="2d2d2d"/>
                </a:solidFill>
                <a:effectLst/>
                <a:uFillTx/>
                <a:latin typeface="Calibri"/>
              </a:rPr>
              <a:t>Review what worked and what did not. Refine your pitch based on feedback. Set 3 goals for next week.</a:t>
            </a:r>
            <a:endParaRPr b="0" lang="en-US" sz="1000" strike="noStrike" u="none">
              <a:solidFill>
                <a:srgbClr val="000000"/>
              </a:solidFill>
              <a:effectLst/>
              <a:uFillTx/>
              <a:latin typeface="Arial"/>
            </a:endParaRPr>
          </a:p>
        </p:txBody>
      </p:sp>
      <p:sp>
        <p:nvSpPr>
          <p:cNvPr id="1514" name="Card4"/>
          <p:cNvSpPr/>
          <p:nvPr/>
        </p:nvSpPr>
        <p:spPr>
          <a:xfrm>
            <a:off x="4473000" y="3566160"/>
            <a:ext cx="4060800" cy="2056680"/>
          </a:xfrm>
          <a:prstGeom prst="roundRect">
            <a:avLst>
              <a:gd name="adj" fmla="val 16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515" name="Border4"/>
          <p:cNvSpPr/>
          <p:nvPr/>
        </p:nvSpPr>
        <p:spPr>
          <a:xfrm>
            <a:off x="4473000" y="3657600"/>
            <a:ext cx="54000" cy="1873800"/>
          </a:xfrm>
          <a:prstGeom prst="roundRect">
            <a:avLst>
              <a:gd name="adj" fmla="val 50000"/>
            </a:avLst>
          </a:prstGeom>
          <a:solidFill>
            <a:srgbClr val="0f9b8e"/>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16" name="CardText4"/>
          <p:cNvSpPr/>
          <p:nvPr/>
        </p:nvSpPr>
        <p:spPr>
          <a:xfrm>
            <a:off x="4610160" y="3611880"/>
            <a:ext cx="3877920" cy="196524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1" lang="en-US" sz="1200" strike="noStrike" u="none">
                <a:solidFill>
                  <a:srgbClr val="1a1a2e"/>
                </a:solidFill>
                <a:effectLst/>
                <a:uFillTx/>
                <a:latin typeface="Calibri"/>
              </a:rPr>
              <a:t>The Goal</a:t>
            </a:r>
            <a:endParaRPr b="0" lang="en-US" sz="1200" strike="noStrike" u="none">
              <a:solidFill>
                <a:srgbClr val="000000"/>
              </a:solidFill>
              <a:effectLst/>
              <a:uFillTx/>
              <a:latin typeface="Arial"/>
            </a:endParaRPr>
          </a:p>
          <a:p>
            <a:pPr defTabSz="914400">
              <a:lnSpc>
                <a:spcPct val="100000"/>
              </a:lnSpc>
            </a:pPr>
            <a:r>
              <a:rPr b="0" lang="en-US" sz="1000" strike="noStrike" u="none">
                <a:solidFill>
                  <a:srgbClr val="2d2d2d"/>
                </a:solidFill>
                <a:effectLst/>
                <a:uFillTx/>
                <a:latin typeface="Calibri"/>
              </a:rPr>
              <a:t>Build a repeatable sales system. One that feels human, builds trust, and scales with your startup.</a:t>
            </a:r>
            <a:endParaRPr b="0" lang="en-US" sz="1000" strike="noStrike" u="none">
              <a:solidFill>
                <a:srgbClr val="000000"/>
              </a:solidFill>
              <a:effectLst/>
              <a:uFillTx/>
              <a:latin typeface="Arial"/>
            </a:endParaRPr>
          </a:p>
        </p:txBody>
      </p:sp>
      <p:sp>
        <p:nvSpPr>
          <p:cNvPr id="1517" name="Oval 1500"/>
          <p:cNvSpPr/>
          <p:nvPr/>
        </p:nvSpPr>
        <p:spPr>
          <a:xfrm>
            <a:off x="8321040" y="4206240"/>
            <a:ext cx="456840" cy="456840"/>
          </a:xfrm>
          <a:prstGeom prst="ellipse">
            <a:avLst/>
          </a:prstGeom>
          <a:solidFill>
            <a:srgbClr val="0f9b8e"/>
          </a:solidFill>
          <a:ln>
            <a:noFill/>
          </a:ln>
        </p:spPr>
        <p:style>
          <a:lnRef idx="1">
            <a:schemeClr val="accent1"/>
          </a:lnRef>
          <a:fillRef idx="3">
            <a:schemeClr val="accent1"/>
          </a:fillRef>
          <a:effectRef idx="2">
            <a:schemeClr val="accent1"/>
          </a:effectRef>
          <a:fontRef idx="minor"/>
        </p:style>
        <p:txBody>
          <a:bodyPr wrap="none" lIns="90000" rIns="90000" tIns="45000" bIns="45000" anchor="ctr">
            <a:noAutofit/>
          </a:bodyPr>
          <a:p>
            <a:pPr algn="ctr">
              <a:lnSpc>
                <a:spcPct val="100000"/>
              </a:lnSpc>
            </a:pPr>
            <a:r>
              <a:rPr b="1" lang="en-US" sz="1800" strike="noStrike" u="none">
                <a:solidFill>
                  <a:srgbClr val="ffffff"/>
                </a:solidFill>
                <a:effectLst/>
                <a:uFillTx/>
                <a:latin typeface="Calibri"/>
              </a:rPr>
              <a:t>7</a:t>
            </a: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18" name="Title"/>
          <p:cNvSpPr/>
          <p:nvPr/>
        </p:nvSpPr>
        <p:spPr>
          <a:xfrm>
            <a:off x="422280" y="299880"/>
            <a:ext cx="8299440" cy="899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3200" strike="noStrike" u="none">
                <a:solidFill>
                  <a:srgbClr val="1a1a2e"/>
                </a:solidFill>
                <a:effectLst/>
                <a:uFillTx/>
                <a:latin typeface="Trebuchet MS"/>
              </a:rPr>
              <a:t>Key Takeaways</a:t>
            </a:r>
            <a:endParaRPr b="0" lang="en-US" sz="3200" strike="noStrike" u="none">
              <a:solidFill>
                <a:srgbClr val="000000"/>
              </a:solidFill>
              <a:effectLst/>
              <a:uFillTx/>
              <a:latin typeface="Arial"/>
            </a:endParaRPr>
          </a:p>
        </p:txBody>
      </p:sp>
      <p:sp>
        <p:nvSpPr>
          <p:cNvPr id="1519" name="Card 2"/>
          <p:cNvSpPr/>
          <p:nvPr/>
        </p:nvSpPr>
        <p:spPr>
          <a:xfrm>
            <a:off x="422280" y="1400040"/>
            <a:ext cx="8299440" cy="799200"/>
          </a:xfrm>
          <a:prstGeom prst="rect">
            <a:avLst/>
          </a:prstGeom>
          <a:solidFill>
            <a:srgbClr val="fdf6f0"/>
          </a:solidFill>
          <a:ln w="0">
            <a:noFill/>
          </a:ln>
        </p:spPr>
        <p:style>
          <a:lnRef idx="0"/>
          <a:fillRef idx="0"/>
          <a:effectRef idx="0"/>
          <a:fontRef idx="minor"/>
        </p:style>
        <p:txBody>
          <a:bodyPr lIns="249840" rIns="249840" tIns="200160" bIns="200160" anchor="ctr">
            <a:noAutofit/>
          </a:bodyPr>
          <a:p>
            <a:pPr defTabSz="914400">
              <a:lnSpc>
                <a:spcPct val="100000"/>
              </a:lnSpc>
            </a:pPr>
            <a:r>
              <a:rPr b="0" lang="en-US" sz="1200" strike="noStrike" u="none">
                <a:solidFill>
                  <a:srgbClr val="2d2d2d"/>
                </a:solidFill>
                <a:effectLst/>
                <a:uFillTx/>
                <a:latin typeface="Calibri"/>
              </a:rPr>
              <a:t>Marketing doesn't need a big budget - but it does need clarity, trust, and relevance</a:t>
            </a:r>
            <a:endParaRPr b="0" lang="en-US" sz="1200" strike="noStrike" u="none">
              <a:solidFill>
                <a:srgbClr val="000000"/>
              </a:solidFill>
              <a:effectLst/>
              <a:uFillTx/>
              <a:latin typeface="Arial"/>
            </a:endParaRPr>
          </a:p>
        </p:txBody>
      </p:sp>
      <p:sp>
        <p:nvSpPr>
          <p:cNvPr id="1520" name="Border 2"/>
          <p:cNvSpPr/>
          <p:nvPr/>
        </p:nvSpPr>
        <p:spPr>
          <a:xfrm>
            <a:off x="422280" y="1400040"/>
            <a:ext cx="119160" cy="799200"/>
          </a:xfrm>
          <a:prstGeom prst="rect">
            <a:avLst/>
          </a:prstGeom>
          <a:solidFill>
            <a:srgbClr val="e94560"/>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21" name="Card 3"/>
          <p:cNvSpPr/>
          <p:nvPr/>
        </p:nvSpPr>
        <p:spPr>
          <a:xfrm>
            <a:off x="422280" y="2250000"/>
            <a:ext cx="8299440" cy="799200"/>
          </a:xfrm>
          <a:prstGeom prst="rect">
            <a:avLst/>
          </a:prstGeom>
          <a:solidFill>
            <a:srgbClr val="fdf6f0"/>
          </a:solidFill>
          <a:ln w="0">
            <a:noFill/>
          </a:ln>
        </p:spPr>
        <p:style>
          <a:lnRef idx="0"/>
          <a:fillRef idx="0"/>
          <a:effectRef idx="0"/>
          <a:fontRef idx="minor"/>
        </p:style>
        <p:txBody>
          <a:bodyPr lIns="249840" rIns="249840" tIns="200160" bIns="200160" anchor="ctr">
            <a:noAutofit/>
          </a:bodyPr>
          <a:p>
            <a:pPr defTabSz="914400">
              <a:lnSpc>
                <a:spcPct val="100000"/>
              </a:lnSpc>
            </a:pPr>
            <a:r>
              <a:rPr b="0" lang="en-US" sz="1200" strike="noStrike" u="none">
                <a:solidFill>
                  <a:srgbClr val="2d2d2d"/>
                </a:solidFill>
                <a:effectLst/>
                <a:uFillTx/>
                <a:latin typeface="Calibri"/>
              </a:rPr>
              <a:t>Great marketing sparks conversations. Those conversations lead to conversions</a:t>
            </a:r>
            <a:endParaRPr b="0" lang="en-US" sz="1200" strike="noStrike" u="none">
              <a:solidFill>
                <a:srgbClr val="000000"/>
              </a:solidFill>
              <a:effectLst/>
              <a:uFillTx/>
              <a:latin typeface="Arial"/>
            </a:endParaRPr>
          </a:p>
        </p:txBody>
      </p:sp>
      <p:sp>
        <p:nvSpPr>
          <p:cNvPr id="1522" name="Border 3"/>
          <p:cNvSpPr/>
          <p:nvPr/>
        </p:nvSpPr>
        <p:spPr>
          <a:xfrm>
            <a:off x="422280" y="2250000"/>
            <a:ext cx="119160" cy="799200"/>
          </a:xfrm>
          <a:prstGeom prst="rect">
            <a:avLst/>
          </a:prstGeom>
          <a:solidFill>
            <a:srgbClr val="0f9b8e"/>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23" name="Card 4"/>
          <p:cNvSpPr/>
          <p:nvPr/>
        </p:nvSpPr>
        <p:spPr>
          <a:xfrm>
            <a:off x="422280" y="3099960"/>
            <a:ext cx="8299440" cy="799200"/>
          </a:xfrm>
          <a:prstGeom prst="rect">
            <a:avLst/>
          </a:prstGeom>
          <a:solidFill>
            <a:srgbClr val="fdf6f0"/>
          </a:solidFill>
          <a:ln w="0">
            <a:noFill/>
          </a:ln>
        </p:spPr>
        <p:style>
          <a:lnRef idx="0"/>
          <a:fillRef idx="0"/>
          <a:effectRef idx="0"/>
          <a:fontRef idx="minor"/>
        </p:style>
        <p:txBody>
          <a:bodyPr lIns="249840" rIns="249840" tIns="200160" bIns="200160" anchor="ctr">
            <a:noAutofit/>
          </a:bodyPr>
          <a:p>
            <a:pPr defTabSz="914400">
              <a:lnSpc>
                <a:spcPct val="100000"/>
              </a:lnSpc>
            </a:pPr>
            <a:r>
              <a:rPr b="0" lang="en-US" sz="1200" strike="noStrike" u="none">
                <a:solidFill>
                  <a:srgbClr val="2d2d2d"/>
                </a:solidFill>
                <a:effectLst/>
                <a:uFillTx/>
                <a:latin typeface="Calibri"/>
              </a:rPr>
              <a:t>Founders who sell with story, insight, and simplicity build trust faster and scale better</a:t>
            </a:r>
            <a:endParaRPr b="0" lang="en-US" sz="1200" strike="noStrike" u="none">
              <a:solidFill>
                <a:srgbClr val="000000"/>
              </a:solidFill>
              <a:effectLst/>
              <a:uFillTx/>
              <a:latin typeface="Arial"/>
            </a:endParaRPr>
          </a:p>
        </p:txBody>
      </p:sp>
      <p:sp>
        <p:nvSpPr>
          <p:cNvPr id="1524" name="Border 4"/>
          <p:cNvSpPr/>
          <p:nvPr/>
        </p:nvSpPr>
        <p:spPr>
          <a:xfrm>
            <a:off x="422280" y="3099960"/>
            <a:ext cx="119160" cy="799200"/>
          </a:xfrm>
          <a:prstGeom prst="rect">
            <a:avLst/>
          </a:prstGeom>
          <a:solidFill>
            <a:srgbClr val="e94560"/>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25" name="Card 5"/>
          <p:cNvSpPr/>
          <p:nvPr/>
        </p:nvSpPr>
        <p:spPr>
          <a:xfrm>
            <a:off x="422280" y="3949920"/>
            <a:ext cx="8299440" cy="799200"/>
          </a:xfrm>
          <a:prstGeom prst="rect">
            <a:avLst/>
          </a:prstGeom>
          <a:solidFill>
            <a:srgbClr val="fdf6f0"/>
          </a:solidFill>
          <a:ln w="0">
            <a:noFill/>
          </a:ln>
        </p:spPr>
        <p:style>
          <a:lnRef idx="0"/>
          <a:fillRef idx="0"/>
          <a:effectRef idx="0"/>
          <a:fontRef idx="minor"/>
        </p:style>
        <p:txBody>
          <a:bodyPr lIns="249840" rIns="249840" tIns="200160" bIns="200160" anchor="ctr">
            <a:noAutofit/>
          </a:bodyPr>
          <a:p>
            <a:pPr defTabSz="914400">
              <a:lnSpc>
                <a:spcPct val="100000"/>
              </a:lnSpc>
            </a:pPr>
            <a:r>
              <a:rPr b="0" lang="en-US" sz="1200" strike="noStrike" u="none">
                <a:solidFill>
                  <a:srgbClr val="2d2d2d"/>
                </a:solidFill>
                <a:effectLst/>
                <a:uFillTx/>
                <a:latin typeface="Calibri"/>
              </a:rPr>
              <a:t>AI is your secret weapon - it saves time, sharpens your message, speeds up testing</a:t>
            </a:r>
            <a:endParaRPr b="0" lang="en-US" sz="1200" strike="noStrike" u="none">
              <a:solidFill>
                <a:srgbClr val="000000"/>
              </a:solidFill>
              <a:effectLst/>
              <a:uFillTx/>
              <a:latin typeface="Arial"/>
            </a:endParaRPr>
          </a:p>
        </p:txBody>
      </p:sp>
      <p:sp>
        <p:nvSpPr>
          <p:cNvPr id="1526" name="Border 5"/>
          <p:cNvSpPr/>
          <p:nvPr/>
        </p:nvSpPr>
        <p:spPr>
          <a:xfrm>
            <a:off x="422280" y="3949920"/>
            <a:ext cx="119160" cy="799200"/>
          </a:xfrm>
          <a:prstGeom prst="rect">
            <a:avLst/>
          </a:prstGeom>
          <a:solidFill>
            <a:srgbClr val="0f9b8e"/>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27" name="Card 6"/>
          <p:cNvSpPr/>
          <p:nvPr/>
        </p:nvSpPr>
        <p:spPr>
          <a:xfrm>
            <a:off x="422280" y="4799880"/>
            <a:ext cx="8299440" cy="799200"/>
          </a:xfrm>
          <a:prstGeom prst="rect">
            <a:avLst/>
          </a:prstGeom>
          <a:solidFill>
            <a:srgbClr val="fdf6f0"/>
          </a:solidFill>
          <a:ln w="0">
            <a:noFill/>
          </a:ln>
        </p:spPr>
        <p:style>
          <a:lnRef idx="0"/>
          <a:fillRef idx="0"/>
          <a:effectRef idx="0"/>
          <a:fontRef idx="minor"/>
        </p:style>
        <p:txBody>
          <a:bodyPr lIns="249840" rIns="249840" tIns="200160" bIns="200160" anchor="ctr">
            <a:noAutofit/>
          </a:bodyPr>
          <a:p>
            <a:pPr defTabSz="914400">
              <a:lnSpc>
                <a:spcPct val="100000"/>
              </a:lnSpc>
            </a:pPr>
            <a:r>
              <a:rPr b="0" lang="en-US" sz="1200" strike="noStrike" u="none">
                <a:solidFill>
                  <a:srgbClr val="2d2d2d"/>
                </a:solidFill>
                <a:effectLst/>
                <a:uFillTx/>
                <a:latin typeface="Calibri"/>
              </a:rPr>
              <a:t>Don't be afraid to fail. Just fail fast, learn faster, and try again better</a:t>
            </a:r>
            <a:endParaRPr b="0" lang="en-US" sz="1200" strike="noStrike" u="none">
              <a:solidFill>
                <a:srgbClr val="000000"/>
              </a:solidFill>
              <a:effectLst/>
              <a:uFillTx/>
              <a:latin typeface="Arial"/>
            </a:endParaRPr>
          </a:p>
        </p:txBody>
      </p:sp>
      <p:sp>
        <p:nvSpPr>
          <p:cNvPr id="1528" name="Border 6"/>
          <p:cNvSpPr/>
          <p:nvPr/>
        </p:nvSpPr>
        <p:spPr>
          <a:xfrm>
            <a:off x="422280" y="4799880"/>
            <a:ext cx="119160" cy="799200"/>
          </a:xfrm>
          <a:prstGeom prst="rect">
            <a:avLst/>
          </a:prstGeom>
          <a:solidFill>
            <a:srgbClr val="e94560"/>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df6f0"/>
        </a:solidFill>
      </p:bgPr>
    </p:bg>
    <p:spTree>
      <p:nvGrpSpPr>
        <p:cNvPr id="1" name=""/>
        <p:cNvGrpSpPr/>
        <p:nvPr/>
      </p:nvGrpSpPr>
      <p:grpSpPr>
        <a:xfrm>
          <a:off x="0" y="0"/>
          <a:ext cx="0" cy="0"/>
          <a:chOff x="0" y="0"/>
          <a:chExt cx="0" cy="0"/>
        </a:xfrm>
      </p:grpSpPr>
      <p:sp>
        <p:nvSpPr>
          <p:cNvPr id="1529" name="Title"/>
          <p:cNvSpPr/>
          <p:nvPr/>
        </p:nvSpPr>
        <p:spPr>
          <a:xfrm>
            <a:off x="422280" y="200160"/>
            <a:ext cx="8299440" cy="899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1" lang="en-US" sz="4000" strike="noStrike" u="none">
                <a:solidFill>
                  <a:srgbClr val="e94560"/>
                </a:solidFill>
                <a:effectLst/>
                <a:uFillTx/>
                <a:latin typeface="Trebuchet MS"/>
              </a:rPr>
              <a:t>TL;DR</a:t>
            </a:r>
            <a:endParaRPr b="0" lang="en-US" sz="4000" strike="noStrike" u="none">
              <a:solidFill>
                <a:srgbClr val="000000"/>
              </a:solidFill>
              <a:effectLst/>
              <a:uFillTx/>
              <a:latin typeface="Arial"/>
            </a:endParaRPr>
          </a:p>
        </p:txBody>
      </p:sp>
      <p:sp>
        <p:nvSpPr>
          <p:cNvPr id="1530" name="Subtitle"/>
          <p:cNvSpPr/>
          <p:nvPr/>
        </p:nvSpPr>
        <p:spPr>
          <a:xfrm>
            <a:off x="422280" y="1100160"/>
            <a:ext cx="8299440" cy="599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b="0" lang="en-US" sz="1600" strike="noStrike" u="none">
                <a:solidFill>
                  <a:srgbClr val="1a1a2e"/>
                </a:solidFill>
                <a:effectLst/>
                <a:uFillTx/>
                <a:latin typeface="Calibri"/>
              </a:rPr>
              <a:t>Marketing creates the conversations. Stories close the sale.</a:t>
            </a:r>
            <a:endParaRPr b="0" lang="en-US" sz="1600" strike="noStrike" u="none">
              <a:solidFill>
                <a:srgbClr val="000000"/>
              </a:solidFill>
              <a:effectLst/>
              <a:uFillTx/>
              <a:latin typeface="Arial"/>
            </a:endParaRPr>
          </a:p>
        </p:txBody>
      </p:sp>
      <p:sp>
        <p:nvSpPr>
          <p:cNvPr id="1531" name="Card 3"/>
          <p:cNvSpPr/>
          <p:nvPr/>
        </p:nvSpPr>
        <p:spPr>
          <a:xfrm>
            <a:off x="371880" y="1879920"/>
            <a:ext cx="2699280" cy="2919240"/>
          </a:xfrm>
          <a:prstGeom prst="rect">
            <a:avLst/>
          </a:prstGeom>
          <a:solidFill>
            <a:srgbClr val="ffffff"/>
          </a:solidFill>
          <a:ln w="0">
            <a:noFill/>
          </a:ln>
        </p:spPr>
        <p:style>
          <a:lnRef idx="0"/>
          <a:fillRef idx="0"/>
          <a:effectRef idx="0"/>
          <a:fontRef idx="minor"/>
        </p:style>
        <p:txBody>
          <a:bodyPr lIns="249840" rIns="249840" tIns="150120" bIns="150120" anchor="t">
            <a:noAutofit/>
          </a:bodyPr>
          <a:p>
            <a:pPr defTabSz="914400">
              <a:lnSpc>
                <a:spcPct val="100000"/>
              </a:lnSpc>
            </a:pPr>
            <a:r>
              <a:rPr b="1" lang="en-US" sz="1400" strike="noStrike" u="none">
                <a:solidFill>
                  <a:srgbClr val="1a1a2e"/>
                </a:solidFill>
                <a:effectLst/>
                <a:uFillTx/>
                <a:latin typeface="Calibri"/>
              </a:rPr>
              <a:t>Marketing</a:t>
            </a:r>
            <a:endParaRPr b="0" lang="en-US" sz="1400" strike="noStrike" u="none">
              <a:solidFill>
                <a:srgbClr val="000000"/>
              </a:solidFill>
              <a:effectLst/>
              <a:uFillTx/>
              <a:latin typeface="Arial"/>
            </a:endParaRPr>
          </a:p>
          <a:p>
            <a:pPr defTabSz="914400">
              <a:lnSpc>
                <a:spcPct val="100000"/>
              </a:lnSpc>
            </a:pPr>
            <a:r>
              <a:rPr b="0" lang="en-US" sz="1100" strike="noStrike" u="none">
                <a:solidFill>
                  <a:srgbClr val="2d2d2d"/>
                </a:solidFill>
                <a:effectLst/>
                <a:uFillTx/>
                <a:latin typeface="Calibri"/>
              </a:rPr>
              <a:t>Know your audience deeply. Tell stories, not features. Track what matters, not vanity. Use AI to work smarter.</a:t>
            </a:r>
            <a:endParaRPr b="0" lang="en-US" sz="1100" strike="noStrike" u="none">
              <a:solidFill>
                <a:srgbClr val="000000"/>
              </a:solidFill>
              <a:effectLst/>
              <a:uFillTx/>
              <a:latin typeface="Arial"/>
            </a:endParaRPr>
          </a:p>
        </p:txBody>
      </p:sp>
      <p:sp>
        <p:nvSpPr>
          <p:cNvPr id="1532" name="Border 3"/>
          <p:cNvSpPr/>
          <p:nvPr/>
        </p:nvSpPr>
        <p:spPr>
          <a:xfrm>
            <a:off x="371880" y="1800000"/>
            <a:ext cx="2699280" cy="79200"/>
          </a:xfrm>
          <a:prstGeom prst="rect">
            <a:avLst/>
          </a:prstGeom>
          <a:solidFill>
            <a:srgbClr val="e94560"/>
          </a:solidFill>
          <a:ln w="0">
            <a:noFill/>
          </a:ln>
        </p:spPr>
        <p:style>
          <a:lnRef idx="0"/>
          <a:fillRef idx="0"/>
          <a:effectRef idx="0"/>
          <a:fontRef idx="minor"/>
        </p:style>
        <p:txBody>
          <a:bodyPr lIns="90000" rIns="90000" tIns="34920" bIns="34920" anchor="t">
            <a:noAutofit/>
          </a:bodyPr>
          <a:p>
            <a:pPr>
              <a:lnSpc>
                <a:spcPct val="100000"/>
              </a:lnSpc>
            </a:pPr>
            <a:endParaRPr b="0" lang="en-US" sz="1800" strike="noStrike" u="none">
              <a:solidFill>
                <a:srgbClr val="ffffff"/>
              </a:solidFill>
              <a:effectLst/>
              <a:uFillTx/>
              <a:latin typeface="Arial"/>
            </a:endParaRPr>
          </a:p>
        </p:txBody>
      </p:sp>
      <p:sp>
        <p:nvSpPr>
          <p:cNvPr id="1533" name="Card 4"/>
          <p:cNvSpPr/>
          <p:nvPr/>
        </p:nvSpPr>
        <p:spPr>
          <a:xfrm>
            <a:off x="3222000" y="1879920"/>
            <a:ext cx="2699280" cy="2919240"/>
          </a:xfrm>
          <a:prstGeom prst="rect">
            <a:avLst/>
          </a:prstGeom>
          <a:solidFill>
            <a:srgbClr val="ffffff"/>
          </a:solidFill>
          <a:ln w="0">
            <a:noFill/>
          </a:ln>
        </p:spPr>
        <p:style>
          <a:lnRef idx="0"/>
          <a:fillRef idx="0"/>
          <a:effectRef idx="0"/>
          <a:fontRef idx="minor"/>
        </p:style>
        <p:txBody>
          <a:bodyPr lIns="249840" rIns="249840" tIns="150120" bIns="150120" anchor="t">
            <a:noAutofit/>
          </a:bodyPr>
          <a:p>
            <a:pPr defTabSz="914400">
              <a:lnSpc>
                <a:spcPct val="100000"/>
              </a:lnSpc>
            </a:pPr>
            <a:r>
              <a:rPr b="1" lang="en-US" sz="1400" strike="noStrike" u="none">
                <a:solidFill>
                  <a:srgbClr val="1a1a2e"/>
                </a:solidFill>
                <a:effectLst/>
                <a:uFillTx/>
                <a:latin typeface="Calibri"/>
              </a:rPr>
              <a:t>Sales</a:t>
            </a:r>
            <a:endParaRPr b="0" lang="en-US" sz="1400" strike="noStrike" u="none">
              <a:solidFill>
                <a:srgbClr val="000000"/>
              </a:solidFill>
              <a:effectLst/>
              <a:uFillTx/>
              <a:latin typeface="Arial"/>
            </a:endParaRPr>
          </a:p>
          <a:p>
            <a:pPr defTabSz="914400">
              <a:lnSpc>
                <a:spcPct val="100000"/>
              </a:lnSpc>
            </a:pPr>
            <a:r>
              <a:rPr b="0" lang="en-US" sz="1100" strike="noStrike" u="none">
                <a:solidFill>
                  <a:srgbClr val="2d2d2d"/>
                </a:solidFill>
                <a:effectLst/>
                <a:uFillTx/>
                <a:latin typeface="Calibri"/>
              </a:rPr>
              <a:t>Sell without sounding salesy. Lead with empathy and insight. Build systems, not one-off pitches. Your story is your funnel.</a:t>
            </a:r>
            <a:endParaRPr b="0" lang="en-US" sz="1100" strike="noStrike" u="none">
              <a:solidFill>
                <a:srgbClr val="000000"/>
              </a:solidFill>
              <a:effectLst/>
              <a:uFillTx/>
              <a:latin typeface="Arial"/>
            </a:endParaRPr>
          </a:p>
        </p:txBody>
      </p:sp>
      <p:sp>
        <p:nvSpPr>
          <p:cNvPr id="1534" name="Border 4"/>
          <p:cNvSpPr/>
          <p:nvPr/>
        </p:nvSpPr>
        <p:spPr>
          <a:xfrm>
            <a:off x="3222000" y="1800000"/>
            <a:ext cx="2699280" cy="79200"/>
          </a:xfrm>
          <a:prstGeom prst="rect">
            <a:avLst/>
          </a:prstGeom>
          <a:solidFill>
            <a:srgbClr val="0f9b8e"/>
          </a:solidFill>
          <a:ln w="0">
            <a:noFill/>
          </a:ln>
        </p:spPr>
        <p:style>
          <a:lnRef idx="0"/>
          <a:fillRef idx="0"/>
          <a:effectRef idx="0"/>
          <a:fontRef idx="minor"/>
        </p:style>
        <p:txBody>
          <a:bodyPr lIns="90000" rIns="90000" tIns="34920" bIns="34920" anchor="t">
            <a:noAutofit/>
          </a:bodyPr>
          <a:p>
            <a:pPr>
              <a:lnSpc>
                <a:spcPct val="100000"/>
              </a:lnSpc>
            </a:pPr>
            <a:endParaRPr b="0" lang="en-US" sz="1800" strike="noStrike" u="none">
              <a:solidFill>
                <a:srgbClr val="ffffff"/>
              </a:solidFill>
              <a:effectLst/>
              <a:uFillTx/>
              <a:latin typeface="Arial"/>
            </a:endParaRPr>
          </a:p>
        </p:txBody>
      </p:sp>
      <p:sp>
        <p:nvSpPr>
          <p:cNvPr id="1535" name="Card 5"/>
          <p:cNvSpPr/>
          <p:nvPr/>
        </p:nvSpPr>
        <p:spPr>
          <a:xfrm>
            <a:off x="6072120" y="1879920"/>
            <a:ext cx="2699280" cy="2919240"/>
          </a:xfrm>
          <a:prstGeom prst="rect">
            <a:avLst/>
          </a:prstGeom>
          <a:solidFill>
            <a:srgbClr val="ffffff"/>
          </a:solidFill>
          <a:ln w="0">
            <a:noFill/>
          </a:ln>
        </p:spPr>
        <p:style>
          <a:lnRef idx="0"/>
          <a:fillRef idx="0"/>
          <a:effectRef idx="0"/>
          <a:fontRef idx="minor"/>
        </p:style>
        <p:txBody>
          <a:bodyPr lIns="249840" rIns="249840" tIns="150120" bIns="150120" anchor="t">
            <a:noAutofit/>
          </a:bodyPr>
          <a:p>
            <a:pPr defTabSz="914400">
              <a:lnSpc>
                <a:spcPct val="100000"/>
              </a:lnSpc>
            </a:pPr>
            <a:r>
              <a:rPr b="1" lang="en-US" sz="1400" strike="noStrike" u="none">
                <a:solidFill>
                  <a:srgbClr val="1a1a2e"/>
                </a:solidFill>
                <a:effectLst/>
                <a:uFillTx/>
                <a:latin typeface="Calibri"/>
              </a:rPr>
              <a:t>Action</a:t>
            </a:r>
            <a:endParaRPr b="0" lang="en-US" sz="1400" strike="noStrike" u="none">
              <a:solidFill>
                <a:srgbClr val="000000"/>
              </a:solidFill>
              <a:effectLst/>
              <a:uFillTx/>
              <a:latin typeface="Arial"/>
            </a:endParaRPr>
          </a:p>
          <a:p>
            <a:pPr defTabSz="914400">
              <a:lnSpc>
                <a:spcPct val="100000"/>
              </a:lnSpc>
            </a:pPr>
            <a:r>
              <a:rPr b="0" lang="en-US" sz="1100" strike="noStrike" u="none">
                <a:solidFill>
                  <a:srgbClr val="2d2d2d"/>
                </a:solidFill>
                <a:effectLst/>
                <a:uFillTx/>
                <a:latin typeface="Calibri"/>
              </a:rPr>
              <a:t>Ship your 7-day plan. Automate one thing with AI. Book 2 discovery calls. Done beats perfect.</a:t>
            </a:r>
            <a:endParaRPr b="0" lang="en-US" sz="1100" strike="noStrike" u="none">
              <a:solidFill>
                <a:srgbClr val="000000"/>
              </a:solidFill>
              <a:effectLst/>
              <a:uFillTx/>
              <a:latin typeface="Arial"/>
            </a:endParaRPr>
          </a:p>
        </p:txBody>
      </p:sp>
      <p:sp>
        <p:nvSpPr>
          <p:cNvPr id="1536" name="Border 5"/>
          <p:cNvSpPr/>
          <p:nvPr/>
        </p:nvSpPr>
        <p:spPr>
          <a:xfrm>
            <a:off x="6072120" y="1800000"/>
            <a:ext cx="2699280" cy="79200"/>
          </a:xfrm>
          <a:prstGeom prst="rect">
            <a:avLst/>
          </a:prstGeom>
          <a:solidFill>
            <a:srgbClr val="e94560"/>
          </a:solidFill>
          <a:ln w="0">
            <a:noFill/>
          </a:ln>
        </p:spPr>
        <p:style>
          <a:lnRef idx="0"/>
          <a:fillRef idx="0"/>
          <a:effectRef idx="0"/>
          <a:fontRef idx="minor"/>
        </p:style>
        <p:txBody>
          <a:bodyPr lIns="90000" rIns="90000" tIns="34920" bIns="34920" anchor="t">
            <a:noAutofit/>
          </a:bodyPr>
          <a:p>
            <a:pPr>
              <a:lnSpc>
                <a:spcPct val="100000"/>
              </a:lnSpc>
            </a:pP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537" name="Text 0"/>
          <p:cNvSpPr/>
          <p:nvPr/>
        </p:nvSpPr>
        <p:spPr>
          <a:xfrm>
            <a:off x="731520" y="548640"/>
            <a:ext cx="1828080" cy="1828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endParaRPr b="0" lang="en-US" sz="8000" strike="noStrike" u="none">
              <a:solidFill>
                <a:schemeClr val="dk1"/>
              </a:solidFill>
              <a:effectLst/>
              <a:uFillTx/>
              <a:latin typeface="Calibri"/>
            </a:endParaRPr>
          </a:p>
        </p:txBody>
      </p:sp>
      <p:sp>
        <p:nvSpPr>
          <p:cNvPr id="1538" name="Text 1"/>
          <p:cNvSpPr/>
          <p:nvPr/>
        </p:nvSpPr>
        <p:spPr>
          <a:xfrm>
            <a:off x="731520" y="731520"/>
            <a:ext cx="7680240" cy="3656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200" strike="noStrike" u="none">
                <a:solidFill>
                  <a:srgbClr val="ffffff"/>
                </a:solidFill>
                <a:effectLst/>
                <a:uFillTx/>
                <a:latin typeface="Trebuchet MS"/>
                <a:ea typeface="Trebuchet MS"/>
              </a:rPr>
              <a:t>Marketing is how you earn attention. Sales is how you earn trust. Together, they build the company you are dreaming of.</a:t>
            </a:r>
            <a:endParaRPr b="0" lang="en-US" sz="3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2e"/>
        </a:solidFill>
      </p:bgPr>
    </p:bg>
    <p:spTree>
      <p:nvGrpSpPr>
        <p:cNvPr id="1" name=""/>
        <p:cNvGrpSpPr/>
        <p:nvPr/>
      </p:nvGrpSpPr>
      <p:grpSpPr>
        <a:xfrm>
          <a:off x="0" y="0"/>
          <a:ext cx="0" cy="0"/>
          <a:chOff x="0" y="0"/>
          <a:chExt cx="0" cy="0"/>
        </a:xfrm>
      </p:grpSpPr>
      <p:sp>
        <p:nvSpPr>
          <p:cNvPr id="1539" name="Text 0"/>
          <p:cNvSpPr/>
          <p:nvPr/>
        </p:nvSpPr>
        <p:spPr>
          <a:xfrm>
            <a:off x="731520" y="548640"/>
            <a:ext cx="1828080" cy="1828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endParaRPr b="0" lang="en-US" sz="8000" strike="noStrike" u="none">
              <a:solidFill>
                <a:schemeClr val="dk1"/>
              </a:solidFill>
              <a:effectLst/>
              <a:uFillTx/>
              <a:latin typeface="Calibri"/>
            </a:endParaRPr>
          </a:p>
        </p:txBody>
      </p:sp>
      <p:sp>
        <p:nvSpPr>
          <p:cNvPr id="1540" name="Text 1"/>
          <p:cNvSpPr/>
          <p:nvPr/>
        </p:nvSpPr>
        <p:spPr>
          <a:xfrm>
            <a:off x="731520" y="731520"/>
            <a:ext cx="7680240" cy="2742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trike="noStrike" u="none">
                <a:solidFill>
                  <a:srgbClr val="ffffff"/>
                </a:solidFill>
                <a:effectLst/>
                <a:uFillTx/>
                <a:latin typeface="Trebuchet MS"/>
                <a:ea typeface="Trebuchet MS"/>
              </a:rPr>
              <a:t>Marketing is a discovery mechanism for uncovering value that no one knew existed - either through discovering an unmet need, or servicing an existing need through innovation.</a:t>
            </a:r>
            <a:endParaRPr b="0" lang="en-US" sz="2800" strike="noStrike" u="none">
              <a:solidFill>
                <a:srgbClr val="ffffff"/>
              </a:solidFill>
              <a:effectLst/>
              <a:uFillTx/>
              <a:latin typeface="Arial"/>
            </a:endParaRPr>
          </a:p>
        </p:txBody>
      </p:sp>
      <p:sp>
        <p:nvSpPr>
          <p:cNvPr id="1541" name="Text 2"/>
          <p:cNvSpPr/>
          <p:nvPr/>
        </p:nvSpPr>
        <p:spPr>
          <a:xfrm>
            <a:off x="731520" y="3657600"/>
            <a:ext cx="6400080" cy="547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400" strike="noStrike" u="none">
                <a:solidFill>
                  <a:srgbClr val="0f9b8e"/>
                </a:solidFill>
                <a:effectLst/>
                <a:uFillTx/>
                <a:latin typeface="Calibri"/>
                <a:ea typeface="Calibri"/>
              </a:rPr>
              <a:t>Rory Sutherland, Vice Chairman of Ogilvy UK</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42" name="Header"/>
          <p:cNvSpPr/>
          <p:nvPr/>
        </p:nvSpPr>
        <p:spPr>
          <a:xfrm>
            <a:off x="0" y="0"/>
            <a:ext cx="9143280" cy="913680"/>
          </a:xfrm>
          <a:prstGeom prst="rect">
            <a:avLst/>
          </a:prstGeom>
          <a:solidFill>
            <a:srgbClr val="d4a574"/>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543" name="BrandName"/>
          <p:cNvSpPr/>
          <p:nvPr/>
        </p:nvSpPr>
        <p:spPr>
          <a:xfrm>
            <a:off x="548640" y="137160"/>
            <a:ext cx="8046000" cy="502200"/>
          </a:xfrm>
          <a:prstGeom prst="rect">
            <a:avLst/>
          </a:prstGeom>
          <a:noFill/>
          <a:ln w="0">
            <a:noFill/>
          </a:ln>
        </p:spPr>
        <p:style>
          <a:lnRef idx="0"/>
          <a:fillRef idx="0"/>
          <a:effectRef idx="0"/>
          <a:fontRef idx="minor"/>
        </p:style>
        <p:txBody>
          <a:bodyPr lIns="90000" rIns="90000" tIns="45000" bIns="45000" anchor="b">
            <a:noAutofit/>
          </a:bodyPr>
          <a:p>
            <a:pPr defTabSz="914400">
              <a:lnSpc>
                <a:spcPct val="100000"/>
              </a:lnSpc>
            </a:pPr>
            <a:r>
              <a:rPr b="1" lang="en-US" sz="3200" strike="noStrike" u="none">
                <a:solidFill>
                  <a:srgbClr val="ffffff"/>
                </a:solidFill>
                <a:effectLst/>
                <a:uFillTx/>
                <a:latin typeface="Trebuchet MS"/>
              </a:rPr>
              <a:t>Claude</a:t>
            </a:r>
            <a:endParaRPr b="0" lang="en-US" sz="3200" strike="noStrike" u="none">
              <a:solidFill>
                <a:srgbClr val="000000"/>
              </a:solidFill>
              <a:effectLst/>
              <a:uFillTx/>
              <a:latin typeface="Arial"/>
            </a:endParaRPr>
          </a:p>
        </p:txBody>
      </p:sp>
      <p:sp>
        <p:nvSpPr>
          <p:cNvPr id="1544" name="Subtitle"/>
          <p:cNvSpPr/>
          <p:nvPr/>
        </p:nvSpPr>
        <p:spPr>
          <a:xfrm>
            <a:off x="548640" y="640080"/>
            <a:ext cx="8046000" cy="2736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0" lang="en-US" sz="1400" strike="noStrike" u="none">
                <a:solidFill>
                  <a:srgbClr val="ffffff"/>
                </a:solidFill>
                <a:effectLst/>
                <a:uFillTx/>
                <a:latin typeface="Calibri"/>
              </a:rPr>
              <a:t>AI Creation and Strategy</a:t>
            </a:r>
            <a:endParaRPr b="0" lang="en-US" sz="1400" strike="noStrike" u="none">
              <a:solidFill>
                <a:srgbClr val="000000"/>
              </a:solidFill>
              <a:effectLst/>
              <a:uFillTx/>
              <a:latin typeface="Arial"/>
            </a:endParaRPr>
          </a:p>
        </p:txBody>
      </p:sp>
      <p:sp>
        <p:nvSpPr>
          <p:cNvPr id="1545" name="Row10"/>
          <p:cNvSpPr/>
          <p:nvPr/>
        </p:nvSpPr>
        <p:spPr>
          <a:xfrm>
            <a:off x="548640" y="1005840"/>
            <a:ext cx="8046000" cy="639360"/>
          </a:xfrm>
          <a:prstGeom prst="roundRect">
            <a:avLst>
              <a:gd name="adj" fmla="val 8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182880" rIns="90000" tIns="91440" bIns="45000" anchor="ctr">
            <a:noAutofit/>
          </a:bodyPr>
          <a:p>
            <a:pPr defTabSz="914400">
              <a:lnSpc>
                <a:spcPct val="100000"/>
              </a:lnSpc>
            </a:pPr>
            <a:r>
              <a:rPr b="1" lang="en-US" sz="1400" strike="noStrike" u="none">
                <a:solidFill>
                  <a:srgbClr val="1a1a2e"/>
                </a:solidFill>
                <a:effectLst/>
                <a:uFillTx/>
                <a:latin typeface="Trebuchet MS"/>
              </a:rPr>
              <a:t>Natural-Sounding Copy</a:t>
            </a:r>
            <a:endParaRPr b="0" lang="en-US" sz="1400" strike="noStrike" u="none">
              <a:solidFill>
                <a:srgbClr val="000000"/>
              </a:solidFill>
              <a:effectLst/>
              <a:uFillTx/>
              <a:latin typeface="Arial"/>
            </a:endParaRPr>
          </a:p>
          <a:p>
            <a:pPr defTabSz="914400">
              <a:lnSpc>
                <a:spcPct val="100000"/>
              </a:lnSpc>
            </a:pPr>
            <a:r>
              <a:rPr b="0" lang="en-US" sz="1100" strike="noStrike" u="none">
                <a:solidFill>
                  <a:srgbClr val="1a1a2e"/>
                </a:solidFill>
                <a:effectLst/>
                <a:uFillTx/>
                <a:latin typeface="Calibri"/>
              </a:rPr>
              <a:t>Produces human-quality writing that does not feel AI-generated</a:t>
            </a:r>
            <a:endParaRPr b="0" lang="en-US" sz="1100" strike="noStrike" u="none">
              <a:solidFill>
                <a:srgbClr val="000000"/>
              </a:solidFill>
              <a:effectLst/>
              <a:uFillTx/>
              <a:latin typeface="Arial"/>
            </a:endParaRPr>
          </a:p>
        </p:txBody>
      </p:sp>
      <p:sp>
        <p:nvSpPr>
          <p:cNvPr id="1546" name="Border11"/>
          <p:cNvSpPr/>
          <p:nvPr/>
        </p:nvSpPr>
        <p:spPr>
          <a:xfrm>
            <a:off x="548640" y="1051560"/>
            <a:ext cx="54000" cy="547920"/>
          </a:xfrm>
          <a:prstGeom prst="roundRect">
            <a:avLst>
              <a:gd name="adj" fmla="val 50000"/>
            </a:avLst>
          </a:prstGeom>
          <a:solidFill>
            <a:srgbClr val="d4a574"/>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547" name="Row12"/>
          <p:cNvSpPr/>
          <p:nvPr/>
        </p:nvSpPr>
        <p:spPr>
          <a:xfrm>
            <a:off x="548640" y="1691640"/>
            <a:ext cx="8046000" cy="639360"/>
          </a:xfrm>
          <a:prstGeom prst="roundRect">
            <a:avLst>
              <a:gd name="adj" fmla="val 8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182880" rIns="90000" tIns="91440" bIns="45000" anchor="ctr">
            <a:noAutofit/>
          </a:bodyPr>
          <a:p>
            <a:pPr defTabSz="914400">
              <a:lnSpc>
                <a:spcPct val="100000"/>
              </a:lnSpc>
            </a:pPr>
            <a:r>
              <a:rPr b="1" lang="en-US" sz="1400" strike="noStrike" u="none">
                <a:solidFill>
                  <a:srgbClr val="1a1a2e"/>
                </a:solidFill>
                <a:effectLst/>
                <a:uFillTx/>
                <a:latin typeface="Trebuchet MS"/>
              </a:rPr>
              <a:t>Long-Form Content</a:t>
            </a:r>
            <a:endParaRPr b="0" lang="en-US" sz="1400" strike="noStrike" u="none">
              <a:solidFill>
                <a:srgbClr val="000000"/>
              </a:solidFill>
              <a:effectLst/>
              <a:uFillTx/>
              <a:latin typeface="Arial"/>
            </a:endParaRPr>
          </a:p>
          <a:p>
            <a:pPr defTabSz="914400">
              <a:lnSpc>
                <a:spcPct val="100000"/>
              </a:lnSpc>
            </a:pPr>
            <a:r>
              <a:rPr b="0" lang="en-US" sz="1100" strike="noStrike" u="none">
                <a:solidFill>
                  <a:srgbClr val="2d2d2d"/>
                </a:solidFill>
                <a:effectLst/>
                <a:uFillTx/>
                <a:latin typeface="Calibri"/>
              </a:rPr>
              <a:t>Excels at blogs, proposals, reports, and detailed documents</a:t>
            </a:r>
            <a:endParaRPr b="0" lang="en-US" sz="1100" strike="noStrike" u="none">
              <a:solidFill>
                <a:srgbClr val="000000"/>
              </a:solidFill>
              <a:effectLst/>
              <a:uFillTx/>
              <a:latin typeface="Arial"/>
            </a:endParaRPr>
          </a:p>
        </p:txBody>
      </p:sp>
      <p:sp>
        <p:nvSpPr>
          <p:cNvPr id="1548" name="Border13"/>
          <p:cNvSpPr/>
          <p:nvPr/>
        </p:nvSpPr>
        <p:spPr>
          <a:xfrm>
            <a:off x="548640" y="1737360"/>
            <a:ext cx="54000" cy="547920"/>
          </a:xfrm>
          <a:prstGeom prst="roundRect">
            <a:avLst>
              <a:gd name="adj" fmla="val 50000"/>
            </a:avLst>
          </a:prstGeom>
          <a:solidFill>
            <a:srgbClr val="d4a574"/>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549" name="Row14"/>
          <p:cNvSpPr/>
          <p:nvPr/>
        </p:nvSpPr>
        <p:spPr>
          <a:xfrm>
            <a:off x="548640" y="2377440"/>
            <a:ext cx="8046000" cy="639360"/>
          </a:xfrm>
          <a:prstGeom prst="roundRect">
            <a:avLst>
              <a:gd name="adj" fmla="val 8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182880" rIns="90000" tIns="91440" bIns="45000" anchor="ctr">
            <a:noAutofit/>
          </a:bodyPr>
          <a:p>
            <a:pPr defTabSz="914400">
              <a:lnSpc>
                <a:spcPct val="100000"/>
              </a:lnSpc>
            </a:pPr>
            <a:r>
              <a:rPr b="1" lang="en-US" sz="1400" strike="noStrike" u="none">
                <a:solidFill>
                  <a:srgbClr val="1a1a2e"/>
                </a:solidFill>
                <a:effectLst/>
                <a:uFillTx/>
                <a:latin typeface="Trebuchet MS"/>
              </a:rPr>
              <a:t>Strategic Thinking</a:t>
            </a:r>
            <a:endParaRPr b="0" lang="en-US" sz="1400" strike="noStrike" u="none">
              <a:solidFill>
                <a:srgbClr val="000000"/>
              </a:solidFill>
              <a:effectLst/>
              <a:uFillTx/>
              <a:latin typeface="Arial"/>
            </a:endParaRPr>
          </a:p>
          <a:p>
            <a:pPr defTabSz="914400">
              <a:lnSpc>
                <a:spcPct val="100000"/>
              </a:lnSpc>
            </a:pPr>
            <a:r>
              <a:rPr b="0" lang="en-US" sz="1100" strike="noStrike" u="none">
                <a:solidFill>
                  <a:srgbClr val="2d2d2d"/>
                </a:solidFill>
                <a:effectLst/>
                <a:uFillTx/>
                <a:latin typeface="Calibri"/>
              </a:rPr>
              <a:t>Helps develop marketing strategies and campaign frameworks</a:t>
            </a:r>
            <a:endParaRPr b="0" lang="en-US" sz="1100" strike="noStrike" u="none">
              <a:solidFill>
                <a:srgbClr val="000000"/>
              </a:solidFill>
              <a:effectLst/>
              <a:uFillTx/>
              <a:latin typeface="Arial"/>
            </a:endParaRPr>
          </a:p>
        </p:txBody>
      </p:sp>
      <p:sp>
        <p:nvSpPr>
          <p:cNvPr id="1550" name="Border15"/>
          <p:cNvSpPr/>
          <p:nvPr/>
        </p:nvSpPr>
        <p:spPr>
          <a:xfrm>
            <a:off x="548640" y="2423160"/>
            <a:ext cx="54000" cy="547920"/>
          </a:xfrm>
          <a:prstGeom prst="roundRect">
            <a:avLst>
              <a:gd name="adj" fmla="val 50000"/>
            </a:avLst>
          </a:prstGeom>
          <a:solidFill>
            <a:srgbClr val="d4a574"/>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551" name="Row16"/>
          <p:cNvSpPr/>
          <p:nvPr/>
        </p:nvSpPr>
        <p:spPr>
          <a:xfrm>
            <a:off x="548640" y="3063240"/>
            <a:ext cx="8046000" cy="639360"/>
          </a:xfrm>
          <a:prstGeom prst="roundRect">
            <a:avLst>
              <a:gd name="adj" fmla="val 8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182880" rIns="90000" tIns="91440" bIns="45000" anchor="ctr">
            <a:noAutofit/>
          </a:bodyPr>
          <a:p>
            <a:pPr defTabSz="914400">
              <a:lnSpc>
                <a:spcPct val="100000"/>
              </a:lnSpc>
            </a:pPr>
            <a:r>
              <a:rPr b="1" lang="en-US" sz="1400" strike="noStrike" u="none">
                <a:solidFill>
                  <a:srgbClr val="1a1a2e"/>
                </a:solidFill>
                <a:effectLst/>
                <a:uFillTx/>
                <a:latin typeface="Trebuchet MS"/>
              </a:rPr>
              <a:t>Data Analysis</a:t>
            </a:r>
            <a:endParaRPr b="0" lang="en-US" sz="1400" strike="noStrike" u="none">
              <a:solidFill>
                <a:srgbClr val="000000"/>
              </a:solidFill>
              <a:effectLst/>
              <a:uFillTx/>
              <a:latin typeface="Arial"/>
            </a:endParaRPr>
          </a:p>
          <a:p>
            <a:pPr defTabSz="914400">
              <a:lnSpc>
                <a:spcPct val="100000"/>
              </a:lnSpc>
            </a:pPr>
            <a:r>
              <a:rPr b="0" lang="en-US" sz="1100" strike="noStrike" u="none">
                <a:solidFill>
                  <a:srgbClr val="2d2d2d"/>
                </a:solidFill>
                <a:effectLst/>
                <a:uFillTx/>
                <a:latin typeface="Calibri"/>
              </a:rPr>
              <a:t>Upload spreadsheets and get actionable marketing insights</a:t>
            </a:r>
            <a:endParaRPr b="0" lang="en-US" sz="1100" strike="noStrike" u="none">
              <a:solidFill>
                <a:srgbClr val="000000"/>
              </a:solidFill>
              <a:effectLst/>
              <a:uFillTx/>
              <a:latin typeface="Arial"/>
            </a:endParaRPr>
          </a:p>
        </p:txBody>
      </p:sp>
      <p:sp>
        <p:nvSpPr>
          <p:cNvPr id="1552" name="Border17"/>
          <p:cNvSpPr/>
          <p:nvPr/>
        </p:nvSpPr>
        <p:spPr>
          <a:xfrm>
            <a:off x="548640" y="3108960"/>
            <a:ext cx="54000" cy="547920"/>
          </a:xfrm>
          <a:prstGeom prst="roundRect">
            <a:avLst>
              <a:gd name="adj" fmla="val 50000"/>
            </a:avLst>
          </a:prstGeom>
          <a:solidFill>
            <a:srgbClr val="d4a574"/>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553" name="Row18"/>
          <p:cNvSpPr/>
          <p:nvPr/>
        </p:nvSpPr>
        <p:spPr>
          <a:xfrm>
            <a:off x="548640" y="3749040"/>
            <a:ext cx="8046000" cy="639360"/>
          </a:xfrm>
          <a:prstGeom prst="roundRect">
            <a:avLst>
              <a:gd name="adj" fmla="val 8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182880" rIns="90000" tIns="91440" bIns="45000" anchor="ctr">
            <a:noAutofit/>
          </a:bodyPr>
          <a:p>
            <a:pPr defTabSz="914400">
              <a:lnSpc>
                <a:spcPct val="100000"/>
              </a:lnSpc>
            </a:pPr>
            <a:r>
              <a:rPr b="1" lang="en-US" sz="1400" strike="noStrike" u="none">
                <a:solidFill>
                  <a:srgbClr val="1a1a2e"/>
                </a:solidFill>
                <a:effectLst/>
                <a:uFillTx/>
                <a:latin typeface="Trebuchet MS"/>
              </a:rPr>
              <a:t>Brand Voice</a:t>
            </a:r>
            <a:endParaRPr b="0" lang="en-US" sz="1400" strike="noStrike" u="none">
              <a:solidFill>
                <a:srgbClr val="000000"/>
              </a:solidFill>
              <a:effectLst/>
              <a:uFillTx/>
              <a:latin typeface="Arial"/>
            </a:endParaRPr>
          </a:p>
          <a:p>
            <a:pPr defTabSz="914400">
              <a:lnSpc>
                <a:spcPct val="100000"/>
              </a:lnSpc>
            </a:pPr>
            <a:r>
              <a:rPr b="0" lang="en-US" sz="1100" strike="noStrike" u="none">
                <a:solidFill>
                  <a:srgbClr val="2d2d2d"/>
                </a:solidFill>
                <a:effectLst/>
                <a:uFillTx/>
                <a:latin typeface="Calibri"/>
              </a:rPr>
              <a:t>Maintains consistent tone across all your communications</a:t>
            </a:r>
            <a:endParaRPr b="0" lang="en-US" sz="1100" strike="noStrike" u="none">
              <a:solidFill>
                <a:srgbClr val="000000"/>
              </a:solidFill>
              <a:effectLst/>
              <a:uFillTx/>
              <a:latin typeface="Arial"/>
            </a:endParaRPr>
          </a:p>
        </p:txBody>
      </p:sp>
      <p:sp>
        <p:nvSpPr>
          <p:cNvPr id="1554" name="Border19"/>
          <p:cNvSpPr/>
          <p:nvPr/>
        </p:nvSpPr>
        <p:spPr>
          <a:xfrm>
            <a:off x="548640" y="3794760"/>
            <a:ext cx="54000" cy="547920"/>
          </a:xfrm>
          <a:prstGeom prst="roundRect">
            <a:avLst>
              <a:gd name="adj" fmla="val 50000"/>
            </a:avLst>
          </a:prstGeom>
          <a:solidFill>
            <a:srgbClr val="d4a574"/>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555" name="Footer"/>
          <p:cNvSpPr/>
          <p:nvPr/>
        </p:nvSpPr>
        <p:spPr>
          <a:xfrm>
            <a:off x="0" y="4874400"/>
            <a:ext cx="9143280" cy="268560"/>
          </a:xfrm>
          <a:prstGeom prst="rect">
            <a:avLst/>
          </a:prstGeom>
          <a:solidFill>
            <a:srgbClr val="1a1a2e"/>
          </a:solidFill>
          <a:ln w="0">
            <a:noFill/>
          </a:ln>
        </p:spPr>
        <p:style>
          <a:lnRef idx="0"/>
          <a:fillRef idx="0"/>
          <a:effectRef idx="0"/>
          <a:fontRef idx="minor"/>
        </p:style>
        <p:txBody>
          <a:bodyPr lIns="548640" rIns="90000" tIns="45000" bIns="45000" anchor="ctr">
            <a:noAutofit/>
          </a:bodyPr>
          <a:p>
            <a:pPr defTabSz="914400">
              <a:lnSpc>
                <a:spcPct val="100000"/>
              </a:lnSpc>
            </a:pPr>
            <a:r>
              <a:rPr b="0" lang="en-US" sz="1000" strike="noStrike" u="none">
                <a:solidFill>
                  <a:srgbClr val="ffffff"/>
                </a:solidFill>
                <a:effectLst/>
                <a:uFillTx/>
                <a:latin typeface="Calibri"/>
              </a:rPr>
              <a:t>claude.ai</a:t>
            </a:r>
            <a:endParaRPr b="0" lang="en-US" sz="1000" strike="noStrike" u="none">
              <a:solidFill>
                <a:srgbClr val="ffffff"/>
              </a:solidFill>
              <a:effectLst/>
              <a:uFillTx/>
              <a:latin typeface="Arial"/>
            </a:endParaRPr>
          </a:p>
        </p:txBody>
      </p:sp>
      <p:pic>
        <p:nvPicPr>
          <p:cNvPr id="1556" name="Picture 1538" descr="claude.png"/>
          <p:cNvPicPr/>
          <p:nvPr/>
        </p:nvPicPr>
        <p:blipFill>
          <a:blip r:embed="rId1"/>
          <a:stretch/>
        </p:blipFill>
        <p:spPr>
          <a:xfrm>
            <a:off x="8138160" y="137160"/>
            <a:ext cx="639720" cy="639720"/>
          </a:xfrm>
          <a:prstGeom prst="rect">
            <a:avLst/>
          </a:prstGeom>
          <a:noFill/>
          <a:ln w="0">
            <a:noFill/>
          </a:ln>
        </p:spPr>
      </p:pic>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57" name="Header"/>
          <p:cNvSpPr/>
          <p:nvPr/>
        </p:nvSpPr>
        <p:spPr>
          <a:xfrm>
            <a:off x="0" y="0"/>
            <a:ext cx="9143280" cy="913680"/>
          </a:xfrm>
          <a:prstGeom prst="rect">
            <a:avLst/>
          </a:prstGeom>
          <a:solidFill>
            <a:srgbClr val="0084ff"/>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1a1a2e"/>
              </a:solidFill>
              <a:effectLst/>
              <a:uFillTx/>
              <a:latin typeface="Arial"/>
            </a:endParaRPr>
          </a:p>
        </p:txBody>
      </p:sp>
      <p:sp>
        <p:nvSpPr>
          <p:cNvPr id="1558" name="BrandName"/>
          <p:cNvSpPr/>
          <p:nvPr/>
        </p:nvSpPr>
        <p:spPr>
          <a:xfrm>
            <a:off x="548640" y="137160"/>
            <a:ext cx="8046000" cy="502200"/>
          </a:xfrm>
          <a:prstGeom prst="rect">
            <a:avLst/>
          </a:prstGeom>
          <a:noFill/>
          <a:ln w="0">
            <a:noFill/>
          </a:ln>
        </p:spPr>
        <p:style>
          <a:lnRef idx="0"/>
          <a:fillRef idx="0"/>
          <a:effectRef idx="0"/>
          <a:fontRef idx="minor"/>
        </p:style>
        <p:txBody>
          <a:bodyPr lIns="90000" rIns="90000" tIns="45000" bIns="45000" anchor="b">
            <a:noAutofit/>
          </a:bodyPr>
          <a:p>
            <a:pPr defTabSz="914400">
              <a:lnSpc>
                <a:spcPct val="100000"/>
              </a:lnSpc>
            </a:pPr>
            <a:r>
              <a:rPr b="1" lang="en-US" sz="3200" strike="noStrike" u="none">
                <a:solidFill>
                  <a:srgbClr val="ffffff"/>
                </a:solidFill>
                <a:effectLst/>
                <a:uFillTx/>
                <a:latin typeface="Trebuchet MS"/>
              </a:rPr>
              <a:t>Meta.ai</a:t>
            </a:r>
            <a:endParaRPr b="0" lang="en-US" sz="3200" strike="noStrike" u="none">
              <a:solidFill>
                <a:srgbClr val="000000"/>
              </a:solidFill>
              <a:effectLst/>
              <a:uFillTx/>
              <a:latin typeface="Arial"/>
            </a:endParaRPr>
          </a:p>
        </p:txBody>
      </p:sp>
      <p:sp>
        <p:nvSpPr>
          <p:cNvPr id="1559" name="Subtitle"/>
          <p:cNvSpPr/>
          <p:nvPr/>
        </p:nvSpPr>
        <p:spPr>
          <a:xfrm>
            <a:off x="548640" y="640080"/>
            <a:ext cx="8046000" cy="2736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0" lang="en-US" sz="1400" strike="noStrike" u="none">
                <a:solidFill>
                  <a:srgbClr val="ffffff"/>
                </a:solidFill>
                <a:effectLst/>
                <a:uFillTx/>
                <a:latin typeface="Calibri"/>
              </a:rPr>
              <a:t>Social and Messaging AI</a:t>
            </a:r>
            <a:endParaRPr b="0" lang="en-US" sz="1400" strike="noStrike" u="none">
              <a:solidFill>
                <a:srgbClr val="000000"/>
              </a:solidFill>
              <a:effectLst/>
              <a:uFillTx/>
              <a:latin typeface="Arial"/>
            </a:endParaRPr>
          </a:p>
        </p:txBody>
      </p:sp>
      <p:sp>
        <p:nvSpPr>
          <p:cNvPr id="1560" name="Row10"/>
          <p:cNvSpPr/>
          <p:nvPr/>
        </p:nvSpPr>
        <p:spPr>
          <a:xfrm>
            <a:off x="548640" y="1005840"/>
            <a:ext cx="8046000" cy="639360"/>
          </a:xfrm>
          <a:prstGeom prst="roundRect">
            <a:avLst>
              <a:gd name="adj" fmla="val 8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182880" rIns="90000" tIns="91440" bIns="45000" anchor="ctr">
            <a:noAutofit/>
          </a:bodyPr>
          <a:p>
            <a:pPr defTabSz="914400">
              <a:lnSpc>
                <a:spcPct val="100000"/>
              </a:lnSpc>
            </a:pPr>
            <a:r>
              <a:rPr b="1" lang="en-US" sz="1400" strike="noStrike" u="none">
                <a:solidFill>
                  <a:srgbClr val="1a1a2e"/>
                </a:solidFill>
                <a:effectLst/>
                <a:uFillTx/>
                <a:latin typeface="Trebuchet MS"/>
              </a:rPr>
              <a:t>WhatsApp Integration</a:t>
            </a:r>
            <a:endParaRPr b="0" lang="en-US" sz="1400" strike="noStrike" u="none">
              <a:solidFill>
                <a:srgbClr val="000000"/>
              </a:solidFill>
              <a:effectLst/>
              <a:uFillTx/>
              <a:latin typeface="Arial"/>
            </a:endParaRPr>
          </a:p>
          <a:p>
            <a:pPr defTabSz="914400">
              <a:lnSpc>
                <a:spcPct val="100000"/>
              </a:lnSpc>
            </a:pPr>
            <a:r>
              <a:rPr b="0" lang="en-US" sz="1100" strike="noStrike" u="none">
                <a:solidFill>
                  <a:srgbClr val="1a1a2e"/>
                </a:solidFill>
                <a:effectLst/>
                <a:uFillTx/>
                <a:latin typeface="Calibri"/>
              </a:rPr>
              <a:t>Generate content directly inside Singapore's #1 messaging app</a:t>
            </a:r>
            <a:endParaRPr b="0" lang="en-US" sz="1100" strike="noStrike" u="none">
              <a:solidFill>
                <a:srgbClr val="000000"/>
              </a:solidFill>
              <a:effectLst/>
              <a:uFillTx/>
              <a:latin typeface="Arial"/>
            </a:endParaRPr>
          </a:p>
        </p:txBody>
      </p:sp>
      <p:sp>
        <p:nvSpPr>
          <p:cNvPr id="1561" name="Border11"/>
          <p:cNvSpPr/>
          <p:nvPr/>
        </p:nvSpPr>
        <p:spPr>
          <a:xfrm>
            <a:off x="548640" y="1051560"/>
            <a:ext cx="54000" cy="547920"/>
          </a:xfrm>
          <a:prstGeom prst="roundRect">
            <a:avLst>
              <a:gd name="adj" fmla="val 50000"/>
            </a:avLst>
          </a:prstGeom>
          <a:solidFill>
            <a:srgbClr val="0084ff"/>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1a1a2e"/>
              </a:solidFill>
              <a:effectLst/>
              <a:uFillTx/>
              <a:latin typeface="Arial"/>
            </a:endParaRPr>
          </a:p>
        </p:txBody>
      </p:sp>
      <p:sp>
        <p:nvSpPr>
          <p:cNvPr id="1562" name="Row12"/>
          <p:cNvSpPr/>
          <p:nvPr/>
        </p:nvSpPr>
        <p:spPr>
          <a:xfrm>
            <a:off x="548640" y="1691640"/>
            <a:ext cx="8046000" cy="639360"/>
          </a:xfrm>
          <a:prstGeom prst="roundRect">
            <a:avLst>
              <a:gd name="adj" fmla="val 8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182880" rIns="90000" tIns="91440" bIns="45000" anchor="ctr">
            <a:noAutofit/>
          </a:bodyPr>
          <a:p>
            <a:pPr defTabSz="914400">
              <a:lnSpc>
                <a:spcPct val="100000"/>
              </a:lnSpc>
            </a:pPr>
            <a:r>
              <a:rPr b="1" lang="en-US" sz="1400" strike="noStrike" u="none">
                <a:solidFill>
                  <a:srgbClr val="1a1a2e"/>
                </a:solidFill>
                <a:effectLst/>
                <a:uFillTx/>
                <a:latin typeface="Trebuchet MS"/>
              </a:rPr>
              <a:t>Image Generation</a:t>
            </a:r>
            <a:endParaRPr b="0" lang="en-US" sz="1400" strike="noStrike" u="none">
              <a:solidFill>
                <a:srgbClr val="000000"/>
              </a:solidFill>
              <a:effectLst/>
              <a:uFillTx/>
              <a:latin typeface="Arial"/>
            </a:endParaRPr>
          </a:p>
          <a:p>
            <a:pPr defTabSz="914400">
              <a:lnSpc>
                <a:spcPct val="100000"/>
              </a:lnSpc>
            </a:pPr>
            <a:r>
              <a:rPr b="0" lang="en-US" sz="1100" strike="noStrike" u="none">
                <a:solidFill>
                  <a:srgbClr val="2d2d2d"/>
                </a:solidFill>
                <a:effectLst/>
                <a:uFillTx/>
                <a:latin typeface="Calibri"/>
              </a:rPr>
              <a:t>Create visuals for social media without switching apps</a:t>
            </a:r>
            <a:endParaRPr b="0" lang="en-US" sz="1100" strike="noStrike" u="none">
              <a:solidFill>
                <a:srgbClr val="000000"/>
              </a:solidFill>
              <a:effectLst/>
              <a:uFillTx/>
              <a:latin typeface="Arial"/>
            </a:endParaRPr>
          </a:p>
        </p:txBody>
      </p:sp>
      <p:sp>
        <p:nvSpPr>
          <p:cNvPr id="1563" name="Border13"/>
          <p:cNvSpPr/>
          <p:nvPr/>
        </p:nvSpPr>
        <p:spPr>
          <a:xfrm>
            <a:off x="548640" y="1737360"/>
            <a:ext cx="54000" cy="547920"/>
          </a:xfrm>
          <a:prstGeom prst="roundRect">
            <a:avLst>
              <a:gd name="adj" fmla="val 50000"/>
            </a:avLst>
          </a:prstGeom>
          <a:solidFill>
            <a:srgbClr val="0084ff"/>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1a1a2e"/>
              </a:solidFill>
              <a:effectLst/>
              <a:uFillTx/>
              <a:latin typeface="Arial"/>
            </a:endParaRPr>
          </a:p>
        </p:txBody>
      </p:sp>
      <p:sp>
        <p:nvSpPr>
          <p:cNvPr id="1564" name="Row14"/>
          <p:cNvSpPr/>
          <p:nvPr/>
        </p:nvSpPr>
        <p:spPr>
          <a:xfrm>
            <a:off x="548640" y="2377440"/>
            <a:ext cx="8046000" cy="639360"/>
          </a:xfrm>
          <a:prstGeom prst="roundRect">
            <a:avLst>
              <a:gd name="adj" fmla="val 8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182880" rIns="90000" tIns="91440" bIns="45000" anchor="ctr">
            <a:noAutofit/>
          </a:bodyPr>
          <a:p>
            <a:pPr defTabSz="914400">
              <a:lnSpc>
                <a:spcPct val="100000"/>
              </a:lnSpc>
            </a:pPr>
            <a:r>
              <a:rPr b="1" lang="en-US" sz="1400" strike="noStrike" u="none">
                <a:solidFill>
                  <a:srgbClr val="1a1a2e"/>
                </a:solidFill>
                <a:effectLst/>
                <a:uFillTx/>
                <a:latin typeface="Trebuchet MS"/>
              </a:rPr>
              <a:t>Business Messaging</a:t>
            </a:r>
            <a:endParaRPr b="0" lang="en-US" sz="1400" strike="noStrike" u="none">
              <a:solidFill>
                <a:srgbClr val="000000"/>
              </a:solidFill>
              <a:effectLst/>
              <a:uFillTx/>
              <a:latin typeface="Arial"/>
            </a:endParaRPr>
          </a:p>
          <a:p>
            <a:pPr defTabSz="914400">
              <a:lnSpc>
                <a:spcPct val="100000"/>
              </a:lnSpc>
            </a:pPr>
            <a:r>
              <a:rPr b="0" lang="en-US" sz="1100" strike="noStrike" u="none">
                <a:solidFill>
                  <a:srgbClr val="2d2d2d"/>
                </a:solidFill>
                <a:effectLst/>
                <a:uFillTx/>
                <a:latin typeface="Calibri"/>
              </a:rPr>
              <a:t>Craft customer responses and marketing messages in-chat</a:t>
            </a:r>
            <a:endParaRPr b="0" lang="en-US" sz="1100" strike="noStrike" u="none">
              <a:solidFill>
                <a:srgbClr val="000000"/>
              </a:solidFill>
              <a:effectLst/>
              <a:uFillTx/>
              <a:latin typeface="Arial"/>
            </a:endParaRPr>
          </a:p>
        </p:txBody>
      </p:sp>
      <p:sp>
        <p:nvSpPr>
          <p:cNvPr id="1565" name="Border15"/>
          <p:cNvSpPr/>
          <p:nvPr/>
        </p:nvSpPr>
        <p:spPr>
          <a:xfrm>
            <a:off x="548640" y="2423160"/>
            <a:ext cx="54000" cy="547920"/>
          </a:xfrm>
          <a:prstGeom prst="roundRect">
            <a:avLst>
              <a:gd name="adj" fmla="val 50000"/>
            </a:avLst>
          </a:prstGeom>
          <a:solidFill>
            <a:srgbClr val="0084ff"/>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1a1a2e"/>
              </a:solidFill>
              <a:effectLst/>
              <a:uFillTx/>
              <a:latin typeface="Arial"/>
            </a:endParaRPr>
          </a:p>
        </p:txBody>
      </p:sp>
      <p:sp>
        <p:nvSpPr>
          <p:cNvPr id="1566" name="Row16"/>
          <p:cNvSpPr/>
          <p:nvPr/>
        </p:nvSpPr>
        <p:spPr>
          <a:xfrm>
            <a:off x="548640" y="3063240"/>
            <a:ext cx="8046000" cy="639360"/>
          </a:xfrm>
          <a:prstGeom prst="roundRect">
            <a:avLst>
              <a:gd name="adj" fmla="val 8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182880" rIns="90000" tIns="91440" bIns="45000" anchor="ctr">
            <a:noAutofit/>
          </a:bodyPr>
          <a:p>
            <a:pPr defTabSz="914400">
              <a:lnSpc>
                <a:spcPct val="100000"/>
              </a:lnSpc>
            </a:pPr>
            <a:r>
              <a:rPr b="1" lang="en-US" sz="1400" strike="noStrike" u="none">
                <a:solidFill>
                  <a:srgbClr val="1a1a2e"/>
                </a:solidFill>
                <a:effectLst/>
                <a:uFillTx/>
                <a:latin typeface="Trebuchet MS"/>
              </a:rPr>
              <a:t>Cultural Context</a:t>
            </a:r>
            <a:endParaRPr b="0" lang="en-US" sz="1400" strike="noStrike" u="none">
              <a:solidFill>
                <a:srgbClr val="000000"/>
              </a:solidFill>
              <a:effectLst/>
              <a:uFillTx/>
              <a:latin typeface="Arial"/>
            </a:endParaRPr>
          </a:p>
          <a:p>
            <a:pPr defTabSz="914400">
              <a:lnSpc>
                <a:spcPct val="100000"/>
              </a:lnSpc>
            </a:pPr>
            <a:r>
              <a:rPr b="0" lang="en-US" sz="1100" strike="noStrike" u="none">
                <a:solidFill>
                  <a:srgbClr val="2d2d2d"/>
                </a:solidFill>
                <a:effectLst/>
                <a:uFillTx/>
                <a:latin typeface="Calibri"/>
              </a:rPr>
              <a:t>Understands Southeast Asian markets and local nuances</a:t>
            </a:r>
            <a:endParaRPr b="0" lang="en-US" sz="1100" strike="noStrike" u="none">
              <a:solidFill>
                <a:srgbClr val="000000"/>
              </a:solidFill>
              <a:effectLst/>
              <a:uFillTx/>
              <a:latin typeface="Arial"/>
            </a:endParaRPr>
          </a:p>
        </p:txBody>
      </p:sp>
      <p:sp>
        <p:nvSpPr>
          <p:cNvPr id="1567" name="Border17"/>
          <p:cNvSpPr/>
          <p:nvPr/>
        </p:nvSpPr>
        <p:spPr>
          <a:xfrm>
            <a:off x="548640" y="3108960"/>
            <a:ext cx="54000" cy="547920"/>
          </a:xfrm>
          <a:prstGeom prst="roundRect">
            <a:avLst>
              <a:gd name="adj" fmla="val 50000"/>
            </a:avLst>
          </a:prstGeom>
          <a:solidFill>
            <a:srgbClr val="0084ff"/>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1a1a2e"/>
              </a:solidFill>
              <a:effectLst/>
              <a:uFillTx/>
              <a:latin typeface="Arial"/>
            </a:endParaRPr>
          </a:p>
        </p:txBody>
      </p:sp>
      <p:sp>
        <p:nvSpPr>
          <p:cNvPr id="1568" name="Row18"/>
          <p:cNvSpPr/>
          <p:nvPr/>
        </p:nvSpPr>
        <p:spPr>
          <a:xfrm>
            <a:off x="548640" y="3749040"/>
            <a:ext cx="8046000" cy="639360"/>
          </a:xfrm>
          <a:prstGeom prst="roundRect">
            <a:avLst>
              <a:gd name="adj" fmla="val 8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182880" rIns="90000" tIns="91440" bIns="45000" anchor="ctr">
            <a:noAutofit/>
          </a:bodyPr>
          <a:p>
            <a:pPr defTabSz="914400">
              <a:lnSpc>
                <a:spcPct val="100000"/>
              </a:lnSpc>
            </a:pPr>
            <a:r>
              <a:rPr b="1" lang="en-US" sz="1400" strike="noStrike" u="none">
                <a:solidFill>
                  <a:srgbClr val="1a1a2e"/>
                </a:solidFill>
                <a:effectLst/>
                <a:uFillTx/>
                <a:latin typeface="Trebuchet MS"/>
              </a:rPr>
              <a:t>Free Access</a:t>
            </a:r>
            <a:endParaRPr b="0" lang="en-US" sz="1400" strike="noStrike" u="none">
              <a:solidFill>
                <a:srgbClr val="000000"/>
              </a:solidFill>
              <a:effectLst/>
              <a:uFillTx/>
              <a:latin typeface="Arial"/>
            </a:endParaRPr>
          </a:p>
          <a:p>
            <a:pPr defTabSz="914400">
              <a:lnSpc>
                <a:spcPct val="100000"/>
              </a:lnSpc>
            </a:pPr>
            <a:r>
              <a:rPr b="0" lang="en-US" sz="1100" strike="noStrike" u="none">
                <a:solidFill>
                  <a:srgbClr val="2d2d2d"/>
                </a:solidFill>
                <a:effectLst/>
                <a:uFillTx/>
                <a:latin typeface="Calibri"/>
              </a:rPr>
              <a:t>No subscription needed - available to all WhatsApp and Instagram users</a:t>
            </a:r>
            <a:endParaRPr b="0" lang="en-US" sz="1100" strike="noStrike" u="none">
              <a:solidFill>
                <a:srgbClr val="000000"/>
              </a:solidFill>
              <a:effectLst/>
              <a:uFillTx/>
              <a:latin typeface="Arial"/>
            </a:endParaRPr>
          </a:p>
        </p:txBody>
      </p:sp>
      <p:sp>
        <p:nvSpPr>
          <p:cNvPr id="1569" name="Border19"/>
          <p:cNvSpPr/>
          <p:nvPr/>
        </p:nvSpPr>
        <p:spPr>
          <a:xfrm>
            <a:off x="548640" y="3794760"/>
            <a:ext cx="54000" cy="547920"/>
          </a:xfrm>
          <a:prstGeom prst="roundRect">
            <a:avLst>
              <a:gd name="adj" fmla="val 50000"/>
            </a:avLst>
          </a:prstGeom>
          <a:solidFill>
            <a:srgbClr val="0084ff"/>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1a1a2e"/>
              </a:solidFill>
              <a:effectLst/>
              <a:uFillTx/>
              <a:latin typeface="Arial"/>
            </a:endParaRPr>
          </a:p>
        </p:txBody>
      </p:sp>
      <p:sp>
        <p:nvSpPr>
          <p:cNvPr id="1570" name="Footer"/>
          <p:cNvSpPr/>
          <p:nvPr/>
        </p:nvSpPr>
        <p:spPr>
          <a:xfrm>
            <a:off x="0" y="4874400"/>
            <a:ext cx="9143280" cy="268560"/>
          </a:xfrm>
          <a:prstGeom prst="rect">
            <a:avLst/>
          </a:prstGeom>
          <a:solidFill>
            <a:srgbClr val="1a1a2e"/>
          </a:solidFill>
          <a:ln w="0">
            <a:noFill/>
          </a:ln>
        </p:spPr>
        <p:style>
          <a:lnRef idx="0"/>
          <a:fillRef idx="0"/>
          <a:effectRef idx="0"/>
          <a:fontRef idx="minor"/>
        </p:style>
        <p:txBody>
          <a:bodyPr lIns="548640" rIns="90000" tIns="45000" bIns="45000" anchor="ctr">
            <a:noAutofit/>
          </a:bodyPr>
          <a:p>
            <a:pPr defTabSz="914400">
              <a:lnSpc>
                <a:spcPct val="100000"/>
              </a:lnSpc>
            </a:pPr>
            <a:r>
              <a:rPr b="0" lang="en-US" sz="1000" strike="noStrike" u="none">
                <a:solidFill>
                  <a:srgbClr val="ffffff"/>
                </a:solidFill>
                <a:effectLst/>
                <a:uFillTx/>
                <a:latin typeface="Calibri"/>
              </a:rPr>
              <a:t>meta.ai</a:t>
            </a:r>
            <a:endParaRPr b="0" lang="en-US" sz="1000" strike="noStrike" u="none">
              <a:solidFill>
                <a:srgbClr val="ffffff"/>
              </a:solidFill>
              <a:effectLst/>
              <a:uFillTx/>
              <a:latin typeface="Arial"/>
            </a:endParaRPr>
          </a:p>
        </p:txBody>
      </p:sp>
      <p:pic>
        <p:nvPicPr>
          <p:cNvPr id="1571" name="Picture 1552" descr="metaai.png"/>
          <p:cNvPicPr/>
          <p:nvPr/>
        </p:nvPicPr>
        <p:blipFill>
          <a:blip r:embed="rId1"/>
          <a:stretch/>
        </p:blipFill>
        <p:spPr>
          <a:xfrm>
            <a:off x="8138160" y="137160"/>
            <a:ext cx="639720" cy="639720"/>
          </a:xfrm>
          <a:prstGeom prst="rect">
            <a:avLst/>
          </a:prstGeom>
          <a:noFill/>
          <a:ln w="0">
            <a:noFill/>
          </a:ln>
        </p:spPr>
      </p:pic>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72" name="Header"/>
          <p:cNvSpPr/>
          <p:nvPr/>
        </p:nvSpPr>
        <p:spPr>
          <a:xfrm>
            <a:off x="0" y="0"/>
            <a:ext cx="9143280" cy="913680"/>
          </a:xfrm>
          <a:prstGeom prst="rect">
            <a:avLst/>
          </a:prstGeom>
          <a:solidFill>
            <a:srgbClr val="4285f4"/>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1a1a2e"/>
              </a:solidFill>
              <a:effectLst/>
              <a:uFillTx/>
              <a:latin typeface="Arial"/>
            </a:endParaRPr>
          </a:p>
        </p:txBody>
      </p:sp>
      <p:sp>
        <p:nvSpPr>
          <p:cNvPr id="1573" name="BrandName"/>
          <p:cNvSpPr/>
          <p:nvPr/>
        </p:nvSpPr>
        <p:spPr>
          <a:xfrm>
            <a:off x="548640" y="137160"/>
            <a:ext cx="8046000" cy="502200"/>
          </a:xfrm>
          <a:prstGeom prst="rect">
            <a:avLst/>
          </a:prstGeom>
          <a:noFill/>
          <a:ln w="0">
            <a:noFill/>
          </a:ln>
        </p:spPr>
        <p:style>
          <a:lnRef idx="0"/>
          <a:fillRef idx="0"/>
          <a:effectRef idx="0"/>
          <a:fontRef idx="minor"/>
        </p:style>
        <p:txBody>
          <a:bodyPr lIns="90000" rIns="90000" tIns="45000" bIns="45000" anchor="b">
            <a:noAutofit/>
          </a:bodyPr>
          <a:p>
            <a:pPr defTabSz="914400">
              <a:lnSpc>
                <a:spcPct val="100000"/>
              </a:lnSpc>
            </a:pPr>
            <a:r>
              <a:rPr b="1" lang="en-US" sz="3200" strike="noStrike" u="none">
                <a:solidFill>
                  <a:srgbClr val="ffffff"/>
                </a:solidFill>
                <a:effectLst/>
                <a:uFillTx/>
                <a:latin typeface="Trebuchet MS"/>
              </a:rPr>
              <a:t>NotebookLM</a:t>
            </a:r>
            <a:endParaRPr b="0" lang="en-US" sz="3200" strike="noStrike" u="none">
              <a:solidFill>
                <a:srgbClr val="000000"/>
              </a:solidFill>
              <a:effectLst/>
              <a:uFillTx/>
              <a:latin typeface="Arial"/>
            </a:endParaRPr>
          </a:p>
        </p:txBody>
      </p:sp>
      <p:sp>
        <p:nvSpPr>
          <p:cNvPr id="1574" name="Subtitle"/>
          <p:cNvSpPr/>
          <p:nvPr/>
        </p:nvSpPr>
        <p:spPr>
          <a:xfrm>
            <a:off x="548640" y="640080"/>
            <a:ext cx="8046000" cy="27360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0" lang="en-US" sz="1400" strike="noStrike" u="none">
                <a:solidFill>
                  <a:srgbClr val="ffffff"/>
                </a:solidFill>
                <a:effectLst/>
                <a:uFillTx/>
                <a:latin typeface="Calibri"/>
              </a:rPr>
              <a:t>Content Repurposing</a:t>
            </a:r>
            <a:endParaRPr b="0" lang="en-US" sz="1400" strike="noStrike" u="none">
              <a:solidFill>
                <a:srgbClr val="000000"/>
              </a:solidFill>
              <a:effectLst/>
              <a:uFillTx/>
              <a:latin typeface="Arial"/>
            </a:endParaRPr>
          </a:p>
        </p:txBody>
      </p:sp>
      <p:sp>
        <p:nvSpPr>
          <p:cNvPr id="1575" name="Row10"/>
          <p:cNvSpPr/>
          <p:nvPr/>
        </p:nvSpPr>
        <p:spPr>
          <a:xfrm>
            <a:off x="548640" y="1005840"/>
            <a:ext cx="8046000" cy="639360"/>
          </a:xfrm>
          <a:prstGeom prst="roundRect">
            <a:avLst>
              <a:gd name="adj" fmla="val 8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182880" rIns="90000" tIns="91440" bIns="45000" anchor="ctr">
            <a:noAutofit/>
          </a:bodyPr>
          <a:p>
            <a:pPr defTabSz="914400">
              <a:lnSpc>
                <a:spcPct val="100000"/>
              </a:lnSpc>
            </a:pPr>
            <a:r>
              <a:rPr b="1" lang="en-US" sz="1400" strike="noStrike" u="none">
                <a:solidFill>
                  <a:srgbClr val="1a1a2e"/>
                </a:solidFill>
                <a:effectLst/>
                <a:uFillTx/>
                <a:latin typeface="Trebuchet MS"/>
              </a:rPr>
              <a:t>Audio Overviews</a:t>
            </a:r>
            <a:endParaRPr b="0" lang="en-US" sz="1400" strike="noStrike" u="none">
              <a:solidFill>
                <a:srgbClr val="000000"/>
              </a:solidFill>
              <a:effectLst/>
              <a:uFillTx/>
              <a:latin typeface="Arial"/>
            </a:endParaRPr>
          </a:p>
          <a:p>
            <a:pPr defTabSz="914400">
              <a:lnSpc>
                <a:spcPct val="100000"/>
              </a:lnSpc>
            </a:pPr>
            <a:r>
              <a:rPr b="0" lang="en-US" sz="1100" strike="noStrike" u="none">
                <a:solidFill>
                  <a:srgbClr val="1a1a2e"/>
                </a:solidFill>
                <a:effectLst/>
                <a:uFillTx/>
                <a:latin typeface="Calibri"/>
              </a:rPr>
              <a:t>Turn any document into a podcast-style audio summary</a:t>
            </a:r>
            <a:endParaRPr b="0" lang="en-US" sz="1100" strike="noStrike" u="none">
              <a:solidFill>
                <a:srgbClr val="000000"/>
              </a:solidFill>
              <a:effectLst/>
              <a:uFillTx/>
              <a:latin typeface="Arial"/>
            </a:endParaRPr>
          </a:p>
        </p:txBody>
      </p:sp>
      <p:sp>
        <p:nvSpPr>
          <p:cNvPr id="1576" name="Border11"/>
          <p:cNvSpPr/>
          <p:nvPr/>
        </p:nvSpPr>
        <p:spPr>
          <a:xfrm>
            <a:off x="548640" y="1051560"/>
            <a:ext cx="54000" cy="547920"/>
          </a:xfrm>
          <a:prstGeom prst="roundRect">
            <a:avLst>
              <a:gd name="adj" fmla="val 50000"/>
            </a:avLst>
          </a:prstGeom>
          <a:solidFill>
            <a:srgbClr val="4285f4"/>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1a1a2e"/>
              </a:solidFill>
              <a:effectLst/>
              <a:uFillTx/>
              <a:latin typeface="Arial"/>
            </a:endParaRPr>
          </a:p>
        </p:txBody>
      </p:sp>
      <p:sp>
        <p:nvSpPr>
          <p:cNvPr id="1577" name="Row12"/>
          <p:cNvSpPr/>
          <p:nvPr/>
        </p:nvSpPr>
        <p:spPr>
          <a:xfrm>
            <a:off x="548640" y="1691640"/>
            <a:ext cx="8046000" cy="639360"/>
          </a:xfrm>
          <a:prstGeom prst="roundRect">
            <a:avLst>
              <a:gd name="adj" fmla="val 8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182880" rIns="90000" tIns="91440" bIns="45000" anchor="ctr">
            <a:noAutofit/>
          </a:bodyPr>
          <a:p>
            <a:pPr defTabSz="914400">
              <a:lnSpc>
                <a:spcPct val="100000"/>
              </a:lnSpc>
            </a:pPr>
            <a:r>
              <a:rPr b="1" lang="en-US" sz="1400" strike="noStrike" u="none">
                <a:solidFill>
                  <a:srgbClr val="1a1a2e"/>
                </a:solidFill>
                <a:effectLst/>
                <a:uFillTx/>
                <a:latin typeface="Trebuchet MS"/>
              </a:rPr>
              <a:t>One-Pagers</a:t>
            </a:r>
            <a:endParaRPr b="0" lang="en-US" sz="1400" strike="noStrike" u="none">
              <a:solidFill>
                <a:srgbClr val="000000"/>
              </a:solidFill>
              <a:effectLst/>
              <a:uFillTx/>
              <a:latin typeface="Arial"/>
            </a:endParaRPr>
          </a:p>
          <a:p>
            <a:pPr defTabSz="914400">
              <a:lnSpc>
                <a:spcPct val="100000"/>
              </a:lnSpc>
            </a:pPr>
            <a:r>
              <a:rPr b="0" lang="en-US" sz="1100" strike="noStrike" u="none">
                <a:solidFill>
                  <a:srgbClr val="2d2d2d"/>
                </a:solidFill>
                <a:effectLst/>
                <a:uFillTx/>
                <a:latin typeface="Calibri"/>
              </a:rPr>
              <a:t>Automatically generate executive summaries from long documents</a:t>
            </a:r>
            <a:endParaRPr b="0" lang="en-US" sz="1100" strike="noStrike" u="none">
              <a:solidFill>
                <a:srgbClr val="000000"/>
              </a:solidFill>
              <a:effectLst/>
              <a:uFillTx/>
              <a:latin typeface="Arial"/>
            </a:endParaRPr>
          </a:p>
        </p:txBody>
      </p:sp>
      <p:sp>
        <p:nvSpPr>
          <p:cNvPr id="1578" name="Border13"/>
          <p:cNvSpPr/>
          <p:nvPr/>
        </p:nvSpPr>
        <p:spPr>
          <a:xfrm>
            <a:off x="548640" y="1737360"/>
            <a:ext cx="54000" cy="547920"/>
          </a:xfrm>
          <a:prstGeom prst="roundRect">
            <a:avLst>
              <a:gd name="adj" fmla="val 50000"/>
            </a:avLst>
          </a:prstGeom>
          <a:solidFill>
            <a:srgbClr val="4285f4"/>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1a1a2e"/>
              </a:solidFill>
              <a:effectLst/>
              <a:uFillTx/>
              <a:latin typeface="Arial"/>
            </a:endParaRPr>
          </a:p>
        </p:txBody>
      </p:sp>
      <p:sp>
        <p:nvSpPr>
          <p:cNvPr id="1579" name="Row14"/>
          <p:cNvSpPr/>
          <p:nvPr/>
        </p:nvSpPr>
        <p:spPr>
          <a:xfrm>
            <a:off x="548640" y="2377440"/>
            <a:ext cx="8046000" cy="639360"/>
          </a:xfrm>
          <a:prstGeom prst="roundRect">
            <a:avLst>
              <a:gd name="adj" fmla="val 8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182880" rIns="90000" tIns="91440" bIns="45000" anchor="ctr">
            <a:noAutofit/>
          </a:bodyPr>
          <a:p>
            <a:pPr defTabSz="914400">
              <a:lnSpc>
                <a:spcPct val="100000"/>
              </a:lnSpc>
            </a:pPr>
            <a:r>
              <a:rPr b="1" lang="en-US" sz="1400" strike="noStrike" u="none">
                <a:solidFill>
                  <a:srgbClr val="1a1a2e"/>
                </a:solidFill>
                <a:effectLst/>
                <a:uFillTx/>
                <a:latin typeface="Trebuchet MS"/>
              </a:rPr>
              <a:t>Source Grounding</a:t>
            </a:r>
            <a:endParaRPr b="0" lang="en-US" sz="1400" strike="noStrike" u="none">
              <a:solidFill>
                <a:srgbClr val="000000"/>
              </a:solidFill>
              <a:effectLst/>
              <a:uFillTx/>
              <a:latin typeface="Arial"/>
            </a:endParaRPr>
          </a:p>
          <a:p>
            <a:pPr defTabSz="914400">
              <a:lnSpc>
                <a:spcPct val="100000"/>
              </a:lnSpc>
            </a:pPr>
            <a:r>
              <a:rPr b="0" lang="en-US" sz="1100" strike="noStrike" u="none">
                <a:solidFill>
                  <a:srgbClr val="2d2d2d"/>
                </a:solidFill>
                <a:effectLst/>
                <a:uFillTx/>
                <a:latin typeface="Calibri"/>
              </a:rPr>
              <a:t>All outputs reference your uploaded source material directly</a:t>
            </a:r>
            <a:endParaRPr b="0" lang="en-US" sz="1100" strike="noStrike" u="none">
              <a:solidFill>
                <a:srgbClr val="000000"/>
              </a:solidFill>
              <a:effectLst/>
              <a:uFillTx/>
              <a:latin typeface="Arial"/>
            </a:endParaRPr>
          </a:p>
        </p:txBody>
      </p:sp>
      <p:sp>
        <p:nvSpPr>
          <p:cNvPr id="1580" name="Border15"/>
          <p:cNvSpPr/>
          <p:nvPr/>
        </p:nvSpPr>
        <p:spPr>
          <a:xfrm>
            <a:off x="548640" y="2423160"/>
            <a:ext cx="54000" cy="547920"/>
          </a:xfrm>
          <a:prstGeom prst="roundRect">
            <a:avLst>
              <a:gd name="adj" fmla="val 50000"/>
            </a:avLst>
          </a:prstGeom>
          <a:solidFill>
            <a:srgbClr val="4285f4"/>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1a1a2e"/>
              </a:solidFill>
              <a:effectLst/>
              <a:uFillTx/>
              <a:latin typeface="Arial"/>
            </a:endParaRPr>
          </a:p>
        </p:txBody>
      </p:sp>
      <p:sp>
        <p:nvSpPr>
          <p:cNvPr id="1581" name="Row16"/>
          <p:cNvSpPr/>
          <p:nvPr/>
        </p:nvSpPr>
        <p:spPr>
          <a:xfrm>
            <a:off x="548640" y="3063240"/>
            <a:ext cx="8046000" cy="639360"/>
          </a:xfrm>
          <a:prstGeom prst="roundRect">
            <a:avLst>
              <a:gd name="adj" fmla="val 8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182880" rIns="90000" tIns="91440" bIns="45000" anchor="ctr">
            <a:noAutofit/>
          </a:bodyPr>
          <a:p>
            <a:pPr defTabSz="914400">
              <a:lnSpc>
                <a:spcPct val="100000"/>
              </a:lnSpc>
            </a:pPr>
            <a:r>
              <a:rPr b="1" lang="en-US" sz="1400" strike="noStrike" u="none">
                <a:solidFill>
                  <a:srgbClr val="1a1a2e"/>
                </a:solidFill>
                <a:effectLst/>
                <a:uFillTx/>
                <a:latin typeface="Trebuchet MS"/>
              </a:rPr>
              <a:t>Multi-Format Input</a:t>
            </a:r>
            <a:endParaRPr b="0" lang="en-US" sz="1400" strike="noStrike" u="none">
              <a:solidFill>
                <a:srgbClr val="000000"/>
              </a:solidFill>
              <a:effectLst/>
              <a:uFillTx/>
              <a:latin typeface="Arial"/>
            </a:endParaRPr>
          </a:p>
          <a:p>
            <a:pPr defTabSz="914400">
              <a:lnSpc>
                <a:spcPct val="100000"/>
              </a:lnSpc>
            </a:pPr>
            <a:r>
              <a:rPr b="0" lang="en-US" sz="1100" strike="noStrike" u="none">
                <a:solidFill>
                  <a:srgbClr val="2d2d2d"/>
                </a:solidFill>
                <a:effectLst/>
                <a:uFillTx/>
                <a:latin typeface="Calibri"/>
              </a:rPr>
              <a:t>Accepts PDFs, Google Docs, websites, and YouTube videos</a:t>
            </a:r>
            <a:endParaRPr b="0" lang="en-US" sz="1100" strike="noStrike" u="none">
              <a:solidFill>
                <a:srgbClr val="000000"/>
              </a:solidFill>
              <a:effectLst/>
              <a:uFillTx/>
              <a:latin typeface="Arial"/>
            </a:endParaRPr>
          </a:p>
        </p:txBody>
      </p:sp>
      <p:sp>
        <p:nvSpPr>
          <p:cNvPr id="1582" name="Border17"/>
          <p:cNvSpPr/>
          <p:nvPr/>
        </p:nvSpPr>
        <p:spPr>
          <a:xfrm>
            <a:off x="548640" y="3108960"/>
            <a:ext cx="54000" cy="547920"/>
          </a:xfrm>
          <a:prstGeom prst="roundRect">
            <a:avLst>
              <a:gd name="adj" fmla="val 50000"/>
            </a:avLst>
          </a:prstGeom>
          <a:solidFill>
            <a:srgbClr val="4285f4"/>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1a1a2e"/>
              </a:solidFill>
              <a:effectLst/>
              <a:uFillTx/>
              <a:latin typeface="Arial"/>
            </a:endParaRPr>
          </a:p>
        </p:txBody>
      </p:sp>
      <p:sp>
        <p:nvSpPr>
          <p:cNvPr id="1583" name="Row18"/>
          <p:cNvSpPr/>
          <p:nvPr/>
        </p:nvSpPr>
        <p:spPr>
          <a:xfrm>
            <a:off x="548640" y="3749040"/>
            <a:ext cx="8046000" cy="639360"/>
          </a:xfrm>
          <a:prstGeom prst="roundRect">
            <a:avLst>
              <a:gd name="adj" fmla="val 8000"/>
            </a:avLst>
          </a:prstGeom>
          <a:solidFill>
            <a:srgbClr val="fdf6f0"/>
          </a:solidFill>
          <a:ln w="0">
            <a:noFill/>
          </a:ln>
          <a:effectLst>
            <a:outerShdw algn="bl" blurRad="76320" dir="8100000" dist="25455">
              <a:srgbClr val="000000">
                <a:alpha val="12000"/>
              </a:srgbClr>
            </a:outerShdw>
          </a:effectLst>
        </p:spPr>
        <p:style>
          <a:lnRef idx="0"/>
          <a:fillRef idx="0"/>
          <a:effectRef idx="0"/>
          <a:fontRef idx="minor"/>
        </p:style>
        <p:txBody>
          <a:bodyPr lIns="182880" rIns="90000" tIns="91440" bIns="45000" anchor="ctr">
            <a:noAutofit/>
          </a:bodyPr>
          <a:p>
            <a:pPr defTabSz="914400">
              <a:lnSpc>
                <a:spcPct val="100000"/>
              </a:lnSpc>
            </a:pPr>
            <a:r>
              <a:rPr b="1" lang="en-US" sz="1400" strike="noStrike" u="none">
                <a:solidFill>
                  <a:srgbClr val="1a1a2e"/>
                </a:solidFill>
                <a:effectLst/>
                <a:uFillTx/>
                <a:latin typeface="Trebuchet MS"/>
              </a:rPr>
              <a:t>Team Knowledge</a:t>
            </a:r>
            <a:endParaRPr b="0" lang="en-US" sz="1400" strike="noStrike" u="none">
              <a:solidFill>
                <a:srgbClr val="000000"/>
              </a:solidFill>
              <a:effectLst/>
              <a:uFillTx/>
              <a:latin typeface="Arial"/>
            </a:endParaRPr>
          </a:p>
          <a:p>
            <a:pPr defTabSz="914400">
              <a:lnSpc>
                <a:spcPct val="100000"/>
              </a:lnSpc>
            </a:pPr>
            <a:r>
              <a:rPr b="0" lang="en-US" sz="1100" strike="noStrike" u="none">
                <a:solidFill>
                  <a:srgbClr val="2d2d2d"/>
                </a:solidFill>
                <a:effectLst/>
                <a:uFillTx/>
                <a:latin typeface="Calibri"/>
              </a:rPr>
              <a:t>Build shared knowledge bases for your entire marketing team</a:t>
            </a:r>
            <a:endParaRPr b="0" lang="en-US" sz="1100" strike="noStrike" u="none">
              <a:solidFill>
                <a:srgbClr val="000000"/>
              </a:solidFill>
              <a:effectLst/>
              <a:uFillTx/>
              <a:latin typeface="Arial"/>
            </a:endParaRPr>
          </a:p>
        </p:txBody>
      </p:sp>
      <p:sp>
        <p:nvSpPr>
          <p:cNvPr id="1584" name="Border19"/>
          <p:cNvSpPr/>
          <p:nvPr/>
        </p:nvSpPr>
        <p:spPr>
          <a:xfrm>
            <a:off x="548640" y="3794760"/>
            <a:ext cx="54000" cy="547920"/>
          </a:xfrm>
          <a:prstGeom prst="roundRect">
            <a:avLst>
              <a:gd name="adj" fmla="val 50000"/>
            </a:avLst>
          </a:prstGeom>
          <a:solidFill>
            <a:srgbClr val="4285f4"/>
          </a:solid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1a1a2e"/>
              </a:solidFill>
              <a:effectLst/>
              <a:uFillTx/>
              <a:latin typeface="Arial"/>
            </a:endParaRPr>
          </a:p>
        </p:txBody>
      </p:sp>
      <p:sp>
        <p:nvSpPr>
          <p:cNvPr id="1585" name="Footer"/>
          <p:cNvSpPr/>
          <p:nvPr/>
        </p:nvSpPr>
        <p:spPr>
          <a:xfrm>
            <a:off x="0" y="4874400"/>
            <a:ext cx="9143280" cy="268560"/>
          </a:xfrm>
          <a:prstGeom prst="rect">
            <a:avLst/>
          </a:prstGeom>
          <a:solidFill>
            <a:srgbClr val="1a1a2e"/>
          </a:solidFill>
          <a:ln w="0">
            <a:noFill/>
          </a:ln>
        </p:spPr>
        <p:style>
          <a:lnRef idx="0"/>
          <a:fillRef idx="0"/>
          <a:effectRef idx="0"/>
          <a:fontRef idx="minor"/>
        </p:style>
        <p:txBody>
          <a:bodyPr lIns="548640" rIns="90000" tIns="45000" bIns="45000" anchor="ctr">
            <a:noAutofit/>
          </a:bodyPr>
          <a:p>
            <a:pPr defTabSz="914400">
              <a:lnSpc>
                <a:spcPct val="100000"/>
              </a:lnSpc>
            </a:pPr>
            <a:r>
              <a:rPr b="0" lang="en-US" sz="1000" strike="noStrike" u="none">
                <a:solidFill>
                  <a:srgbClr val="ffffff"/>
                </a:solidFill>
                <a:effectLst/>
                <a:uFillTx/>
                <a:latin typeface="Calibri"/>
              </a:rPr>
              <a:t>notebooklm.google.com</a:t>
            </a:r>
            <a:endParaRPr b="0" lang="en-US" sz="1000" strike="noStrike" u="none">
              <a:solidFill>
                <a:srgbClr val="ffffff"/>
              </a:solidFill>
              <a:effectLst/>
              <a:uFillTx/>
              <a:latin typeface="Arial"/>
            </a:endParaRPr>
          </a:p>
        </p:txBody>
      </p:sp>
      <p:pic>
        <p:nvPicPr>
          <p:cNvPr id="1586" name="Picture 1566" descr="notebooklm.png"/>
          <p:cNvPicPr/>
          <p:nvPr/>
        </p:nvPicPr>
        <p:blipFill>
          <a:blip r:embed="rId1"/>
          <a:stretch/>
        </p:blipFill>
        <p:spPr>
          <a:xfrm>
            <a:off x="8138160" y="137160"/>
            <a:ext cx="639720" cy="63972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90</TotalTime>
  <Application>LibreOffice/25.2.6.2$Linux_AARCH64 LibreOffice_project/520$Build-2</Application>
  <AppVersion>15.0000</AppVersion>
  <Words>8958</Words>
  <Paragraphs>1148</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2026-02-24T01:39:17Z</dcterms:created>
  <dc:creator>BlackStorm Consulting / Adrian Watkins</dc:creator>
  <dc:description/>
  <dc:language>en-US</dc:language>
  <cp:lastModifiedBy>Adrian Watkins</cp:lastModifiedBy>
  <dcterms:modified xsi:type="dcterms:W3CDTF">2026-02-24T17:15:27Z</dcterms:modified>
  <cp:revision>7</cp:revision>
  <dc:subject>PptxGenJS Presentation</dc:subject>
  <dc:title>Marketing Essentials - Startup Bootcamp</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r8>4</vt:r8>
  </property>
  <property fmtid="{D5CDD505-2E9C-101B-9397-08002B2CF9AE}" pid="3" name="MMClips">
    <vt:r8>1</vt:r8>
  </property>
  <property fmtid="{D5CDD505-2E9C-101B-9397-08002B2CF9AE}" pid="4" name="Notes">
    <vt:r8>68</vt:r8>
  </property>
  <property fmtid="{D5CDD505-2E9C-101B-9397-08002B2CF9AE}" pid="5" name="PresentationFormat">
    <vt:lpwstr>On-screen Show (16:9)</vt:lpwstr>
  </property>
  <property fmtid="{D5CDD505-2E9C-101B-9397-08002B2CF9AE}" pid="6" name="Slides">
    <vt:r8>68</vt:r8>
  </property>
</Properties>
</file>